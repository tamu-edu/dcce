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20"/>
  </p:notesMasterIdLst>
  <p:sldIdLst>
    <p:sldId id="301" r:id="rId3"/>
    <p:sldId id="302" r:id="rId4"/>
    <p:sldId id="304" r:id="rId5"/>
    <p:sldId id="315" r:id="rId6"/>
    <p:sldId id="317" r:id="rId7"/>
    <p:sldId id="305" r:id="rId8"/>
    <p:sldId id="318" r:id="rId9"/>
    <p:sldId id="313" r:id="rId10"/>
    <p:sldId id="320" r:id="rId11"/>
    <p:sldId id="303" r:id="rId12"/>
    <p:sldId id="308" r:id="rId13"/>
    <p:sldId id="309" r:id="rId14"/>
    <p:sldId id="311" r:id="rId15"/>
    <p:sldId id="319" r:id="rId16"/>
    <p:sldId id="314" r:id="rId17"/>
    <p:sldId id="307" r:id="rId18"/>
    <p:sldId id="321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A0E497-715A-4CD0-9488-5DC9FE9C4640}">
  <a:tblStyle styleId="{38A0E497-715A-4CD0-9488-5DC9FE9C46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5"/>
    <p:restoredTop sz="94859"/>
  </p:normalViewPr>
  <p:slideViewPr>
    <p:cSldViewPr snapToGrid="0">
      <p:cViewPr varScale="1">
        <p:scale>
          <a:sx n="136" d="100"/>
          <a:sy n="136" d="100"/>
        </p:scale>
        <p:origin x="1856" y="9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1525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0364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765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4291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7225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3379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2257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025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2284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4479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497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b686a69eba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b686a69eba_0_7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b686a69eba_0_7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8008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1"/>
          <p:cNvSpPr/>
          <p:nvPr/>
        </p:nvSpPr>
        <p:spPr>
          <a:xfrm>
            <a:off x="372575" y="1068000"/>
            <a:ext cx="1788600" cy="2000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0" name="Google Shape;500;p61"/>
          <p:cNvSpPr/>
          <p:nvPr/>
        </p:nvSpPr>
        <p:spPr>
          <a:xfrm>
            <a:off x="5823475" y="1068000"/>
            <a:ext cx="2785800" cy="1916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1" name="Google Shape;501;p61"/>
          <p:cNvSpPr/>
          <p:nvPr/>
        </p:nvSpPr>
        <p:spPr>
          <a:xfrm>
            <a:off x="2326000" y="1068000"/>
            <a:ext cx="3105000" cy="392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2" name="Google Shape;502;p61"/>
          <p:cNvSpPr txBox="1">
            <a:spLocks noGrp="1"/>
          </p:cNvSpPr>
          <p:nvPr>
            <p:ph type="title"/>
          </p:nvPr>
        </p:nvSpPr>
        <p:spPr>
          <a:xfrm>
            <a:off x="552450" y="-30956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entieth Century"/>
                <a:ea typeface="Twentieth Century"/>
                <a:cs typeface="Twentieth Century"/>
                <a:sym typeface="Twentieth Century"/>
              </a:rPr>
              <a:t>Overall Design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3" name="Google Shape;503;p61"/>
          <p:cNvSpPr/>
          <p:nvPr/>
        </p:nvSpPr>
        <p:spPr>
          <a:xfrm rot="-5400000">
            <a:off x="58600" y="1988075"/>
            <a:ext cx="1410600" cy="476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Front End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(clang)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4" name="Google Shape;504;p61"/>
          <p:cNvSpPr/>
          <p:nvPr/>
        </p:nvSpPr>
        <p:spPr>
          <a:xfrm>
            <a:off x="2536424" y="1521125"/>
            <a:ext cx="27378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SVF-WPA   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5" name="Google Shape;505;p61"/>
          <p:cNvSpPr txBox="1"/>
          <p:nvPr/>
        </p:nvSpPr>
        <p:spPr>
          <a:xfrm>
            <a:off x="1064274" y="1988675"/>
            <a:ext cx="327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61"/>
          <p:cNvSpPr/>
          <p:nvPr/>
        </p:nvSpPr>
        <p:spPr>
          <a:xfrm rot="-5400000">
            <a:off x="5630575" y="1953150"/>
            <a:ext cx="1275300" cy="508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Back End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(clang)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07" name="Google Shape;507;p61"/>
          <p:cNvCxnSpPr>
            <a:stCxn id="503" idx="2"/>
            <a:endCxn id="505" idx="1"/>
          </p:cNvCxnSpPr>
          <p:nvPr/>
        </p:nvCxnSpPr>
        <p:spPr>
          <a:xfrm>
            <a:off x="1002250" y="2226425"/>
            <a:ext cx="6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8" name="Google Shape;508;p61"/>
          <p:cNvCxnSpPr>
            <a:stCxn id="505" idx="3"/>
            <a:endCxn id="509" idx="1"/>
          </p:cNvCxnSpPr>
          <p:nvPr/>
        </p:nvCxnSpPr>
        <p:spPr>
          <a:xfrm rot="10800000" flipH="1">
            <a:off x="1391574" y="2221625"/>
            <a:ext cx="1383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0" name="Google Shape;510;p61"/>
          <p:cNvSpPr txBox="1"/>
          <p:nvPr/>
        </p:nvSpPr>
        <p:spPr>
          <a:xfrm>
            <a:off x="1925426" y="1983725"/>
            <a:ext cx="327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IR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61"/>
          <p:cNvSpPr txBox="1"/>
          <p:nvPr/>
        </p:nvSpPr>
        <p:spPr>
          <a:xfrm>
            <a:off x="5473250" y="1953575"/>
            <a:ext cx="3273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61"/>
          <p:cNvCxnSpPr>
            <a:stCxn id="510" idx="3"/>
            <a:endCxn id="504" idx="1"/>
          </p:cNvCxnSpPr>
          <p:nvPr/>
        </p:nvCxnSpPr>
        <p:spPr>
          <a:xfrm>
            <a:off x="2252726" y="2221475"/>
            <a:ext cx="283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" name="Google Shape;513;p61"/>
          <p:cNvCxnSpPr>
            <a:cxnSpLocks/>
            <a:stCxn id="511" idx="3"/>
            <a:endCxn id="506" idx="0"/>
          </p:cNvCxnSpPr>
          <p:nvPr/>
        </p:nvCxnSpPr>
        <p:spPr>
          <a:xfrm>
            <a:off x="5800550" y="2145275"/>
            <a:ext cx="213300" cy="6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" name="Google Shape;514;p61"/>
          <p:cNvCxnSpPr>
            <a:stCxn id="515" idx="2"/>
            <a:endCxn id="503" idx="0"/>
          </p:cNvCxnSpPr>
          <p:nvPr/>
        </p:nvCxnSpPr>
        <p:spPr>
          <a:xfrm>
            <a:off x="262925" y="2226425"/>
            <a:ext cx="262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515;p61"/>
          <p:cNvSpPr txBox="1"/>
          <p:nvPr/>
        </p:nvSpPr>
        <p:spPr>
          <a:xfrm rot="-5400000">
            <a:off x="-435625" y="2060975"/>
            <a:ext cx="1066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Benchmark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61"/>
          <p:cNvSpPr txBox="1"/>
          <p:nvPr/>
        </p:nvSpPr>
        <p:spPr>
          <a:xfrm rot="-5400000">
            <a:off x="6649975" y="2015600"/>
            <a:ext cx="1303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Machine code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61"/>
          <p:cNvCxnSpPr>
            <a:cxnSpLocks/>
            <a:stCxn id="506" idx="2"/>
            <a:endCxn id="516" idx="0"/>
          </p:cNvCxnSpPr>
          <p:nvPr/>
        </p:nvCxnSpPr>
        <p:spPr>
          <a:xfrm>
            <a:off x="6522475" y="2207400"/>
            <a:ext cx="587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8" name="Google Shape;518;p61"/>
          <p:cNvSpPr/>
          <p:nvPr/>
        </p:nvSpPr>
        <p:spPr>
          <a:xfrm>
            <a:off x="3405075" y="3233275"/>
            <a:ext cx="879600" cy="994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Calling Context Encoder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9" name="Google Shape;519;p61"/>
          <p:cNvSpPr txBox="1"/>
          <p:nvPr/>
        </p:nvSpPr>
        <p:spPr>
          <a:xfrm>
            <a:off x="2792675" y="3560825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.cg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p61"/>
          <p:cNvCxnSpPr>
            <a:stCxn id="519" idx="3"/>
            <a:endCxn id="518" idx="1"/>
          </p:cNvCxnSpPr>
          <p:nvPr/>
        </p:nvCxnSpPr>
        <p:spPr>
          <a:xfrm>
            <a:off x="3238475" y="3726275"/>
            <a:ext cx="166500" cy="4200"/>
          </a:xfrm>
          <a:prstGeom prst="bentConnector3">
            <a:avLst>
              <a:gd name="adj1" fmla="val 500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Google Shape;521;p61"/>
          <p:cNvCxnSpPr>
            <a:stCxn id="522" idx="1"/>
            <a:endCxn id="519" idx="0"/>
          </p:cNvCxnSpPr>
          <p:nvPr/>
        </p:nvCxnSpPr>
        <p:spPr>
          <a:xfrm rot="5400000">
            <a:off x="2725125" y="3128575"/>
            <a:ext cx="722700" cy="1419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61"/>
          <p:cNvSpPr txBox="1"/>
          <p:nvPr/>
        </p:nvSpPr>
        <p:spPr>
          <a:xfrm>
            <a:off x="4394800" y="3560825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.cc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61"/>
          <p:cNvCxnSpPr>
            <a:stCxn id="518" idx="3"/>
            <a:endCxn id="523" idx="1"/>
          </p:cNvCxnSpPr>
          <p:nvPr/>
        </p:nvCxnSpPr>
        <p:spPr>
          <a:xfrm rot="10800000" flipH="1">
            <a:off x="4284675" y="3726175"/>
            <a:ext cx="1101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Google Shape;525;p61"/>
          <p:cNvSpPr/>
          <p:nvPr/>
        </p:nvSpPr>
        <p:spPr>
          <a:xfrm>
            <a:off x="2536425" y="1152650"/>
            <a:ext cx="27858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DCCE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2" name="Google Shape;522;p61"/>
          <p:cNvSpPr/>
          <p:nvPr/>
        </p:nvSpPr>
        <p:spPr>
          <a:xfrm rot="-5400000">
            <a:off x="2659875" y="1945375"/>
            <a:ext cx="995100" cy="790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Dump callgraph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6" name="Google Shape;526;p61"/>
          <p:cNvSpPr/>
          <p:nvPr/>
        </p:nvSpPr>
        <p:spPr>
          <a:xfrm>
            <a:off x="3867438" y="1843075"/>
            <a:ext cx="1277700" cy="96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27" name="Google Shape;527;p61"/>
          <p:cNvCxnSpPr>
            <a:stCxn id="523" idx="0"/>
            <a:endCxn id="526" idx="2"/>
          </p:cNvCxnSpPr>
          <p:nvPr/>
        </p:nvCxnSpPr>
        <p:spPr>
          <a:xfrm rot="5400000" flipH="1">
            <a:off x="4186600" y="3129725"/>
            <a:ext cx="750900" cy="1113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8" name="Google Shape;528;p61"/>
          <p:cNvCxnSpPr>
            <a:stCxn id="529" idx="3"/>
            <a:endCxn id="511" idx="1"/>
          </p:cNvCxnSpPr>
          <p:nvPr/>
        </p:nvCxnSpPr>
        <p:spPr>
          <a:xfrm>
            <a:off x="5076537" y="2120050"/>
            <a:ext cx="396600" cy="2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0" name="Google Shape;530;p61"/>
          <p:cNvSpPr/>
          <p:nvPr/>
        </p:nvSpPr>
        <p:spPr>
          <a:xfrm>
            <a:off x="1627300" y="1583275"/>
            <a:ext cx="2601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9" name="Google Shape;509;p61"/>
          <p:cNvSpPr/>
          <p:nvPr/>
        </p:nvSpPr>
        <p:spPr>
          <a:xfrm>
            <a:off x="1529800" y="1521125"/>
            <a:ext cx="2601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PASS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31" name="Google Shape;531;p61"/>
          <p:cNvCxnSpPr>
            <a:stCxn id="509" idx="3"/>
            <a:endCxn id="510" idx="1"/>
          </p:cNvCxnSpPr>
          <p:nvPr/>
        </p:nvCxnSpPr>
        <p:spPr>
          <a:xfrm>
            <a:off x="1789900" y="2221475"/>
            <a:ext cx="13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2" name="Google Shape;532;p61"/>
          <p:cNvSpPr/>
          <p:nvPr/>
        </p:nvSpPr>
        <p:spPr>
          <a:xfrm>
            <a:off x="5984400" y="1152650"/>
            <a:ext cx="24546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Real Machine Experiment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3" name="Google Shape;533;p61"/>
          <p:cNvSpPr/>
          <p:nvPr/>
        </p:nvSpPr>
        <p:spPr>
          <a:xfrm>
            <a:off x="5823475" y="3035000"/>
            <a:ext cx="2785800" cy="1916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4" name="Google Shape;534;p61"/>
          <p:cNvSpPr/>
          <p:nvPr/>
        </p:nvSpPr>
        <p:spPr>
          <a:xfrm>
            <a:off x="6013975" y="3143425"/>
            <a:ext cx="2454600" cy="277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Simulation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5" name="Google Shape;535;p61"/>
          <p:cNvSpPr/>
          <p:nvPr/>
        </p:nvSpPr>
        <p:spPr>
          <a:xfrm rot="-5400000">
            <a:off x="7257025" y="3706650"/>
            <a:ext cx="1342800" cy="933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Gem5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(Extended ISA)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(Extended Arch)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6" name="Google Shape;536;p61"/>
          <p:cNvSpPr txBox="1"/>
          <p:nvPr/>
        </p:nvSpPr>
        <p:spPr>
          <a:xfrm>
            <a:off x="4110350" y="4288725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CRSYM</a:t>
            </a: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CSID</a:t>
            </a: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CESYM</a:t>
            </a: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WEIGHT</a:t>
            </a:r>
            <a:endParaRPr sz="9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1"/>
          <p:cNvSpPr txBox="1"/>
          <p:nvPr/>
        </p:nvSpPr>
        <p:spPr>
          <a:xfrm>
            <a:off x="2132475" y="4288725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CRSYM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CSID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CESYM</a:t>
            </a:r>
            <a:r>
              <a:rPr lang="en" b="1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??</a:t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1"/>
          <p:cNvSpPr/>
          <p:nvPr/>
        </p:nvSpPr>
        <p:spPr>
          <a:xfrm>
            <a:off x="3968337" y="1974700"/>
            <a:ext cx="1108200" cy="290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Instrument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3982728" y="2403575"/>
            <a:ext cx="1062600" cy="268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9" name="Google Shape;539;p61"/>
          <p:cNvSpPr txBox="1"/>
          <p:nvPr/>
        </p:nvSpPr>
        <p:spPr>
          <a:xfrm>
            <a:off x="5493725" y="3479700"/>
            <a:ext cx="3273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IR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61"/>
          <p:cNvSpPr/>
          <p:nvPr/>
        </p:nvSpPr>
        <p:spPr>
          <a:xfrm rot="-5400000">
            <a:off x="7552675" y="1952350"/>
            <a:ext cx="1290900" cy="508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Host PC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41" name="Google Shape;541;p61"/>
          <p:cNvCxnSpPr>
            <a:cxnSpLocks/>
            <a:stCxn id="516" idx="2"/>
            <a:endCxn id="540" idx="0"/>
          </p:cNvCxnSpPr>
          <p:nvPr/>
        </p:nvCxnSpPr>
        <p:spPr>
          <a:xfrm rot="10800000" flipH="1">
            <a:off x="7493425" y="2206700"/>
            <a:ext cx="4506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2" name="Google Shape;542;p61"/>
          <p:cNvCxnSpPr>
            <a:stCxn id="538" idx="3"/>
            <a:endCxn id="539" idx="1"/>
          </p:cNvCxnSpPr>
          <p:nvPr/>
        </p:nvCxnSpPr>
        <p:spPr>
          <a:xfrm>
            <a:off x="5045328" y="2537675"/>
            <a:ext cx="448500" cy="1133700"/>
          </a:xfrm>
          <a:prstGeom prst="bentConnector3">
            <a:avLst>
              <a:gd name="adj1" fmla="val 3438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3" name="Google Shape;543;p61"/>
          <p:cNvCxnSpPr>
            <a:cxnSpLocks/>
            <a:stCxn id="539" idx="3"/>
            <a:endCxn id="544" idx="0"/>
          </p:cNvCxnSpPr>
          <p:nvPr/>
        </p:nvCxnSpPr>
        <p:spPr>
          <a:xfrm>
            <a:off x="5821025" y="3671400"/>
            <a:ext cx="226200" cy="5019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4" name="Google Shape;544;p61"/>
          <p:cNvSpPr/>
          <p:nvPr/>
        </p:nvSpPr>
        <p:spPr>
          <a:xfrm rot="-5400000">
            <a:off x="5663850" y="3919050"/>
            <a:ext cx="1275300" cy="508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entieth Century"/>
                <a:ea typeface="Twentieth Century"/>
                <a:cs typeface="Twentieth Century"/>
                <a:sym typeface="Twentieth Century"/>
              </a:rPr>
              <a:t>Extended Backend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45" name="Google Shape;545;p61"/>
          <p:cNvCxnSpPr>
            <a:stCxn id="544" idx="2"/>
            <a:endCxn id="546" idx="0"/>
          </p:cNvCxnSpPr>
          <p:nvPr/>
        </p:nvCxnSpPr>
        <p:spPr>
          <a:xfrm>
            <a:off x="6555750" y="4173300"/>
            <a:ext cx="261300" cy="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6" name="Google Shape;546;p61"/>
          <p:cNvSpPr txBox="1"/>
          <p:nvPr/>
        </p:nvSpPr>
        <p:spPr>
          <a:xfrm rot="-5400000">
            <a:off x="6357013" y="3987600"/>
            <a:ext cx="1303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Machine code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p61"/>
          <p:cNvCxnSpPr>
            <a:stCxn id="546" idx="2"/>
            <a:endCxn id="535" idx="0"/>
          </p:cNvCxnSpPr>
          <p:nvPr/>
        </p:nvCxnSpPr>
        <p:spPr>
          <a:xfrm rot="10800000" flipH="1">
            <a:off x="7200463" y="4173300"/>
            <a:ext cx="261300" cy="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8" name="Google Shape;548;p61"/>
          <p:cNvSpPr/>
          <p:nvPr/>
        </p:nvSpPr>
        <p:spPr>
          <a:xfrm>
            <a:off x="536100" y="1100150"/>
            <a:ext cx="14991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entieth Century"/>
                <a:ea typeface="Twentieth Century"/>
                <a:cs typeface="Twentieth Century"/>
                <a:sym typeface="Twentieth Century"/>
              </a:rPr>
              <a:t>Benchmark Building System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9" name="Google Shape;549;p61"/>
          <p:cNvSpPr/>
          <p:nvPr/>
        </p:nvSpPr>
        <p:spPr>
          <a:xfrm>
            <a:off x="6735900" y="1608017"/>
            <a:ext cx="481200" cy="421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Twentieth Century"/>
                <a:ea typeface="Twentieth Century"/>
                <a:cs typeface="Twentieth Century"/>
                <a:sym typeface="Twentieth Century"/>
              </a:rPr>
              <a:t>rtlib</a:t>
            </a:r>
            <a:endParaRPr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1"/>
          <p:cNvSpPr/>
          <p:nvPr/>
        </p:nvSpPr>
        <p:spPr>
          <a:xfrm>
            <a:off x="379663" y="203218"/>
            <a:ext cx="1788600" cy="1853825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0" name="Google Shape;500;p61"/>
          <p:cNvSpPr/>
          <p:nvPr/>
        </p:nvSpPr>
        <p:spPr>
          <a:xfrm>
            <a:off x="5830563" y="203218"/>
            <a:ext cx="2785800" cy="1532272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1" name="Google Shape;501;p61"/>
          <p:cNvSpPr/>
          <p:nvPr/>
        </p:nvSpPr>
        <p:spPr>
          <a:xfrm>
            <a:off x="2333088" y="203218"/>
            <a:ext cx="3105000" cy="392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3" name="Google Shape;503;p61"/>
          <p:cNvSpPr/>
          <p:nvPr/>
        </p:nvSpPr>
        <p:spPr>
          <a:xfrm>
            <a:off x="469612" y="1057927"/>
            <a:ext cx="1623449" cy="29313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clang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4" name="Google Shape;504;p61"/>
          <p:cNvSpPr/>
          <p:nvPr/>
        </p:nvSpPr>
        <p:spPr>
          <a:xfrm>
            <a:off x="2543512" y="656343"/>
            <a:ext cx="27378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SVF-WPA   </a:t>
            </a: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6" name="Google Shape;506;p61"/>
          <p:cNvSpPr/>
          <p:nvPr/>
        </p:nvSpPr>
        <p:spPr>
          <a:xfrm>
            <a:off x="6018094" y="813043"/>
            <a:ext cx="2427993" cy="2757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clang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1" name="Google Shape;511;p61"/>
          <p:cNvSpPr txBox="1"/>
          <p:nvPr/>
        </p:nvSpPr>
        <p:spPr>
          <a:xfrm>
            <a:off x="5419290" y="813043"/>
            <a:ext cx="442949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BC</a:t>
            </a:r>
            <a:endParaRPr dirty="0"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61"/>
          <p:cNvCxnSpPr>
            <a:cxnSpLocks/>
            <a:stCxn id="8" idx="3"/>
            <a:endCxn id="522" idx="1"/>
          </p:cNvCxnSpPr>
          <p:nvPr/>
        </p:nvCxnSpPr>
        <p:spPr>
          <a:xfrm flipV="1">
            <a:off x="1984145" y="1475843"/>
            <a:ext cx="682818" cy="31167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" name="Google Shape;513;p61"/>
          <p:cNvCxnSpPr>
            <a:cxnSpLocks/>
            <a:stCxn id="526" idx="3"/>
            <a:endCxn id="506" idx="1"/>
          </p:cNvCxnSpPr>
          <p:nvPr/>
        </p:nvCxnSpPr>
        <p:spPr>
          <a:xfrm flipV="1">
            <a:off x="5152226" y="950918"/>
            <a:ext cx="865868" cy="510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515;p61"/>
          <p:cNvSpPr txBox="1"/>
          <p:nvPr/>
        </p:nvSpPr>
        <p:spPr>
          <a:xfrm rot="-5400000">
            <a:off x="-367650" y="3495918"/>
            <a:ext cx="10662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Benchmark</a:t>
            </a:r>
            <a:endParaRPr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61"/>
          <p:cNvSpPr txBox="1"/>
          <p:nvPr/>
        </p:nvSpPr>
        <p:spPr>
          <a:xfrm>
            <a:off x="6559012" y="1304306"/>
            <a:ext cx="1303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Executable</a:t>
            </a:r>
            <a:endParaRPr dirty="0"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1"/>
          <p:cNvSpPr/>
          <p:nvPr/>
        </p:nvSpPr>
        <p:spPr>
          <a:xfrm>
            <a:off x="3412163" y="2368493"/>
            <a:ext cx="879600" cy="994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Calling Context Weight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Compute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9" name="Google Shape;519;p61"/>
          <p:cNvSpPr txBox="1"/>
          <p:nvPr/>
        </p:nvSpPr>
        <p:spPr>
          <a:xfrm>
            <a:off x="2799763" y="2696043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.cg</a:t>
            </a:r>
            <a:endParaRPr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p61"/>
          <p:cNvCxnSpPr>
            <a:stCxn id="519" idx="3"/>
            <a:endCxn id="518" idx="1"/>
          </p:cNvCxnSpPr>
          <p:nvPr/>
        </p:nvCxnSpPr>
        <p:spPr>
          <a:xfrm>
            <a:off x="3245563" y="2861493"/>
            <a:ext cx="166500" cy="4200"/>
          </a:xfrm>
          <a:prstGeom prst="bentConnector3">
            <a:avLst>
              <a:gd name="adj1" fmla="val 500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Google Shape;521;p61"/>
          <p:cNvCxnSpPr>
            <a:cxnSpLocks/>
            <a:stCxn id="522" idx="2"/>
            <a:endCxn id="519" idx="0"/>
          </p:cNvCxnSpPr>
          <p:nvPr/>
        </p:nvCxnSpPr>
        <p:spPr>
          <a:xfrm rot="5400000">
            <a:off x="2681113" y="2212643"/>
            <a:ext cx="824950" cy="1418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61"/>
          <p:cNvSpPr txBox="1"/>
          <p:nvPr/>
        </p:nvSpPr>
        <p:spPr>
          <a:xfrm>
            <a:off x="4401888" y="2696043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.cc</a:t>
            </a:r>
            <a:endParaRPr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61"/>
          <p:cNvCxnSpPr>
            <a:stCxn id="518" idx="3"/>
            <a:endCxn id="523" idx="1"/>
          </p:cNvCxnSpPr>
          <p:nvPr/>
        </p:nvCxnSpPr>
        <p:spPr>
          <a:xfrm rot="10800000" flipH="1">
            <a:off x="4291763" y="2861393"/>
            <a:ext cx="1101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Google Shape;525;p61"/>
          <p:cNvSpPr/>
          <p:nvPr/>
        </p:nvSpPr>
        <p:spPr>
          <a:xfrm>
            <a:off x="2543513" y="287868"/>
            <a:ext cx="27858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Static Analysis &amp; Instrumentation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2" name="Google Shape;522;p61"/>
          <p:cNvSpPr/>
          <p:nvPr/>
        </p:nvSpPr>
        <p:spPr>
          <a:xfrm>
            <a:off x="2666963" y="1080593"/>
            <a:ext cx="995100" cy="790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Dump </a:t>
            </a:r>
            <a:r>
              <a:rPr lang="en" dirty="0" err="1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callgraph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6" name="Google Shape;526;p61"/>
          <p:cNvSpPr/>
          <p:nvPr/>
        </p:nvSpPr>
        <p:spPr>
          <a:xfrm>
            <a:off x="3874526" y="978293"/>
            <a:ext cx="1277700" cy="96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27" name="Google Shape;527;p61"/>
          <p:cNvCxnSpPr>
            <a:stCxn id="523" idx="0"/>
            <a:endCxn id="526" idx="2"/>
          </p:cNvCxnSpPr>
          <p:nvPr/>
        </p:nvCxnSpPr>
        <p:spPr>
          <a:xfrm rot="5400000" flipH="1">
            <a:off x="4193688" y="2264943"/>
            <a:ext cx="750900" cy="1113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2" name="Google Shape;532;p61"/>
          <p:cNvSpPr/>
          <p:nvPr/>
        </p:nvSpPr>
        <p:spPr>
          <a:xfrm>
            <a:off x="5991488" y="287868"/>
            <a:ext cx="24546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Real Machine Experiment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3" name="Google Shape;533;p61"/>
          <p:cNvSpPr/>
          <p:nvPr/>
        </p:nvSpPr>
        <p:spPr>
          <a:xfrm>
            <a:off x="5830563" y="2170218"/>
            <a:ext cx="2785800" cy="277006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4" name="Google Shape;534;p61"/>
          <p:cNvSpPr/>
          <p:nvPr/>
        </p:nvSpPr>
        <p:spPr>
          <a:xfrm>
            <a:off x="6021063" y="2244008"/>
            <a:ext cx="2454600" cy="277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Dynamic instrumentation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5" name="Google Shape;535;p61"/>
          <p:cNvSpPr/>
          <p:nvPr/>
        </p:nvSpPr>
        <p:spPr>
          <a:xfrm>
            <a:off x="5901824" y="2598099"/>
            <a:ext cx="2660446" cy="220072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DynamoRIO</a:t>
            </a: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6" name="Google Shape;536;p61"/>
          <p:cNvSpPr txBox="1"/>
          <p:nvPr/>
        </p:nvSpPr>
        <p:spPr>
          <a:xfrm>
            <a:off x="4117438" y="3423943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 err="1">
                <a:solidFill>
                  <a:schemeClr val="accent1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Caller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chemeClr val="accent2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Callee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rgbClr val="FF0000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WEIGHT</a:t>
            </a:r>
            <a:endParaRPr sz="900" dirty="0">
              <a:solidFill>
                <a:srgbClr val="FF0000"/>
              </a:solidFill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1"/>
          <p:cNvSpPr txBox="1"/>
          <p:nvPr/>
        </p:nvSpPr>
        <p:spPr>
          <a:xfrm>
            <a:off x="2139563" y="3423943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 err="1">
                <a:solidFill>
                  <a:schemeClr val="accent1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Caller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chemeClr val="accent2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Callee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rgbClr val="FF0000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Unknown</a:t>
            </a:r>
            <a:endParaRPr sz="900" dirty="0">
              <a:solidFill>
                <a:srgbClr val="FF0000"/>
              </a:solidFill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1"/>
          <p:cNvSpPr/>
          <p:nvPr/>
        </p:nvSpPr>
        <p:spPr>
          <a:xfrm>
            <a:off x="3975425" y="1109918"/>
            <a:ext cx="1108200" cy="290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Instrument</a:t>
            </a: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3989816" y="1538793"/>
            <a:ext cx="1062600" cy="268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4" name="Google Shape;544;p61"/>
          <p:cNvSpPr/>
          <p:nvPr/>
        </p:nvSpPr>
        <p:spPr>
          <a:xfrm>
            <a:off x="5956747" y="2937887"/>
            <a:ext cx="2566916" cy="176170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CCID Update Client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8" name="Google Shape;548;p61"/>
          <p:cNvSpPr/>
          <p:nvPr/>
        </p:nvSpPr>
        <p:spPr>
          <a:xfrm>
            <a:off x="469611" y="235368"/>
            <a:ext cx="1623449" cy="33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LLVM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3" name="Google Shape;527;p61">
            <a:extLst>
              <a:ext uri="{FF2B5EF4-FFF2-40B4-BE49-F238E27FC236}">
                <a16:creationId xmlns:a16="http://schemas.microsoft.com/office/drawing/2014/main" id="{E8F3D5F7-3C6E-9E4A-9186-BFB00BBE9E16}"/>
              </a:ext>
            </a:extLst>
          </p:cNvPr>
          <p:cNvCxnSpPr>
            <a:cxnSpLocks/>
            <a:stCxn id="523" idx="3"/>
            <a:endCxn id="544" idx="1"/>
          </p:cNvCxnSpPr>
          <p:nvPr/>
        </p:nvCxnSpPr>
        <p:spPr>
          <a:xfrm>
            <a:off x="4847688" y="2861493"/>
            <a:ext cx="1109059" cy="95724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" name="Google Shape;544;p61">
            <a:extLst>
              <a:ext uri="{FF2B5EF4-FFF2-40B4-BE49-F238E27FC236}">
                <a16:creationId xmlns:a16="http://schemas.microsoft.com/office/drawing/2014/main" id="{06B21354-74C9-9A46-8D55-B1C4C886947D}"/>
              </a:ext>
            </a:extLst>
          </p:cNvPr>
          <p:cNvSpPr/>
          <p:nvPr/>
        </p:nvSpPr>
        <p:spPr>
          <a:xfrm>
            <a:off x="6095313" y="3218121"/>
            <a:ext cx="2350774" cy="134679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Applications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503;p61">
            <a:extLst>
              <a:ext uri="{FF2B5EF4-FFF2-40B4-BE49-F238E27FC236}">
                <a16:creationId xmlns:a16="http://schemas.microsoft.com/office/drawing/2014/main" id="{6A37D396-93EE-8635-C9BE-1B1521E5B3BB}"/>
              </a:ext>
            </a:extLst>
          </p:cNvPr>
          <p:cNvSpPr/>
          <p:nvPr/>
        </p:nvSpPr>
        <p:spPr>
          <a:xfrm>
            <a:off x="573545" y="1640953"/>
            <a:ext cx="1410600" cy="29313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llvm-objcopy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9" name="Google Shape;512;p61">
            <a:extLst>
              <a:ext uri="{FF2B5EF4-FFF2-40B4-BE49-F238E27FC236}">
                <a16:creationId xmlns:a16="http://schemas.microsoft.com/office/drawing/2014/main" id="{4D3EF954-B2A1-8CC2-EC9A-ED73DE1EDA2F}"/>
              </a:ext>
            </a:extLst>
          </p:cNvPr>
          <p:cNvCxnSpPr>
            <a:cxnSpLocks/>
            <a:stCxn id="503" idx="2"/>
            <a:endCxn id="8" idx="0"/>
          </p:cNvCxnSpPr>
          <p:nvPr/>
        </p:nvCxnSpPr>
        <p:spPr>
          <a:xfrm flipH="1">
            <a:off x="1278845" y="1351060"/>
            <a:ext cx="2492" cy="28989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E6D0D79-DFFD-19C0-90B9-937D39FA6999}"/>
              </a:ext>
            </a:extLst>
          </p:cNvPr>
          <p:cNvSpPr txBox="1"/>
          <p:nvPr/>
        </p:nvSpPr>
        <p:spPr>
          <a:xfrm>
            <a:off x="787699" y="592650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" panose="020B0602020104020603" pitchFamily="34" charset="77"/>
              </a:rPr>
              <a:t>Source files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C1E11-1161-AC87-ACFB-837F9F2A1DDF}"/>
              </a:ext>
            </a:extLst>
          </p:cNvPr>
          <p:cNvSpPr txBox="1"/>
          <p:nvPr/>
        </p:nvSpPr>
        <p:spPr>
          <a:xfrm>
            <a:off x="2088740" y="1230464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" panose="020B0602020104020603" pitchFamily="34" charset="77"/>
              </a:rPr>
              <a:t>BC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8AD091-D789-7E3E-6AF2-D20F7129C6A4}"/>
              </a:ext>
            </a:extLst>
          </p:cNvPr>
          <p:cNvSpPr txBox="1"/>
          <p:nvPr/>
        </p:nvSpPr>
        <p:spPr>
          <a:xfrm>
            <a:off x="1217238" y="132377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" panose="020B0602020104020603" pitchFamily="34" charset="77"/>
              </a:rPr>
              <a:t>EXE+BC</a:t>
            </a:r>
          </a:p>
        </p:txBody>
      </p:sp>
      <p:cxnSp>
        <p:nvCxnSpPr>
          <p:cNvPr id="20" name="Google Shape;512;p61">
            <a:extLst>
              <a:ext uri="{FF2B5EF4-FFF2-40B4-BE49-F238E27FC236}">
                <a16:creationId xmlns:a16="http://schemas.microsoft.com/office/drawing/2014/main" id="{9C8BEECB-E423-11EC-2B30-B9B410011ACB}"/>
              </a:ext>
            </a:extLst>
          </p:cNvPr>
          <p:cNvCxnSpPr>
            <a:cxnSpLocks/>
            <a:stCxn id="17" idx="2"/>
            <a:endCxn id="503" idx="0"/>
          </p:cNvCxnSpPr>
          <p:nvPr/>
        </p:nvCxnSpPr>
        <p:spPr>
          <a:xfrm flipH="1">
            <a:off x="1281337" y="900427"/>
            <a:ext cx="5858" cy="15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513;p61">
            <a:extLst>
              <a:ext uri="{FF2B5EF4-FFF2-40B4-BE49-F238E27FC236}">
                <a16:creationId xmlns:a16="http://schemas.microsoft.com/office/drawing/2014/main" id="{D9F275BB-A05D-9064-DB81-88A854F8D731}"/>
              </a:ext>
            </a:extLst>
          </p:cNvPr>
          <p:cNvCxnSpPr>
            <a:cxnSpLocks/>
          </p:cNvCxnSpPr>
          <p:nvPr/>
        </p:nvCxnSpPr>
        <p:spPr>
          <a:xfrm>
            <a:off x="5070695" y="1984341"/>
            <a:ext cx="589118" cy="9535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" name="Google Shape;511;p61">
            <a:extLst>
              <a:ext uri="{FF2B5EF4-FFF2-40B4-BE49-F238E27FC236}">
                <a16:creationId xmlns:a16="http://schemas.microsoft.com/office/drawing/2014/main" id="{B4C12F71-EF7D-0DF0-7C3F-CB84D06BE1DB}"/>
              </a:ext>
            </a:extLst>
          </p:cNvPr>
          <p:cNvSpPr txBox="1"/>
          <p:nvPr/>
        </p:nvSpPr>
        <p:spPr>
          <a:xfrm>
            <a:off x="5408212" y="1128368"/>
            <a:ext cx="508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cclib</a:t>
            </a:r>
            <a:endParaRPr dirty="0"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513;p61">
            <a:extLst>
              <a:ext uri="{FF2B5EF4-FFF2-40B4-BE49-F238E27FC236}">
                <a16:creationId xmlns:a16="http://schemas.microsoft.com/office/drawing/2014/main" id="{A81B25C5-56EB-AEE7-A861-450AB4B086AD}"/>
              </a:ext>
            </a:extLst>
          </p:cNvPr>
          <p:cNvCxnSpPr>
            <a:cxnSpLocks/>
            <a:stCxn id="506" idx="2"/>
          </p:cNvCxnSpPr>
          <p:nvPr/>
        </p:nvCxnSpPr>
        <p:spPr>
          <a:xfrm>
            <a:off x="7232091" y="1088793"/>
            <a:ext cx="0" cy="2712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09888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99;p61">
            <a:extLst>
              <a:ext uri="{FF2B5EF4-FFF2-40B4-BE49-F238E27FC236}">
                <a16:creationId xmlns:a16="http://schemas.microsoft.com/office/drawing/2014/main" id="{1C36A317-4A7A-24F3-0779-546E4F6D30BA}"/>
              </a:ext>
            </a:extLst>
          </p:cNvPr>
          <p:cNvSpPr/>
          <p:nvPr/>
        </p:nvSpPr>
        <p:spPr>
          <a:xfrm>
            <a:off x="5808463" y="42559"/>
            <a:ext cx="2785799" cy="1853825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" name="Google Shape;500;p61">
            <a:extLst>
              <a:ext uri="{FF2B5EF4-FFF2-40B4-BE49-F238E27FC236}">
                <a16:creationId xmlns:a16="http://schemas.microsoft.com/office/drawing/2014/main" id="{3B473EBA-7E68-0DB9-BC19-94825C28829D}"/>
              </a:ext>
            </a:extLst>
          </p:cNvPr>
          <p:cNvSpPr/>
          <p:nvPr/>
        </p:nvSpPr>
        <p:spPr>
          <a:xfrm>
            <a:off x="5825888" y="2000892"/>
            <a:ext cx="2785800" cy="2989321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9" name="Google Shape;499;p61"/>
          <p:cNvSpPr/>
          <p:nvPr/>
        </p:nvSpPr>
        <p:spPr>
          <a:xfrm>
            <a:off x="379663" y="203218"/>
            <a:ext cx="1788600" cy="1853825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1" name="Google Shape;501;p61"/>
          <p:cNvSpPr/>
          <p:nvPr/>
        </p:nvSpPr>
        <p:spPr>
          <a:xfrm>
            <a:off x="2333088" y="203218"/>
            <a:ext cx="3105000" cy="392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3" name="Google Shape;503;p61"/>
          <p:cNvSpPr/>
          <p:nvPr/>
        </p:nvSpPr>
        <p:spPr>
          <a:xfrm>
            <a:off x="469612" y="1057927"/>
            <a:ext cx="1623449" cy="29313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clang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4" name="Google Shape;504;p61"/>
          <p:cNvSpPr/>
          <p:nvPr/>
        </p:nvSpPr>
        <p:spPr>
          <a:xfrm>
            <a:off x="2543512" y="656343"/>
            <a:ext cx="2737800" cy="140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SVF-WPA   </a:t>
            </a: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6" name="Google Shape;506;p61"/>
          <p:cNvSpPr/>
          <p:nvPr/>
        </p:nvSpPr>
        <p:spPr>
          <a:xfrm>
            <a:off x="5997283" y="654223"/>
            <a:ext cx="2427993" cy="2757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Front-end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1" name="Google Shape;511;p61"/>
          <p:cNvSpPr txBox="1"/>
          <p:nvPr/>
        </p:nvSpPr>
        <p:spPr>
          <a:xfrm>
            <a:off x="5429281" y="495890"/>
            <a:ext cx="442949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BC</a:t>
            </a:r>
            <a:endParaRPr dirty="0"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61"/>
          <p:cNvCxnSpPr>
            <a:cxnSpLocks/>
            <a:stCxn id="8" idx="3"/>
            <a:endCxn id="522" idx="1"/>
          </p:cNvCxnSpPr>
          <p:nvPr/>
        </p:nvCxnSpPr>
        <p:spPr>
          <a:xfrm flipV="1">
            <a:off x="1984145" y="1475843"/>
            <a:ext cx="682818" cy="31167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" name="Google Shape;513;p61"/>
          <p:cNvCxnSpPr>
            <a:cxnSpLocks/>
            <a:stCxn id="526" idx="3"/>
            <a:endCxn id="506" idx="1"/>
          </p:cNvCxnSpPr>
          <p:nvPr/>
        </p:nvCxnSpPr>
        <p:spPr>
          <a:xfrm flipV="1">
            <a:off x="5152226" y="792098"/>
            <a:ext cx="845057" cy="66964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6" name="Google Shape;516;p61"/>
          <p:cNvSpPr txBox="1"/>
          <p:nvPr/>
        </p:nvSpPr>
        <p:spPr>
          <a:xfrm>
            <a:off x="6559012" y="1304306"/>
            <a:ext cx="13035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Executable</a:t>
            </a:r>
            <a:endParaRPr dirty="0"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1"/>
          <p:cNvSpPr/>
          <p:nvPr/>
        </p:nvSpPr>
        <p:spPr>
          <a:xfrm>
            <a:off x="3412163" y="2368493"/>
            <a:ext cx="879600" cy="994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Calling Context Weight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Compute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9" name="Google Shape;519;p61"/>
          <p:cNvSpPr txBox="1"/>
          <p:nvPr/>
        </p:nvSpPr>
        <p:spPr>
          <a:xfrm>
            <a:off x="2799763" y="2696043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.cg</a:t>
            </a:r>
            <a:endParaRPr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p61"/>
          <p:cNvCxnSpPr>
            <a:stCxn id="519" idx="3"/>
            <a:endCxn id="518" idx="1"/>
          </p:cNvCxnSpPr>
          <p:nvPr/>
        </p:nvCxnSpPr>
        <p:spPr>
          <a:xfrm>
            <a:off x="3245563" y="2861493"/>
            <a:ext cx="166500" cy="4200"/>
          </a:xfrm>
          <a:prstGeom prst="bentConnector3">
            <a:avLst>
              <a:gd name="adj1" fmla="val 500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" name="Google Shape;521;p61"/>
          <p:cNvCxnSpPr>
            <a:cxnSpLocks/>
            <a:stCxn id="522" idx="2"/>
            <a:endCxn id="519" idx="0"/>
          </p:cNvCxnSpPr>
          <p:nvPr/>
        </p:nvCxnSpPr>
        <p:spPr>
          <a:xfrm rot="5400000">
            <a:off x="2681113" y="2212643"/>
            <a:ext cx="824950" cy="1418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61"/>
          <p:cNvSpPr txBox="1"/>
          <p:nvPr/>
        </p:nvSpPr>
        <p:spPr>
          <a:xfrm>
            <a:off x="4401888" y="2696043"/>
            <a:ext cx="4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.cc</a:t>
            </a:r>
            <a:endParaRPr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cxnSp>
        <p:nvCxnSpPr>
          <p:cNvPr id="524" name="Google Shape;524;p61"/>
          <p:cNvCxnSpPr>
            <a:stCxn id="518" idx="3"/>
            <a:endCxn id="523" idx="1"/>
          </p:cNvCxnSpPr>
          <p:nvPr/>
        </p:nvCxnSpPr>
        <p:spPr>
          <a:xfrm rot="10800000" flipH="1">
            <a:off x="4291763" y="2861393"/>
            <a:ext cx="1101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5" name="Google Shape;525;p61"/>
          <p:cNvSpPr/>
          <p:nvPr/>
        </p:nvSpPr>
        <p:spPr>
          <a:xfrm>
            <a:off x="2543513" y="287868"/>
            <a:ext cx="27858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Static Analysis &amp; Instrumentation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2" name="Google Shape;522;p61"/>
          <p:cNvSpPr/>
          <p:nvPr/>
        </p:nvSpPr>
        <p:spPr>
          <a:xfrm>
            <a:off x="2666963" y="1080593"/>
            <a:ext cx="995100" cy="790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Dump </a:t>
            </a:r>
            <a:r>
              <a:rPr lang="en" dirty="0" err="1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callgraph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6" name="Google Shape;526;p61"/>
          <p:cNvSpPr/>
          <p:nvPr/>
        </p:nvSpPr>
        <p:spPr>
          <a:xfrm>
            <a:off x="3874526" y="978293"/>
            <a:ext cx="1277700" cy="96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27" name="Google Shape;527;p61"/>
          <p:cNvCxnSpPr>
            <a:stCxn id="523" idx="0"/>
            <a:endCxn id="526" idx="2"/>
          </p:cNvCxnSpPr>
          <p:nvPr/>
        </p:nvCxnSpPr>
        <p:spPr>
          <a:xfrm rot="5400000" flipH="1">
            <a:off x="4193688" y="2264943"/>
            <a:ext cx="750900" cy="1113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2" name="Google Shape;532;p61"/>
          <p:cNvSpPr/>
          <p:nvPr/>
        </p:nvSpPr>
        <p:spPr>
          <a:xfrm>
            <a:off x="5991487" y="148065"/>
            <a:ext cx="2454600" cy="27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Extended LLVM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4" name="Google Shape;534;p61"/>
          <p:cNvSpPr/>
          <p:nvPr/>
        </p:nvSpPr>
        <p:spPr>
          <a:xfrm>
            <a:off x="6021063" y="2244008"/>
            <a:ext cx="2454600" cy="277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Dynamic instrumentation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5" name="Google Shape;535;p61"/>
          <p:cNvSpPr/>
          <p:nvPr/>
        </p:nvSpPr>
        <p:spPr>
          <a:xfrm>
            <a:off x="5901824" y="2598099"/>
            <a:ext cx="2660446" cy="220072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DynamoRIO</a:t>
            </a: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6" name="Google Shape;536;p61"/>
          <p:cNvSpPr txBox="1"/>
          <p:nvPr/>
        </p:nvSpPr>
        <p:spPr>
          <a:xfrm>
            <a:off x="4117438" y="3423943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 err="1">
                <a:solidFill>
                  <a:schemeClr val="accent1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Caller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chemeClr val="accent2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Callee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rgbClr val="FF0000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WEIGHT</a:t>
            </a:r>
            <a:endParaRPr sz="900" dirty="0">
              <a:solidFill>
                <a:srgbClr val="FF0000"/>
              </a:solidFill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1"/>
          <p:cNvSpPr txBox="1"/>
          <p:nvPr/>
        </p:nvSpPr>
        <p:spPr>
          <a:xfrm>
            <a:off x="2139563" y="3423943"/>
            <a:ext cx="1614000" cy="38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 err="1">
                <a:solidFill>
                  <a:schemeClr val="accent1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Caller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chemeClr val="accent2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Callee</a:t>
            </a:r>
            <a:r>
              <a:rPr lang="en" b="1" dirty="0" err="1"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:</a:t>
            </a:r>
            <a:r>
              <a:rPr lang="en" sz="900" dirty="0" err="1">
                <a:solidFill>
                  <a:srgbClr val="FF0000"/>
                </a:solidFill>
                <a:latin typeface="Tw Cen MT" panose="020B0602020104020603" pitchFamily="34" charset="77"/>
                <a:ea typeface="Calibri"/>
                <a:cs typeface="Calibri"/>
                <a:sym typeface="Calibri"/>
              </a:rPr>
              <a:t>Unknown</a:t>
            </a:r>
            <a:endParaRPr sz="900" dirty="0">
              <a:solidFill>
                <a:srgbClr val="FF0000"/>
              </a:solidFill>
              <a:latin typeface="Tw Cen MT" panose="020B0602020104020603" pitchFamily="34" charset="77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1"/>
          <p:cNvSpPr/>
          <p:nvPr/>
        </p:nvSpPr>
        <p:spPr>
          <a:xfrm>
            <a:off x="3975425" y="1109918"/>
            <a:ext cx="1108200" cy="290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Instrument</a:t>
            </a: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8" name="Google Shape;538;p61"/>
          <p:cNvSpPr/>
          <p:nvPr/>
        </p:nvSpPr>
        <p:spPr>
          <a:xfrm>
            <a:off x="3989816" y="1538793"/>
            <a:ext cx="1062600" cy="268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4" name="Google Shape;544;p61"/>
          <p:cNvSpPr/>
          <p:nvPr/>
        </p:nvSpPr>
        <p:spPr>
          <a:xfrm>
            <a:off x="5956747" y="2937887"/>
            <a:ext cx="2566916" cy="176170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CCID Update Client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8" name="Google Shape;548;p61"/>
          <p:cNvSpPr/>
          <p:nvPr/>
        </p:nvSpPr>
        <p:spPr>
          <a:xfrm>
            <a:off x="469611" y="235368"/>
            <a:ext cx="1623449" cy="33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LLVM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53" name="Google Shape;527;p61">
            <a:extLst>
              <a:ext uri="{FF2B5EF4-FFF2-40B4-BE49-F238E27FC236}">
                <a16:creationId xmlns:a16="http://schemas.microsoft.com/office/drawing/2014/main" id="{E8F3D5F7-3C6E-9E4A-9186-BFB00BBE9E16}"/>
              </a:ext>
            </a:extLst>
          </p:cNvPr>
          <p:cNvCxnSpPr>
            <a:cxnSpLocks/>
            <a:stCxn id="523" idx="3"/>
            <a:endCxn id="506" idx="1"/>
          </p:cNvCxnSpPr>
          <p:nvPr/>
        </p:nvCxnSpPr>
        <p:spPr>
          <a:xfrm flipV="1">
            <a:off x="4847688" y="792098"/>
            <a:ext cx="1149595" cy="20693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" name="Google Shape;544;p61">
            <a:extLst>
              <a:ext uri="{FF2B5EF4-FFF2-40B4-BE49-F238E27FC236}">
                <a16:creationId xmlns:a16="http://schemas.microsoft.com/office/drawing/2014/main" id="{06B21354-74C9-9A46-8D55-B1C4C886947D}"/>
              </a:ext>
            </a:extLst>
          </p:cNvPr>
          <p:cNvSpPr/>
          <p:nvPr/>
        </p:nvSpPr>
        <p:spPr>
          <a:xfrm>
            <a:off x="6095313" y="3218121"/>
            <a:ext cx="2350774" cy="134679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Applications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" name="Google Shape;503;p61">
            <a:extLst>
              <a:ext uri="{FF2B5EF4-FFF2-40B4-BE49-F238E27FC236}">
                <a16:creationId xmlns:a16="http://schemas.microsoft.com/office/drawing/2014/main" id="{6A37D396-93EE-8635-C9BE-1B1521E5B3BB}"/>
              </a:ext>
            </a:extLst>
          </p:cNvPr>
          <p:cNvSpPr/>
          <p:nvPr/>
        </p:nvSpPr>
        <p:spPr>
          <a:xfrm>
            <a:off x="573545" y="1640953"/>
            <a:ext cx="1410600" cy="29313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rPr>
              <a:t>llvm-objcopy</a:t>
            </a:r>
            <a:endParaRPr dirty="0">
              <a:latin typeface="Tw Cen MT" panose="020B0602020104020603" pitchFamily="34" charset="77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9" name="Google Shape;512;p61">
            <a:extLst>
              <a:ext uri="{FF2B5EF4-FFF2-40B4-BE49-F238E27FC236}">
                <a16:creationId xmlns:a16="http://schemas.microsoft.com/office/drawing/2014/main" id="{4D3EF954-B2A1-8CC2-EC9A-ED73DE1EDA2F}"/>
              </a:ext>
            </a:extLst>
          </p:cNvPr>
          <p:cNvCxnSpPr>
            <a:cxnSpLocks/>
            <a:stCxn id="503" idx="2"/>
            <a:endCxn id="8" idx="0"/>
          </p:cNvCxnSpPr>
          <p:nvPr/>
        </p:nvCxnSpPr>
        <p:spPr>
          <a:xfrm flipH="1">
            <a:off x="1278845" y="1351060"/>
            <a:ext cx="2492" cy="28989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E6D0D79-DFFD-19C0-90B9-937D39FA6999}"/>
              </a:ext>
            </a:extLst>
          </p:cNvPr>
          <p:cNvSpPr txBox="1"/>
          <p:nvPr/>
        </p:nvSpPr>
        <p:spPr>
          <a:xfrm>
            <a:off x="787699" y="592650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" panose="020B0602020104020603" pitchFamily="34" charset="77"/>
              </a:rPr>
              <a:t>Source files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C1E11-1161-AC87-ACFB-837F9F2A1DDF}"/>
              </a:ext>
            </a:extLst>
          </p:cNvPr>
          <p:cNvSpPr txBox="1"/>
          <p:nvPr/>
        </p:nvSpPr>
        <p:spPr>
          <a:xfrm>
            <a:off x="2088740" y="1230464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" panose="020B0602020104020603" pitchFamily="34" charset="77"/>
              </a:rPr>
              <a:t>BC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8AD091-D789-7E3E-6AF2-D20F7129C6A4}"/>
              </a:ext>
            </a:extLst>
          </p:cNvPr>
          <p:cNvSpPr txBox="1"/>
          <p:nvPr/>
        </p:nvSpPr>
        <p:spPr>
          <a:xfrm>
            <a:off x="1217238" y="132377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" panose="020B0602020104020603" pitchFamily="34" charset="77"/>
              </a:rPr>
              <a:t>EXE+BC</a:t>
            </a:r>
          </a:p>
        </p:txBody>
      </p:sp>
      <p:cxnSp>
        <p:nvCxnSpPr>
          <p:cNvPr id="20" name="Google Shape;512;p61">
            <a:extLst>
              <a:ext uri="{FF2B5EF4-FFF2-40B4-BE49-F238E27FC236}">
                <a16:creationId xmlns:a16="http://schemas.microsoft.com/office/drawing/2014/main" id="{9C8BEECB-E423-11EC-2B30-B9B410011ACB}"/>
              </a:ext>
            </a:extLst>
          </p:cNvPr>
          <p:cNvCxnSpPr>
            <a:cxnSpLocks/>
            <a:stCxn id="17" idx="2"/>
            <a:endCxn id="503" idx="0"/>
          </p:cNvCxnSpPr>
          <p:nvPr/>
        </p:nvCxnSpPr>
        <p:spPr>
          <a:xfrm flipH="1">
            <a:off x="1281337" y="900427"/>
            <a:ext cx="5858" cy="15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513;p61">
            <a:extLst>
              <a:ext uri="{FF2B5EF4-FFF2-40B4-BE49-F238E27FC236}">
                <a16:creationId xmlns:a16="http://schemas.microsoft.com/office/drawing/2014/main" id="{D9F275BB-A05D-9064-DB81-88A854F8D731}"/>
              </a:ext>
            </a:extLst>
          </p:cNvPr>
          <p:cNvCxnSpPr>
            <a:cxnSpLocks/>
          </p:cNvCxnSpPr>
          <p:nvPr/>
        </p:nvCxnSpPr>
        <p:spPr>
          <a:xfrm>
            <a:off x="5070695" y="1984341"/>
            <a:ext cx="589118" cy="9535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513;p61">
            <a:extLst>
              <a:ext uri="{FF2B5EF4-FFF2-40B4-BE49-F238E27FC236}">
                <a16:creationId xmlns:a16="http://schemas.microsoft.com/office/drawing/2014/main" id="{A81B25C5-56EB-AEE7-A861-450AB4B086AD}"/>
              </a:ext>
            </a:extLst>
          </p:cNvPr>
          <p:cNvCxnSpPr>
            <a:cxnSpLocks/>
            <a:stCxn id="506" idx="2"/>
          </p:cNvCxnSpPr>
          <p:nvPr/>
        </p:nvCxnSpPr>
        <p:spPr>
          <a:xfrm>
            <a:off x="7211280" y="929973"/>
            <a:ext cx="0" cy="2712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33356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roup 798">
            <a:extLst>
              <a:ext uri="{FF2B5EF4-FFF2-40B4-BE49-F238E27FC236}">
                <a16:creationId xmlns:a16="http://schemas.microsoft.com/office/drawing/2014/main" id="{97D70ABF-ABD4-A218-4482-1B1A15EB941C}"/>
              </a:ext>
            </a:extLst>
          </p:cNvPr>
          <p:cNvGrpSpPr/>
          <p:nvPr/>
        </p:nvGrpSpPr>
        <p:grpSpPr>
          <a:xfrm>
            <a:off x="82550" y="-91646"/>
            <a:ext cx="8910243" cy="5152596"/>
            <a:chOff x="82550" y="-91646"/>
            <a:chExt cx="8910243" cy="5152596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4674F621-644D-5792-B3C7-63D6D6D131EE}"/>
                </a:ext>
              </a:extLst>
            </p:cNvPr>
            <p:cNvSpPr/>
            <p:nvPr/>
          </p:nvSpPr>
          <p:spPr>
            <a:xfrm>
              <a:off x="82551" y="-73263"/>
              <a:ext cx="8910242" cy="181854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w Cen MT" panose="020B0602020104020603" pitchFamily="34" charset="77"/>
              </a:endParaRPr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77246C17-80F5-6360-677A-A98F9EA0B872}"/>
                </a:ext>
              </a:extLst>
            </p:cNvPr>
            <p:cNvSpPr/>
            <p:nvPr/>
          </p:nvSpPr>
          <p:spPr>
            <a:xfrm>
              <a:off x="4385307" y="1924520"/>
              <a:ext cx="4607486" cy="313643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w Cen MT" panose="020B0602020104020603" pitchFamily="34" charset="77"/>
              </a:endParaRPr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9AA953EB-6DAA-CE35-78C2-70E715B07391}"/>
                </a:ext>
              </a:extLst>
            </p:cNvPr>
            <p:cNvSpPr/>
            <p:nvPr/>
          </p:nvSpPr>
          <p:spPr>
            <a:xfrm>
              <a:off x="82550" y="1924518"/>
              <a:ext cx="4233323" cy="313643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w Cen MT" panose="020B0602020104020603" pitchFamily="34" charset="77"/>
              </a:endParaRPr>
            </a:p>
          </p:txBody>
        </p:sp>
        <p:sp>
          <p:nvSpPr>
            <p:cNvPr id="4" name="Google Shape;544;p61">
              <a:extLst>
                <a:ext uri="{FF2B5EF4-FFF2-40B4-BE49-F238E27FC236}">
                  <a16:creationId xmlns:a16="http://schemas.microsoft.com/office/drawing/2014/main" id="{69CEFB26-93A5-6967-63FB-4E1ED3B19351}"/>
                </a:ext>
              </a:extLst>
            </p:cNvPr>
            <p:cNvSpPr/>
            <p:nvPr/>
          </p:nvSpPr>
          <p:spPr>
            <a:xfrm>
              <a:off x="2959134" y="398249"/>
              <a:ext cx="2909200" cy="174180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Call Graph Generator</a:t>
              </a:r>
            </a:p>
          </p:txBody>
        </p:sp>
        <p:sp>
          <p:nvSpPr>
            <p:cNvPr id="5" name="Google Shape;544;p61">
              <a:extLst>
                <a:ext uri="{FF2B5EF4-FFF2-40B4-BE49-F238E27FC236}">
                  <a16:creationId xmlns:a16="http://schemas.microsoft.com/office/drawing/2014/main" id="{21D28101-421C-36C1-709E-EEA9B9BFFE87}"/>
                </a:ext>
              </a:extLst>
            </p:cNvPr>
            <p:cNvSpPr/>
            <p:nvPr/>
          </p:nvSpPr>
          <p:spPr>
            <a:xfrm>
              <a:off x="2959134" y="1054700"/>
              <a:ext cx="2909200" cy="171327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Distinguishable Calling Context Encoding</a:t>
              </a:r>
            </a:p>
          </p:txBody>
        </p:sp>
        <p:sp>
          <p:nvSpPr>
            <p:cNvPr id="7" name="Google Shape;544;p61">
              <a:extLst>
                <a:ext uri="{FF2B5EF4-FFF2-40B4-BE49-F238E27FC236}">
                  <a16:creationId xmlns:a16="http://schemas.microsoft.com/office/drawing/2014/main" id="{854C3FB0-2BD5-B447-5574-021C4A8FA85B}"/>
                </a:ext>
              </a:extLst>
            </p:cNvPr>
            <p:cNvSpPr/>
            <p:nvPr/>
          </p:nvSpPr>
          <p:spPr>
            <a:xfrm>
              <a:off x="2402540" y="3058585"/>
              <a:ext cx="1632865" cy="321457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Instrument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Profile/Opt. Logic</a:t>
              </a:r>
            </a:p>
          </p:txBody>
        </p:sp>
        <p:sp>
          <p:nvSpPr>
            <p:cNvPr id="10" name="Google Shape;544;p61">
              <a:extLst>
                <a:ext uri="{FF2B5EF4-FFF2-40B4-BE49-F238E27FC236}">
                  <a16:creationId xmlns:a16="http://schemas.microsoft.com/office/drawing/2014/main" id="{B2980B1E-401E-7050-B403-818A78ACAA1B}"/>
                </a:ext>
              </a:extLst>
            </p:cNvPr>
            <p:cNvSpPr/>
            <p:nvPr/>
          </p:nvSpPr>
          <p:spPr>
            <a:xfrm>
              <a:off x="2402541" y="3849340"/>
              <a:ext cx="1632864" cy="321457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LLVM Back-end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6CA8491-E425-5C71-0EB3-DF6DB0FD7242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4413734" y="572429"/>
              <a:ext cx="0" cy="482271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636DBDE-C511-4DA5-5B47-7535814FA12F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rot="5400000">
              <a:off x="3295452" y="1149549"/>
              <a:ext cx="1041804" cy="1194761"/>
            </a:xfrm>
            <a:prstGeom prst="bentConnector3">
              <a:avLst>
                <a:gd name="adj1" fmla="val 45346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15">
              <a:extLst>
                <a:ext uri="{FF2B5EF4-FFF2-40B4-BE49-F238E27FC236}">
                  <a16:creationId xmlns:a16="http://schemas.microsoft.com/office/drawing/2014/main" id="{52C01C14-1C92-1FBC-CAB6-FE463155B94F}"/>
                </a:ext>
              </a:extLst>
            </p:cNvPr>
            <p:cNvCxnSpPr>
              <a:cxnSpLocks/>
              <a:stCxn id="5" idx="2"/>
              <a:endCxn id="11" idx="0"/>
            </p:cNvCxnSpPr>
            <p:nvPr/>
          </p:nvCxnSpPr>
          <p:spPr>
            <a:xfrm rot="16200000" flipH="1">
              <a:off x="4445183" y="1194578"/>
              <a:ext cx="1041804" cy="1104702"/>
            </a:xfrm>
            <a:prstGeom prst="bentConnector3">
              <a:avLst>
                <a:gd name="adj1" fmla="val 45345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006DE0E-D464-83AF-9191-1085CED49E0E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>
              <a:off x="3218973" y="2589287"/>
              <a:ext cx="0" cy="4692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3CA1630-691C-7CE6-0683-720C22328B21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>
              <a:off x="3218973" y="3380042"/>
              <a:ext cx="0" cy="4692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D45766D-C588-F1E3-DD8A-72737683C237}"/>
                </a:ext>
              </a:extLst>
            </p:cNvPr>
            <p:cNvCxnSpPr>
              <a:cxnSpLocks/>
              <a:stCxn id="47" idx="2"/>
              <a:endCxn id="4" idx="0"/>
            </p:cNvCxnSpPr>
            <p:nvPr/>
          </p:nvCxnSpPr>
          <p:spPr>
            <a:xfrm>
              <a:off x="4412441" y="185353"/>
              <a:ext cx="1293" cy="212896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EFA16D8-DC9C-54E5-1EEB-FC1EDA6A39B3}"/>
                </a:ext>
              </a:extLst>
            </p:cNvPr>
            <p:cNvSpPr txBox="1"/>
            <p:nvPr/>
          </p:nvSpPr>
          <p:spPr>
            <a:xfrm>
              <a:off x="3583337" y="-91646"/>
              <a:ext cx="1658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Original Optimized IR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FB11690-FE95-2694-E6ED-85413984D7A1}"/>
                </a:ext>
              </a:extLst>
            </p:cNvPr>
            <p:cNvSpPr txBox="1"/>
            <p:nvPr/>
          </p:nvSpPr>
          <p:spPr>
            <a:xfrm>
              <a:off x="3286598" y="1316361"/>
              <a:ext cx="2388569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Call graph with edge weight (.cc)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B13B2C0-DF87-7014-B15A-E9B9F0A5EE18}"/>
                </a:ext>
              </a:extLst>
            </p:cNvPr>
            <p:cNvSpPr txBox="1"/>
            <p:nvPr/>
          </p:nvSpPr>
          <p:spPr>
            <a:xfrm>
              <a:off x="2517977" y="2646177"/>
              <a:ext cx="1266693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IR with CCID logic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F87C495-B4F2-BA74-1D81-34BC4FEC1932}"/>
                </a:ext>
              </a:extLst>
            </p:cNvPr>
            <p:cNvCxnSpPr>
              <a:cxnSpLocks/>
              <a:stCxn id="47" idx="2"/>
              <a:endCxn id="480" idx="0"/>
            </p:cNvCxnSpPr>
            <p:nvPr/>
          </p:nvCxnSpPr>
          <p:spPr>
            <a:xfrm rot="5400000">
              <a:off x="2538366" y="393754"/>
              <a:ext cx="2082477" cy="1665675"/>
            </a:xfrm>
            <a:prstGeom prst="bentConnector3">
              <a:avLst>
                <a:gd name="adj1" fmla="val 4095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6DE5BC9E-AD17-2A53-90ED-5203DD29D0F6}"/>
                </a:ext>
              </a:extLst>
            </p:cNvPr>
            <p:cNvSpPr txBox="1"/>
            <p:nvPr/>
          </p:nvSpPr>
          <p:spPr>
            <a:xfrm>
              <a:off x="1892175" y="3443859"/>
              <a:ext cx="2343911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IR with CCID and Profile/Opt. logic</a:t>
              </a:r>
            </a:p>
          </p:txBody>
        </p:sp>
        <p:cxnSp>
          <p:nvCxnSpPr>
            <p:cNvPr id="450" name="Straight Arrow Connector 59">
              <a:extLst>
                <a:ext uri="{FF2B5EF4-FFF2-40B4-BE49-F238E27FC236}">
                  <a16:creationId xmlns:a16="http://schemas.microsoft.com/office/drawing/2014/main" id="{E1477F83-EEB6-E8B9-BC83-7463148B47F3}"/>
                </a:ext>
              </a:extLst>
            </p:cNvPr>
            <p:cNvCxnSpPr>
              <a:cxnSpLocks/>
              <a:stCxn id="47" idx="2"/>
              <a:endCxn id="482" idx="0"/>
            </p:cNvCxnSpPr>
            <p:nvPr/>
          </p:nvCxnSpPr>
          <p:spPr>
            <a:xfrm rot="16200000" flipH="1">
              <a:off x="4198927" y="398866"/>
              <a:ext cx="2082477" cy="1655449"/>
            </a:xfrm>
            <a:prstGeom prst="bentConnector3">
              <a:avLst>
                <a:gd name="adj1" fmla="val 4095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5" name="Straight Arrow Connector 464">
              <a:extLst>
                <a:ext uri="{FF2B5EF4-FFF2-40B4-BE49-F238E27FC236}">
                  <a16:creationId xmlns:a16="http://schemas.microsoft.com/office/drawing/2014/main" id="{B6C4287F-199D-A7A4-33FD-3DD4F9D03459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 flipH="1">
              <a:off x="5518434" y="2589287"/>
              <a:ext cx="2" cy="49154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9924579A-B25E-034A-E9D4-54540BE8213F}"/>
                </a:ext>
              </a:extLst>
            </p:cNvPr>
            <p:cNvSpPr txBox="1"/>
            <p:nvPr/>
          </p:nvSpPr>
          <p:spPr>
            <a:xfrm>
              <a:off x="4743091" y="2664222"/>
              <a:ext cx="1537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IR with CCW Attribute</a:t>
              </a:r>
            </a:p>
          </p:txBody>
        </p:sp>
        <p:cxnSp>
          <p:nvCxnSpPr>
            <p:cNvPr id="473" name="Straight Arrow Connector 472">
              <a:extLst>
                <a:ext uri="{FF2B5EF4-FFF2-40B4-BE49-F238E27FC236}">
                  <a16:creationId xmlns:a16="http://schemas.microsoft.com/office/drawing/2014/main" id="{54B55C5F-714B-210C-1515-DBB32A5C9595}"/>
                </a:ext>
              </a:extLst>
            </p:cNvPr>
            <p:cNvCxnSpPr>
              <a:cxnSpLocks/>
              <a:stCxn id="10" idx="2"/>
              <a:endCxn id="701" idx="0"/>
            </p:cNvCxnSpPr>
            <p:nvPr/>
          </p:nvCxnSpPr>
          <p:spPr>
            <a:xfrm>
              <a:off x="3218973" y="4170797"/>
              <a:ext cx="0" cy="46929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3E6D3B7C-C065-3D85-D309-897FBCEA09BD}"/>
                </a:ext>
              </a:extLst>
            </p:cNvPr>
            <p:cNvSpPr txBox="1"/>
            <p:nvPr/>
          </p:nvSpPr>
          <p:spPr>
            <a:xfrm>
              <a:off x="1379558" y="4241540"/>
              <a:ext cx="290335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Executable with CCID and Profile/Opt. logic</a:t>
              </a:r>
            </a:p>
          </p:txBody>
        </p:sp>
        <p:grpSp>
          <p:nvGrpSpPr>
            <p:cNvPr id="487" name="Group 486">
              <a:extLst>
                <a:ext uri="{FF2B5EF4-FFF2-40B4-BE49-F238E27FC236}">
                  <a16:creationId xmlns:a16="http://schemas.microsoft.com/office/drawing/2014/main" id="{221A0FF8-275C-30AB-59C3-600D872E3454}"/>
                </a:ext>
              </a:extLst>
            </p:cNvPr>
            <p:cNvGrpSpPr/>
            <p:nvPr/>
          </p:nvGrpSpPr>
          <p:grpSpPr>
            <a:xfrm>
              <a:off x="2402540" y="2267830"/>
              <a:ext cx="1632866" cy="321457"/>
              <a:chOff x="2573741" y="2339449"/>
              <a:chExt cx="1145447" cy="417196"/>
            </a:xfrm>
          </p:grpSpPr>
          <p:sp>
            <p:nvSpPr>
              <p:cNvPr id="480" name="Google Shape;544;p61">
                <a:extLst>
                  <a:ext uri="{FF2B5EF4-FFF2-40B4-BE49-F238E27FC236}">
                    <a16:creationId xmlns:a16="http://schemas.microsoft.com/office/drawing/2014/main" id="{9B573D37-806D-050E-C5C1-5CDD607DC1C6}"/>
                  </a:ext>
                </a:extLst>
              </p:cNvPr>
              <p:cNvSpPr/>
              <p:nvPr/>
            </p:nvSpPr>
            <p:spPr>
              <a:xfrm>
                <a:off x="2675227" y="2339449"/>
                <a:ext cx="279974" cy="246904"/>
              </a:xfrm>
              <a:prstGeom prst="rect">
                <a:avLst/>
              </a:prstGeom>
              <a:solidFill>
                <a:srgbClr val="FFFFFF"/>
              </a:solidFill>
              <a:ln w="15875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6" name="Google Shape;544;p61">
                <a:extLst>
                  <a:ext uri="{FF2B5EF4-FFF2-40B4-BE49-F238E27FC236}">
                    <a16:creationId xmlns:a16="http://schemas.microsoft.com/office/drawing/2014/main" id="{A0E71904-24F9-2CF6-4881-690168515367}"/>
                  </a:ext>
                </a:extLst>
              </p:cNvPr>
              <p:cNvSpPr/>
              <p:nvPr/>
            </p:nvSpPr>
            <p:spPr>
              <a:xfrm>
                <a:off x="2573741" y="2339450"/>
                <a:ext cx="1145447" cy="417195"/>
              </a:xfrm>
              <a:prstGeom prst="rect">
                <a:avLst/>
              </a:prstGeom>
              <a:solidFill>
                <a:srgbClr val="FFFFFF"/>
              </a:solidFill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Instrument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CCID Update</a:t>
                </a:r>
              </a:p>
            </p:txBody>
          </p:sp>
        </p:grpSp>
        <p:grpSp>
          <p:nvGrpSpPr>
            <p:cNvPr id="486" name="Group 485">
              <a:extLst>
                <a:ext uri="{FF2B5EF4-FFF2-40B4-BE49-F238E27FC236}">
                  <a16:creationId xmlns:a16="http://schemas.microsoft.com/office/drawing/2014/main" id="{0AF06979-8071-5D34-25FE-A43C360184F3}"/>
                </a:ext>
              </a:extLst>
            </p:cNvPr>
            <p:cNvGrpSpPr/>
            <p:nvPr/>
          </p:nvGrpSpPr>
          <p:grpSpPr>
            <a:xfrm>
              <a:off x="4660097" y="2267830"/>
              <a:ext cx="1716677" cy="321457"/>
              <a:chOff x="4148417" y="2339449"/>
              <a:chExt cx="1204240" cy="417196"/>
            </a:xfrm>
          </p:grpSpPr>
          <p:sp>
            <p:nvSpPr>
              <p:cNvPr id="482" name="Google Shape;544;p61">
                <a:extLst>
                  <a:ext uri="{FF2B5EF4-FFF2-40B4-BE49-F238E27FC236}">
                    <a16:creationId xmlns:a16="http://schemas.microsoft.com/office/drawing/2014/main" id="{950CB0B6-7851-7CF4-16F2-D50911A8F3A5}"/>
                  </a:ext>
                </a:extLst>
              </p:cNvPr>
              <p:cNvSpPr/>
              <p:nvPr/>
            </p:nvSpPr>
            <p:spPr>
              <a:xfrm>
                <a:off x="4995991" y="2339449"/>
                <a:ext cx="279974" cy="246904"/>
              </a:xfrm>
              <a:prstGeom prst="rect">
                <a:avLst/>
              </a:prstGeom>
              <a:solidFill>
                <a:srgbClr val="FFFFFF"/>
              </a:solidFill>
              <a:ln w="15875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1" name="Google Shape;544;p61">
                <a:extLst>
                  <a:ext uri="{FF2B5EF4-FFF2-40B4-BE49-F238E27FC236}">
                    <a16:creationId xmlns:a16="http://schemas.microsoft.com/office/drawing/2014/main" id="{B3067E91-10A7-CA28-DE49-896677521859}"/>
                  </a:ext>
                </a:extLst>
              </p:cNvPr>
              <p:cNvSpPr/>
              <p:nvPr/>
            </p:nvSpPr>
            <p:spPr>
              <a:xfrm>
                <a:off x="4148417" y="2339450"/>
                <a:ext cx="1204240" cy="417195"/>
              </a:xfrm>
              <a:prstGeom prst="rect">
                <a:avLst/>
              </a:prstGeom>
              <a:solidFill>
                <a:srgbClr val="FFFFFF"/>
              </a:solidFill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Embed Edge Weight (CCW)</a:t>
                </a:r>
              </a:p>
            </p:txBody>
          </p:sp>
        </p:grpSp>
        <p:cxnSp>
          <p:nvCxnSpPr>
            <p:cNvPr id="490" name="Straight Arrow Connector 489">
              <a:extLst>
                <a:ext uri="{FF2B5EF4-FFF2-40B4-BE49-F238E27FC236}">
                  <a16:creationId xmlns:a16="http://schemas.microsoft.com/office/drawing/2014/main" id="{7152D472-1BE9-BD21-D0DD-5BF23D008F54}"/>
                </a:ext>
              </a:extLst>
            </p:cNvPr>
            <p:cNvCxnSpPr>
              <a:cxnSpLocks/>
            </p:cNvCxnSpPr>
            <p:nvPr/>
          </p:nvCxnSpPr>
          <p:spPr>
            <a:xfrm>
              <a:off x="5028998" y="3342286"/>
              <a:ext cx="0" cy="77416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8" name="Document 507">
              <a:extLst>
                <a:ext uri="{FF2B5EF4-FFF2-40B4-BE49-F238E27FC236}">
                  <a16:creationId xmlns:a16="http://schemas.microsoft.com/office/drawing/2014/main" id="{DCE83C82-D7AF-CD87-D17D-052E055A6BE0}"/>
                </a:ext>
              </a:extLst>
            </p:cNvPr>
            <p:cNvSpPr/>
            <p:nvPr/>
          </p:nvSpPr>
          <p:spPr>
            <a:xfrm>
              <a:off x="284420" y="-17933"/>
              <a:ext cx="1190106" cy="797607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define @main() {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call void @A()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call void @B()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call void (…) %12 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509" name="Document 508">
              <a:extLst>
                <a:ext uri="{FF2B5EF4-FFF2-40B4-BE49-F238E27FC236}">
                  <a16:creationId xmlns:a16="http://schemas.microsoft.com/office/drawing/2014/main" id="{72B3085D-FCB4-8662-26B3-59408FC706D6}"/>
                </a:ext>
              </a:extLst>
            </p:cNvPr>
            <p:cNvSpPr/>
            <p:nvPr/>
          </p:nvSpPr>
          <p:spPr>
            <a:xfrm>
              <a:off x="158936" y="2316076"/>
              <a:ext cx="1220621" cy="930755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define @main() {</a:t>
              </a:r>
            </a:p>
            <a:p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900" dirty="0" err="1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addWeight</a:t>
              </a:r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(1);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call void @A();</a:t>
              </a:r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       </a:t>
              </a:r>
            </a:p>
            <a:p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900" dirty="0" err="1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removeWeight</a:t>
              </a:r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(1);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514" name="Document 513">
              <a:extLst>
                <a:ext uri="{FF2B5EF4-FFF2-40B4-BE49-F238E27FC236}">
                  <a16:creationId xmlns:a16="http://schemas.microsoft.com/office/drawing/2014/main" id="{A13000B8-8D0C-550E-201C-40D4E470DB42}"/>
                </a:ext>
              </a:extLst>
            </p:cNvPr>
            <p:cNvSpPr/>
            <p:nvPr/>
          </p:nvSpPr>
          <p:spPr>
            <a:xfrm>
              <a:off x="151207" y="3380042"/>
              <a:ext cx="1220622" cy="1327186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define @main() {</a:t>
              </a:r>
            </a:p>
            <a:p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// Profile/Opt. Logic</a:t>
              </a:r>
            </a:p>
            <a:p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// with </a:t>
              </a:r>
              <a:r>
                <a:rPr lang="en-US" sz="900" dirty="0" err="1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getCCID</a:t>
              </a:r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();</a:t>
              </a:r>
            </a:p>
            <a:p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//        decode(CCID);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9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addWeight</a:t>
              </a:r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(1);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call void @A();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9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removeWeight</a:t>
              </a:r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(1);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515" name="Document 514">
              <a:extLst>
                <a:ext uri="{FF2B5EF4-FFF2-40B4-BE49-F238E27FC236}">
                  <a16:creationId xmlns:a16="http://schemas.microsoft.com/office/drawing/2014/main" id="{00230183-1D66-5B5C-6AF1-1F9C0BD3A255}"/>
                </a:ext>
              </a:extLst>
            </p:cNvPr>
            <p:cNvSpPr/>
            <p:nvPr/>
          </p:nvSpPr>
          <p:spPr>
            <a:xfrm>
              <a:off x="294070" y="796679"/>
              <a:ext cx="1180023" cy="445892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main:0:A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main:1:B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main:2:A,B</a:t>
              </a:r>
            </a:p>
          </p:txBody>
        </p:sp>
        <p:sp>
          <p:nvSpPr>
            <p:cNvPr id="517" name="Document 516">
              <a:extLst>
                <a:ext uri="{FF2B5EF4-FFF2-40B4-BE49-F238E27FC236}">
                  <a16:creationId xmlns:a16="http://schemas.microsoft.com/office/drawing/2014/main" id="{0F8D662D-99F5-B18B-EEC1-40CE35DCE8E0}"/>
                </a:ext>
              </a:extLst>
            </p:cNvPr>
            <p:cNvSpPr/>
            <p:nvPr/>
          </p:nvSpPr>
          <p:spPr>
            <a:xfrm>
              <a:off x="284421" y="1245052"/>
              <a:ext cx="1208412" cy="452589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Main:0:A</a:t>
              </a:r>
              <a:r>
                <a:rPr lang="en-US" sz="900" dirty="0">
                  <a:solidFill>
                    <a:schemeClr val="accent2"/>
                  </a:solidFill>
                  <a:latin typeface="Tw Cen MT" panose="020B0602020104020603" pitchFamily="34" charset="77"/>
                </a:rPr>
                <a:t>-1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Main:1:B</a:t>
              </a:r>
              <a:r>
                <a:rPr lang="en-US" sz="900" dirty="0">
                  <a:solidFill>
                    <a:schemeClr val="accent2"/>
                  </a:solidFill>
                  <a:latin typeface="Tw Cen MT" panose="020B0602020104020603" pitchFamily="34" charset="77"/>
                </a:rPr>
                <a:t>-2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Main:2:A</a:t>
              </a:r>
              <a:r>
                <a:rPr lang="en-US" sz="900" dirty="0">
                  <a:solidFill>
                    <a:schemeClr val="accent2"/>
                  </a:solidFill>
                  <a:latin typeface="Tw Cen MT" panose="020B0602020104020603" pitchFamily="34" charset="77"/>
                </a:rPr>
                <a:t>-3</a:t>
              </a:r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,B</a:t>
              </a:r>
              <a:r>
                <a:rPr lang="en-US" sz="900" dirty="0">
                  <a:solidFill>
                    <a:schemeClr val="accent2"/>
                  </a:solidFill>
                  <a:latin typeface="Tw Cen MT" panose="020B0602020104020603" pitchFamily="34" charset="77"/>
                </a:rPr>
                <a:t>-4</a:t>
              </a:r>
            </a:p>
          </p:txBody>
        </p:sp>
        <p:sp>
          <p:nvSpPr>
            <p:cNvPr id="528" name="Document 527">
              <a:extLst>
                <a:ext uri="{FF2B5EF4-FFF2-40B4-BE49-F238E27FC236}">
                  <a16:creationId xmlns:a16="http://schemas.microsoft.com/office/drawing/2014/main" id="{CCD53001-64CB-0E37-E4E2-FEF1D7C08045}"/>
                </a:ext>
              </a:extLst>
            </p:cNvPr>
            <p:cNvSpPr/>
            <p:nvPr/>
          </p:nvSpPr>
          <p:spPr>
            <a:xfrm>
              <a:off x="7243951" y="2295897"/>
              <a:ext cx="1601546" cy="1031226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define @main) {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call void @A(); </a:t>
              </a:r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!</a:t>
              </a:r>
              <a:r>
                <a:rPr lang="en-US" sz="900" dirty="0" err="1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ccw</a:t>
              </a:r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 !55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  <a:p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!55 = !{!”A-1”}</a:t>
              </a:r>
            </a:p>
            <a:p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!56 = !{!”B-1”}</a:t>
              </a:r>
            </a:p>
            <a:p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latin typeface="Tw Cen MT" panose="020B0602020104020603" pitchFamily="34" charset="77"/>
                </a:rPr>
                <a:t>!57 = !{!”A-3”,B-4}</a:t>
              </a:r>
            </a:p>
          </p:txBody>
        </p:sp>
        <p:sp>
          <p:nvSpPr>
            <p:cNvPr id="531" name="Document 530">
              <a:extLst>
                <a:ext uri="{FF2B5EF4-FFF2-40B4-BE49-F238E27FC236}">
                  <a16:creationId xmlns:a16="http://schemas.microsoft.com/office/drawing/2014/main" id="{4673FACD-D4EC-A1F4-54A8-952A2408EF6A}"/>
                </a:ext>
              </a:extLst>
            </p:cNvPr>
            <p:cNvSpPr/>
            <p:nvPr/>
          </p:nvSpPr>
          <p:spPr>
            <a:xfrm>
              <a:off x="7229870" y="3369739"/>
              <a:ext cx="1636310" cy="857787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0x40114e:0x401110-1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0x401153:0x401120-2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0x401185:0x401110-3, 0x401120-4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</a:p>
          </p:txBody>
        </p:sp>
        <p:cxnSp>
          <p:nvCxnSpPr>
            <p:cNvPr id="539" name="Straight Arrow Connector 538">
              <a:extLst>
                <a:ext uri="{FF2B5EF4-FFF2-40B4-BE49-F238E27FC236}">
                  <a16:creationId xmlns:a16="http://schemas.microsoft.com/office/drawing/2014/main" id="{9AEE2DB8-142B-753D-F7C1-98D5861E5C1B}"/>
                </a:ext>
              </a:extLst>
            </p:cNvPr>
            <p:cNvCxnSpPr>
              <a:cxnSpLocks/>
              <a:stCxn id="47" idx="1"/>
              <a:endCxn id="508" idx="3"/>
            </p:cNvCxnSpPr>
            <p:nvPr/>
          </p:nvCxnSpPr>
          <p:spPr>
            <a:xfrm flipH="1">
              <a:off x="1474526" y="46854"/>
              <a:ext cx="2108811" cy="334017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6" name="Straight Arrow Connector 545">
              <a:extLst>
                <a:ext uri="{FF2B5EF4-FFF2-40B4-BE49-F238E27FC236}">
                  <a16:creationId xmlns:a16="http://schemas.microsoft.com/office/drawing/2014/main" id="{96E54164-D32B-C0E2-DEEA-53D8B52BC5BE}"/>
                </a:ext>
              </a:extLst>
            </p:cNvPr>
            <p:cNvCxnSpPr>
              <a:cxnSpLocks/>
              <a:stCxn id="57" idx="1"/>
              <a:endCxn id="515" idx="3"/>
            </p:cNvCxnSpPr>
            <p:nvPr/>
          </p:nvCxnSpPr>
          <p:spPr>
            <a:xfrm flipH="1">
              <a:off x="1474093" y="802014"/>
              <a:ext cx="1781371" cy="217611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0" name="Straight Arrow Connector 549">
              <a:extLst>
                <a:ext uri="{FF2B5EF4-FFF2-40B4-BE49-F238E27FC236}">
                  <a16:creationId xmlns:a16="http://schemas.microsoft.com/office/drawing/2014/main" id="{0F332C26-CD81-77B9-4442-3532C1E8993B}"/>
                </a:ext>
              </a:extLst>
            </p:cNvPr>
            <p:cNvCxnSpPr>
              <a:cxnSpLocks/>
              <a:stCxn id="58" idx="1"/>
              <a:endCxn id="517" idx="3"/>
            </p:cNvCxnSpPr>
            <p:nvPr/>
          </p:nvCxnSpPr>
          <p:spPr>
            <a:xfrm flipH="1">
              <a:off x="1492833" y="1454861"/>
              <a:ext cx="1793765" cy="16486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0" name="Straight Arrow Connector 559">
              <a:extLst>
                <a:ext uri="{FF2B5EF4-FFF2-40B4-BE49-F238E27FC236}">
                  <a16:creationId xmlns:a16="http://schemas.microsoft.com/office/drawing/2014/main" id="{55BA25EA-5B84-9360-5C5E-53BBF1830750}"/>
                </a:ext>
              </a:extLst>
            </p:cNvPr>
            <p:cNvCxnSpPr>
              <a:cxnSpLocks/>
              <a:stCxn id="59" idx="1"/>
              <a:endCxn id="509" idx="3"/>
            </p:cNvCxnSpPr>
            <p:nvPr/>
          </p:nvCxnSpPr>
          <p:spPr>
            <a:xfrm flipH="1" flipV="1">
              <a:off x="1379557" y="2781454"/>
              <a:ext cx="1138420" cy="3223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4" name="Straight Arrow Connector 563">
              <a:extLst>
                <a:ext uri="{FF2B5EF4-FFF2-40B4-BE49-F238E27FC236}">
                  <a16:creationId xmlns:a16="http://schemas.microsoft.com/office/drawing/2014/main" id="{253D942A-F464-23D8-F13A-11DD20AAFA44}"/>
                </a:ext>
              </a:extLst>
            </p:cNvPr>
            <p:cNvCxnSpPr>
              <a:cxnSpLocks/>
              <a:stCxn id="449" idx="1"/>
              <a:endCxn id="514" idx="3"/>
            </p:cNvCxnSpPr>
            <p:nvPr/>
          </p:nvCxnSpPr>
          <p:spPr>
            <a:xfrm flipH="1">
              <a:off x="1371829" y="3582359"/>
              <a:ext cx="520346" cy="461276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0" name="Document 529">
              <a:extLst>
                <a:ext uri="{FF2B5EF4-FFF2-40B4-BE49-F238E27FC236}">
                  <a16:creationId xmlns:a16="http://schemas.microsoft.com/office/drawing/2014/main" id="{8D38464D-7C67-C675-780C-7373089ACD81}"/>
                </a:ext>
              </a:extLst>
            </p:cNvPr>
            <p:cNvSpPr/>
            <p:nvPr/>
          </p:nvSpPr>
          <p:spPr>
            <a:xfrm>
              <a:off x="7258031" y="4241540"/>
              <a:ext cx="1585421" cy="761474"/>
            </a:xfrm>
            <a:prstGeom prst="flowChartDocument">
              <a:avLst/>
            </a:prstGeom>
            <a:solidFill>
              <a:schemeClr val="lt1"/>
            </a:solidFill>
            <a:ln w="88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0x401110 &lt;A&gt;: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0x401120 &lt;B&gt;: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0x401130 &lt;main&gt;:</a:t>
              </a:r>
            </a:p>
            <a:p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0x40114e: </a:t>
              </a:r>
              <a:r>
                <a:rPr lang="en-US" sz="9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callq</a:t>
              </a:r>
              <a:r>
                <a:rPr lang="en-US" sz="9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0x401110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C965A3F-BC28-F0E1-1FCB-D3FF58FF61D0}"/>
                </a:ext>
              </a:extLst>
            </p:cNvPr>
            <p:cNvCxnSpPr>
              <a:cxnSpLocks/>
              <a:stCxn id="470" idx="3"/>
              <a:endCxn id="528" idx="1"/>
            </p:cNvCxnSpPr>
            <p:nvPr/>
          </p:nvCxnSpPr>
          <p:spPr>
            <a:xfrm>
              <a:off x="6280691" y="2802722"/>
              <a:ext cx="963260" cy="8788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84FDA20-BD8A-DCD5-4025-B54F69E56B79}"/>
                </a:ext>
              </a:extLst>
            </p:cNvPr>
            <p:cNvSpPr txBox="1"/>
            <p:nvPr/>
          </p:nvSpPr>
          <p:spPr>
            <a:xfrm>
              <a:off x="463727" y="1976282"/>
              <a:ext cx="1807753" cy="276999"/>
            </a:xfrm>
            <a:prstGeom prst="rect">
              <a:avLst/>
            </a:prstGeom>
            <a:solidFill>
              <a:schemeClr val="accent1">
                <a:lumMod val="75000"/>
                <a:alpha val="26889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Static DCCE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B5F53C4-C21B-D4ED-8B6C-6F435D3C36D8}"/>
                </a:ext>
              </a:extLst>
            </p:cNvPr>
            <p:cNvSpPr txBox="1"/>
            <p:nvPr/>
          </p:nvSpPr>
          <p:spPr>
            <a:xfrm>
              <a:off x="6818897" y="1976282"/>
              <a:ext cx="1655448" cy="276999"/>
            </a:xfrm>
            <a:prstGeom prst="rect">
              <a:avLst/>
            </a:prstGeom>
            <a:solidFill>
              <a:schemeClr val="accent6">
                <a:lumMod val="75000"/>
                <a:alpha val="27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Dynamic DCCE</a:t>
              </a:r>
            </a:p>
          </p:txBody>
        </p:sp>
        <p:sp>
          <p:nvSpPr>
            <p:cNvPr id="632" name="TextBox 631">
              <a:extLst>
                <a:ext uri="{FF2B5EF4-FFF2-40B4-BE49-F238E27FC236}">
                  <a16:creationId xmlns:a16="http://schemas.microsoft.com/office/drawing/2014/main" id="{C57E7792-9882-1447-54B4-7C65B6935E98}"/>
                </a:ext>
              </a:extLst>
            </p:cNvPr>
            <p:cNvSpPr txBox="1"/>
            <p:nvPr/>
          </p:nvSpPr>
          <p:spPr>
            <a:xfrm>
              <a:off x="5964923" y="-17933"/>
              <a:ext cx="2662908" cy="276999"/>
            </a:xfrm>
            <a:prstGeom prst="rect">
              <a:avLst/>
            </a:prstGeom>
            <a:solidFill>
              <a:schemeClr val="accent4">
                <a:lumMod val="75000"/>
                <a:alpha val="27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Distinguishable Calling Context Encoding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7DB3E70-0579-1168-99C2-7587797091EB}"/>
                </a:ext>
              </a:extLst>
            </p:cNvPr>
            <p:cNvSpPr txBox="1"/>
            <p:nvPr/>
          </p:nvSpPr>
          <p:spPr>
            <a:xfrm>
              <a:off x="3255464" y="663514"/>
              <a:ext cx="2450976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Call graph without edge weight (.cg)</a:t>
              </a:r>
            </a:p>
          </p:txBody>
        </p:sp>
        <p:sp>
          <p:nvSpPr>
            <p:cNvPr id="701" name="Google Shape;544;p61">
              <a:extLst>
                <a:ext uri="{FF2B5EF4-FFF2-40B4-BE49-F238E27FC236}">
                  <a16:creationId xmlns:a16="http://schemas.microsoft.com/office/drawing/2014/main" id="{429800F7-093D-489C-00BA-498EF35034EA}"/>
                </a:ext>
              </a:extLst>
            </p:cNvPr>
            <p:cNvSpPr/>
            <p:nvPr/>
          </p:nvSpPr>
          <p:spPr>
            <a:xfrm>
              <a:off x="2402541" y="4640096"/>
              <a:ext cx="1632864" cy="324969"/>
            </a:xfrm>
            <a:prstGeom prst="rect">
              <a:avLst/>
            </a:prstGeom>
            <a:solidFill>
              <a:schemeClr val="accent1">
                <a:lumMod val="75000"/>
                <a:alpha val="10000"/>
              </a:schemeClr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Real Machine</a:t>
              </a:r>
            </a:p>
          </p:txBody>
        </p:sp>
        <p:sp>
          <p:nvSpPr>
            <p:cNvPr id="714" name="Google Shape;544;p61">
              <a:extLst>
                <a:ext uri="{FF2B5EF4-FFF2-40B4-BE49-F238E27FC236}">
                  <a16:creationId xmlns:a16="http://schemas.microsoft.com/office/drawing/2014/main" id="{B0D600E7-41BD-AB5C-CEB4-2103A35E9C50}"/>
                </a:ext>
              </a:extLst>
            </p:cNvPr>
            <p:cNvSpPr/>
            <p:nvPr/>
          </p:nvSpPr>
          <p:spPr>
            <a:xfrm>
              <a:off x="4658051" y="4636291"/>
              <a:ext cx="1718901" cy="328774"/>
            </a:xfrm>
            <a:prstGeom prst="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Real Machine</a:t>
              </a:r>
            </a:p>
          </p:txBody>
        </p:sp>
        <p:cxnSp>
          <p:nvCxnSpPr>
            <p:cNvPr id="718" name="Straight Arrow Connector 717">
              <a:extLst>
                <a:ext uri="{FF2B5EF4-FFF2-40B4-BE49-F238E27FC236}">
                  <a16:creationId xmlns:a16="http://schemas.microsoft.com/office/drawing/2014/main" id="{C32290FB-9C86-59B5-2048-8E8C9CA0B66B}"/>
                </a:ext>
              </a:extLst>
            </p:cNvPr>
            <p:cNvCxnSpPr>
              <a:cxnSpLocks/>
              <a:stCxn id="706" idx="2"/>
              <a:endCxn id="714" idx="0"/>
            </p:cNvCxnSpPr>
            <p:nvPr/>
          </p:nvCxnSpPr>
          <p:spPr>
            <a:xfrm flipH="1">
              <a:off x="5517502" y="4533650"/>
              <a:ext cx="2044" cy="10264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8" name="Straight Arrow Connector 737">
              <a:extLst>
                <a:ext uri="{FF2B5EF4-FFF2-40B4-BE49-F238E27FC236}">
                  <a16:creationId xmlns:a16="http://schemas.microsoft.com/office/drawing/2014/main" id="{28779CAC-BB6A-9439-4A7E-F8B1E6B31E21}"/>
                </a:ext>
              </a:extLst>
            </p:cNvPr>
            <p:cNvCxnSpPr>
              <a:cxnSpLocks/>
              <a:endCxn id="707" idx="0"/>
            </p:cNvCxnSpPr>
            <p:nvPr/>
          </p:nvCxnSpPr>
          <p:spPr>
            <a:xfrm>
              <a:off x="6107151" y="3402288"/>
              <a:ext cx="0" cy="71416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42" name="Google Shape;544;p61">
              <a:extLst>
                <a:ext uri="{FF2B5EF4-FFF2-40B4-BE49-F238E27FC236}">
                  <a16:creationId xmlns:a16="http://schemas.microsoft.com/office/drawing/2014/main" id="{27DD4927-29C5-A0B8-22EC-8B3D19F40403}"/>
                </a:ext>
              </a:extLst>
            </p:cNvPr>
            <p:cNvSpPr/>
            <p:nvPr/>
          </p:nvSpPr>
          <p:spPr>
            <a:xfrm>
              <a:off x="5051028" y="3197801"/>
              <a:ext cx="454703" cy="144485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900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41" name="Google Shape;544;p61">
              <a:extLst>
                <a:ext uri="{FF2B5EF4-FFF2-40B4-BE49-F238E27FC236}">
                  <a16:creationId xmlns:a16="http://schemas.microsoft.com/office/drawing/2014/main" id="{4EBEA7C3-21B1-E440-E3DB-42113F1361DD}"/>
                </a:ext>
              </a:extLst>
            </p:cNvPr>
            <p:cNvSpPr/>
            <p:nvPr/>
          </p:nvSpPr>
          <p:spPr>
            <a:xfrm>
              <a:off x="5921189" y="3197802"/>
              <a:ext cx="454703" cy="144485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900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8" name="Google Shape;544;p61">
              <a:extLst>
                <a:ext uri="{FF2B5EF4-FFF2-40B4-BE49-F238E27FC236}">
                  <a16:creationId xmlns:a16="http://schemas.microsoft.com/office/drawing/2014/main" id="{8E511772-2835-DE2E-2895-2B2B354B3166}"/>
                </a:ext>
              </a:extLst>
            </p:cNvPr>
            <p:cNvSpPr/>
            <p:nvPr/>
          </p:nvSpPr>
          <p:spPr>
            <a:xfrm>
              <a:off x="5147794" y="3159853"/>
              <a:ext cx="326992" cy="177861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900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489" name="Google Shape;544;p61">
              <a:extLst>
                <a:ext uri="{FF2B5EF4-FFF2-40B4-BE49-F238E27FC236}">
                  <a16:creationId xmlns:a16="http://schemas.microsoft.com/office/drawing/2014/main" id="{3825696D-9382-C7D6-56F9-32A0579C4F7E}"/>
                </a:ext>
              </a:extLst>
            </p:cNvPr>
            <p:cNvSpPr/>
            <p:nvPr/>
          </p:nvSpPr>
          <p:spPr>
            <a:xfrm>
              <a:off x="6004667" y="3159853"/>
              <a:ext cx="326992" cy="177861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900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2" name="Google Shape;544;p61">
              <a:extLst>
                <a:ext uri="{FF2B5EF4-FFF2-40B4-BE49-F238E27FC236}">
                  <a16:creationId xmlns:a16="http://schemas.microsoft.com/office/drawing/2014/main" id="{A5201AEF-9C26-5D8F-3769-204E0BF02EC3}"/>
                </a:ext>
              </a:extLst>
            </p:cNvPr>
            <p:cNvSpPr/>
            <p:nvPr/>
          </p:nvSpPr>
          <p:spPr>
            <a:xfrm>
              <a:off x="4660095" y="3080831"/>
              <a:ext cx="1716677" cy="321457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Extended LLVM Back-end</a:t>
              </a:r>
            </a:p>
          </p:txBody>
        </p:sp>
        <p:sp>
          <p:nvSpPr>
            <p:cNvPr id="745" name="Google Shape;544;p61">
              <a:extLst>
                <a:ext uri="{FF2B5EF4-FFF2-40B4-BE49-F238E27FC236}">
                  <a16:creationId xmlns:a16="http://schemas.microsoft.com/office/drawing/2014/main" id="{35650E0D-80EA-1B10-52F0-3953583F71A6}"/>
                </a:ext>
              </a:extLst>
            </p:cNvPr>
            <p:cNvSpPr/>
            <p:nvPr/>
          </p:nvSpPr>
          <p:spPr>
            <a:xfrm>
              <a:off x="5051028" y="4116455"/>
              <a:ext cx="454703" cy="144485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900" dirty="0">
                <a:latin typeface="Tw Cen MT" panose="020B0602020104020603" pitchFamily="34" charset="77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06" name="Google Shape;544;p61">
              <a:extLst>
                <a:ext uri="{FF2B5EF4-FFF2-40B4-BE49-F238E27FC236}">
                  <a16:creationId xmlns:a16="http://schemas.microsoft.com/office/drawing/2014/main" id="{76143DFE-BD82-8F43-C8B3-F28AEDE07610}"/>
                </a:ext>
              </a:extLst>
            </p:cNvPr>
            <p:cNvSpPr/>
            <p:nvPr/>
          </p:nvSpPr>
          <p:spPr>
            <a:xfrm>
              <a:off x="4660095" y="4116455"/>
              <a:ext cx="1718901" cy="417195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Dynamo</a:t>
              </a:r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RIO. </a:t>
              </a:r>
            </a:p>
          </p:txBody>
        </p:sp>
        <p:sp>
          <p:nvSpPr>
            <p:cNvPr id="707" name="Google Shape;544;p61">
              <a:extLst>
                <a:ext uri="{FF2B5EF4-FFF2-40B4-BE49-F238E27FC236}">
                  <a16:creationId xmlns:a16="http://schemas.microsoft.com/office/drawing/2014/main" id="{9B454925-1D9B-26BF-979D-64353A2A2AA1}"/>
                </a:ext>
              </a:extLst>
            </p:cNvPr>
            <p:cNvSpPr/>
            <p:nvPr/>
          </p:nvSpPr>
          <p:spPr>
            <a:xfrm>
              <a:off x="5838410" y="4116455"/>
              <a:ext cx="537482" cy="319508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DCCE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Lib.</a:t>
              </a:r>
            </a:p>
          </p:txBody>
        </p:sp>
        <p:sp>
          <p:nvSpPr>
            <p:cNvPr id="708" name="Google Shape;544;p61">
              <a:extLst>
                <a:ext uri="{FF2B5EF4-FFF2-40B4-BE49-F238E27FC236}">
                  <a16:creationId xmlns:a16="http://schemas.microsoft.com/office/drawing/2014/main" id="{FE0E20E0-5696-6D86-35CD-770AD0358134}"/>
                </a:ext>
              </a:extLst>
            </p:cNvPr>
            <p:cNvSpPr/>
            <p:nvPr/>
          </p:nvSpPr>
          <p:spPr>
            <a:xfrm>
              <a:off x="5297823" y="4116455"/>
              <a:ext cx="537482" cy="319508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rPr>
                <a:t>Client</a:t>
              </a: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5EBC3967-4DC2-6993-89E5-6A28B23E9E65}"/>
                </a:ext>
              </a:extLst>
            </p:cNvPr>
            <p:cNvSpPr txBox="1"/>
            <p:nvPr/>
          </p:nvSpPr>
          <p:spPr>
            <a:xfrm>
              <a:off x="5613160" y="3546299"/>
              <a:ext cx="1157689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CCW File (.</a:t>
              </a:r>
              <a:r>
                <a:rPr lang="en-US" sz="1200" dirty="0" err="1">
                  <a:latin typeface="Tw Cen MT" panose="020B0602020104020603" pitchFamily="34" charset="77"/>
                </a:rPr>
                <a:t>ccw</a:t>
              </a:r>
              <a:r>
                <a:rPr lang="en-US" sz="1200" dirty="0">
                  <a:latin typeface="Tw Cen MT" panose="020B0602020104020603" pitchFamily="34" charset="77"/>
                </a:rPr>
                <a:t>)</a:t>
              </a:r>
            </a:p>
          </p:txBody>
        </p: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F4ABE187-22D5-9136-51F0-4180C5063C61}"/>
                </a:ext>
              </a:extLst>
            </p:cNvPr>
            <p:cNvSpPr txBox="1"/>
            <p:nvPr/>
          </p:nvSpPr>
          <p:spPr>
            <a:xfrm>
              <a:off x="4585265" y="3477026"/>
              <a:ext cx="854721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Regular </a:t>
              </a:r>
            </a:p>
            <a:p>
              <a:pPr algn="ctr"/>
              <a:r>
                <a:rPr lang="en-US" sz="1200" dirty="0">
                  <a:latin typeface="Tw Cen MT" panose="020B0602020104020603" pitchFamily="34" charset="77"/>
                </a:rPr>
                <a:t>Executable</a:t>
              </a:r>
            </a:p>
          </p:txBody>
        </p:sp>
        <p:cxnSp>
          <p:nvCxnSpPr>
            <p:cNvPr id="767" name="Straight Arrow Connector 766">
              <a:extLst>
                <a:ext uri="{FF2B5EF4-FFF2-40B4-BE49-F238E27FC236}">
                  <a16:creationId xmlns:a16="http://schemas.microsoft.com/office/drawing/2014/main" id="{1F63FAA0-F39C-ED86-B420-84120ED4A7E9}"/>
                </a:ext>
              </a:extLst>
            </p:cNvPr>
            <p:cNvCxnSpPr>
              <a:cxnSpLocks/>
              <a:stCxn id="479" idx="3"/>
              <a:endCxn id="531" idx="1"/>
            </p:cNvCxnSpPr>
            <p:nvPr/>
          </p:nvCxnSpPr>
          <p:spPr>
            <a:xfrm>
              <a:off x="6770849" y="3684799"/>
              <a:ext cx="459021" cy="113834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0" name="Straight Arrow Connector 769">
              <a:extLst>
                <a:ext uri="{FF2B5EF4-FFF2-40B4-BE49-F238E27FC236}">
                  <a16:creationId xmlns:a16="http://schemas.microsoft.com/office/drawing/2014/main" id="{DF8E282D-0D0C-E32E-DBD5-9D9E66440506}"/>
                </a:ext>
              </a:extLst>
            </p:cNvPr>
            <p:cNvCxnSpPr>
              <a:cxnSpLocks/>
              <a:stCxn id="478" idx="3"/>
              <a:endCxn id="530" idx="1"/>
            </p:cNvCxnSpPr>
            <p:nvPr/>
          </p:nvCxnSpPr>
          <p:spPr>
            <a:xfrm>
              <a:off x="5439986" y="3707859"/>
              <a:ext cx="1818045" cy="914418"/>
            </a:xfrm>
            <a:prstGeom prst="straightConnector1">
              <a:avLst/>
            </a:prstGeom>
            <a:ln w="9525"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9811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7703481E-1197-FE43-AA25-BD21B848E268}"/>
              </a:ext>
            </a:extLst>
          </p:cNvPr>
          <p:cNvGrpSpPr/>
          <p:nvPr/>
        </p:nvGrpSpPr>
        <p:grpSpPr>
          <a:xfrm>
            <a:off x="2875426" y="100485"/>
            <a:ext cx="2821131" cy="2648421"/>
            <a:chOff x="2875426" y="100485"/>
            <a:chExt cx="2821131" cy="264842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E0CCDD7-AE82-BAA2-0897-79DB287E6FE5}"/>
                </a:ext>
              </a:extLst>
            </p:cNvPr>
            <p:cNvGrpSpPr/>
            <p:nvPr/>
          </p:nvGrpSpPr>
          <p:grpSpPr>
            <a:xfrm>
              <a:off x="3106667" y="100485"/>
              <a:ext cx="2589890" cy="2648421"/>
              <a:chOff x="3106667" y="100485"/>
              <a:chExt cx="2589890" cy="2648421"/>
            </a:xfrm>
            <a:solidFill>
              <a:schemeClr val="bg1"/>
            </a:solidFill>
          </p:grpSpPr>
          <p:sp>
            <p:nvSpPr>
              <p:cNvPr id="4" name="Google Shape;544;p61">
                <a:extLst>
                  <a:ext uri="{FF2B5EF4-FFF2-40B4-BE49-F238E27FC236}">
                    <a16:creationId xmlns:a16="http://schemas.microsoft.com/office/drawing/2014/main" id="{69CEFB26-93A5-6967-63FB-4E1ED3B19351}"/>
                  </a:ext>
                </a:extLst>
              </p:cNvPr>
              <p:cNvSpPr/>
              <p:nvPr/>
            </p:nvSpPr>
            <p:spPr>
              <a:xfrm>
                <a:off x="3376245" y="100485"/>
                <a:ext cx="676385" cy="174180"/>
              </a:xfrm>
              <a:prstGeom prst="rect">
                <a:avLst/>
              </a:prstGeom>
              <a:grpFill/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 err="1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main.c</a:t>
                </a: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8" name="Google Shape;544;p61">
                <a:extLst>
                  <a:ext uri="{FF2B5EF4-FFF2-40B4-BE49-F238E27FC236}">
                    <a16:creationId xmlns:a16="http://schemas.microsoft.com/office/drawing/2014/main" id="{581405D3-01CB-AD11-DD8B-4174F189ABA8}"/>
                  </a:ext>
                </a:extLst>
              </p:cNvPr>
              <p:cNvSpPr/>
              <p:nvPr/>
            </p:nvSpPr>
            <p:spPr>
              <a:xfrm>
                <a:off x="4202285" y="718932"/>
                <a:ext cx="676385" cy="174180"/>
              </a:xfrm>
              <a:prstGeom prst="rect">
                <a:avLst/>
              </a:prstGeom>
              <a:grpFill/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 err="1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foo.o</a:t>
                </a: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" name="Google Shape;544;p61">
                <a:extLst>
                  <a:ext uri="{FF2B5EF4-FFF2-40B4-BE49-F238E27FC236}">
                    <a16:creationId xmlns:a16="http://schemas.microsoft.com/office/drawing/2014/main" id="{98D1898D-08F5-5330-3DE2-C999A6774516}"/>
                  </a:ext>
                </a:extLst>
              </p:cNvPr>
              <p:cNvSpPr/>
              <p:nvPr/>
            </p:nvSpPr>
            <p:spPr>
              <a:xfrm>
                <a:off x="3376245" y="718932"/>
                <a:ext cx="676385" cy="174180"/>
              </a:xfrm>
              <a:prstGeom prst="rect">
                <a:avLst/>
              </a:prstGeom>
              <a:grpFill/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 err="1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main.o</a:t>
                </a: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7" name="Google Shape;544;p61">
                <a:extLst>
                  <a:ext uri="{FF2B5EF4-FFF2-40B4-BE49-F238E27FC236}">
                    <a16:creationId xmlns:a16="http://schemas.microsoft.com/office/drawing/2014/main" id="{5465CA30-39C4-A6C4-2450-1CD86E74F8B1}"/>
                  </a:ext>
                </a:extLst>
              </p:cNvPr>
              <p:cNvSpPr/>
              <p:nvPr/>
            </p:nvSpPr>
            <p:spPr>
              <a:xfrm>
                <a:off x="4202285" y="100485"/>
                <a:ext cx="676385" cy="174180"/>
              </a:xfrm>
              <a:prstGeom prst="rect">
                <a:avLst/>
              </a:prstGeom>
              <a:grpFill/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 err="1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foo.c</a:t>
                </a: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5280A917-7396-938F-C1B6-7720F89FBEC4}"/>
                  </a:ext>
                </a:extLst>
              </p:cNvPr>
              <p:cNvCxnSpPr>
                <a:cxnSpLocks/>
                <a:stCxn id="4" idx="2"/>
                <a:endCxn id="15" idx="0"/>
              </p:cNvCxnSpPr>
              <p:nvPr/>
            </p:nvCxnSpPr>
            <p:spPr>
              <a:xfrm>
                <a:off x="3714438" y="274665"/>
                <a:ext cx="0" cy="444267"/>
              </a:xfrm>
              <a:prstGeom prst="straightConnector1">
                <a:avLst/>
              </a:prstGeom>
              <a:grpFill/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CB5E65A-D5EF-ADAD-FF18-8D5A07714075}"/>
                  </a:ext>
                </a:extLst>
              </p:cNvPr>
              <p:cNvCxnSpPr>
                <a:cxnSpLocks/>
                <a:stCxn id="17" idx="2"/>
                <a:endCxn id="8" idx="0"/>
              </p:cNvCxnSpPr>
              <p:nvPr/>
            </p:nvCxnSpPr>
            <p:spPr>
              <a:xfrm>
                <a:off x="4540478" y="274665"/>
                <a:ext cx="0" cy="444267"/>
              </a:xfrm>
              <a:prstGeom prst="straightConnector1">
                <a:avLst/>
              </a:prstGeom>
              <a:grpFill/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Google Shape;544;p61">
                <a:extLst>
                  <a:ext uri="{FF2B5EF4-FFF2-40B4-BE49-F238E27FC236}">
                    <a16:creationId xmlns:a16="http://schemas.microsoft.com/office/drawing/2014/main" id="{BA55B220-DEB2-12C1-2A42-85361235D3A0}"/>
                  </a:ext>
                </a:extLst>
              </p:cNvPr>
              <p:cNvSpPr/>
              <p:nvPr/>
            </p:nvSpPr>
            <p:spPr>
              <a:xfrm>
                <a:off x="3713944" y="1678947"/>
                <a:ext cx="837385" cy="174180"/>
              </a:xfrm>
              <a:prstGeom prst="rect">
                <a:avLst/>
              </a:prstGeom>
              <a:grpFill/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 err="1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main_foo</a:t>
                </a: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" name="Google Shape;544;p61">
                <a:extLst>
                  <a:ext uri="{FF2B5EF4-FFF2-40B4-BE49-F238E27FC236}">
                    <a16:creationId xmlns:a16="http://schemas.microsoft.com/office/drawing/2014/main" id="{37927229-73D7-DCB2-4FEE-9CC3DC5C4E99}"/>
                  </a:ext>
                </a:extLst>
              </p:cNvPr>
              <p:cNvSpPr/>
              <p:nvPr/>
            </p:nvSpPr>
            <p:spPr>
              <a:xfrm>
                <a:off x="3713944" y="2574726"/>
                <a:ext cx="837385" cy="174180"/>
              </a:xfrm>
              <a:prstGeom prst="rect">
                <a:avLst/>
              </a:prstGeom>
              <a:grpFill/>
              <a:ln w="158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 err="1">
                    <a:latin typeface="Tw Cen MT" panose="020B0602020104020603" pitchFamily="34" charset="77"/>
                    <a:ea typeface="Twentieth Century"/>
                    <a:cs typeface="Twentieth Century"/>
                    <a:sym typeface="Twentieth Century"/>
                  </a:rPr>
                  <a:t>main_foo.ll</a:t>
                </a:r>
                <a:endParaRPr lang="en" sz="900" dirty="0">
                  <a:latin typeface="Tw Cen MT" panose="020B0602020104020603" pitchFamily="34" charset="77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0D4AB68-4A35-8C7C-5A70-0FAB1C95FE33}"/>
                  </a:ext>
                </a:extLst>
              </p:cNvPr>
              <p:cNvSpPr txBox="1"/>
              <p:nvPr/>
            </p:nvSpPr>
            <p:spPr>
              <a:xfrm>
                <a:off x="4270428" y="353791"/>
                <a:ext cx="1426129" cy="2308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>
                    <a:latin typeface="Tw Cen MT" panose="020B0602020104020603" pitchFamily="34" charset="77"/>
                  </a:rPr>
                  <a:t>clang –</a:t>
                </a:r>
                <a:r>
                  <a:rPr lang="en-US" sz="900" dirty="0" err="1">
                    <a:latin typeface="Tw Cen MT" panose="020B0602020104020603" pitchFamily="34" charset="77"/>
                  </a:rPr>
                  <a:t>flto</a:t>
                </a:r>
                <a:r>
                  <a:rPr lang="en-US" sz="900" dirty="0">
                    <a:latin typeface="Tw Cen MT" panose="020B0602020104020603" pitchFamily="34" charset="77"/>
                  </a:rPr>
                  <a:t> –c </a:t>
                </a:r>
                <a:r>
                  <a:rPr lang="en-US" sz="900" dirty="0" err="1">
                    <a:latin typeface="Tw Cen MT" panose="020B0602020104020603" pitchFamily="34" charset="77"/>
                  </a:rPr>
                  <a:t>foo.c</a:t>
                </a:r>
                <a:r>
                  <a:rPr lang="en-US" sz="900" dirty="0">
                    <a:latin typeface="Tw Cen MT" panose="020B0602020104020603" pitchFamily="34" charset="77"/>
                  </a:rPr>
                  <a:t> –O3</a:t>
                </a: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CC3F7934-562E-6E84-0A2D-EA929DE77D93}"/>
                  </a:ext>
                </a:extLst>
              </p:cNvPr>
              <p:cNvCxnSpPr>
                <a:cxnSpLocks/>
                <a:stCxn id="15" idx="2"/>
                <a:endCxn id="25" idx="0"/>
              </p:cNvCxnSpPr>
              <p:nvPr/>
            </p:nvCxnSpPr>
            <p:spPr>
              <a:xfrm rot="16200000" flipH="1">
                <a:off x="3530620" y="1076929"/>
                <a:ext cx="785835" cy="418199"/>
              </a:xfrm>
              <a:prstGeom prst="bentConnector3">
                <a:avLst>
                  <a:gd name="adj1" fmla="val 71482"/>
                </a:avLst>
              </a:prstGeom>
              <a:grpFill/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2">
                <a:extLst>
                  <a:ext uri="{FF2B5EF4-FFF2-40B4-BE49-F238E27FC236}">
                    <a16:creationId xmlns:a16="http://schemas.microsoft.com/office/drawing/2014/main" id="{7E648E51-39C4-7210-BA38-7CBF7D7166DB}"/>
                  </a:ext>
                </a:extLst>
              </p:cNvPr>
              <p:cNvCxnSpPr>
                <a:cxnSpLocks/>
                <a:stCxn id="8" idx="2"/>
                <a:endCxn id="25" idx="0"/>
              </p:cNvCxnSpPr>
              <p:nvPr/>
            </p:nvCxnSpPr>
            <p:spPr>
              <a:xfrm rot="5400000">
                <a:off x="3943641" y="1082109"/>
                <a:ext cx="785835" cy="407841"/>
              </a:xfrm>
              <a:prstGeom prst="bentConnector3">
                <a:avLst>
                  <a:gd name="adj1" fmla="val 71482"/>
                </a:avLst>
              </a:prstGeom>
              <a:grpFill/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BAF1F767-24ED-2DD2-7BD0-B4771F7916FB}"/>
                  </a:ext>
                </a:extLst>
              </p:cNvPr>
              <p:cNvCxnSpPr>
                <a:cxnSpLocks/>
                <a:stCxn id="25" idx="2"/>
                <a:endCxn id="27" idx="0"/>
              </p:cNvCxnSpPr>
              <p:nvPr/>
            </p:nvCxnSpPr>
            <p:spPr>
              <a:xfrm>
                <a:off x="4132637" y="1853127"/>
                <a:ext cx="0" cy="721599"/>
              </a:xfrm>
              <a:prstGeom prst="straightConnector1">
                <a:avLst/>
              </a:prstGeom>
              <a:grpFill/>
              <a:ln w="95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13E5048-68B2-A942-517C-0A35E5BBA15A}"/>
                  </a:ext>
                </a:extLst>
              </p:cNvPr>
              <p:cNvSpPr txBox="1"/>
              <p:nvPr/>
            </p:nvSpPr>
            <p:spPr>
              <a:xfrm>
                <a:off x="3106667" y="2025379"/>
                <a:ext cx="2166269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err="1">
                    <a:latin typeface="Tw Cen MT" panose="020B0602020104020603" pitchFamily="34" charset="77"/>
                  </a:rPr>
                  <a:t>objcopy</a:t>
                </a:r>
                <a:r>
                  <a:rPr lang="en-US" sz="900" dirty="0">
                    <a:latin typeface="Tw Cen MT" panose="020B0602020104020603" pitchFamily="34" charset="77"/>
                  </a:rPr>
                  <a:t> </a:t>
                </a:r>
                <a:r>
                  <a:rPr lang="en-US" sz="900" dirty="0" err="1">
                    <a:latin typeface="Tw Cen MT" panose="020B0602020104020603" pitchFamily="34" charset="77"/>
                  </a:rPr>
                  <a:t>main_foo</a:t>
                </a:r>
                <a:r>
                  <a:rPr lang="en-US" sz="900" dirty="0">
                    <a:latin typeface="Tw Cen MT" panose="020B0602020104020603" pitchFamily="34" charset="77"/>
                  </a:rPr>
                  <a:t> –dump-section .</a:t>
                </a:r>
                <a:r>
                  <a:rPr lang="en-US" sz="900" dirty="0" err="1">
                    <a:latin typeface="Tw Cen MT" panose="020B0602020104020603" pitchFamily="34" charset="77"/>
                  </a:rPr>
                  <a:t>llvmbc</a:t>
                </a:r>
                <a:r>
                  <a:rPr lang="en-US" sz="900" dirty="0">
                    <a:latin typeface="Tw Cen MT" panose="020B0602020104020603" pitchFamily="34" charset="77"/>
                  </a:rPr>
                  <a:t>=</a:t>
                </a:r>
                <a:r>
                  <a:rPr lang="en-US" sz="900" dirty="0" err="1">
                    <a:latin typeface="Tw Cen MT" panose="020B0602020104020603" pitchFamily="34" charset="77"/>
                  </a:rPr>
                  <a:t>main_foo.ll</a:t>
                </a:r>
                <a:endParaRPr lang="en-US" sz="900" dirty="0">
                  <a:latin typeface="Tw Cen MT" panose="020B0602020104020603" pitchFamily="34" charset="77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D0B06C5-4F9B-BDB3-34BE-F3BBAF7DCDC3}"/>
                </a:ext>
              </a:extLst>
            </p:cNvPr>
            <p:cNvSpPr txBox="1"/>
            <p:nvPr/>
          </p:nvSpPr>
          <p:spPr>
            <a:xfrm>
              <a:off x="2875426" y="353791"/>
              <a:ext cx="1426129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w Cen MT" panose="020B0602020104020603" pitchFamily="34" charset="77"/>
                </a:rPr>
                <a:t>clang –</a:t>
              </a:r>
              <a:r>
                <a:rPr lang="en-US" sz="900" dirty="0" err="1">
                  <a:latin typeface="Tw Cen MT" panose="020B0602020104020603" pitchFamily="34" charset="77"/>
                </a:rPr>
                <a:t>flto</a:t>
              </a:r>
              <a:r>
                <a:rPr lang="en-US" sz="900" dirty="0">
                  <a:latin typeface="Tw Cen MT" panose="020B0602020104020603" pitchFamily="34" charset="77"/>
                </a:rPr>
                <a:t> –c </a:t>
              </a:r>
              <a:r>
                <a:rPr lang="en-US" sz="900" dirty="0" err="1">
                  <a:latin typeface="Tw Cen MT" panose="020B0602020104020603" pitchFamily="34" charset="77"/>
                </a:rPr>
                <a:t>main.c</a:t>
              </a:r>
              <a:r>
                <a:rPr lang="en-US" sz="900" dirty="0">
                  <a:latin typeface="Tw Cen MT" panose="020B0602020104020603" pitchFamily="34" charset="77"/>
                </a:rPr>
                <a:t> –O3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6553BE6-13F7-CF4E-0357-31F170EFE86F}"/>
                </a:ext>
              </a:extLst>
            </p:cNvPr>
            <p:cNvSpPr txBox="1"/>
            <p:nvPr/>
          </p:nvSpPr>
          <p:spPr>
            <a:xfrm>
              <a:off x="2938274" y="1003097"/>
              <a:ext cx="239648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Tw Cen MT" panose="020B0602020104020603" pitchFamily="34" charset="77"/>
                </a:rPr>
                <a:t>clang –fuse-</a:t>
              </a:r>
              <a:r>
                <a:rPr lang="en-US" sz="900" dirty="0" err="1">
                  <a:latin typeface="Tw Cen MT" panose="020B0602020104020603" pitchFamily="34" charset="77"/>
                </a:rPr>
                <a:t>ld</a:t>
              </a:r>
              <a:r>
                <a:rPr lang="en-US" sz="900" dirty="0">
                  <a:latin typeface="Tw Cen MT" panose="020B0602020104020603" pitchFamily="34" charset="77"/>
                </a:rPr>
                <a:t>=</a:t>
              </a:r>
              <a:r>
                <a:rPr lang="en-US" sz="900" dirty="0" err="1">
                  <a:latin typeface="Tw Cen MT" panose="020B0602020104020603" pitchFamily="34" charset="77"/>
                </a:rPr>
                <a:t>lld</a:t>
              </a:r>
              <a:r>
                <a:rPr lang="en-US" sz="900" dirty="0">
                  <a:latin typeface="Tw Cen MT" panose="020B0602020104020603" pitchFamily="34" charset="77"/>
                </a:rPr>
                <a:t> –</a:t>
              </a:r>
              <a:r>
                <a:rPr lang="en-US" sz="900" dirty="0" err="1">
                  <a:latin typeface="Tw Cen MT" panose="020B0602020104020603" pitchFamily="34" charset="77"/>
                </a:rPr>
                <a:t>flto</a:t>
              </a:r>
              <a:r>
                <a:rPr lang="en-US" sz="900" dirty="0">
                  <a:latin typeface="Tw Cen MT" panose="020B0602020104020603" pitchFamily="34" charset="77"/>
                </a:rPr>
                <a:t> –WI, --plugin-opt=-</a:t>
              </a:r>
              <a:r>
                <a:rPr lang="en-US" sz="900" dirty="0" err="1">
                  <a:latin typeface="Tw Cen MT" panose="020B0602020104020603" pitchFamily="34" charset="77"/>
                </a:rPr>
                <a:t>lto</a:t>
              </a:r>
              <a:r>
                <a:rPr lang="en-US" sz="900" dirty="0">
                  <a:latin typeface="Tw Cen MT" panose="020B0602020104020603" pitchFamily="34" charset="77"/>
                </a:rPr>
                <a:t>-embed-</a:t>
              </a:r>
              <a:r>
                <a:rPr lang="en-US" sz="900" dirty="0" err="1">
                  <a:latin typeface="Tw Cen MT" panose="020B0602020104020603" pitchFamily="34" charset="77"/>
                </a:rPr>
                <a:t>bitcode</a:t>
              </a:r>
              <a:r>
                <a:rPr lang="en-US" sz="900" dirty="0">
                  <a:latin typeface="Tw Cen MT" panose="020B0602020104020603" pitchFamily="34" charset="77"/>
                </a:rPr>
                <a:t>=optimized </a:t>
              </a:r>
              <a:r>
                <a:rPr lang="en-US" sz="900" dirty="0" err="1">
                  <a:latin typeface="Tw Cen MT" panose="020B0602020104020603" pitchFamily="34" charset="77"/>
                </a:rPr>
                <a:t>main.o</a:t>
              </a:r>
              <a:r>
                <a:rPr lang="en-US" sz="900" dirty="0">
                  <a:latin typeface="Tw Cen MT" panose="020B0602020104020603" pitchFamily="34" charset="77"/>
                </a:rPr>
                <a:t> </a:t>
              </a:r>
              <a:r>
                <a:rPr lang="en-US" sz="900" dirty="0" err="1">
                  <a:latin typeface="Tw Cen MT" panose="020B0602020104020603" pitchFamily="34" charset="77"/>
                </a:rPr>
                <a:t>foo.o</a:t>
              </a:r>
              <a:r>
                <a:rPr lang="en-US" sz="900" dirty="0">
                  <a:latin typeface="Tw Cen MT" panose="020B0602020104020603" pitchFamily="34" charset="77"/>
                </a:rPr>
                <a:t> –O3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666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FAD52BF-0C4F-CA84-174C-171E16A9933D}"/>
              </a:ext>
            </a:extLst>
          </p:cNvPr>
          <p:cNvGrpSpPr/>
          <p:nvPr/>
        </p:nvGrpSpPr>
        <p:grpSpPr>
          <a:xfrm>
            <a:off x="0" y="139863"/>
            <a:ext cx="3004557" cy="2925070"/>
            <a:chOff x="1021923" y="253653"/>
            <a:chExt cx="3001671" cy="4666721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46D2309-8A41-2439-6811-E39050F10DB2}"/>
                </a:ext>
              </a:extLst>
            </p:cNvPr>
            <p:cNvCxnSpPr>
              <a:cxnSpLocks/>
              <a:stCxn id="82" idx="2"/>
              <a:endCxn id="79" idx="0"/>
            </p:cNvCxnSpPr>
            <p:nvPr/>
          </p:nvCxnSpPr>
          <p:spPr>
            <a:xfrm flipH="1">
              <a:off x="1623804" y="1077735"/>
              <a:ext cx="965863" cy="37859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002A81C-5CC1-82A7-3103-7AFF9D23C012}"/>
                </a:ext>
              </a:extLst>
            </p:cNvPr>
            <p:cNvCxnSpPr>
              <a:cxnSpLocks/>
              <a:stCxn id="82" idx="2"/>
              <a:endCxn id="77" idx="0"/>
            </p:cNvCxnSpPr>
            <p:nvPr/>
          </p:nvCxnSpPr>
          <p:spPr>
            <a:xfrm>
              <a:off x="2589668" y="1077735"/>
              <a:ext cx="837251" cy="37859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893C0E2-99CD-B4E2-1819-38107C0BC023}"/>
                </a:ext>
              </a:extLst>
            </p:cNvPr>
            <p:cNvCxnSpPr>
              <a:cxnSpLocks/>
              <a:stCxn id="79" idx="2"/>
              <a:endCxn id="90" idx="0"/>
            </p:cNvCxnSpPr>
            <p:nvPr/>
          </p:nvCxnSpPr>
          <p:spPr>
            <a:xfrm>
              <a:off x="1623804" y="3083017"/>
              <a:ext cx="965863" cy="50901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71FDD02-AF60-A720-B904-C878AE5242BE}"/>
                </a:ext>
              </a:extLst>
            </p:cNvPr>
            <p:cNvSpPr/>
            <p:nvPr/>
          </p:nvSpPr>
          <p:spPr>
            <a:xfrm>
              <a:off x="2830243" y="1456325"/>
              <a:ext cx="1193351" cy="1626694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C() {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Original Code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Max(a, b);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//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Jitted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code.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// CCID: “A-&gt;C”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=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GetBestVer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(CCID);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(); // Max(a, b);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A98135D-46E2-9B13-A213-DDD120B7CED2}"/>
                </a:ext>
              </a:extLst>
            </p:cNvPr>
            <p:cNvSpPr/>
            <p:nvPr/>
          </p:nvSpPr>
          <p:spPr>
            <a:xfrm>
              <a:off x="1021923" y="1456325"/>
              <a:ext cx="1203763" cy="162669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B() {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Original Code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Max(a);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//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Jitted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code, 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// CCID: “A-&gt;B”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=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BestVer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(CCID);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(); //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MaxOpt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(a);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2D12BD4-947E-8F70-FB27-60F2F53D849A}"/>
                </a:ext>
              </a:extLst>
            </p:cNvPr>
            <p:cNvSpPr/>
            <p:nvPr/>
          </p:nvSpPr>
          <p:spPr>
            <a:xfrm>
              <a:off x="2072215" y="253653"/>
              <a:ext cx="1034905" cy="82408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A()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  B();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  C();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449EB1A-3F4B-0396-9782-EBFFFF099FB4}"/>
                </a:ext>
              </a:extLst>
            </p:cNvPr>
            <p:cNvCxnSpPr>
              <a:cxnSpLocks/>
              <a:stCxn id="77" idx="2"/>
              <a:endCxn id="90" idx="0"/>
            </p:cNvCxnSpPr>
            <p:nvPr/>
          </p:nvCxnSpPr>
          <p:spPr>
            <a:xfrm flipH="1">
              <a:off x="2589668" y="3083019"/>
              <a:ext cx="837251" cy="509015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949FEAA-1EBE-D59F-B04E-073FD9CBE412}"/>
                </a:ext>
              </a:extLst>
            </p:cNvPr>
            <p:cNvSpPr/>
            <p:nvPr/>
          </p:nvSpPr>
          <p:spPr>
            <a:xfrm>
              <a:off x="1831639" y="3592034"/>
              <a:ext cx="1516056" cy="1328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Max 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(a, b=a)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if (a &lt; b) return b; 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return a;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MaxOpt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(a)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return a;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05703FDC-3D6D-A8A8-2AE1-316EA0C0B5D1}"/>
              </a:ext>
            </a:extLst>
          </p:cNvPr>
          <p:cNvGrpSpPr/>
          <p:nvPr/>
        </p:nvGrpSpPr>
        <p:grpSpPr>
          <a:xfrm>
            <a:off x="3845043" y="105268"/>
            <a:ext cx="3033806" cy="2959665"/>
            <a:chOff x="3845043" y="80489"/>
            <a:chExt cx="3033806" cy="5079431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7C17DEA7-CD6A-93BC-7189-26C490758D6A}"/>
                </a:ext>
              </a:extLst>
            </p:cNvPr>
            <p:cNvGrpSpPr/>
            <p:nvPr/>
          </p:nvGrpSpPr>
          <p:grpSpPr>
            <a:xfrm>
              <a:off x="3913051" y="80489"/>
              <a:ext cx="2887737" cy="2550575"/>
              <a:chOff x="3830967" y="-524212"/>
              <a:chExt cx="2419866" cy="2548672"/>
            </a:xfrm>
          </p:grpSpPr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D09F4EEB-770F-6361-4EAA-220E6D708D7B}"/>
                  </a:ext>
                </a:extLst>
              </p:cNvPr>
              <p:cNvSpPr/>
              <p:nvPr/>
            </p:nvSpPr>
            <p:spPr>
              <a:xfrm>
                <a:off x="4751766" y="-168818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869A35CC-3FAF-3628-8994-F7D7AD6D06AA}"/>
                  </a:ext>
                </a:extLst>
              </p:cNvPr>
              <p:cNvSpPr/>
              <p:nvPr/>
            </p:nvSpPr>
            <p:spPr>
              <a:xfrm>
                <a:off x="4067903" y="698213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D025343E-75D2-8E3C-FB70-B835A0522F82}"/>
                  </a:ext>
                </a:extLst>
              </p:cNvPr>
              <p:cNvSpPr/>
              <p:nvPr/>
            </p:nvSpPr>
            <p:spPr>
              <a:xfrm>
                <a:off x="5526068" y="652871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FAFA72E4-764F-77DA-4E1C-B3BD92904509}"/>
                  </a:ext>
                </a:extLst>
              </p:cNvPr>
              <p:cNvSpPr/>
              <p:nvPr/>
            </p:nvSpPr>
            <p:spPr>
              <a:xfrm>
                <a:off x="4793633" y="1567260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227" name="Straight Arrow Connector 226">
                <a:extLst>
                  <a:ext uri="{FF2B5EF4-FFF2-40B4-BE49-F238E27FC236}">
                    <a16:creationId xmlns:a16="http://schemas.microsoft.com/office/drawing/2014/main" id="{20ACD83B-2605-0173-A4EE-429B87F99F97}"/>
                  </a:ext>
                </a:extLst>
              </p:cNvPr>
              <p:cNvCxnSpPr>
                <a:stCxn id="223" idx="3"/>
                <a:endCxn id="224" idx="0"/>
              </p:cNvCxnSpPr>
              <p:nvPr/>
            </p:nvCxnSpPr>
            <p:spPr>
              <a:xfrm flipH="1">
                <a:off x="4296503" y="221427"/>
                <a:ext cx="522218" cy="47678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8" name="Straight Arrow Connector 227">
                <a:extLst>
                  <a:ext uri="{FF2B5EF4-FFF2-40B4-BE49-F238E27FC236}">
                    <a16:creationId xmlns:a16="http://schemas.microsoft.com/office/drawing/2014/main" id="{43B3BE81-54F3-1840-C168-E5F81E87A929}"/>
                  </a:ext>
                </a:extLst>
              </p:cNvPr>
              <p:cNvCxnSpPr>
                <a:cxnSpLocks/>
                <a:stCxn id="223" idx="5"/>
                <a:endCxn id="225" idx="0"/>
              </p:cNvCxnSpPr>
              <p:nvPr/>
            </p:nvCxnSpPr>
            <p:spPr>
              <a:xfrm>
                <a:off x="5142011" y="221427"/>
                <a:ext cx="612657" cy="431444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9" name="Straight Arrow Connector 228">
                <a:extLst>
                  <a:ext uri="{FF2B5EF4-FFF2-40B4-BE49-F238E27FC236}">
                    <a16:creationId xmlns:a16="http://schemas.microsoft.com/office/drawing/2014/main" id="{FC018AF5-5F64-592F-B208-E2086ADC804B}"/>
                  </a:ext>
                </a:extLst>
              </p:cNvPr>
              <p:cNvCxnSpPr>
                <a:cxnSpLocks/>
                <a:stCxn id="225" idx="4"/>
                <a:endCxn id="226" idx="7"/>
              </p:cNvCxnSpPr>
              <p:nvPr/>
            </p:nvCxnSpPr>
            <p:spPr>
              <a:xfrm flipH="1">
                <a:off x="5183878" y="1110071"/>
                <a:ext cx="570790" cy="524144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0" name="Straight Arrow Connector 229">
                <a:extLst>
                  <a:ext uri="{FF2B5EF4-FFF2-40B4-BE49-F238E27FC236}">
                    <a16:creationId xmlns:a16="http://schemas.microsoft.com/office/drawing/2014/main" id="{D1B9780A-E6F9-0430-077C-DD057A140878}"/>
                  </a:ext>
                </a:extLst>
              </p:cNvPr>
              <p:cNvCxnSpPr>
                <a:cxnSpLocks/>
                <a:stCxn id="224" idx="4"/>
                <a:endCxn id="226" idx="1"/>
              </p:cNvCxnSpPr>
              <p:nvPr/>
            </p:nvCxnSpPr>
            <p:spPr>
              <a:xfrm>
                <a:off x="4296503" y="1155413"/>
                <a:ext cx="564085" cy="478802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963A49E4-EDB9-310C-94A3-629E6120EB55}"/>
                  </a:ext>
                </a:extLst>
              </p:cNvPr>
              <p:cNvSpPr txBox="1"/>
              <p:nvPr/>
            </p:nvSpPr>
            <p:spPr>
              <a:xfrm>
                <a:off x="4184775" y="1339893"/>
                <a:ext cx="345492" cy="369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W=0</a:t>
                </a:r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B5812FC8-63BC-097E-B564-966D95885EAA}"/>
                  </a:ext>
                </a:extLst>
              </p:cNvPr>
              <p:cNvSpPr txBox="1"/>
              <p:nvPr/>
            </p:nvSpPr>
            <p:spPr>
              <a:xfrm>
                <a:off x="5711784" y="-203272"/>
                <a:ext cx="447582" cy="791727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 += w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Call-site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 -= w</a:t>
                </a:r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0D54CCF0-17EA-CA87-9E4B-4B940E820D50}"/>
                  </a:ext>
                </a:extLst>
              </p:cNvPr>
              <p:cNvSpPr txBox="1"/>
              <p:nvPr/>
            </p:nvSpPr>
            <p:spPr>
              <a:xfrm>
                <a:off x="4214072" y="189389"/>
                <a:ext cx="345492" cy="369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W=0</a:t>
                </a: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511CF208-8DA0-BD65-5A51-24CBC51F790E}"/>
                  </a:ext>
                </a:extLst>
              </p:cNvPr>
              <p:cNvSpPr txBox="1"/>
              <p:nvPr/>
            </p:nvSpPr>
            <p:spPr>
              <a:xfrm>
                <a:off x="5268546" y="112755"/>
                <a:ext cx="345492" cy="369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W=0</a:t>
                </a: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4AB9EF2-381D-1C43-80C8-0F9636506E11}"/>
                  </a:ext>
                </a:extLst>
              </p:cNvPr>
              <p:cNvSpPr txBox="1"/>
              <p:nvPr/>
            </p:nvSpPr>
            <p:spPr>
              <a:xfrm>
                <a:off x="5374011" y="1345015"/>
                <a:ext cx="345492" cy="369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W=1</a:t>
                </a:r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AA8D4128-E8F6-A756-3870-2C5955AAFEC5}"/>
                  </a:ext>
                </a:extLst>
              </p:cNvPr>
              <p:cNvSpPr txBox="1"/>
              <p:nvPr/>
            </p:nvSpPr>
            <p:spPr>
              <a:xfrm>
                <a:off x="4873049" y="1647606"/>
                <a:ext cx="310567" cy="369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Tw Cen MT" panose="020B0602020104020603" pitchFamily="34" charset="77"/>
                  </a:rPr>
                  <a:t>Max</a:t>
                </a:r>
              </a:p>
            </p:txBody>
          </p:sp>
          <p:cxnSp>
            <p:nvCxnSpPr>
              <p:cNvPr id="237" name="Straight Arrow Connector 214">
                <a:extLst>
                  <a:ext uri="{FF2B5EF4-FFF2-40B4-BE49-F238E27FC236}">
                    <a16:creationId xmlns:a16="http://schemas.microsoft.com/office/drawing/2014/main" id="{832FC0A1-2D40-A771-5B3E-9EA40D6D4912}"/>
                  </a:ext>
                </a:extLst>
              </p:cNvPr>
              <p:cNvCxnSpPr>
                <a:cxnSpLocks/>
                <a:stCxn id="234" idx="0"/>
                <a:endCxn id="232" idx="0"/>
              </p:cNvCxnSpPr>
              <p:nvPr/>
            </p:nvCxnSpPr>
            <p:spPr>
              <a:xfrm rot="5400000" flipH="1" flipV="1">
                <a:off x="5530420" y="-292398"/>
                <a:ext cx="316027" cy="494283"/>
              </a:xfrm>
              <a:prstGeom prst="curvedConnector3">
                <a:avLst>
                  <a:gd name="adj1" fmla="val 224051"/>
                </a:avLst>
              </a:prstGeom>
              <a:ln w="15875"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68391045-26D6-5F7A-6504-01E06E4663FE}"/>
                  </a:ext>
                </a:extLst>
              </p:cNvPr>
              <p:cNvSpPr txBox="1"/>
              <p:nvPr/>
            </p:nvSpPr>
            <p:spPr>
              <a:xfrm>
                <a:off x="3830967" y="1155866"/>
                <a:ext cx="330717" cy="369473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ID=0</a:t>
                </a:r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649C3E0F-A406-6F8A-96FF-FD288508D2EF}"/>
                  </a:ext>
                </a:extLst>
              </p:cNvPr>
              <p:cNvSpPr txBox="1"/>
              <p:nvPr/>
            </p:nvSpPr>
            <p:spPr>
              <a:xfrm>
                <a:off x="5920116" y="1110071"/>
                <a:ext cx="330717" cy="369473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ID=0</a:t>
                </a: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78D284B3-0008-C238-0289-A542B5AA3340}"/>
                  </a:ext>
                </a:extLst>
              </p:cNvPr>
              <p:cNvSpPr txBox="1"/>
              <p:nvPr/>
            </p:nvSpPr>
            <p:spPr>
              <a:xfrm>
                <a:off x="4392253" y="-524212"/>
                <a:ext cx="330717" cy="369473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ID=0</a:t>
                </a:r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FB436187-8712-EC21-CDFA-D437B2D8D2E2}"/>
                  </a:ext>
                </a:extLst>
              </p:cNvPr>
              <p:cNvSpPr txBox="1"/>
              <p:nvPr/>
            </p:nvSpPr>
            <p:spPr>
              <a:xfrm>
                <a:off x="4434694" y="798362"/>
                <a:ext cx="1129403" cy="3694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Not distinguishable !  </a:t>
                </a:r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4EB9DBC3-5A84-81F3-AD56-CE99795FF385}"/>
                </a:ext>
              </a:extLst>
            </p:cNvPr>
            <p:cNvGrpSpPr/>
            <p:nvPr/>
          </p:nvGrpSpPr>
          <p:grpSpPr>
            <a:xfrm>
              <a:off x="3845043" y="2757023"/>
              <a:ext cx="3033806" cy="2402897"/>
              <a:chOff x="3721875" y="-376645"/>
              <a:chExt cx="2542267" cy="2401105"/>
            </a:xfrm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0AF29D8C-D5B2-97FC-5131-ED5663DDE4D0}"/>
                  </a:ext>
                </a:extLst>
              </p:cNvPr>
              <p:cNvSpPr/>
              <p:nvPr/>
            </p:nvSpPr>
            <p:spPr>
              <a:xfrm>
                <a:off x="4751766" y="-168818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D5D1B691-CCC7-DC25-13A9-6A13E1BE92D3}"/>
                  </a:ext>
                </a:extLst>
              </p:cNvPr>
              <p:cNvSpPr/>
              <p:nvPr/>
            </p:nvSpPr>
            <p:spPr>
              <a:xfrm>
                <a:off x="4067903" y="698213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D01F244F-E86C-AA26-2D03-3C04B9995451}"/>
                  </a:ext>
                </a:extLst>
              </p:cNvPr>
              <p:cNvSpPr/>
              <p:nvPr/>
            </p:nvSpPr>
            <p:spPr>
              <a:xfrm>
                <a:off x="5526068" y="652871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BA068A3A-07E8-2009-DC57-050E2287E308}"/>
                  </a:ext>
                </a:extLst>
              </p:cNvPr>
              <p:cNvSpPr/>
              <p:nvPr/>
            </p:nvSpPr>
            <p:spPr>
              <a:xfrm>
                <a:off x="4793633" y="1567260"/>
                <a:ext cx="457200" cy="45720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61F9A70A-69E9-786F-5EB8-5EA43953B772}"/>
                  </a:ext>
                </a:extLst>
              </p:cNvPr>
              <p:cNvCxnSpPr>
                <a:stCxn id="249" idx="3"/>
                <a:endCxn id="250" idx="0"/>
              </p:cNvCxnSpPr>
              <p:nvPr/>
            </p:nvCxnSpPr>
            <p:spPr>
              <a:xfrm flipH="1">
                <a:off x="4296503" y="221427"/>
                <a:ext cx="522218" cy="47678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7169998D-9106-F702-DBAF-7469CD35143D}"/>
                  </a:ext>
                </a:extLst>
              </p:cNvPr>
              <p:cNvCxnSpPr>
                <a:cxnSpLocks/>
                <a:stCxn id="249" idx="5"/>
                <a:endCxn id="251" idx="0"/>
              </p:cNvCxnSpPr>
              <p:nvPr/>
            </p:nvCxnSpPr>
            <p:spPr>
              <a:xfrm>
                <a:off x="5142011" y="221427"/>
                <a:ext cx="612657" cy="431444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>
                <a:extLst>
                  <a:ext uri="{FF2B5EF4-FFF2-40B4-BE49-F238E27FC236}">
                    <a16:creationId xmlns:a16="http://schemas.microsoft.com/office/drawing/2014/main" id="{AAAB3BBA-FCD8-C747-8FF1-1A2874C363F1}"/>
                  </a:ext>
                </a:extLst>
              </p:cNvPr>
              <p:cNvCxnSpPr>
                <a:cxnSpLocks/>
                <a:stCxn id="251" idx="4"/>
                <a:endCxn id="252" idx="7"/>
              </p:cNvCxnSpPr>
              <p:nvPr/>
            </p:nvCxnSpPr>
            <p:spPr>
              <a:xfrm flipH="1">
                <a:off x="5183878" y="1110071"/>
                <a:ext cx="570790" cy="524144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CE8E0BE8-75CD-26C2-668F-A4C8875FD626}"/>
                  </a:ext>
                </a:extLst>
              </p:cNvPr>
              <p:cNvCxnSpPr>
                <a:cxnSpLocks/>
                <a:stCxn id="250" idx="4"/>
                <a:endCxn id="252" idx="1"/>
              </p:cNvCxnSpPr>
              <p:nvPr/>
            </p:nvCxnSpPr>
            <p:spPr>
              <a:xfrm>
                <a:off x="4296503" y="1155413"/>
                <a:ext cx="564085" cy="478802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EE3426CB-B781-759B-607E-8CF2924A7ECC}"/>
                  </a:ext>
                </a:extLst>
              </p:cNvPr>
              <p:cNvSpPr txBox="1"/>
              <p:nvPr/>
            </p:nvSpPr>
            <p:spPr>
              <a:xfrm>
                <a:off x="4129116" y="1354739"/>
                <a:ext cx="345492" cy="369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W=1</a:t>
                </a:r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2C62A022-7C79-51E7-CD5B-199E9D93BB3A}"/>
                  </a:ext>
                </a:extLst>
              </p:cNvPr>
              <p:cNvSpPr txBox="1"/>
              <p:nvPr/>
            </p:nvSpPr>
            <p:spPr>
              <a:xfrm>
                <a:off x="5711784" y="-203272"/>
                <a:ext cx="552358" cy="791727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CCID += w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Call-site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CCID -= w</a:t>
                </a:r>
              </a:p>
            </p:txBody>
          </p:sp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BE527003-4C32-07C0-B694-D7D98BD51747}"/>
                  </a:ext>
                </a:extLst>
              </p:cNvPr>
              <p:cNvSpPr txBox="1"/>
              <p:nvPr/>
            </p:nvSpPr>
            <p:spPr>
              <a:xfrm>
                <a:off x="4214072" y="189389"/>
                <a:ext cx="345492" cy="369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W=1</a:t>
                </a:r>
              </a:p>
            </p:txBody>
          </p:sp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868406D7-90DB-6FF7-5E66-D572CA923739}"/>
                  </a:ext>
                </a:extLst>
              </p:cNvPr>
              <p:cNvSpPr txBox="1"/>
              <p:nvPr/>
            </p:nvSpPr>
            <p:spPr>
              <a:xfrm>
                <a:off x="5268546" y="112755"/>
                <a:ext cx="345492" cy="369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W=3</a:t>
                </a:r>
              </a:p>
            </p:txBody>
          </p:sp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A7323D3F-ACA8-F233-606A-F5F64C849E0C}"/>
                  </a:ext>
                </a:extLst>
              </p:cNvPr>
              <p:cNvSpPr txBox="1"/>
              <p:nvPr/>
            </p:nvSpPr>
            <p:spPr>
              <a:xfrm>
                <a:off x="5374011" y="1345015"/>
                <a:ext cx="345492" cy="369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W=1</a:t>
                </a: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F6B21B1F-5F58-BBD9-D7E3-E10B2481CCCF}"/>
                  </a:ext>
                </a:extLst>
              </p:cNvPr>
              <p:cNvSpPr txBox="1"/>
              <p:nvPr/>
            </p:nvSpPr>
            <p:spPr>
              <a:xfrm>
                <a:off x="4873050" y="1647606"/>
                <a:ext cx="310567" cy="369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Tw Cen MT" panose="020B0602020104020603" pitchFamily="34" charset="77"/>
                  </a:rPr>
                  <a:t>Max</a:t>
                </a:r>
              </a:p>
            </p:txBody>
          </p:sp>
          <p:cxnSp>
            <p:nvCxnSpPr>
              <p:cNvPr id="263" name="Straight Arrow Connector 214">
                <a:extLst>
                  <a:ext uri="{FF2B5EF4-FFF2-40B4-BE49-F238E27FC236}">
                    <a16:creationId xmlns:a16="http://schemas.microsoft.com/office/drawing/2014/main" id="{6F5346B5-D089-D087-C8C9-9DA6408E0E76}"/>
                  </a:ext>
                </a:extLst>
              </p:cNvPr>
              <p:cNvCxnSpPr>
                <a:cxnSpLocks/>
                <a:stCxn id="260" idx="0"/>
                <a:endCxn id="258" idx="0"/>
              </p:cNvCxnSpPr>
              <p:nvPr/>
            </p:nvCxnSpPr>
            <p:spPr>
              <a:xfrm rot="5400000" flipH="1" flipV="1">
                <a:off x="5556615" y="-318593"/>
                <a:ext cx="316027" cy="546671"/>
              </a:xfrm>
              <a:prstGeom prst="curvedConnector3">
                <a:avLst>
                  <a:gd name="adj1" fmla="val 224051"/>
                </a:avLst>
              </a:prstGeom>
              <a:ln w="15875"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41121277-20A7-6A08-481B-D978ECF78C4C}"/>
                  </a:ext>
                </a:extLst>
              </p:cNvPr>
              <p:cNvSpPr txBox="1"/>
              <p:nvPr/>
            </p:nvSpPr>
            <p:spPr>
              <a:xfrm>
                <a:off x="3721875" y="1149281"/>
                <a:ext cx="435493" cy="369473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00B050"/>
                    </a:solidFill>
                    <a:latin typeface="Tw Cen MT" panose="020B0602020104020603" pitchFamily="34" charset="77"/>
                  </a:rPr>
                  <a:t>CCID=1</a:t>
                </a: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0134F7E7-0CF7-DD76-6F89-C087360C03EE}"/>
                  </a:ext>
                </a:extLst>
              </p:cNvPr>
              <p:cNvSpPr txBox="1"/>
              <p:nvPr/>
            </p:nvSpPr>
            <p:spPr>
              <a:xfrm>
                <a:off x="5815628" y="1155414"/>
                <a:ext cx="435493" cy="369473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00B050"/>
                    </a:solidFill>
                    <a:latin typeface="Tw Cen MT" panose="020B0602020104020603" pitchFamily="34" charset="77"/>
                  </a:rPr>
                  <a:t>CCID=3</a:t>
                </a:r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A62C9CF6-C3DD-AC0C-BD69-B095B527D8CF}"/>
                  </a:ext>
                </a:extLst>
              </p:cNvPr>
              <p:cNvSpPr txBox="1"/>
              <p:nvPr/>
            </p:nvSpPr>
            <p:spPr>
              <a:xfrm>
                <a:off x="4296503" y="-376645"/>
                <a:ext cx="435493" cy="369473"/>
              </a:xfrm>
              <a:prstGeom prst="rect">
                <a:avLst/>
              </a:prstGeom>
              <a:noFill/>
              <a:ln>
                <a:solidFill>
                  <a:schemeClr val="dk1">
                    <a:shade val="95000"/>
                    <a:satMod val="10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CCID=0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66F82071-89E5-DD87-F7B0-77ED8DB4FFF6}"/>
                  </a:ext>
                </a:extLst>
              </p:cNvPr>
              <p:cNvSpPr txBox="1"/>
              <p:nvPr/>
            </p:nvSpPr>
            <p:spPr>
              <a:xfrm>
                <a:off x="4453724" y="797642"/>
                <a:ext cx="1129403" cy="3694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00B050"/>
                    </a:solidFill>
                    <a:latin typeface="Tw Cen MT" panose="020B0602020104020603" pitchFamily="34" charset="77"/>
                  </a:rPr>
                  <a:t>Distinguishable ! 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9109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9258554-928D-B17F-3E55-26C318906A9A}"/>
              </a:ext>
            </a:extLst>
          </p:cNvPr>
          <p:cNvGrpSpPr/>
          <p:nvPr/>
        </p:nvGrpSpPr>
        <p:grpSpPr>
          <a:xfrm>
            <a:off x="96848" y="90744"/>
            <a:ext cx="3657600" cy="2860374"/>
            <a:chOff x="5154548" y="253653"/>
            <a:chExt cx="2293387" cy="4866058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5DB8725-DBF6-8D1B-E336-DAC2CA7FB54A}"/>
                </a:ext>
              </a:extLst>
            </p:cNvPr>
            <p:cNvSpPr/>
            <p:nvPr/>
          </p:nvSpPr>
          <p:spPr>
            <a:xfrm>
              <a:off x="5154548" y="253653"/>
              <a:ext cx="1069258" cy="1146133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ThreadA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…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(...);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…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64CB6C4-2C71-516A-1DB3-B4B106CB8088}"/>
                </a:ext>
              </a:extLst>
            </p:cNvPr>
            <p:cNvSpPr/>
            <p:nvPr/>
          </p:nvSpPr>
          <p:spPr>
            <a:xfrm>
              <a:off x="6378677" y="253653"/>
              <a:ext cx="1069258" cy="1146133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(…);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FC0E0FC-0AF7-1A02-AC70-CF85D2BBBDA1}"/>
                </a:ext>
              </a:extLst>
            </p:cNvPr>
            <p:cNvSpPr/>
            <p:nvPr/>
          </p:nvSpPr>
          <p:spPr>
            <a:xfrm>
              <a:off x="5154548" y="1630368"/>
              <a:ext cx="2293387" cy="1062644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//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implementation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3A42D8A-33D9-5353-462B-0B361F02C8A7}"/>
                </a:ext>
              </a:extLst>
            </p:cNvPr>
            <p:cNvSpPr/>
            <p:nvPr/>
          </p:nvSpPr>
          <p:spPr>
            <a:xfrm>
              <a:off x="5154548" y="2949075"/>
              <a:ext cx="2293387" cy="217063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// ECS = {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Barrier()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Barrier elision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CCID: “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ThreadA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” or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         “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”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if (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ECS.Contains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(CCID)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  return; // Skip</a:t>
              </a:r>
            </a:p>
            <a:p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Barrier implementation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4BABDEF-CAF6-27EB-75D0-539ABD7B5F2B}"/>
                </a:ext>
              </a:extLst>
            </p:cNvPr>
            <p:cNvCxnSpPr>
              <a:cxnSpLocks/>
              <a:stCxn id="62" idx="2"/>
              <a:endCxn id="65" idx="0"/>
            </p:cNvCxnSpPr>
            <p:nvPr/>
          </p:nvCxnSpPr>
          <p:spPr>
            <a:xfrm>
              <a:off x="5689177" y="1399786"/>
              <a:ext cx="612065" cy="230582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14721BB4-3F77-1CFA-DC84-758577406368}"/>
                </a:ext>
              </a:extLst>
            </p:cNvPr>
            <p:cNvCxnSpPr>
              <a:cxnSpLocks/>
              <a:stCxn id="64" idx="2"/>
              <a:endCxn id="65" idx="0"/>
            </p:cNvCxnSpPr>
            <p:nvPr/>
          </p:nvCxnSpPr>
          <p:spPr>
            <a:xfrm flipH="1">
              <a:off x="6301242" y="1399786"/>
              <a:ext cx="612065" cy="230582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2E814D8-8695-6B5E-8D0A-EB0B6C0FCF14}"/>
                </a:ext>
              </a:extLst>
            </p:cNvPr>
            <p:cNvCxnSpPr>
              <a:cxnSpLocks/>
              <a:stCxn id="65" idx="2"/>
              <a:endCxn id="66" idx="0"/>
            </p:cNvCxnSpPr>
            <p:nvPr/>
          </p:nvCxnSpPr>
          <p:spPr>
            <a:xfrm>
              <a:off x="6301242" y="2693012"/>
              <a:ext cx="0" cy="256062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2EBAD6F-1851-8DEA-1904-B238E81B6605}"/>
              </a:ext>
            </a:extLst>
          </p:cNvPr>
          <p:cNvGrpSpPr/>
          <p:nvPr/>
        </p:nvGrpSpPr>
        <p:grpSpPr>
          <a:xfrm>
            <a:off x="4802664" y="74838"/>
            <a:ext cx="3657600" cy="2835702"/>
            <a:chOff x="1666568" y="135065"/>
            <a:chExt cx="3542334" cy="4749600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EB28EAEE-8999-8C6E-9188-3AF18DCA5455}"/>
                </a:ext>
              </a:extLst>
            </p:cNvPr>
            <p:cNvGrpSpPr/>
            <p:nvPr/>
          </p:nvGrpSpPr>
          <p:grpSpPr>
            <a:xfrm>
              <a:off x="1666568" y="221225"/>
              <a:ext cx="3542334" cy="4663440"/>
              <a:chOff x="1685381" y="199103"/>
              <a:chExt cx="6566342" cy="4146149"/>
            </a:xfrm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834420D9-0F04-12E7-9EC0-DB241EA43489}"/>
                  </a:ext>
                </a:extLst>
              </p:cNvPr>
              <p:cNvSpPr/>
              <p:nvPr/>
            </p:nvSpPr>
            <p:spPr>
              <a:xfrm>
                <a:off x="3715876" y="3276146"/>
                <a:ext cx="1735206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char read(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 {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if (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&lt; 16)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 return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arr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];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}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E656E11F-BFE8-53C0-228E-D4C8E6C7B8E0}"/>
                  </a:ext>
                </a:extLst>
              </p:cNvPr>
              <p:cNvSpPr/>
              <p:nvPr/>
            </p:nvSpPr>
            <p:spPr>
              <a:xfrm>
                <a:off x="3715878" y="199103"/>
                <a:ext cx="1735202" cy="4146149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72B6933F-7396-705C-68F7-4920B361872E}"/>
                  </a:ext>
                </a:extLst>
              </p:cNvPr>
              <p:cNvSpPr/>
              <p:nvPr/>
            </p:nvSpPr>
            <p:spPr>
              <a:xfrm>
                <a:off x="3715874" y="433217"/>
                <a:ext cx="1735206" cy="73006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char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arr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[0-15];</a:t>
                </a: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F3898A72-9D93-DA88-34B9-F1F0905F6D57}"/>
                  </a:ext>
                </a:extLst>
              </p:cNvPr>
              <p:cNvSpPr/>
              <p:nvPr/>
            </p:nvSpPr>
            <p:spPr>
              <a:xfrm>
                <a:off x="3715878" y="1361111"/>
                <a:ext cx="1735202" cy="29459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char secret;</a:t>
                </a: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A9C37847-C2F4-AD1A-579B-BC8F3A56067A}"/>
                  </a:ext>
                </a:extLst>
              </p:cNvPr>
              <p:cNvSpPr/>
              <p:nvPr/>
            </p:nvSpPr>
            <p:spPr>
              <a:xfrm>
                <a:off x="1685381" y="1962132"/>
                <a:ext cx="1615424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Record Invariant (CCID,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, PC)</a:t>
                </a:r>
              </a:p>
            </p:txBody>
          </p:sp>
          <p:cxnSp>
            <p:nvCxnSpPr>
              <p:cNvPr id="166" name="Straight Arrow Connector 7">
                <a:extLst>
                  <a:ext uri="{FF2B5EF4-FFF2-40B4-BE49-F238E27FC236}">
                    <a16:creationId xmlns:a16="http://schemas.microsoft.com/office/drawing/2014/main" id="{3F91C713-78AC-B31A-395E-96ACE71D4C1E}"/>
                  </a:ext>
                </a:extLst>
              </p:cNvPr>
              <p:cNvCxnSpPr>
                <a:cxnSpLocks/>
                <a:stCxn id="161" idx="1"/>
                <a:endCxn id="165" idx="2"/>
              </p:cNvCxnSpPr>
              <p:nvPr/>
            </p:nvCxnSpPr>
            <p:spPr>
              <a:xfrm rot="10800000">
                <a:off x="2493095" y="2892315"/>
                <a:ext cx="1222783" cy="848924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Straight Arrow Connector 7">
                <a:extLst>
                  <a:ext uri="{FF2B5EF4-FFF2-40B4-BE49-F238E27FC236}">
                    <a16:creationId xmlns:a16="http://schemas.microsoft.com/office/drawing/2014/main" id="{40A5A631-8016-A2BB-4FC3-9E2D8443A06F}"/>
                  </a:ext>
                </a:extLst>
              </p:cNvPr>
              <p:cNvCxnSpPr>
                <a:cxnSpLocks/>
                <a:stCxn id="165" idx="0"/>
                <a:endCxn id="163" idx="1"/>
              </p:cNvCxnSpPr>
              <p:nvPr/>
            </p:nvCxnSpPr>
            <p:spPr>
              <a:xfrm rot="5400000" flipH="1" flipV="1">
                <a:off x="2522543" y="768800"/>
                <a:ext cx="1163884" cy="1222782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5C9F8CCA-B305-5E3E-B4EC-FF9C8228CCE3}"/>
                  </a:ext>
                </a:extLst>
              </p:cNvPr>
              <p:cNvSpPr txBox="1"/>
              <p:nvPr/>
            </p:nvSpPr>
            <p:spPr>
              <a:xfrm>
                <a:off x="2604441" y="476053"/>
                <a:ext cx="1150810" cy="323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Observed 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F22D957D-05D5-CBC6-2FFC-F35464604210}"/>
                  </a:ext>
                </a:extLst>
              </p:cNvPr>
              <p:cNvSpPr/>
              <p:nvPr/>
            </p:nvSpPr>
            <p:spPr>
              <a:xfrm>
                <a:off x="5822002" y="1962132"/>
                <a:ext cx="2429721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// Implemented in HW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If (Violate(CCID,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, PC)) {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  raise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SecurityException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}</a:t>
                </a:r>
              </a:p>
            </p:txBody>
          </p:sp>
          <p:cxnSp>
            <p:nvCxnSpPr>
              <p:cNvPr id="170" name="Straight Arrow Connector 7">
                <a:extLst>
                  <a:ext uri="{FF2B5EF4-FFF2-40B4-BE49-F238E27FC236}">
                    <a16:creationId xmlns:a16="http://schemas.microsoft.com/office/drawing/2014/main" id="{093430E7-8A2A-0541-A5D8-F4AD08CD7CF8}"/>
                  </a:ext>
                </a:extLst>
              </p:cNvPr>
              <p:cNvCxnSpPr>
                <a:cxnSpLocks/>
                <a:stCxn id="165" idx="0"/>
                <a:endCxn id="164" idx="1"/>
              </p:cNvCxnSpPr>
              <p:nvPr/>
            </p:nvCxnSpPr>
            <p:spPr>
              <a:xfrm rot="5400000" flipH="1" flipV="1">
                <a:off x="2877624" y="1123878"/>
                <a:ext cx="453724" cy="1222785"/>
              </a:xfrm>
              <a:prstGeom prst="bentConnector2">
                <a:avLst/>
              </a:prstGeom>
              <a:ln w="15875">
                <a:solidFill>
                  <a:srgbClr val="0070C0"/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4110B774-138B-75EF-22F8-9BF93F1338DA}"/>
                  </a:ext>
                </a:extLst>
              </p:cNvPr>
              <p:cNvSpPr txBox="1"/>
              <p:nvPr/>
            </p:nvSpPr>
            <p:spPr>
              <a:xfrm>
                <a:off x="2486321" y="1180700"/>
                <a:ext cx="1615424" cy="320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rgbClr val="0070C0"/>
                    </a:solidFill>
                    <a:latin typeface="Tw Cen MT" panose="020B0602020104020603" pitchFamily="34" charset="77"/>
                  </a:rPr>
                  <a:t>Not Observed </a:t>
                </a:r>
              </a:p>
            </p:txBody>
          </p:sp>
          <p:cxnSp>
            <p:nvCxnSpPr>
              <p:cNvPr id="172" name="Straight Arrow Connector 7">
                <a:extLst>
                  <a:ext uri="{FF2B5EF4-FFF2-40B4-BE49-F238E27FC236}">
                    <a16:creationId xmlns:a16="http://schemas.microsoft.com/office/drawing/2014/main" id="{82150C5A-93F2-A4F7-7EE4-86FAEE2BB974}"/>
                  </a:ext>
                </a:extLst>
              </p:cNvPr>
              <p:cNvCxnSpPr>
                <a:cxnSpLocks/>
                <a:stCxn id="161" idx="3"/>
                <a:endCxn id="169" idx="2"/>
              </p:cNvCxnSpPr>
              <p:nvPr/>
            </p:nvCxnSpPr>
            <p:spPr>
              <a:xfrm flipV="1">
                <a:off x="5451081" y="2892314"/>
                <a:ext cx="1585781" cy="848924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1D99309B-7EBD-36FD-DF2A-BE82EDC85764}"/>
                  </a:ext>
                </a:extLst>
              </p:cNvPr>
              <p:cNvSpPr/>
              <p:nvPr/>
            </p:nvSpPr>
            <p:spPr>
              <a:xfrm>
                <a:off x="3715874" y="2016851"/>
                <a:ext cx="1735204" cy="76687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[Invariant Set]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CCID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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    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    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        {PC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,…,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PCn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}</a:t>
                </a:r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174" name="Straight Arrow Connector 7">
                <a:extLst>
                  <a:ext uri="{FF2B5EF4-FFF2-40B4-BE49-F238E27FC236}">
                    <a16:creationId xmlns:a16="http://schemas.microsoft.com/office/drawing/2014/main" id="{E48B3F1A-7F55-E066-7ABD-075B54572DD7}"/>
                  </a:ext>
                </a:extLst>
              </p:cNvPr>
              <p:cNvCxnSpPr>
                <a:cxnSpLocks/>
                <a:stCxn id="169" idx="0"/>
                <a:endCxn id="163" idx="3"/>
              </p:cNvCxnSpPr>
              <p:nvPr/>
            </p:nvCxnSpPr>
            <p:spPr>
              <a:xfrm rot="16200000" flipV="1">
                <a:off x="5662030" y="587299"/>
                <a:ext cx="1163884" cy="1585783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7">
                <a:extLst>
                  <a:ext uri="{FF2B5EF4-FFF2-40B4-BE49-F238E27FC236}">
                    <a16:creationId xmlns:a16="http://schemas.microsoft.com/office/drawing/2014/main" id="{AFAC4B61-A029-510A-9E8B-31256E1DB856}"/>
                  </a:ext>
                </a:extLst>
              </p:cNvPr>
              <p:cNvCxnSpPr>
                <a:cxnSpLocks/>
                <a:stCxn id="169" idx="0"/>
                <a:endCxn id="164" idx="3"/>
              </p:cNvCxnSpPr>
              <p:nvPr/>
            </p:nvCxnSpPr>
            <p:spPr>
              <a:xfrm rot="16200000" flipV="1">
                <a:off x="6017110" y="942379"/>
                <a:ext cx="453724" cy="1585783"/>
              </a:xfrm>
              <a:prstGeom prst="bent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C3A4C7A-A5A5-2685-5E42-1D45E2FAEE9C}"/>
                  </a:ext>
                </a:extLst>
              </p:cNvPr>
              <p:cNvSpPr txBox="1"/>
              <p:nvPr/>
            </p:nvSpPr>
            <p:spPr>
              <a:xfrm>
                <a:off x="5555277" y="404394"/>
                <a:ext cx="1481583" cy="320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Legal Access 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B8680463-7393-18E9-8A89-B5F43A8CDAE3}"/>
                  </a:ext>
                </a:extLst>
              </p:cNvPr>
              <p:cNvSpPr txBox="1"/>
              <p:nvPr/>
            </p:nvSpPr>
            <p:spPr>
              <a:xfrm>
                <a:off x="5568178" y="1166894"/>
                <a:ext cx="1585782" cy="320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Illegal Access</a:t>
                </a:r>
              </a:p>
            </p:txBody>
          </p:sp>
          <p:sp>
            <p:nvSpPr>
              <p:cNvPr id="178" name="Right Arrow 177">
                <a:extLst>
                  <a:ext uri="{FF2B5EF4-FFF2-40B4-BE49-F238E27FC236}">
                    <a16:creationId xmlns:a16="http://schemas.microsoft.com/office/drawing/2014/main" id="{1D3341E4-7163-E2B5-9F7C-89004DF9F03F}"/>
                  </a:ext>
                </a:extLst>
              </p:cNvPr>
              <p:cNvSpPr/>
              <p:nvPr/>
            </p:nvSpPr>
            <p:spPr>
              <a:xfrm>
                <a:off x="3379551" y="2198177"/>
                <a:ext cx="257578" cy="484632"/>
              </a:xfrm>
              <a:prstGeom prst="rightArrow">
                <a:avLst/>
              </a:prstGeom>
              <a:noFill/>
              <a:ln w="1524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79" name="Right Arrow 178">
                <a:extLst>
                  <a:ext uri="{FF2B5EF4-FFF2-40B4-BE49-F238E27FC236}">
                    <a16:creationId xmlns:a16="http://schemas.microsoft.com/office/drawing/2014/main" id="{F776C8E2-75A8-FB1D-4925-BBB3A3BDE403}"/>
                  </a:ext>
                </a:extLst>
              </p:cNvPr>
              <p:cNvSpPr/>
              <p:nvPr/>
            </p:nvSpPr>
            <p:spPr>
              <a:xfrm>
                <a:off x="5529828" y="2225527"/>
                <a:ext cx="213426" cy="484632"/>
              </a:xfrm>
              <a:prstGeom prst="rightArrow">
                <a:avLst/>
              </a:prstGeom>
              <a:noFill/>
              <a:ln w="1524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Tw Cen MT" panose="020B0602020104020603" pitchFamily="34" charset="77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FF9E2ECE-70AC-6A82-E58A-355E8320FCAA}"/>
                  </a:ext>
                </a:extLst>
              </p:cNvPr>
              <p:cNvSpPr txBox="1"/>
              <p:nvPr/>
            </p:nvSpPr>
            <p:spPr>
              <a:xfrm>
                <a:off x="1951950" y="3799244"/>
                <a:ext cx="1930514" cy="191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At profile time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F71C8D4-8103-86CF-E73A-4C74C456E97D}"/>
                  </a:ext>
                </a:extLst>
              </p:cNvPr>
              <p:cNvSpPr txBox="1"/>
              <p:nvPr/>
            </p:nvSpPr>
            <p:spPr>
              <a:xfrm>
                <a:off x="5555279" y="3795757"/>
                <a:ext cx="2133053" cy="4104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At runtime,</a:t>
                </a:r>
              </a:p>
              <a:p>
                <a:r>
                  <a:rPr lang="en-US" sz="800" dirty="0">
                    <a:latin typeface="Tw Cen MT" panose="020B0602020104020603" pitchFamily="34" charset="77"/>
                  </a:rPr>
                  <a:t>Check if memory access</a:t>
                </a:r>
              </a:p>
              <a:p>
                <a:r>
                  <a:rPr lang="en-US" sz="800" dirty="0">
                    <a:latin typeface="Tw Cen MT" panose="020B0602020104020603" pitchFamily="34" charset="77"/>
                  </a:rPr>
                  <a:t>violates invariant</a:t>
                </a:r>
              </a:p>
            </p:txBody>
          </p:sp>
        </p:grp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08A9FE44-B2A1-A3BF-F1DC-8EE1F7709ABF}"/>
                </a:ext>
              </a:extLst>
            </p:cNvPr>
            <p:cNvSpPr txBox="1"/>
            <p:nvPr/>
          </p:nvSpPr>
          <p:spPr>
            <a:xfrm>
              <a:off x="2851823" y="135065"/>
              <a:ext cx="909390" cy="360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Tw Cen MT" panose="020B0602020104020603" pitchFamily="34" charset="77"/>
                </a:rPr>
                <a:t>Virtual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3209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9258554-928D-B17F-3E55-26C318906A9A}"/>
              </a:ext>
            </a:extLst>
          </p:cNvPr>
          <p:cNvGrpSpPr/>
          <p:nvPr/>
        </p:nvGrpSpPr>
        <p:grpSpPr>
          <a:xfrm>
            <a:off x="257367" y="458486"/>
            <a:ext cx="3657600" cy="4572000"/>
            <a:chOff x="5154548" y="253653"/>
            <a:chExt cx="2293387" cy="466672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5DB8725-DBF6-8D1B-E336-DAC2CA7FB54A}"/>
                </a:ext>
              </a:extLst>
            </p:cNvPr>
            <p:cNvSpPr/>
            <p:nvPr/>
          </p:nvSpPr>
          <p:spPr>
            <a:xfrm>
              <a:off x="5154548" y="253653"/>
              <a:ext cx="1069258" cy="107451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13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ThreadA</a:t>
              </a:r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…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13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(...);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…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64CB6C4-2C71-516A-1DB3-B4B106CB8088}"/>
                </a:ext>
              </a:extLst>
            </p:cNvPr>
            <p:cNvSpPr/>
            <p:nvPr/>
          </p:nvSpPr>
          <p:spPr>
            <a:xfrm>
              <a:off x="6378677" y="253653"/>
              <a:ext cx="1069258" cy="107451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13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13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(…);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FC0E0FC-0AF7-1A02-AC70-CF85D2BBBDA1}"/>
                </a:ext>
              </a:extLst>
            </p:cNvPr>
            <p:cNvSpPr/>
            <p:nvPr/>
          </p:nvSpPr>
          <p:spPr>
            <a:xfrm>
              <a:off x="5154548" y="1574489"/>
              <a:ext cx="2293387" cy="1034028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13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// </a:t>
              </a:r>
              <a:r>
                <a:rPr lang="en-US" sz="13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implementation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3A42D8A-33D9-5353-462B-0B361F02C8A7}"/>
                </a:ext>
              </a:extLst>
            </p:cNvPr>
            <p:cNvSpPr/>
            <p:nvPr/>
          </p:nvSpPr>
          <p:spPr>
            <a:xfrm>
              <a:off x="5154548" y="2807896"/>
              <a:ext cx="2293387" cy="211248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// ECS = {</a:t>
              </a:r>
              <a:r>
                <a:rPr lang="en-US" sz="13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13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Barrier() {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</a:t>
              </a:r>
              <a:r>
                <a:rPr lang="en-US" sz="13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// Barrier elision</a:t>
              </a:r>
            </a:p>
            <a:p>
              <a:r>
                <a:rPr lang="en-US" sz="13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  // CCID: “</a:t>
              </a:r>
              <a:r>
                <a:rPr lang="en-US" sz="1300" dirty="0" err="1">
                  <a:solidFill>
                    <a:srgbClr val="0070C0"/>
                  </a:solidFill>
                  <a:latin typeface="Tw Cen MT" panose="020B0602020104020603" pitchFamily="34" charset="77"/>
                </a:rPr>
                <a:t>ThreadA</a:t>
              </a:r>
              <a:r>
                <a:rPr lang="en-US" sz="13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1300" dirty="0" err="1">
                  <a:solidFill>
                    <a:srgbClr val="0070C0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3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” or</a:t>
              </a:r>
            </a:p>
            <a:p>
              <a:r>
                <a:rPr lang="en-US" sz="13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  //          “</a:t>
              </a:r>
              <a:r>
                <a:rPr lang="en-US" sz="1300" dirty="0" err="1">
                  <a:solidFill>
                    <a:srgbClr val="0070C0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13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1300" dirty="0" err="1">
                  <a:solidFill>
                    <a:srgbClr val="0070C0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1300" dirty="0">
                  <a:solidFill>
                    <a:srgbClr val="0070C0"/>
                  </a:solidFill>
                  <a:latin typeface="Tw Cen MT" panose="020B0602020104020603" pitchFamily="34" charset="77"/>
                </a:rPr>
                <a:t>”</a:t>
              </a:r>
            </a:p>
            <a:p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  if (</a:t>
              </a:r>
              <a:r>
                <a:rPr lang="en-US" sz="1300" dirty="0" err="1">
                  <a:solidFill>
                    <a:srgbClr val="FF0000"/>
                  </a:solidFill>
                  <a:latin typeface="Tw Cen MT" panose="020B0602020104020603" pitchFamily="34" charset="77"/>
                </a:rPr>
                <a:t>ECS.Contains</a:t>
              </a:r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(CCID)</a:t>
              </a:r>
            </a:p>
            <a:p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      return; // Skip</a:t>
              </a:r>
            </a:p>
            <a:p>
              <a:endParaRPr lang="en-US" sz="13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Barrier implementation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4BABDEF-CAF6-27EB-75D0-539ABD7B5F2B}"/>
                </a:ext>
              </a:extLst>
            </p:cNvPr>
            <p:cNvCxnSpPr>
              <a:cxnSpLocks/>
              <a:stCxn id="62" idx="2"/>
              <a:endCxn id="65" idx="0"/>
            </p:cNvCxnSpPr>
            <p:nvPr/>
          </p:nvCxnSpPr>
          <p:spPr>
            <a:xfrm>
              <a:off x="5689177" y="1328163"/>
              <a:ext cx="612065" cy="24632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14721BB4-3F77-1CFA-DC84-758577406368}"/>
                </a:ext>
              </a:extLst>
            </p:cNvPr>
            <p:cNvCxnSpPr>
              <a:cxnSpLocks/>
              <a:stCxn id="64" idx="2"/>
              <a:endCxn id="65" idx="0"/>
            </p:cNvCxnSpPr>
            <p:nvPr/>
          </p:nvCxnSpPr>
          <p:spPr>
            <a:xfrm flipH="1">
              <a:off x="6301242" y="1328163"/>
              <a:ext cx="612065" cy="24632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2E814D8-8695-6B5E-8D0A-EB0B6C0FCF14}"/>
                </a:ext>
              </a:extLst>
            </p:cNvPr>
            <p:cNvCxnSpPr>
              <a:cxnSpLocks/>
              <a:stCxn id="65" idx="2"/>
              <a:endCxn id="66" idx="0"/>
            </p:cNvCxnSpPr>
            <p:nvPr/>
          </p:nvCxnSpPr>
          <p:spPr>
            <a:xfrm>
              <a:off x="6301242" y="2608517"/>
              <a:ext cx="0" cy="19937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FAD52BF-0C4F-CA84-174C-171E16A9933D}"/>
              </a:ext>
            </a:extLst>
          </p:cNvPr>
          <p:cNvGrpSpPr/>
          <p:nvPr/>
        </p:nvGrpSpPr>
        <p:grpSpPr>
          <a:xfrm>
            <a:off x="-2109093" y="329866"/>
            <a:ext cx="3657600" cy="4572000"/>
            <a:chOff x="1021922" y="253653"/>
            <a:chExt cx="3535329" cy="4666723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46D2309-8A41-2439-6811-E39050F10DB2}"/>
                </a:ext>
              </a:extLst>
            </p:cNvPr>
            <p:cNvCxnSpPr>
              <a:cxnSpLocks/>
              <a:stCxn id="82" idx="2"/>
              <a:endCxn id="79" idx="0"/>
            </p:cNvCxnSpPr>
            <p:nvPr/>
          </p:nvCxnSpPr>
          <p:spPr>
            <a:xfrm flipH="1">
              <a:off x="1885426" y="1077734"/>
              <a:ext cx="944815" cy="303048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002A81C-5CC1-82A7-3103-7AFF9D23C012}"/>
                </a:ext>
              </a:extLst>
            </p:cNvPr>
            <p:cNvCxnSpPr>
              <a:cxnSpLocks/>
              <a:stCxn id="82" idx="2"/>
              <a:endCxn id="77" idx="0"/>
            </p:cNvCxnSpPr>
            <p:nvPr/>
          </p:nvCxnSpPr>
          <p:spPr>
            <a:xfrm>
              <a:off x="2830241" y="1077734"/>
              <a:ext cx="863505" cy="283795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893C0E2-99CD-B4E2-1819-38107C0BC023}"/>
                </a:ext>
              </a:extLst>
            </p:cNvPr>
            <p:cNvCxnSpPr>
              <a:cxnSpLocks/>
              <a:stCxn id="79" idx="2"/>
              <a:endCxn id="90" idx="0"/>
            </p:cNvCxnSpPr>
            <p:nvPr/>
          </p:nvCxnSpPr>
          <p:spPr>
            <a:xfrm>
              <a:off x="1885426" y="3083018"/>
              <a:ext cx="944816" cy="30304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71FDD02-AF60-A720-B904-C878AE5242BE}"/>
                </a:ext>
              </a:extLst>
            </p:cNvPr>
            <p:cNvSpPr/>
            <p:nvPr/>
          </p:nvSpPr>
          <p:spPr>
            <a:xfrm>
              <a:off x="2830242" y="1361530"/>
              <a:ext cx="1727009" cy="172149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C() {</a:t>
              </a:r>
            </a:p>
            <a:p>
              <a:r>
                <a:rPr lang="en-US" sz="13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Original Code</a:t>
              </a:r>
            </a:p>
            <a:p>
              <a:r>
                <a:rPr lang="en-US" sz="13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Max(a, b);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// </a:t>
              </a:r>
              <a:r>
                <a:rPr lang="en-US" sz="1300" dirty="0" err="1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Jitted</a:t>
              </a:r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code.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// CCID: “A-&gt;C”</a:t>
              </a:r>
            </a:p>
            <a:p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13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= </a:t>
              </a:r>
              <a:r>
                <a:rPr lang="en-US" sz="13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GetBestVer</a:t>
              </a:r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(CCID);</a:t>
              </a:r>
            </a:p>
            <a:p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13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(); // Max(a, b);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13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A98135D-46E2-9B13-A213-DDD120B7CED2}"/>
                </a:ext>
              </a:extLst>
            </p:cNvPr>
            <p:cNvSpPr/>
            <p:nvPr/>
          </p:nvSpPr>
          <p:spPr>
            <a:xfrm>
              <a:off x="1021922" y="1380782"/>
              <a:ext cx="1727009" cy="1702235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B() {</a:t>
              </a:r>
            </a:p>
            <a:p>
              <a:r>
                <a:rPr lang="en-US" sz="13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Original Code</a:t>
              </a:r>
            </a:p>
            <a:p>
              <a:r>
                <a:rPr lang="en-US" sz="13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Max(a);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// </a:t>
              </a:r>
              <a:r>
                <a:rPr lang="en-US" sz="1300" dirty="0" err="1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Jitted</a:t>
              </a:r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code, </a:t>
              </a:r>
            </a:p>
            <a:p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// CCID: “A-&gt;B”</a:t>
              </a:r>
            </a:p>
            <a:p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13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= </a:t>
              </a:r>
              <a:r>
                <a:rPr lang="en-US" sz="13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BestVer</a:t>
              </a:r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(CCID);</a:t>
              </a:r>
            </a:p>
            <a:p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13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(); // </a:t>
              </a:r>
              <a:r>
                <a:rPr lang="en-US" sz="13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MaxOpt</a:t>
              </a:r>
              <a:r>
                <a:rPr lang="en-US" sz="13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(a);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13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2D12BD4-947E-8F70-FB27-60F2F53D849A}"/>
                </a:ext>
              </a:extLst>
            </p:cNvPr>
            <p:cNvSpPr/>
            <p:nvPr/>
          </p:nvSpPr>
          <p:spPr>
            <a:xfrm>
              <a:off x="2072214" y="253653"/>
              <a:ext cx="1516055" cy="82408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A() {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  B();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  C();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13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449EB1A-3F4B-0396-9782-EBFFFF099FB4}"/>
                </a:ext>
              </a:extLst>
            </p:cNvPr>
            <p:cNvCxnSpPr>
              <a:cxnSpLocks/>
              <a:stCxn id="77" idx="2"/>
              <a:endCxn id="90" idx="0"/>
            </p:cNvCxnSpPr>
            <p:nvPr/>
          </p:nvCxnSpPr>
          <p:spPr>
            <a:xfrm flipH="1">
              <a:off x="2830242" y="3083020"/>
              <a:ext cx="863504" cy="303048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949FEAA-1EBE-D59F-B04E-073FD9CBE412}"/>
                </a:ext>
              </a:extLst>
            </p:cNvPr>
            <p:cNvSpPr/>
            <p:nvPr/>
          </p:nvSpPr>
          <p:spPr>
            <a:xfrm>
              <a:off x="2072214" y="3386067"/>
              <a:ext cx="1516056" cy="1534309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Max </a:t>
              </a:r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(a, b=a) {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if (a &lt; b) return b; 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return a;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13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MaxOpt</a:t>
              </a:r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(a) {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return a;</a:t>
              </a:r>
            </a:p>
            <a:p>
              <a:r>
                <a:rPr lang="en-US" sz="13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D7E267A-4AB7-02F3-67F6-6EB0B6BA0068}"/>
              </a:ext>
            </a:extLst>
          </p:cNvPr>
          <p:cNvGrpSpPr/>
          <p:nvPr/>
        </p:nvGrpSpPr>
        <p:grpSpPr>
          <a:xfrm>
            <a:off x="4410564" y="215527"/>
            <a:ext cx="3657600" cy="4568668"/>
            <a:chOff x="1668937" y="188783"/>
            <a:chExt cx="3317664" cy="498445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F0026CB-17A0-981D-C9B2-1C20355D3F83}"/>
                </a:ext>
              </a:extLst>
            </p:cNvPr>
            <p:cNvGrpSpPr/>
            <p:nvPr/>
          </p:nvGrpSpPr>
          <p:grpSpPr>
            <a:xfrm>
              <a:off x="1668937" y="221225"/>
              <a:ext cx="3317664" cy="4952012"/>
              <a:chOff x="1689772" y="199103"/>
              <a:chExt cx="6149877" cy="440271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D271514-4022-FCAA-5305-D8CDB499FD96}"/>
                  </a:ext>
                </a:extLst>
              </p:cNvPr>
              <p:cNvSpPr/>
              <p:nvPr/>
            </p:nvSpPr>
            <p:spPr>
              <a:xfrm>
                <a:off x="3715876" y="3276146"/>
                <a:ext cx="1735206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if (</a:t>
                </a:r>
                <a:r>
                  <a:rPr lang="en-US" sz="12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&lt; 16)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 return </a:t>
                </a:r>
                <a:r>
                  <a:rPr lang="en-US" sz="12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arr</a:t>
                </a:r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</a:t>
                </a:r>
                <a:r>
                  <a:rPr lang="en-US" sz="12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];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}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5631E95-CECB-0867-A04E-FA8DFB2FA8A9}"/>
                  </a:ext>
                </a:extLst>
              </p:cNvPr>
              <p:cNvSpPr/>
              <p:nvPr/>
            </p:nvSpPr>
            <p:spPr>
              <a:xfrm>
                <a:off x="3715878" y="199103"/>
                <a:ext cx="1735202" cy="4146149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2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411ADB8-5957-C271-8B44-3BB358AD6634}"/>
                  </a:ext>
                </a:extLst>
              </p:cNvPr>
              <p:cNvSpPr/>
              <p:nvPr/>
            </p:nvSpPr>
            <p:spPr>
              <a:xfrm>
                <a:off x="3715874" y="433217"/>
                <a:ext cx="1735206" cy="73006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arr</a:t>
                </a:r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[0-15];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F761B53-DE8B-1ADA-DF8B-460D8C88828E}"/>
                  </a:ext>
                </a:extLst>
              </p:cNvPr>
              <p:cNvSpPr/>
              <p:nvPr/>
            </p:nvSpPr>
            <p:spPr>
              <a:xfrm>
                <a:off x="3715878" y="1361111"/>
                <a:ext cx="1735202" cy="29459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secret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6519EA4-195D-350E-E48B-EA5B294A752D}"/>
                  </a:ext>
                </a:extLst>
              </p:cNvPr>
              <p:cNvSpPr/>
              <p:nvPr/>
            </p:nvSpPr>
            <p:spPr>
              <a:xfrm>
                <a:off x="1689772" y="1962133"/>
                <a:ext cx="1611034" cy="93018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Record Invariant</a:t>
                </a:r>
              </a:p>
            </p:txBody>
          </p:sp>
          <p:cxnSp>
            <p:nvCxnSpPr>
              <p:cNvPr id="10" name="Straight Arrow Connector 7">
                <a:extLst>
                  <a:ext uri="{FF2B5EF4-FFF2-40B4-BE49-F238E27FC236}">
                    <a16:creationId xmlns:a16="http://schemas.microsoft.com/office/drawing/2014/main" id="{A7C5C4FE-36E2-501E-D26F-46C793A5AECC}"/>
                  </a:ext>
                </a:extLst>
              </p:cNvPr>
              <p:cNvCxnSpPr>
                <a:cxnSpLocks/>
                <a:stCxn id="5" idx="1"/>
                <a:endCxn id="9" idx="2"/>
              </p:cNvCxnSpPr>
              <p:nvPr/>
            </p:nvCxnSpPr>
            <p:spPr>
              <a:xfrm rot="10800000">
                <a:off x="2495291" y="2892314"/>
                <a:ext cx="1220588" cy="848922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7">
                <a:extLst>
                  <a:ext uri="{FF2B5EF4-FFF2-40B4-BE49-F238E27FC236}">
                    <a16:creationId xmlns:a16="http://schemas.microsoft.com/office/drawing/2014/main" id="{068BAC05-180E-7EC8-996F-AC11019D9BC1}"/>
                  </a:ext>
                </a:extLst>
              </p:cNvPr>
              <p:cNvCxnSpPr>
                <a:cxnSpLocks/>
                <a:stCxn id="9" idx="0"/>
                <a:endCxn id="7" idx="1"/>
              </p:cNvCxnSpPr>
              <p:nvPr/>
            </p:nvCxnSpPr>
            <p:spPr>
              <a:xfrm rot="5400000" flipH="1" flipV="1">
                <a:off x="2523639" y="769900"/>
                <a:ext cx="1163884" cy="1220584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F3977F-0679-73F9-BCA2-CEF43133C6D6}"/>
                  </a:ext>
                </a:extLst>
              </p:cNvPr>
              <p:cNvSpPr txBox="1"/>
              <p:nvPr/>
            </p:nvSpPr>
            <p:spPr>
              <a:xfrm>
                <a:off x="2336128" y="476053"/>
                <a:ext cx="1419124" cy="268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Observed 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F4DB2C5-9414-F119-BF29-D2FC2D0BDFBE}"/>
                  </a:ext>
                </a:extLst>
              </p:cNvPr>
              <p:cNvSpPr/>
              <p:nvPr/>
            </p:nvSpPr>
            <p:spPr>
              <a:xfrm>
                <a:off x="5822000" y="1810819"/>
                <a:ext cx="2017649" cy="1235926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// In HW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If (Violate) {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raise Exception;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}</a:t>
                </a:r>
              </a:p>
            </p:txBody>
          </p:sp>
          <p:cxnSp>
            <p:nvCxnSpPr>
              <p:cNvPr id="17" name="Straight Arrow Connector 7">
                <a:extLst>
                  <a:ext uri="{FF2B5EF4-FFF2-40B4-BE49-F238E27FC236}">
                    <a16:creationId xmlns:a16="http://schemas.microsoft.com/office/drawing/2014/main" id="{1D319C54-4A1C-32F0-7EA4-8EE833658710}"/>
                  </a:ext>
                </a:extLst>
              </p:cNvPr>
              <p:cNvCxnSpPr>
                <a:cxnSpLocks/>
                <a:stCxn id="9" idx="0"/>
                <a:endCxn id="8" idx="1"/>
              </p:cNvCxnSpPr>
              <p:nvPr/>
            </p:nvCxnSpPr>
            <p:spPr>
              <a:xfrm rot="5400000" flipH="1" flipV="1">
                <a:off x="2878722" y="1124976"/>
                <a:ext cx="453726" cy="1220590"/>
              </a:xfrm>
              <a:prstGeom prst="bentConnector2">
                <a:avLst/>
              </a:prstGeom>
              <a:ln w="15875">
                <a:solidFill>
                  <a:srgbClr val="0070C0"/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A6FE695-C223-F98C-330A-B1C6B60353A4}"/>
                  </a:ext>
                </a:extLst>
              </p:cNvPr>
              <p:cNvSpPr txBox="1"/>
              <p:nvPr/>
            </p:nvSpPr>
            <p:spPr>
              <a:xfrm>
                <a:off x="1998379" y="1201024"/>
                <a:ext cx="2149794" cy="268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70C0"/>
                    </a:solidFill>
                    <a:latin typeface="Tw Cen MT" panose="020B0602020104020603" pitchFamily="34" charset="77"/>
                  </a:rPr>
                  <a:t>Not Observed </a:t>
                </a:r>
              </a:p>
            </p:txBody>
          </p:sp>
          <p:cxnSp>
            <p:nvCxnSpPr>
              <p:cNvPr id="19" name="Straight Arrow Connector 7">
                <a:extLst>
                  <a:ext uri="{FF2B5EF4-FFF2-40B4-BE49-F238E27FC236}">
                    <a16:creationId xmlns:a16="http://schemas.microsoft.com/office/drawing/2014/main" id="{FB4F2E96-A7E7-ABF7-826A-426E9E8F1896}"/>
                  </a:ext>
                </a:extLst>
              </p:cNvPr>
              <p:cNvCxnSpPr>
                <a:cxnSpLocks/>
                <a:stCxn id="5" idx="3"/>
                <a:endCxn id="15" idx="2"/>
              </p:cNvCxnSpPr>
              <p:nvPr/>
            </p:nvCxnSpPr>
            <p:spPr>
              <a:xfrm flipV="1">
                <a:off x="5451083" y="3046745"/>
                <a:ext cx="1379742" cy="694492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9A4C76-358C-513B-6E7F-796C07DA73E0}"/>
                  </a:ext>
                </a:extLst>
              </p:cNvPr>
              <p:cNvSpPr/>
              <p:nvPr/>
            </p:nvSpPr>
            <p:spPr>
              <a:xfrm>
                <a:off x="3715874" y="2016851"/>
                <a:ext cx="1735204" cy="76687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Invariants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(CCID, </a:t>
                </a:r>
                <a:r>
                  <a:rPr lang="en-US" sz="12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Addr</a:t>
                </a:r>
                <a:r>
                  <a:rPr lang="en-US" sz="12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, PC)</a:t>
                </a:r>
              </a:p>
            </p:txBody>
          </p:sp>
          <p:cxnSp>
            <p:nvCxnSpPr>
              <p:cNvPr id="21" name="Straight Arrow Connector 7">
                <a:extLst>
                  <a:ext uri="{FF2B5EF4-FFF2-40B4-BE49-F238E27FC236}">
                    <a16:creationId xmlns:a16="http://schemas.microsoft.com/office/drawing/2014/main" id="{288EE547-23F4-DD36-C914-B8577A0FD4C9}"/>
                  </a:ext>
                </a:extLst>
              </p:cNvPr>
              <p:cNvCxnSpPr>
                <a:cxnSpLocks/>
                <a:stCxn id="15" idx="0"/>
                <a:endCxn id="7" idx="3"/>
              </p:cNvCxnSpPr>
              <p:nvPr/>
            </p:nvCxnSpPr>
            <p:spPr>
              <a:xfrm rot="16200000" flipV="1">
                <a:off x="5634667" y="614662"/>
                <a:ext cx="1012571" cy="1379745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7">
                <a:extLst>
                  <a:ext uri="{FF2B5EF4-FFF2-40B4-BE49-F238E27FC236}">
                    <a16:creationId xmlns:a16="http://schemas.microsoft.com/office/drawing/2014/main" id="{1BA8C000-47E7-1730-EFB1-C3E88B233435}"/>
                  </a:ext>
                </a:extLst>
              </p:cNvPr>
              <p:cNvCxnSpPr>
                <a:cxnSpLocks/>
                <a:stCxn id="15" idx="0"/>
                <a:endCxn id="8" idx="3"/>
              </p:cNvCxnSpPr>
              <p:nvPr/>
            </p:nvCxnSpPr>
            <p:spPr>
              <a:xfrm rot="16200000" flipV="1">
                <a:off x="5989746" y="969740"/>
                <a:ext cx="302412" cy="1379746"/>
              </a:xfrm>
              <a:prstGeom prst="bent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3F1FE8-4334-5631-19DF-D4FA46177E77}"/>
                  </a:ext>
                </a:extLst>
              </p:cNvPr>
              <p:cNvSpPr txBox="1"/>
              <p:nvPr/>
            </p:nvSpPr>
            <p:spPr>
              <a:xfrm>
                <a:off x="5555276" y="465800"/>
                <a:ext cx="1892439" cy="268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Legal Access 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C16DB1B-50B0-9BC2-0F4F-BB6EEECB83D4}"/>
                  </a:ext>
                </a:extLst>
              </p:cNvPr>
              <p:cNvSpPr txBox="1"/>
              <p:nvPr/>
            </p:nvSpPr>
            <p:spPr>
              <a:xfrm>
                <a:off x="5322336" y="1180700"/>
                <a:ext cx="1892441" cy="268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Illegal Access</a:t>
                </a:r>
              </a:p>
            </p:txBody>
          </p:sp>
          <p:sp>
            <p:nvSpPr>
              <p:cNvPr id="25" name="Right Arrow 24">
                <a:extLst>
                  <a:ext uri="{FF2B5EF4-FFF2-40B4-BE49-F238E27FC236}">
                    <a16:creationId xmlns:a16="http://schemas.microsoft.com/office/drawing/2014/main" id="{7EC0FA1A-6F22-6F54-B46A-9A0F123AE1C3}"/>
                  </a:ext>
                </a:extLst>
              </p:cNvPr>
              <p:cNvSpPr/>
              <p:nvPr/>
            </p:nvSpPr>
            <p:spPr>
              <a:xfrm>
                <a:off x="3379551" y="2198177"/>
                <a:ext cx="257578" cy="484632"/>
              </a:xfrm>
              <a:prstGeom prst="rightArrow">
                <a:avLst/>
              </a:prstGeom>
              <a:noFill/>
              <a:ln w="1524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26" name="Right Arrow 25">
                <a:extLst>
                  <a:ext uri="{FF2B5EF4-FFF2-40B4-BE49-F238E27FC236}">
                    <a16:creationId xmlns:a16="http://schemas.microsoft.com/office/drawing/2014/main" id="{5E77CC18-61EF-0F8E-CBE3-F5E34E398517}"/>
                  </a:ext>
                </a:extLst>
              </p:cNvPr>
              <p:cNvSpPr/>
              <p:nvPr/>
            </p:nvSpPr>
            <p:spPr>
              <a:xfrm>
                <a:off x="5529828" y="2225527"/>
                <a:ext cx="213426" cy="484632"/>
              </a:xfrm>
              <a:prstGeom prst="rightArrow">
                <a:avLst/>
              </a:prstGeom>
              <a:noFill/>
              <a:ln w="1524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Tw Cen MT" panose="020B0602020104020603" pitchFamily="34" charset="77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0BCD100-67AD-FADA-CD40-73B06682252B}"/>
                  </a:ext>
                </a:extLst>
              </p:cNvPr>
              <p:cNvSpPr txBox="1"/>
              <p:nvPr/>
            </p:nvSpPr>
            <p:spPr>
              <a:xfrm>
                <a:off x="1951951" y="3799244"/>
                <a:ext cx="1930513" cy="268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At profile time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1E1794-A00C-45E8-C531-8AE4958603F9}"/>
                  </a:ext>
                </a:extLst>
              </p:cNvPr>
              <p:cNvSpPr txBox="1"/>
              <p:nvPr/>
            </p:nvSpPr>
            <p:spPr>
              <a:xfrm>
                <a:off x="5555280" y="3795757"/>
                <a:ext cx="2168013" cy="806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Tw Cen MT" panose="020B0602020104020603" pitchFamily="34" charset="77"/>
                  </a:rPr>
                  <a:t>At runtime,</a:t>
                </a:r>
              </a:p>
              <a:p>
                <a:r>
                  <a:rPr lang="en-US" sz="1200" dirty="0">
                    <a:latin typeface="Tw Cen MT" panose="020B0602020104020603" pitchFamily="34" charset="77"/>
                  </a:rPr>
                  <a:t>Check if memory access</a:t>
                </a:r>
              </a:p>
              <a:p>
                <a:r>
                  <a:rPr lang="en-US" sz="1200" dirty="0">
                    <a:latin typeface="Tw Cen MT" panose="020B0602020104020603" pitchFamily="34" charset="77"/>
                  </a:rPr>
                  <a:t>violates invariant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BBF2B68-5A68-5202-CE84-77DAD27B5ABB}"/>
                </a:ext>
              </a:extLst>
            </p:cNvPr>
            <p:cNvSpPr txBox="1"/>
            <p:nvPr/>
          </p:nvSpPr>
          <p:spPr>
            <a:xfrm>
              <a:off x="2698698" y="188783"/>
              <a:ext cx="1136412" cy="302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w Cen MT" panose="020B0602020104020603" pitchFamily="34" charset="77"/>
                </a:rPr>
                <a:t>Virtual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078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9258554-928D-B17F-3E55-26C318906A9A}"/>
              </a:ext>
            </a:extLst>
          </p:cNvPr>
          <p:cNvGrpSpPr/>
          <p:nvPr/>
        </p:nvGrpSpPr>
        <p:grpSpPr>
          <a:xfrm>
            <a:off x="2857511" y="137199"/>
            <a:ext cx="3070297" cy="3632943"/>
            <a:chOff x="5154548" y="253653"/>
            <a:chExt cx="2293387" cy="466672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5DB8725-DBF6-8D1B-E336-DAC2CA7FB54A}"/>
                </a:ext>
              </a:extLst>
            </p:cNvPr>
            <p:cNvSpPr/>
            <p:nvPr/>
          </p:nvSpPr>
          <p:spPr>
            <a:xfrm>
              <a:off x="5154548" y="253653"/>
              <a:ext cx="1069258" cy="1146133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ThreadA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…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(...);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…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64CB6C4-2C71-516A-1DB3-B4B106CB8088}"/>
                </a:ext>
              </a:extLst>
            </p:cNvPr>
            <p:cNvSpPr/>
            <p:nvPr/>
          </p:nvSpPr>
          <p:spPr>
            <a:xfrm>
              <a:off x="6378677" y="253653"/>
              <a:ext cx="1069258" cy="1146133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(…);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FC0E0FC-0AF7-1A02-AC70-CF85D2BBBDA1}"/>
                </a:ext>
              </a:extLst>
            </p:cNvPr>
            <p:cNvSpPr/>
            <p:nvPr/>
          </p:nvSpPr>
          <p:spPr>
            <a:xfrm>
              <a:off x="5154548" y="1869793"/>
              <a:ext cx="2293387" cy="93018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//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implementation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Barrier();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3A42D8A-33D9-5353-462B-0B361F02C8A7}"/>
                </a:ext>
              </a:extLst>
            </p:cNvPr>
            <p:cNvSpPr/>
            <p:nvPr/>
          </p:nvSpPr>
          <p:spPr>
            <a:xfrm>
              <a:off x="5154548" y="3187647"/>
              <a:ext cx="2293387" cy="1732728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// ECS = {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Barrier()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Barrier elision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CCID: “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ThreadA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” or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         “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ThreadB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-&gt;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MatMul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”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if (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ECS.Contains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(CCID)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    return; // Skip</a:t>
              </a:r>
            </a:p>
            <a:p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// Barrier implementation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4BABDEF-CAF6-27EB-75D0-539ABD7B5F2B}"/>
                </a:ext>
              </a:extLst>
            </p:cNvPr>
            <p:cNvCxnSpPr>
              <a:cxnSpLocks/>
              <a:stCxn id="62" idx="2"/>
              <a:endCxn id="65" idx="0"/>
            </p:cNvCxnSpPr>
            <p:nvPr/>
          </p:nvCxnSpPr>
          <p:spPr>
            <a:xfrm>
              <a:off x="5689177" y="1399786"/>
              <a:ext cx="612065" cy="470007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14721BB4-3F77-1CFA-DC84-758577406368}"/>
                </a:ext>
              </a:extLst>
            </p:cNvPr>
            <p:cNvCxnSpPr>
              <a:cxnSpLocks/>
              <a:stCxn id="64" idx="2"/>
              <a:endCxn id="65" idx="0"/>
            </p:cNvCxnSpPr>
            <p:nvPr/>
          </p:nvCxnSpPr>
          <p:spPr>
            <a:xfrm flipH="1">
              <a:off x="6301242" y="1399786"/>
              <a:ext cx="612064" cy="470007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2E814D8-8695-6B5E-8D0A-EB0B6C0FCF14}"/>
                </a:ext>
              </a:extLst>
            </p:cNvPr>
            <p:cNvCxnSpPr>
              <a:cxnSpLocks/>
              <a:stCxn id="65" idx="2"/>
              <a:endCxn id="66" idx="0"/>
            </p:cNvCxnSpPr>
            <p:nvPr/>
          </p:nvCxnSpPr>
          <p:spPr>
            <a:xfrm>
              <a:off x="6301242" y="2799975"/>
              <a:ext cx="0" cy="387672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FAD52BF-0C4F-CA84-174C-171E16A9933D}"/>
              </a:ext>
            </a:extLst>
          </p:cNvPr>
          <p:cNvGrpSpPr/>
          <p:nvPr/>
        </p:nvGrpSpPr>
        <p:grpSpPr>
          <a:xfrm>
            <a:off x="-383678" y="200462"/>
            <a:ext cx="2880388" cy="3613345"/>
            <a:chOff x="1021922" y="253653"/>
            <a:chExt cx="3535329" cy="4666721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46D2309-8A41-2439-6811-E39050F10DB2}"/>
                </a:ext>
              </a:extLst>
            </p:cNvPr>
            <p:cNvCxnSpPr>
              <a:cxnSpLocks/>
              <a:stCxn id="82" idx="2"/>
              <a:endCxn id="79" idx="0"/>
            </p:cNvCxnSpPr>
            <p:nvPr/>
          </p:nvCxnSpPr>
          <p:spPr>
            <a:xfrm flipH="1">
              <a:off x="1885427" y="1077735"/>
              <a:ext cx="944815" cy="50901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002A81C-5CC1-82A7-3103-7AFF9D23C012}"/>
                </a:ext>
              </a:extLst>
            </p:cNvPr>
            <p:cNvCxnSpPr>
              <a:cxnSpLocks/>
              <a:stCxn id="82" idx="2"/>
              <a:endCxn id="77" idx="0"/>
            </p:cNvCxnSpPr>
            <p:nvPr/>
          </p:nvCxnSpPr>
          <p:spPr>
            <a:xfrm>
              <a:off x="2830242" y="1077735"/>
              <a:ext cx="863505" cy="509017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893C0E2-99CD-B4E2-1819-38107C0BC023}"/>
                </a:ext>
              </a:extLst>
            </p:cNvPr>
            <p:cNvCxnSpPr>
              <a:cxnSpLocks/>
              <a:stCxn id="79" idx="2"/>
              <a:endCxn id="90" idx="0"/>
            </p:cNvCxnSpPr>
            <p:nvPr/>
          </p:nvCxnSpPr>
          <p:spPr>
            <a:xfrm>
              <a:off x="1885427" y="3083018"/>
              <a:ext cx="944815" cy="50901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71FDD02-AF60-A720-B904-C878AE5242BE}"/>
                </a:ext>
              </a:extLst>
            </p:cNvPr>
            <p:cNvSpPr/>
            <p:nvPr/>
          </p:nvSpPr>
          <p:spPr>
            <a:xfrm>
              <a:off x="2830242" y="1586752"/>
              <a:ext cx="1727009" cy="1496267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C() {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Original Code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Max(a, b);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//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Jitted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code.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// CCID: “A-&gt;C”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=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GetBestVer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(CCID);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(); // Max(a, b);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A98135D-46E2-9B13-A213-DDD120B7CED2}"/>
                </a:ext>
              </a:extLst>
            </p:cNvPr>
            <p:cNvSpPr/>
            <p:nvPr/>
          </p:nvSpPr>
          <p:spPr>
            <a:xfrm>
              <a:off x="1021922" y="1586751"/>
              <a:ext cx="1727009" cy="1496267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B() {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Original Code</a:t>
              </a:r>
            </a:p>
            <a:p>
              <a:r>
                <a:rPr lang="en-US" sz="800" dirty="0">
                  <a:solidFill>
                    <a:srgbClr val="0070C0"/>
                  </a:solidFill>
                  <a:latin typeface="Tw Cen MT" panose="020B0602020104020603" pitchFamily="34" charset="77"/>
                  <a:sym typeface="Wingdings" pitchFamily="2" charset="2"/>
                </a:rPr>
                <a:t> // Max(a);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//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Jitted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code, 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// CCID: “A-&gt;B”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=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BestVer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(CCID);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fp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(); // </a:t>
              </a:r>
              <a:r>
                <a:rPr lang="en-US" sz="800" dirty="0" err="1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MaxOpt</a:t>
              </a:r>
              <a:r>
                <a:rPr lang="en-US" sz="800" dirty="0">
                  <a:solidFill>
                    <a:srgbClr val="FF0000"/>
                  </a:solidFill>
                  <a:latin typeface="Tw Cen MT" panose="020B0602020104020603" pitchFamily="34" charset="77"/>
                  <a:sym typeface="Wingdings" pitchFamily="2" charset="2"/>
                </a:rPr>
                <a:t>(a);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2D12BD4-947E-8F70-FB27-60F2F53D849A}"/>
                </a:ext>
              </a:extLst>
            </p:cNvPr>
            <p:cNvSpPr/>
            <p:nvPr/>
          </p:nvSpPr>
          <p:spPr>
            <a:xfrm>
              <a:off x="2072214" y="253653"/>
              <a:ext cx="1516055" cy="82408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A()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  B();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   C();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}</a:t>
              </a:r>
              <a:endParaRPr lang="en-US" sz="8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449EB1A-3F4B-0396-9782-EBFFFF099FB4}"/>
                </a:ext>
              </a:extLst>
            </p:cNvPr>
            <p:cNvCxnSpPr>
              <a:cxnSpLocks/>
              <a:stCxn id="77" idx="2"/>
              <a:endCxn id="90" idx="0"/>
            </p:cNvCxnSpPr>
            <p:nvPr/>
          </p:nvCxnSpPr>
          <p:spPr>
            <a:xfrm flipH="1">
              <a:off x="2830242" y="3083019"/>
              <a:ext cx="863505" cy="509015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949FEAA-1EBE-D59F-B04E-073FD9CBE412}"/>
                </a:ext>
              </a:extLst>
            </p:cNvPr>
            <p:cNvSpPr/>
            <p:nvPr/>
          </p:nvSpPr>
          <p:spPr>
            <a:xfrm>
              <a:off x="2072214" y="3592034"/>
              <a:ext cx="1516056" cy="1328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  <a:sym typeface="Wingdings" pitchFamily="2" charset="2"/>
                </a:rPr>
                <a:t>Def Max 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(a, b=a)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if (a &lt; b) return b; 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return a;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Def </a:t>
              </a:r>
              <a:r>
                <a:rPr lang="en-US" sz="800" dirty="0" err="1">
                  <a:solidFill>
                    <a:schemeClr val="tx1"/>
                  </a:solidFill>
                  <a:latin typeface="Tw Cen MT" panose="020B0602020104020603" pitchFamily="34" charset="77"/>
                </a:rPr>
                <a:t>MaxOpt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(a) {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  return a;</a:t>
              </a:r>
            </a:p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}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2EBAD6F-1851-8DEA-1904-B238E81B6605}"/>
              </a:ext>
            </a:extLst>
          </p:cNvPr>
          <p:cNvGrpSpPr/>
          <p:nvPr/>
        </p:nvGrpSpPr>
        <p:grpSpPr>
          <a:xfrm>
            <a:off x="6473661" y="241671"/>
            <a:ext cx="3542334" cy="4663440"/>
            <a:chOff x="1666568" y="221225"/>
            <a:chExt cx="3542334" cy="4663440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EB28EAEE-8999-8C6E-9188-3AF18DCA5455}"/>
                </a:ext>
              </a:extLst>
            </p:cNvPr>
            <p:cNvGrpSpPr/>
            <p:nvPr/>
          </p:nvGrpSpPr>
          <p:grpSpPr>
            <a:xfrm>
              <a:off x="1666568" y="221225"/>
              <a:ext cx="3542334" cy="4663440"/>
              <a:chOff x="1685381" y="199103"/>
              <a:chExt cx="6566342" cy="4146149"/>
            </a:xfrm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834420D9-0F04-12E7-9EC0-DB241EA43489}"/>
                  </a:ext>
                </a:extLst>
              </p:cNvPr>
              <p:cNvSpPr/>
              <p:nvPr/>
            </p:nvSpPr>
            <p:spPr>
              <a:xfrm>
                <a:off x="3715876" y="3276146"/>
                <a:ext cx="1735206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char read(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 {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if (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&lt; 16)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 return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arr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idx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];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}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E656E11F-BFE8-53C0-228E-D4C8E6C7B8E0}"/>
                  </a:ext>
                </a:extLst>
              </p:cNvPr>
              <p:cNvSpPr/>
              <p:nvPr/>
            </p:nvSpPr>
            <p:spPr>
              <a:xfrm>
                <a:off x="3715878" y="199103"/>
                <a:ext cx="1735202" cy="4146149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72B6933F-7396-705C-68F7-4920B361872E}"/>
                  </a:ext>
                </a:extLst>
              </p:cNvPr>
              <p:cNvSpPr/>
              <p:nvPr/>
            </p:nvSpPr>
            <p:spPr>
              <a:xfrm>
                <a:off x="3715874" y="433217"/>
                <a:ext cx="1735206" cy="73006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char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arr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[0-15];</a:t>
                </a: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F3898A72-9D93-DA88-34B9-F1F0905F6D57}"/>
                  </a:ext>
                </a:extLst>
              </p:cNvPr>
              <p:cNvSpPr/>
              <p:nvPr/>
            </p:nvSpPr>
            <p:spPr>
              <a:xfrm>
                <a:off x="3715878" y="1361111"/>
                <a:ext cx="1735202" cy="29459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char secret;</a:t>
                </a: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A9C37847-C2F4-AD1A-579B-BC8F3A56067A}"/>
                  </a:ext>
                </a:extLst>
              </p:cNvPr>
              <p:cNvSpPr/>
              <p:nvPr/>
            </p:nvSpPr>
            <p:spPr>
              <a:xfrm>
                <a:off x="1685381" y="1962132"/>
                <a:ext cx="1615424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Record Invariant (CCID,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, PC)</a:t>
                </a:r>
              </a:p>
            </p:txBody>
          </p:sp>
          <p:cxnSp>
            <p:nvCxnSpPr>
              <p:cNvPr id="166" name="Straight Arrow Connector 7">
                <a:extLst>
                  <a:ext uri="{FF2B5EF4-FFF2-40B4-BE49-F238E27FC236}">
                    <a16:creationId xmlns:a16="http://schemas.microsoft.com/office/drawing/2014/main" id="{3F91C713-78AC-B31A-395E-96ACE71D4C1E}"/>
                  </a:ext>
                </a:extLst>
              </p:cNvPr>
              <p:cNvCxnSpPr>
                <a:cxnSpLocks/>
                <a:stCxn id="161" idx="1"/>
                <a:endCxn id="165" idx="2"/>
              </p:cNvCxnSpPr>
              <p:nvPr/>
            </p:nvCxnSpPr>
            <p:spPr>
              <a:xfrm rot="10800000">
                <a:off x="2493095" y="2892315"/>
                <a:ext cx="1222783" cy="848924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Straight Arrow Connector 7">
                <a:extLst>
                  <a:ext uri="{FF2B5EF4-FFF2-40B4-BE49-F238E27FC236}">
                    <a16:creationId xmlns:a16="http://schemas.microsoft.com/office/drawing/2014/main" id="{40A5A631-8016-A2BB-4FC3-9E2D8443A06F}"/>
                  </a:ext>
                </a:extLst>
              </p:cNvPr>
              <p:cNvCxnSpPr>
                <a:cxnSpLocks/>
                <a:stCxn id="165" idx="0"/>
                <a:endCxn id="163" idx="1"/>
              </p:cNvCxnSpPr>
              <p:nvPr/>
            </p:nvCxnSpPr>
            <p:spPr>
              <a:xfrm rot="5400000" flipH="1" flipV="1">
                <a:off x="2522543" y="768800"/>
                <a:ext cx="1163884" cy="1222782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5C9F8CCA-B305-5E3E-B4EC-FF9C8228CCE3}"/>
                  </a:ext>
                </a:extLst>
              </p:cNvPr>
              <p:cNvSpPr txBox="1"/>
              <p:nvPr/>
            </p:nvSpPr>
            <p:spPr>
              <a:xfrm>
                <a:off x="2490116" y="626428"/>
                <a:ext cx="1147014" cy="191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Observed 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F22D957D-05D5-CBC6-2FFC-F35464604210}"/>
                  </a:ext>
                </a:extLst>
              </p:cNvPr>
              <p:cNvSpPr/>
              <p:nvPr/>
            </p:nvSpPr>
            <p:spPr>
              <a:xfrm>
                <a:off x="5822002" y="1962132"/>
                <a:ext cx="2429721" cy="930182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// Implemented in HW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If (Violate(CCID,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, PC)) {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  raise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SecurityException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}</a:t>
                </a:r>
              </a:p>
            </p:txBody>
          </p:sp>
          <p:cxnSp>
            <p:nvCxnSpPr>
              <p:cNvPr id="170" name="Straight Arrow Connector 7">
                <a:extLst>
                  <a:ext uri="{FF2B5EF4-FFF2-40B4-BE49-F238E27FC236}">
                    <a16:creationId xmlns:a16="http://schemas.microsoft.com/office/drawing/2014/main" id="{093430E7-8A2A-0541-A5D8-F4AD08CD7CF8}"/>
                  </a:ext>
                </a:extLst>
              </p:cNvPr>
              <p:cNvCxnSpPr>
                <a:cxnSpLocks/>
                <a:stCxn id="165" idx="0"/>
                <a:endCxn id="164" idx="1"/>
              </p:cNvCxnSpPr>
              <p:nvPr/>
            </p:nvCxnSpPr>
            <p:spPr>
              <a:xfrm rot="5400000" flipH="1" flipV="1">
                <a:off x="2877624" y="1123878"/>
                <a:ext cx="453724" cy="1222785"/>
              </a:xfrm>
              <a:prstGeom prst="bentConnector2">
                <a:avLst/>
              </a:prstGeom>
              <a:ln w="15875">
                <a:solidFill>
                  <a:srgbClr val="0070C0"/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4110B774-138B-75EF-22F8-9BF93F1338DA}"/>
                  </a:ext>
                </a:extLst>
              </p:cNvPr>
              <p:cNvSpPr txBox="1"/>
              <p:nvPr/>
            </p:nvSpPr>
            <p:spPr>
              <a:xfrm>
                <a:off x="2408749" y="1301635"/>
                <a:ext cx="1473715" cy="191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0070C0"/>
                    </a:solidFill>
                    <a:latin typeface="Tw Cen MT" panose="020B0602020104020603" pitchFamily="34" charset="77"/>
                  </a:rPr>
                  <a:t>Not Observed </a:t>
                </a:r>
              </a:p>
            </p:txBody>
          </p:sp>
          <p:cxnSp>
            <p:nvCxnSpPr>
              <p:cNvPr id="172" name="Straight Arrow Connector 7">
                <a:extLst>
                  <a:ext uri="{FF2B5EF4-FFF2-40B4-BE49-F238E27FC236}">
                    <a16:creationId xmlns:a16="http://schemas.microsoft.com/office/drawing/2014/main" id="{82150C5A-93F2-A4F7-7EE4-86FAEE2BB974}"/>
                  </a:ext>
                </a:extLst>
              </p:cNvPr>
              <p:cNvCxnSpPr>
                <a:cxnSpLocks/>
                <a:stCxn id="161" idx="3"/>
                <a:endCxn id="169" idx="2"/>
              </p:cNvCxnSpPr>
              <p:nvPr/>
            </p:nvCxnSpPr>
            <p:spPr>
              <a:xfrm flipV="1">
                <a:off x="5451081" y="2892314"/>
                <a:ext cx="1585781" cy="848924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1D99309B-7EBD-36FD-DF2A-BE82EDC85764}"/>
                  </a:ext>
                </a:extLst>
              </p:cNvPr>
              <p:cNvSpPr/>
              <p:nvPr/>
            </p:nvSpPr>
            <p:spPr>
              <a:xfrm>
                <a:off x="3715874" y="2016851"/>
                <a:ext cx="1735204" cy="76687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[Invariant Set]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CCID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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     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Addr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    </a:t>
                </a: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        {PC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,…,</a:t>
                </a:r>
                <a:r>
                  <a:rPr lang="en-US" sz="800" dirty="0" err="1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PCn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  <a:sym typeface="Wingdings" pitchFamily="2" charset="2"/>
                  </a:rPr>
                  <a:t>}</a:t>
                </a:r>
                <a:endParaRPr lang="en-US" sz="8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174" name="Straight Arrow Connector 7">
                <a:extLst>
                  <a:ext uri="{FF2B5EF4-FFF2-40B4-BE49-F238E27FC236}">
                    <a16:creationId xmlns:a16="http://schemas.microsoft.com/office/drawing/2014/main" id="{E48B3F1A-7F55-E066-7ABD-075B54572DD7}"/>
                  </a:ext>
                </a:extLst>
              </p:cNvPr>
              <p:cNvCxnSpPr>
                <a:cxnSpLocks/>
                <a:stCxn id="169" idx="0"/>
                <a:endCxn id="163" idx="3"/>
              </p:cNvCxnSpPr>
              <p:nvPr/>
            </p:nvCxnSpPr>
            <p:spPr>
              <a:xfrm rot="16200000" flipV="1">
                <a:off x="5662030" y="587299"/>
                <a:ext cx="1163884" cy="1585783"/>
              </a:xfrm>
              <a:prstGeom prst="bent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7">
                <a:extLst>
                  <a:ext uri="{FF2B5EF4-FFF2-40B4-BE49-F238E27FC236}">
                    <a16:creationId xmlns:a16="http://schemas.microsoft.com/office/drawing/2014/main" id="{AFAC4B61-A029-510A-9E8B-31256E1DB856}"/>
                  </a:ext>
                </a:extLst>
              </p:cNvPr>
              <p:cNvCxnSpPr>
                <a:cxnSpLocks/>
                <a:stCxn id="169" idx="0"/>
                <a:endCxn id="164" idx="3"/>
              </p:cNvCxnSpPr>
              <p:nvPr/>
            </p:nvCxnSpPr>
            <p:spPr>
              <a:xfrm rot="16200000" flipV="1">
                <a:off x="6017110" y="942379"/>
                <a:ext cx="453724" cy="1585783"/>
              </a:xfrm>
              <a:prstGeom prst="bent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C3A4C7A-A5A5-2685-5E42-1D45E2FAEE9C}"/>
                  </a:ext>
                </a:extLst>
              </p:cNvPr>
              <p:cNvSpPr txBox="1"/>
              <p:nvPr/>
            </p:nvSpPr>
            <p:spPr>
              <a:xfrm>
                <a:off x="5555279" y="596385"/>
                <a:ext cx="1351943" cy="191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Legal Access 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B8680463-7393-18E9-8A89-B5F43A8CDAE3}"/>
                  </a:ext>
                </a:extLst>
              </p:cNvPr>
              <p:cNvSpPr txBox="1"/>
              <p:nvPr/>
            </p:nvSpPr>
            <p:spPr>
              <a:xfrm>
                <a:off x="5555279" y="1330032"/>
                <a:ext cx="1348973" cy="191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Illegal Access</a:t>
                </a:r>
              </a:p>
            </p:txBody>
          </p:sp>
          <p:sp>
            <p:nvSpPr>
              <p:cNvPr id="178" name="Right Arrow 177">
                <a:extLst>
                  <a:ext uri="{FF2B5EF4-FFF2-40B4-BE49-F238E27FC236}">
                    <a16:creationId xmlns:a16="http://schemas.microsoft.com/office/drawing/2014/main" id="{1D3341E4-7163-E2B5-9F7C-89004DF9F03F}"/>
                  </a:ext>
                </a:extLst>
              </p:cNvPr>
              <p:cNvSpPr/>
              <p:nvPr/>
            </p:nvSpPr>
            <p:spPr>
              <a:xfrm>
                <a:off x="3379551" y="2198177"/>
                <a:ext cx="257578" cy="484632"/>
              </a:xfrm>
              <a:prstGeom prst="rightArrow">
                <a:avLst/>
              </a:prstGeom>
              <a:noFill/>
              <a:ln w="1524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79" name="Right Arrow 178">
                <a:extLst>
                  <a:ext uri="{FF2B5EF4-FFF2-40B4-BE49-F238E27FC236}">
                    <a16:creationId xmlns:a16="http://schemas.microsoft.com/office/drawing/2014/main" id="{F776C8E2-75A8-FB1D-4925-BBB3A3BDE403}"/>
                  </a:ext>
                </a:extLst>
              </p:cNvPr>
              <p:cNvSpPr/>
              <p:nvPr/>
            </p:nvSpPr>
            <p:spPr>
              <a:xfrm>
                <a:off x="5529828" y="2225527"/>
                <a:ext cx="213426" cy="484632"/>
              </a:xfrm>
              <a:prstGeom prst="rightArrow">
                <a:avLst/>
              </a:prstGeom>
              <a:noFill/>
              <a:ln w="1524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>
                  <a:latin typeface="Tw Cen MT" panose="020B0602020104020603" pitchFamily="34" charset="77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FF9E2ECE-70AC-6A82-E58A-355E8320FCAA}"/>
                  </a:ext>
                </a:extLst>
              </p:cNvPr>
              <p:cNvSpPr txBox="1"/>
              <p:nvPr/>
            </p:nvSpPr>
            <p:spPr>
              <a:xfrm>
                <a:off x="1951950" y="3799244"/>
                <a:ext cx="1930514" cy="191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At profile time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F71C8D4-8103-86CF-E73A-4C74C456E97D}"/>
                  </a:ext>
                </a:extLst>
              </p:cNvPr>
              <p:cNvSpPr txBox="1"/>
              <p:nvPr/>
            </p:nvSpPr>
            <p:spPr>
              <a:xfrm>
                <a:off x="5555279" y="3795757"/>
                <a:ext cx="2133053" cy="4104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w Cen MT" panose="020B0602020104020603" pitchFamily="34" charset="77"/>
                  </a:rPr>
                  <a:t>At runtime,</a:t>
                </a:r>
              </a:p>
              <a:p>
                <a:r>
                  <a:rPr lang="en-US" sz="800" dirty="0">
                    <a:latin typeface="Tw Cen MT" panose="020B0602020104020603" pitchFamily="34" charset="77"/>
                  </a:rPr>
                  <a:t>Check if memory access</a:t>
                </a:r>
              </a:p>
              <a:p>
                <a:r>
                  <a:rPr lang="en-US" sz="800" dirty="0">
                    <a:latin typeface="Tw Cen MT" panose="020B0602020104020603" pitchFamily="34" charset="77"/>
                  </a:rPr>
                  <a:t>violates invariant</a:t>
                </a:r>
              </a:p>
            </p:txBody>
          </p:sp>
        </p:grp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08A9FE44-B2A1-A3BF-F1DC-8EE1F7709ABF}"/>
                </a:ext>
              </a:extLst>
            </p:cNvPr>
            <p:cNvSpPr txBox="1"/>
            <p:nvPr/>
          </p:nvSpPr>
          <p:spPr>
            <a:xfrm>
              <a:off x="2851824" y="236683"/>
              <a:ext cx="81785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Tw Cen MT" panose="020B0602020104020603" pitchFamily="34" charset="77"/>
                </a:rPr>
                <a:t>Virtual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677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1" name="Table 581">
            <a:extLst>
              <a:ext uri="{FF2B5EF4-FFF2-40B4-BE49-F238E27FC236}">
                <a16:creationId xmlns:a16="http://schemas.microsoft.com/office/drawing/2014/main" id="{E83804AF-332A-A7EF-9D7E-D21130C1E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519110"/>
              </p:ext>
            </p:extLst>
          </p:nvPr>
        </p:nvGraphicFramePr>
        <p:xfrm>
          <a:off x="5864084" y="2161142"/>
          <a:ext cx="3184559" cy="3185160"/>
        </p:xfrm>
        <a:graphic>
          <a:graphicData uri="http://schemas.openxmlformats.org/drawingml/2006/table">
            <a:tbl>
              <a:tblPr firstRow="1" bandRow="1">
                <a:tableStyleId>{38A0E497-715A-4CD0-9488-5DC9FE9C4640}</a:tableStyleId>
              </a:tblPr>
              <a:tblGrid>
                <a:gridCol w="710315">
                  <a:extLst>
                    <a:ext uri="{9D8B030D-6E8A-4147-A177-3AD203B41FA5}">
                      <a16:colId xmlns:a16="http://schemas.microsoft.com/office/drawing/2014/main" val="2598935412"/>
                    </a:ext>
                  </a:extLst>
                </a:gridCol>
                <a:gridCol w="661257">
                  <a:extLst>
                    <a:ext uri="{9D8B030D-6E8A-4147-A177-3AD203B41FA5}">
                      <a16:colId xmlns:a16="http://schemas.microsoft.com/office/drawing/2014/main" val="1557504749"/>
                    </a:ext>
                  </a:extLst>
                </a:gridCol>
                <a:gridCol w="990805">
                  <a:extLst>
                    <a:ext uri="{9D8B030D-6E8A-4147-A177-3AD203B41FA5}">
                      <a16:colId xmlns:a16="http://schemas.microsoft.com/office/drawing/2014/main" val="517992837"/>
                    </a:ext>
                  </a:extLst>
                </a:gridCol>
                <a:gridCol w="822182">
                  <a:extLst>
                    <a:ext uri="{9D8B030D-6E8A-4147-A177-3AD203B41FA5}">
                      <a16:colId xmlns:a16="http://schemas.microsoft.com/office/drawing/2014/main" val="3113160785"/>
                    </a:ext>
                  </a:extLst>
                </a:gridCol>
              </a:tblGrid>
              <a:tr h="281535">
                <a:tc rowSpan="2"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Path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Encoded Calling Context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w Cen MT" panose="020B0602020104020603" pitchFamily="34" charset="7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Tw Cen MT" panose="020B06020201040206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915787"/>
                  </a:ext>
                </a:extLst>
              </a:tr>
              <a:tr h="281535">
                <a:tc vMerge="1">
                  <a:txBody>
                    <a:bodyPr/>
                    <a:lstStyle/>
                    <a:p>
                      <a:endParaRPr lang="en-US" sz="1100" dirty="0">
                        <a:latin typeface="Tw Cen MT" panose="020B06020201040206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PCCE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DrCCTProf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DCCE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37927"/>
                  </a:ext>
                </a:extLst>
              </a:tr>
              <a:tr h="281535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562818"/>
                  </a:ext>
                </a:extLst>
              </a:tr>
              <a:tr h="281535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1/5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066129"/>
                  </a:ext>
                </a:extLst>
              </a:tr>
              <a:tr h="281535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ABD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2/6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687333"/>
                  </a:ext>
                </a:extLst>
              </a:tr>
              <a:tr h="281535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ABDE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3/7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432103"/>
                  </a:ext>
                </a:extLst>
              </a:tr>
              <a:tr h="281535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ABDF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4/8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545616"/>
                  </a:ext>
                </a:extLst>
              </a:tr>
              <a:tr h="281535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5/1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545570"/>
                  </a:ext>
                </a:extLst>
              </a:tr>
              <a:tr h="281535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ACD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6/2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660527"/>
                  </a:ext>
                </a:extLst>
              </a:tr>
              <a:tr h="281535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ACDE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7/3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00174"/>
                  </a:ext>
                </a:extLst>
              </a:tr>
              <a:tr h="281535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w Cen MT" panose="020B0602020104020603" pitchFamily="34" charset="77"/>
                        </a:rPr>
                        <a:t>ACDF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8/4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Tw Cen MT" panose="020B0602020104020603" pitchFamily="34" charset="77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82746"/>
                  </a:ext>
                </a:extLst>
              </a:tr>
            </a:tbl>
          </a:graphicData>
        </a:graphic>
      </p:graphicFrame>
      <p:grpSp>
        <p:nvGrpSpPr>
          <p:cNvPr id="622" name="Group 621">
            <a:extLst>
              <a:ext uri="{FF2B5EF4-FFF2-40B4-BE49-F238E27FC236}">
                <a16:creationId xmlns:a16="http://schemas.microsoft.com/office/drawing/2014/main" id="{FE15A380-D4BD-95D2-CF70-50A4B5984591}"/>
              </a:ext>
            </a:extLst>
          </p:cNvPr>
          <p:cNvGrpSpPr/>
          <p:nvPr/>
        </p:nvGrpSpPr>
        <p:grpSpPr>
          <a:xfrm>
            <a:off x="2335563" y="119522"/>
            <a:ext cx="1539189" cy="1819554"/>
            <a:chOff x="1064617" y="80059"/>
            <a:chExt cx="1539189" cy="1819554"/>
          </a:xfrm>
        </p:grpSpPr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6FE6ACFC-39E1-5198-3C59-F4F462AB2A12}"/>
                </a:ext>
              </a:extLst>
            </p:cNvPr>
            <p:cNvSpPr txBox="1"/>
            <p:nvPr/>
          </p:nvSpPr>
          <p:spPr>
            <a:xfrm>
              <a:off x="1268264" y="80059"/>
              <a:ext cx="60785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</a:rPr>
                <a:t>enc=0</a:t>
              </a:r>
            </a:p>
          </p:txBody>
        </p:sp>
        <p:grpSp>
          <p:nvGrpSpPr>
            <p:cNvPr id="617" name="Group 616">
              <a:extLst>
                <a:ext uri="{FF2B5EF4-FFF2-40B4-BE49-F238E27FC236}">
                  <a16:creationId xmlns:a16="http://schemas.microsoft.com/office/drawing/2014/main" id="{71C25E8D-810C-9AA7-3B16-79861FD5D006}"/>
                </a:ext>
              </a:extLst>
            </p:cNvPr>
            <p:cNvGrpSpPr/>
            <p:nvPr/>
          </p:nvGrpSpPr>
          <p:grpSpPr>
            <a:xfrm>
              <a:off x="1064617" y="306529"/>
              <a:ext cx="1539189" cy="1593084"/>
              <a:chOff x="1064617" y="306529"/>
              <a:chExt cx="1539189" cy="159308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7B4BC94-E8AA-FE6E-2F77-925114140690}"/>
                  </a:ext>
                </a:extLst>
              </p:cNvPr>
              <p:cNvSpPr/>
              <p:nvPr/>
            </p:nvSpPr>
            <p:spPr>
              <a:xfrm>
                <a:off x="1435359" y="306529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43D112F-795B-3DC7-9618-97B560EC68DC}"/>
                  </a:ext>
                </a:extLst>
              </p:cNvPr>
              <p:cNvSpPr/>
              <p:nvPr/>
            </p:nvSpPr>
            <p:spPr>
              <a:xfrm>
                <a:off x="1064617" y="75237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E73BF3E-9A1C-C709-761E-362FF93F310F}"/>
                  </a:ext>
                </a:extLst>
              </p:cNvPr>
              <p:cNvSpPr/>
              <p:nvPr/>
            </p:nvSpPr>
            <p:spPr>
              <a:xfrm>
                <a:off x="1812427" y="75237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65C8E16-6D2A-B6B3-27D3-1EE8A9F9EA71}"/>
                  </a:ext>
                </a:extLst>
              </p:cNvPr>
              <p:cNvSpPr/>
              <p:nvPr/>
            </p:nvSpPr>
            <p:spPr>
              <a:xfrm>
                <a:off x="1435359" y="1186270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D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4D8723-E7C3-C3A7-5C1A-99F1EDE3AE2A}"/>
                  </a:ext>
                </a:extLst>
              </p:cNvPr>
              <p:cNvSpPr/>
              <p:nvPr/>
            </p:nvSpPr>
            <p:spPr>
              <a:xfrm>
                <a:off x="1064617" y="162529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8CC0850-487C-A8C3-7FD4-F58C78D1B21E}"/>
                  </a:ext>
                </a:extLst>
              </p:cNvPr>
              <p:cNvSpPr/>
              <p:nvPr/>
            </p:nvSpPr>
            <p:spPr>
              <a:xfrm>
                <a:off x="1812427" y="162529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F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3542723-496A-D9E1-74F5-1FD3F6CC2B0A}"/>
                  </a:ext>
                </a:extLst>
              </p:cNvPr>
              <p:cNvCxnSpPr>
                <a:stCxn id="4" idx="3"/>
                <a:endCxn id="6" idx="0"/>
              </p:cNvCxnSpPr>
              <p:nvPr/>
            </p:nvCxnSpPr>
            <p:spPr>
              <a:xfrm flipH="1">
                <a:off x="1201777" y="540676"/>
                <a:ext cx="273755" cy="21169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3EB5E766-039E-DD03-E88B-735971990D45}"/>
                  </a:ext>
                </a:extLst>
              </p:cNvPr>
              <p:cNvCxnSpPr>
                <a:cxnSpLocks/>
                <a:stCxn id="4" idx="5"/>
                <a:endCxn id="7" idx="0"/>
              </p:cNvCxnSpPr>
              <p:nvPr/>
            </p:nvCxnSpPr>
            <p:spPr>
              <a:xfrm>
                <a:off x="1669506" y="540676"/>
                <a:ext cx="280081" cy="21169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5082CF2-9728-588F-EF33-F5DCA36E5A29}"/>
                  </a:ext>
                </a:extLst>
              </p:cNvPr>
              <p:cNvCxnSpPr>
                <a:cxnSpLocks/>
                <a:stCxn id="7" idx="4"/>
                <a:endCxn id="8" idx="7"/>
              </p:cNvCxnSpPr>
              <p:nvPr/>
            </p:nvCxnSpPr>
            <p:spPr>
              <a:xfrm flipH="1">
                <a:off x="1669506" y="1026692"/>
                <a:ext cx="280081" cy="199751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30835EFE-A0FC-30E5-1082-07D9D64928E4}"/>
                  </a:ext>
                </a:extLst>
              </p:cNvPr>
              <p:cNvCxnSpPr>
                <a:cxnSpLocks/>
                <a:stCxn id="6" idx="4"/>
                <a:endCxn id="8" idx="1"/>
              </p:cNvCxnSpPr>
              <p:nvPr/>
            </p:nvCxnSpPr>
            <p:spPr>
              <a:xfrm>
                <a:off x="1201777" y="1026692"/>
                <a:ext cx="273755" cy="199751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2FD6C385-5F32-4067-7F86-E32433492003}"/>
                  </a:ext>
                </a:extLst>
              </p:cNvPr>
              <p:cNvCxnSpPr>
                <a:cxnSpLocks/>
                <a:stCxn id="8" idx="3"/>
                <a:endCxn id="9" idx="0"/>
              </p:cNvCxnSpPr>
              <p:nvPr/>
            </p:nvCxnSpPr>
            <p:spPr>
              <a:xfrm flipH="1">
                <a:off x="1201777" y="1420417"/>
                <a:ext cx="273755" cy="20487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BFAD00E-F23E-22CC-904E-848E2E1B53DB}"/>
                  </a:ext>
                </a:extLst>
              </p:cNvPr>
              <p:cNvCxnSpPr>
                <a:cxnSpLocks/>
                <a:stCxn id="8" idx="5"/>
                <a:endCxn id="10" idx="0"/>
              </p:cNvCxnSpPr>
              <p:nvPr/>
            </p:nvCxnSpPr>
            <p:spPr>
              <a:xfrm>
                <a:off x="1669506" y="1420417"/>
                <a:ext cx="280081" cy="20487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7" name="TextBox 516">
                <a:extLst>
                  <a:ext uri="{FF2B5EF4-FFF2-40B4-BE49-F238E27FC236}">
                    <a16:creationId xmlns:a16="http://schemas.microsoft.com/office/drawing/2014/main" id="{EF2D604E-75A4-D7E5-14ED-C10D88185BD6}"/>
                  </a:ext>
                </a:extLst>
              </p:cNvPr>
              <p:cNvSpPr txBox="1"/>
              <p:nvPr/>
            </p:nvSpPr>
            <p:spPr>
              <a:xfrm>
                <a:off x="1626463" y="918937"/>
                <a:ext cx="27603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1</a:t>
                </a:r>
              </a:p>
            </p:txBody>
          </p:sp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D66807BB-892E-28AB-DF02-32C917069ED4}"/>
                  </a:ext>
                </a:extLst>
              </p:cNvPr>
              <p:cNvSpPr txBox="1"/>
              <p:nvPr/>
            </p:nvSpPr>
            <p:spPr>
              <a:xfrm>
                <a:off x="1885340" y="934779"/>
                <a:ext cx="71846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enc+=1</a:t>
                </a:r>
              </a:p>
            </p:txBody>
          </p:sp>
        </p:grpSp>
      </p:grpSp>
      <p:sp>
        <p:nvSpPr>
          <p:cNvPr id="619" name="TextBox 618">
            <a:extLst>
              <a:ext uri="{FF2B5EF4-FFF2-40B4-BE49-F238E27FC236}">
                <a16:creationId xmlns:a16="http://schemas.microsoft.com/office/drawing/2014/main" id="{565BED7F-1F4C-43FE-1CC6-6B5140135045}"/>
              </a:ext>
            </a:extLst>
          </p:cNvPr>
          <p:cNvSpPr txBox="1"/>
          <p:nvPr/>
        </p:nvSpPr>
        <p:spPr>
          <a:xfrm>
            <a:off x="-116727" y="78221"/>
            <a:ext cx="1922321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</a:rPr>
              <a:t>     1:   void A() {</a:t>
            </a:r>
          </a:p>
          <a:p>
            <a:r>
              <a:rPr lang="en-US" sz="1300" dirty="0">
                <a:latin typeface="Tw Cen MT" panose="020B0602020104020603" pitchFamily="34" charset="77"/>
              </a:rPr>
              <a:t>     2:     if (p1) { B(); C();}</a:t>
            </a:r>
          </a:p>
          <a:p>
            <a:r>
              <a:rPr lang="en-US" sz="1300" dirty="0">
                <a:latin typeface="Tw Cen MT" panose="020B0602020104020603" pitchFamily="34" charset="77"/>
              </a:rPr>
              <a:t>     3:     else    { C(); B();}</a:t>
            </a:r>
          </a:p>
          <a:p>
            <a:r>
              <a:rPr lang="en-US" sz="1300" dirty="0">
                <a:latin typeface="Tw Cen MT" panose="020B0602020104020603" pitchFamily="34" charset="77"/>
              </a:rPr>
              <a:t>     4:   }</a:t>
            </a:r>
          </a:p>
          <a:p>
            <a:r>
              <a:rPr lang="en-US" sz="1300" dirty="0">
                <a:latin typeface="Tw Cen MT" panose="020B0602020104020603" pitchFamily="34" charset="77"/>
              </a:rPr>
              <a:t>     5:   </a:t>
            </a:r>
          </a:p>
          <a:p>
            <a:r>
              <a:rPr lang="en-US" sz="1300" dirty="0">
                <a:latin typeface="Tw Cen MT" panose="020B0602020104020603" pitchFamily="34" charset="77"/>
              </a:rPr>
              <a:t>     6:   void B() { D(); }</a:t>
            </a:r>
          </a:p>
          <a:p>
            <a:r>
              <a:rPr lang="en-US" sz="1300" dirty="0">
                <a:latin typeface="Tw Cen MT" panose="020B0602020104020603" pitchFamily="34" charset="77"/>
              </a:rPr>
              <a:t>     7:   void C() { D(); }</a:t>
            </a:r>
          </a:p>
          <a:p>
            <a:r>
              <a:rPr lang="en-US" sz="1300" dirty="0">
                <a:latin typeface="Tw Cen MT" panose="020B0602020104020603" pitchFamily="34" charset="77"/>
              </a:rPr>
              <a:t>     8:   void D() { E(); F(); }</a:t>
            </a:r>
          </a:p>
        </p:txBody>
      </p:sp>
      <p:grpSp>
        <p:nvGrpSpPr>
          <p:cNvPr id="624" name="Group 623">
            <a:extLst>
              <a:ext uri="{FF2B5EF4-FFF2-40B4-BE49-F238E27FC236}">
                <a16:creationId xmlns:a16="http://schemas.microsoft.com/office/drawing/2014/main" id="{78750CCE-57EA-282E-E529-3E84EC318DFC}"/>
              </a:ext>
            </a:extLst>
          </p:cNvPr>
          <p:cNvGrpSpPr/>
          <p:nvPr/>
        </p:nvGrpSpPr>
        <p:grpSpPr>
          <a:xfrm>
            <a:off x="3969244" y="79537"/>
            <a:ext cx="1938293" cy="2081798"/>
            <a:chOff x="3359151" y="2256323"/>
            <a:chExt cx="1938818" cy="2117329"/>
          </a:xfrm>
        </p:grpSpPr>
        <p:grpSp>
          <p:nvGrpSpPr>
            <p:cNvPr id="615" name="Group 614">
              <a:extLst>
                <a:ext uri="{FF2B5EF4-FFF2-40B4-BE49-F238E27FC236}">
                  <a16:creationId xmlns:a16="http://schemas.microsoft.com/office/drawing/2014/main" id="{6B90BF43-1956-6923-FA8C-86425EFFBA7F}"/>
                </a:ext>
              </a:extLst>
            </p:cNvPr>
            <p:cNvGrpSpPr/>
            <p:nvPr/>
          </p:nvGrpSpPr>
          <p:grpSpPr>
            <a:xfrm>
              <a:off x="3359151" y="2256323"/>
              <a:ext cx="1396086" cy="1838469"/>
              <a:chOff x="3280813" y="2256443"/>
              <a:chExt cx="1089922" cy="1815790"/>
            </a:xfrm>
          </p:grpSpPr>
          <p:sp>
            <p:nvSpPr>
              <p:cNvPr id="584" name="Rectangle 583">
                <a:extLst>
                  <a:ext uri="{FF2B5EF4-FFF2-40B4-BE49-F238E27FC236}">
                    <a16:creationId xmlns:a16="http://schemas.microsoft.com/office/drawing/2014/main" id="{AC00D98D-B8E5-B3E9-A1EB-DB26BA419AFF}"/>
                  </a:ext>
                </a:extLst>
              </p:cNvPr>
              <p:cNvSpPr/>
              <p:nvPr/>
            </p:nvSpPr>
            <p:spPr>
              <a:xfrm>
                <a:off x="3682055" y="2479149"/>
                <a:ext cx="274320" cy="2743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586" name="Rectangle 585">
                <a:extLst>
                  <a:ext uri="{FF2B5EF4-FFF2-40B4-BE49-F238E27FC236}">
                    <a16:creationId xmlns:a16="http://schemas.microsoft.com/office/drawing/2014/main" id="{CCDEF0D2-54DA-265F-2A5F-B0731C25595B}"/>
                  </a:ext>
                </a:extLst>
              </p:cNvPr>
              <p:cNvSpPr/>
              <p:nvPr/>
            </p:nvSpPr>
            <p:spPr>
              <a:xfrm>
                <a:off x="3280813" y="2924992"/>
                <a:ext cx="274320" cy="2743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588" name="Rectangle 587">
                <a:extLst>
                  <a:ext uri="{FF2B5EF4-FFF2-40B4-BE49-F238E27FC236}">
                    <a16:creationId xmlns:a16="http://schemas.microsoft.com/office/drawing/2014/main" id="{80B830FA-9D4F-5A58-0A29-5DA729B1994A}"/>
                  </a:ext>
                </a:extLst>
              </p:cNvPr>
              <p:cNvSpPr/>
              <p:nvPr/>
            </p:nvSpPr>
            <p:spPr>
              <a:xfrm>
                <a:off x="3671341" y="3358890"/>
                <a:ext cx="274320" cy="2743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D</a:t>
                </a:r>
              </a:p>
            </p:txBody>
          </p:sp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EE982801-51A2-4EB9-175D-F3D44BF6BB36}"/>
                  </a:ext>
                </a:extLst>
              </p:cNvPr>
              <p:cNvSpPr/>
              <p:nvPr/>
            </p:nvSpPr>
            <p:spPr>
              <a:xfrm>
                <a:off x="3312685" y="3797913"/>
                <a:ext cx="274320" cy="2743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</a:t>
                </a:r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CC70A7F1-1D82-7D2A-B837-5AF44A417AFE}"/>
                  </a:ext>
                </a:extLst>
              </p:cNvPr>
              <p:cNvSpPr/>
              <p:nvPr/>
            </p:nvSpPr>
            <p:spPr>
              <a:xfrm>
                <a:off x="4096415" y="3797913"/>
                <a:ext cx="274320" cy="2743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F</a:t>
                </a:r>
              </a:p>
            </p:txBody>
          </p:sp>
          <p:cxnSp>
            <p:nvCxnSpPr>
              <p:cNvPr id="591" name="Straight Arrow Connector 590">
                <a:extLst>
                  <a:ext uri="{FF2B5EF4-FFF2-40B4-BE49-F238E27FC236}">
                    <a16:creationId xmlns:a16="http://schemas.microsoft.com/office/drawing/2014/main" id="{74E1BB12-7C5A-E1FD-0316-88BDB9C02C60}"/>
                  </a:ext>
                </a:extLst>
              </p:cNvPr>
              <p:cNvCxnSpPr>
                <a:cxnSpLocks/>
                <a:stCxn id="584" idx="2"/>
                <a:endCxn id="586" idx="0"/>
              </p:cNvCxnSpPr>
              <p:nvPr/>
            </p:nvCxnSpPr>
            <p:spPr>
              <a:xfrm flipH="1">
                <a:off x="3417973" y="2753469"/>
                <a:ext cx="401242" cy="17152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0" name="Straight Arrow Connector 599">
                <a:extLst>
                  <a:ext uri="{FF2B5EF4-FFF2-40B4-BE49-F238E27FC236}">
                    <a16:creationId xmlns:a16="http://schemas.microsoft.com/office/drawing/2014/main" id="{BDFA85C6-0F78-4D1C-C839-029EEE2A8B3A}"/>
                  </a:ext>
                </a:extLst>
              </p:cNvPr>
              <p:cNvCxnSpPr>
                <a:cxnSpLocks/>
                <a:stCxn id="586" idx="2"/>
                <a:endCxn id="588" idx="0"/>
              </p:cNvCxnSpPr>
              <p:nvPr/>
            </p:nvCxnSpPr>
            <p:spPr>
              <a:xfrm>
                <a:off x="3417973" y="3199312"/>
                <a:ext cx="390528" cy="15957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3" name="Straight Arrow Connector 602">
                <a:extLst>
                  <a:ext uri="{FF2B5EF4-FFF2-40B4-BE49-F238E27FC236}">
                    <a16:creationId xmlns:a16="http://schemas.microsoft.com/office/drawing/2014/main" id="{D29371FC-4D2A-EE73-6203-648FD2EFB2CE}"/>
                  </a:ext>
                </a:extLst>
              </p:cNvPr>
              <p:cNvCxnSpPr>
                <a:cxnSpLocks/>
                <a:stCxn id="588" idx="2"/>
                <a:endCxn id="589" idx="0"/>
              </p:cNvCxnSpPr>
              <p:nvPr/>
            </p:nvCxnSpPr>
            <p:spPr>
              <a:xfrm flipH="1">
                <a:off x="3449845" y="3633210"/>
                <a:ext cx="358656" cy="16470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6" name="Straight Arrow Connector 605">
                <a:extLst>
                  <a:ext uri="{FF2B5EF4-FFF2-40B4-BE49-F238E27FC236}">
                    <a16:creationId xmlns:a16="http://schemas.microsoft.com/office/drawing/2014/main" id="{AD93BCFE-9C8B-EDEE-4BDC-111EAB9DE4C9}"/>
                  </a:ext>
                </a:extLst>
              </p:cNvPr>
              <p:cNvCxnSpPr>
                <a:cxnSpLocks/>
                <a:stCxn id="588" idx="2"/>
                <a:endCxn id="590" idx="0"/>
              </p:cNvCxnSpPr>
              <p:nvPr/>
            </p:nvCxnSpPr>
            <p:spPr>
              <a:xfrm>
                <a:off x="3808501" y="3633210"/>
                <a:ext cx="425074" cy="16470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13" name="TextBox 612">
                <a:extLst>
                  <a:ext uri="{FF2B5EF4-FFF2-40B4-BE49-F238E27FC236}">
                    <a16:creationId xmlns:a16="http://schemas.microsoft.com/office/drawing/2014/main" id="{05E21B94-E863-F106-A674-CC2764B6B588}"/>
                  </a:ext>
                </a:extLst>
              </p:cNvPr>
              <p:cNvSpPr txBox="1"/>
              <p:nvPr/>
            </p:nvSpPr>
            <p:spPr>
              <a:xfrm>
                <a:off x="3523199" y="2256443"/>
                <a:ext cx="510986" cy="288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enc =0</a:t>
                </a:r>
              </a:p>
            </p:txBody>
          </p:sp>
        </p:grpSp>
        <p:sp>
          <p:nvSpPr>
            <p:cNvPr id="623" name="TextBox 622">
              <a:extLst>
                <a:ext uri="{FF2B5EF4-FFF2-40B4-BE49-F238E27FC236}">
                  <a16:creationId xmlns:a16="http://schemas.microsoft.com/office/drawing/2014/main" id="{9BA78D08-9E7F-CE70-7192-6E63B6456D9B}"/>
                </a:ext>
              </a:extLst>
            </p:cNvPr>
            <p:cNvSpPr txBox="1"/>
            <p:nvPr/>
          </p:nvSpPr>
          <p:spPr>
            <a:xfrm>
              <a:off x="3807093" y="4045733"/>
              <a:ext cx="1490876" cy="32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 err="1">
                  <a:latin typeface="Tw Cen MT" panose="020B0602020104020603" pitchFamily="34" charset="77"/>
                </a:rPr>
                <a:t>Node.enc</a:t>
              </a:r>
              <a:r>
                <a:rPr lang="en-US" sz="1300" dirty="0">
                  <a:latin typeface="Tw Cen MT" panose="020B0602020104020603" pitchFamily="34" charset="77"/>
                </a:rPr>
                <a:t> = ++enc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80DE3B-0086-047B-4AFF-771BF33C9261}"/>
              </a:ext>
            </a:extLst>
          </p:cNvPr>
          <p:cNvGrpSpPr/>
          <p:nvPr/>
        </p:nvGrpSpPr>
        <p:grpSpPr>
          <a:xfrm>
            <a:off x="6273400" y="126925"/>
            <a:ext cx="2419884" cy="1857373"/>
            <a:chOff x="5499082" y="180424"/>
            <a:chExt cx="2419884" cy="1857373"/>
          </a:xfrm>
        </p:grpSpPr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D20BF783-4498-6591-28AA-29A42A2F5D95}"/>
                </a:ext>
              </a:extLst>
            </p:cNvPr>
            <p:cNvGrpSpPr/>
            <p:nvPr/>
          </p:nvGrpSpPr>
          <p:grpSpPr>
            <a:xfrm>
              <a:off x="6170453" y="180424"/>
              <a:ext cx="1022130" cy="1848339"/>
              <a:chOff x="3351486" y="86414"/>
              <a:chExt cx="1022130" cy="1848339"/>
            </a:xfrm>
          </p:grpSpPr>
          <p:sp>
            <p:nvSpPr>
              <p:cNvPr id="519" name="Oval 518">
                <a:extLst>
                  <a:ext uri="{FF2B5EF4-FFF2-40B4-BE49-F238E27FC236}">
                    <a16:creationId xmlns:a16="http://schemas.microsoft.com/office/drawing/2014/main" id="{1369D13E-ED79-6041-126D-2A32ABB89EEE}"/>
                  </a:ext>
                </a:extLst>
              </p:cNvPr>
              <p:cNvSpPr/>
              <p:nvPr/>
            </p:nvSpPr>
            <p:spPr>
              <a:xfrm>
                <a:off x="3722228" y="341669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520" name="Oval 519">
                <a:extLst>
                  <a:ext uri="{FF2B5EF4-FFF2-40B4-BE49-F238E27FC236}">
                    <a16:creationId xmlns:a16="http://schemas.microsoft.com/office/drawing/2014/main" id="{66EA8877-7C4F-047C-2DD0-87D79AFFF7F7}"/>
                  </a:ext>
                </a:extLst>
              </p:cNvPr>
              <p:cNvSpPr/>
              <p:nvPr/>
            </p:nvSpPr>
            <p:spPr>
              <a:xfrm>
                <a:off x="3351486" y="78751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521" name="Oval 520">
                <a:extLst>
                  <a:ext uri="{FF2B5EF4-FFF2-40B4-BE49-F238E27FC236}">
                    <a16:creationId xmlns:a16="http://schemas.microsoft.com/office/drawing/2014/main" id="{D2CE3E14-5B8F-E35D-AC63-80AF9486B6E2}"/>
                  </a:ext>
                </a:extLst>
              </p:cNvPr>
              <p:cNvSpPr/>
              <p:nvPr/>
            </p:nvSpPr>
            <p:spPr>
              <a:xfrm>
                <a:off x="4099296" y="78751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</a:p>
            </p:txBody>
          </p:sp>
          <p:sp>
            <p:nvSpPr>
              <p:cNvPr id="522" name="Oval 521">
                <a:extLst>
                  <a:ext uri="{FF2B5EF4-FFF2-40B4-BE49-F238E27FC236}">
                    <a16:creationId xmlns:a16="http://schemas.microsoft.com/office/drawing/2014/main" id="{4EC4DF52-759E-A6EF-89C5-395FD5625239}"/>
                  </a:ext>
                </a:extLst>
              </p:cNvPr>
              <p:cNvSpPr/>
              <p:nvPr/>
            </p:nvSpPr>
            <p:spPr>
              <a:xfrm>
                <a:off x="3722228" y="1221410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D</a:t>
                </a:r>
              </a:p>
            </p:txBody>
          </p:sp>
          <p:sp>
            <p:nvSpPr>
              <p:cNvPr id="523" name="Oval 522">
                <a:extLst>
                  <a:ext uri="{FF2B5EF4-FFF2-40B4-BE49-F238E27FC236}">
                    <a16:creationId xmlns:a16="http://schemas.microsoft.com/office/drawing/2014/main" id="{1040A580-1D39-2C44-88CF-DCDBDAB620D7}"/>
                  </a:ext>
                </a:extLst>
              </p:cNvPr>
              <p:cNvSpPr/>
              <p:nvPr/>
            </p:nvSpPr>
            <p:spPr>
              <a:xfrm>
                <a:off x="3351486" y="166043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</a:t>
                </a:r>
              </a:p>
            </p:txBody>
          </p:sp>
          <p:sp>
            <p:nvSpPr>
              <p:cNvPr id="524" name="Oval 523">
                <a:extLst>
                  <a:ext uri="{FF2B5EF4-FFF2-40B4-BE49-F238E27FC236}">
                    <a16:creationId xmlns:a16="http://schemas.microsoft.com/office/drawing/2014/main" id="{433661FB-A71C-B17F-A66E-8B39ABF8D9F0}"/>
                  </a:ext>
                </a:extLst>
              </p:cNvPr>
              <p:cNvSpPr/>
              <p:nvPr/>
            </p:nvSpPr>
            <p:spPr>
              <a:xfrm>
                <a:off x="4099296" y="166043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F</a:t>
                </a:r>
              </a:p>
            </p:txBody>
          </p:sp>
          <p:cxnSp>
            <p:nvCxnSpPr>
              <p:cNvPr id="525" name="Straight Arrow Connector 524">
                <a:extLst>
                  <a:ext uri="{FF2B5EF4-FFF2-40B4-BE49-F238E27FC236}">
                    <a16:creationId xmlns:a16="http://schemas.microsoft.com/office/drawing/2014/main" id="{0CA93041-0340-CD32-C7F0-84EFF6B3A376}"/>
                  </a:ext>
                </a:extLst>
              </p:cNvPr>
              <p:cNvCxnSpPr>
                <a:stCxn id="519" idx="3"/>
                <a:endCxn id="520" idx="0"/>
              </p:cNvCxnSpPr>
              <p:nvPr/>
            </p:nvCxnSpPr>
            <p:spPr>
              <a:xfrm flipH="1">
                <a:off x="3488646" y="575816"/>
                <a:ext cx="273755" cy="21169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6" name="Straight Arrow Connector 525">
                <a:extLst>
                  <a:ext uri="{FF2B5EF4-FFF2-40B4-BE49-F238E27FC236}">
                    <a16:creationId xmlns:a16="http://schemas.microsoft.com/office/drawing/2014/main" id="{96B6611F-E33F-F254-6616-E3DEC24812CB}"/>
                  </a:ext>
                </a:extLst>
              </p:cNvPr>
              <p:cNvCxnSpPr>
                <a:cxnSpLocks/>
                <a:stCxn id="519" idx="5"/>
                <a:endCxn id="521" idx="0"/>
              </p:cNvCxnSpPr>
              <p:nvPr/>
            </p:nvCxnSpPr>
            <p:spPr>
              <a:xfrm>
                <a:off x="3956375" y="575816"/>
                <a:ext cx="280081" cy="21169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7" name="Straight Arrow Connector 526">
                <a:extLst>
                  <a:ext uri="{FF2B5EF4-FFF2-40B4-BE49-F238E27FC236}">
                    <a16:creationId xmlns:a16="http://schemas.microsoft.com/office/drawing/2014/main" id="{6E136C93-FDEB-DB01-C755-D75C786868C0}"/>
                  </a:ext>
                </a:extLst>
              </p:cNvPr>
              <p:cNvCxnSpPr>
                <a:cxnSpLocks/>
                <a:stCxn id="521" idx="4"/>
                <a:endCxn id="522" idx="7"/>
              </p:cNvCxnSpPr>
              <p:nvPr/>
            </p:nvCxnSpPr>
            <p:spPr>
              <a:xfrm flipH="1">
                <a:off x="3956375" y="1061832"/>
                <a:ext cx="280081" cy="199751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8" name="Straight Arrow Connector 527">
                <a:extLst>
                  <a:ext uri="{FF2B5EF4-FFF2-40B4-BE49-F238E27FC236}">
                    <a16:creationId xmlns:a16="http://schemas.microsoft.com/office/drawing/2014/main" id="{6B82F258-0FDF-7B32-FE24-6049915ECD55}"/>
                  </a:ext>
                </a:extLst>
              </p:cNvPr>
              <p:cNvCxnSpPr>
                <a:cxnSpLocks/>
                <a:stCxn id="520" idx="4"/>
                <a:endCxn id="522" idx="1"/>
              </p:cNvCxnSpPr>
              <p:nvPr/>
            </p:nvCxnSpPr>
            <p:spPr>
              <a:xfrm>
                <a:off x="3488646" y="1061832"/>
                <a:ext cx="273755" cy="199751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9" name="Straight Arrow Connector 528">
                <a:extLst>
                  <a:ext uri="{FF2B5EF4-FFF2-40B4-BE49-F238E27FC236}">
                    <a16:creationId xmlns:a16="http://schemas.microsoft.com/office/drawing/2014/main" id="{98048A1F-843C-8355-2E35-EA054A990CA8}"/>
                  </a:ext>
                </a:extLst>
              </p:cNvPr>
              <p:cNvCxnSpPr>
                <a:cxnSpLocks/>
                <a:stCxn id="522" idx="3"/>
                <a:endCxn id="523" idx="0"/>
              </p:cNvCxnSpPr>
              <p:nvPr/>
            </p:nvCxnSpPr>
            <p:spPr>
              <a:xfrm flipH="1">
                <a:off x="3488646" y="1455557"/>
                <a:ext cx="273755" cy="20487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0" name="Straight Arrow Connector 529">
                <a:extLst>
                  <a:ext uri="{FF2B5EF4-FFF2-40B4-BE49-F238E27FC236}">
                    <a16:creationId xmlns:a16="http://schemas.microsoft.com/office/drawing/2014/main" id="{DB959BD0-2FC8-F775-0D66-C9F65C9880FF}"/>
                  </a:ext>
                </a:extLst>
              </p:cNvPr>
              <p:cNvCxnSpPr>
                <a:cxnSpLocks/>
                <a:stCxn id="522" idx="5"/>
                <a:endCxn id="524" idx="0"/>
              </p:cNvCxnSpPr>
              <p:nvPr/>
            </p:nvCxnSpPr>
            <p:spPr>
              <a:xfrm>
                <a:off x="3956375" y="1455557"/>
                <a:ext cx="280081" cy="204876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31" name="TextBox 530">
                <a:extLst>
                  <a:ext uri="{FF2B5EF4-FFF2-40B4-BE49-F238E27FC236}">
                    <a16:creationId xmlns:a16="http://schemas.microsoft.com/office/drawing/2014/main" id="{48C57E91-BB45-0746-E5A2-E1EA67DA2EF1}"/>
                  </a:ext>
                </a:extLst>
              </p:cNvPr>
              <p:cNvSpPr txBox="1"/>
              <p:nvPr/>
            </p:nvSpPr>
            <p:spPr>
              <a:xfrm>
                <a:off x="3555133" y="947090"/>
                <a:ext cx="27603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1</a:t>
                </a:r>
              </a:p>
            </p:txBody>
          </p:sp>
          <p:sp>
            <p:nvSpPr>
              <p:cNvPr id="540" name="TextBox 539">
                <a:extLst>
                  <a:ext uri="{FF2B5EF4-FFF2-40B4-BE49-F238E27FC236}">
                    <a16:creationId xmlns:a16="http://schemas.microsoft.com/office/drawing/2014/main" id="{95627EEE-C839-0889-32F7-0F91F28CA66D}"/>
                  </a:ext>
                </a:extLst>
              </p:cNvPr>
              <p:cNvSpPr txBox="1"/>
              <p:nvPr/>
            </p:nvSpPr>
            <p:spPr>
              <a:xfrm>
                <a:off x="3601190" y="86414"/>
                <a:ext cx="64312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 err="1">
                    <a:latin typeface="Tw Cen MT" panose="020B0602020104020603" pitchFamily="34" charset="77"/>
                  </a:rPr>
                  <a:t>ccid</a:t>
                </a:r>
                <a:r>
                  <a:rPr lang="en-US" sz="1300" dirty="0">
                    <a:latin typeface="Tw Cen MT" panose="020B0602020104020603" pitchFamily="34" charset="77"/>
                  </a:rPr>
                  <a:t>=0</a:t>
                </a:r>
              </a:p>
            </p:txBody>
          </p:sp>
          <p:sp>
            <p:nvSpPr>
              <p:cNvPr id="551" name="TextBox 550">
                <a:extLst>
                  <a:ext uri="{FF2B5EF4-FFF2-40B4-BE49-F238E27FC236}">
                    <a16:creationId xmlns:a16="http://schemas.microsoft.com/office/drawing/2014/main" id="{2F2E09B0-1EB6-FBC2-2A83-4C9E3517A205}"/>
                  </a:ext>
                </a:extLst>
              </p:cNvPr>
              <p:cNvSpPr txBox="1"/>
              <p:nvPr/>
            </p:nvSpPr>
            <p:spPr>
              <a:xfrm>
                <a:off x="3455398" y="442023"/>
                <a:ext cx="27603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1</a:t>
                </a:r>
              </a:p>
            </p:txBody>
          </p:sp>
          <p:sp>
            <p:nvSpPr>
              <p:cNvPr id="552" name="TextBox 551">
                <a:extLst>
                  <a:ext uri="{FF2B5EF4-FFF2-40B4-BE49-F238E27FC236}">
                    <a16:creationId xmlns:a16="http://schemas.microsoft.com/office/drawing/2014/main" id="{834791D0-A82E-425C-F078-32BFC1F0AA5D}"/>
                  </a:ext>
                </a:extLst>
              </p:cNvPr>
              <p:cNvSpPr txBox="1"/>
              <p:nvPr/>
            </p:nvSpPr>
            <p:spPr>
              <a:xfrm>
                <a:off x="3486487" y="1307063"/>
                <a:ext cx="27603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1</a:t>
                </a:r>
              </a:p>
            </p:txBody>
          </p:sp>
          <p:sp>
            <p:nvSpPr>
              <p:cNvPr id="553" name="TextBox 552">
                <a:extLst>
                  <a:ext uri="{FF2B5EF4-FFF2-40B4-BE49-F238E27FC236}">
                    <a16:creationId xmlns:a16="http://schemas.microsoft.com/office/drawing/2014/main" id="{8706F11A-E3FC-22A0-F566-EFB5369D48CF}"/>
                  </a:ext>
                </a:extLst>
              </p:cNvPr>
              <p:cNvSpPr txBox="1"/>
              <p:nvPr/>
            </p:nvSpPr>
            <p:spPr>
              <a:xfrm>
                <a:off x="4000164" y="1340475"/>
                <a:ext cx="27603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2</a:t>
                </a:r>
              </a:p>
            </p:txBody>
          </p:sp>
          <p:sp>
            <p:nvSpPr>
              <p:cNvPr id="554" name="TextBox 553">
                <a:extLst>
                  <a:ext uri="{FF2B5EF4-FFF2-40B4-BE49-F238E27FC236}">
                    <a16:creationId xmlns:a16="http://schemas.microsoft.com/office/drawing/2014/main" id="{F005A7CA-E519-3041-3836-809AA8846EF7}"/>
                  </a:ext>
                </a:extLst>
              </p:cNvPr>
              <p:cNvSpPr txBox="1"/>
              <p:nvPr/>
            </p:nvSpPr>
            <p:spPr>
              <a:xfrm>
                <a:off x="4010425" y="456940"/>
                <a:ext cx="27603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5</a:t>
                </a:r>
              </a:p>
            </p:txBody>
          </p:sp>
          <p:sp>
            <p:nvSpPr>
              <p:cNvPr id="555" name="TextBox 554">
                <a:extLst>
                  <a:ext uri="{FF2B5EF4-FFF2-40B4-BE49-F238E27FC236}">
                    <a16:creationId xmlns:a16="http://schemas.microsoft.com/office/drawing/2014/main" id="{9CAF3E43-30EE-06AD-2AC4-E735D8E99E95}"/>
                  </a:ext>
                </a:extLst>
              </p:cNvPr>
              <p:cNvSpPr txBox="1"/>
              <p:nvPr/>
            </p:nvSpPr>
            <p:spPr>
              <a:xfrm>
                <a:off x="3927308" y="965674"/>
                <a:ext cx="27603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1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62063F-5507-3E1C-42D0-58925CC45E6B}"/>
                </a:ext>
              </a:extLst>
            </p:cNvPr>
            <p:cNvSpPr txBox="1"/>
            <p:nvPr/>
          </p:nvSpPr>
          <p:spPr>
            <a:xfrm>
              <a:off x="5504450" y="873642"/>
              <a:ext cx="75373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 err="1">
                  <a:latin typeface="Tw Cen MT" panose="020B0602020104020603" pitchFamily="34" charset="77"/>
                </a:rPr>
                <a:t>ccid</a:t>
              </a:r>
              <a:r>
                <a:rPr lang="en-US" sz="1300" dirty="0">
                  <a:latin typeface="Tw Cen MT" panose="020B0602020104020603" pitchFamily="34" charset="77"/>
                </a:rPr>
                <a:t>+=1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24D85F6-D9A2-AABF-F2EC-7BDFD92A52B2}"/>
                </a:ext>
              </a:extLst>
            </p:cNvPr>
            <p:cNvSpPr txBox="1"/>
            <p:nvPr/>
          </p:nvSpPr>
          <p:spPr>
            <a:xfrm>
              <a:off x="7165234" y="844438"/>
              <a:ext cx="75373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 err="1">
                  <a:latin typeface="Tw Cen MT" panose="020B0602020104020603" pitchFamily="34" charset="77"/>
                </a:rPr>
                <a:t>ccid</a:t>
              </a:r>
              <a:r>
                <a:rPr lang="en-US" sz="1300" dirty="0">
                  <a:latin typeface="Tw Cen MT" panose="020B0602020104020603" pitchFamily="34" charset="77"/>
                </a:rPr>
                <a:t>+=5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9038D0-3F2E-6A8A-3609-9D1DC74D62B9}"/>
                </a:ext>
              </a:extLst>
            </p:cNvPr>
            <p:cNvSpPr txBox="1"/>
            <p:nvPr/>
          </p:nvSpPr>
          <p:spPr>
            <a:xfrm>
              <a:off x="6746275" y="1294167"/>
              <a:ext cx="75373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 err="1">
                  <a:latin typeface="Tw Cen MT" panose="020B0602020104020603" pitchFamily="34" charset="77"/>
                </a:rPr>
                <a:t>ccid</a:t>
              </a:r>
              <a:r>
                <a:rPr lang="en-US" sz="1300" dirty="0">
                  <a:latin typeface="Tw Cen MT" panose="020B0602020104020603" pitchFamily="34" charset="77"/>
                </a:rPr>
                <a:t>+=1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A12CD15-FEA9-64A4-D98E-093A6CA87A84}"/>
                </a:ext>
              </a:extLst>
            </p:cNvPr>
            <p:cNvSpPr txBox="1"/>
            <p:nvPr/>
          </p:nvSpPr>
          <p:spPr>
            <a:xfrm>
              <a:off x="7152047" y="1704904"/>
              <a:ext cx="75373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 err="1">
                  <a:latin typeface="Tw Cen MT" panose="020B0602020104020603" pitchFamily="34" charset="77"/>
                </a:rPr>
                <a:t>ccid</a:t>
              </a:r>
              <a:r>
                <a:rPr lang="en-US" sz="1300" dirty="0">
                  <a:latin typeface="Tw Cen MT" panose="020B0602020104020603" pitchFamily="34" charset="77"/>
                </a:rPr>
                <a:t>+=2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D12C29-EEDB-65F9-41D8-F01190EE9392}"/>
                </a:ext>
              </a:extLst>
            </p:cNvPr>
            <p:cNvSpPr txBox="1"/>
            <p:nvPr/>
          </p:nvSpPr>
          <p:spPr>
            <a:xfrm>
              <a:off x="5499082" y="1745409"/>
              <a:ext cx="75373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 err="1">
                  <a:latin typeface="Tw Cen MT" panose="020B0602020104020603" pitchFamily="34" charset="77"/>
                </a:rPr>
                <a:t>ccid</a:t>
              </a:r>
              <a:r>
                <a:rPr lang="en-US" sz="1300" dirty="0">
                  <a:latin typeface="Tw Cen MT" panose="020B0602020104020603" pitchFamily="34" charset="77"/>
                </a:rPr>
                <a:t>+=1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772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1" name="Group 570">
            <a:extLst>
              <a:ext uri="{FF2B5EF4-FFF2-40B4-BE49-F238E27FC236}">
                <a16:creationId xmlns:a16="http://schemas.microsoft.com/office/drawing/2014/main" id="{A6647FEC-1FCB-3DBE-0D65-C0DE75E4FDEE}"/>
              </a:ext>
            </a:extLst>
          </p:cNvPr>
          <p:cNvGrpSpPr/>
          <p:nvPr/>
        </p:nvGrpSpPr>
        <p:grpSpPr>
          <a:xfrm>
            <a:off x="5196625" y="362764"/>
            <a:ext cx="2997745" cy="2026267"/>
            <a:chOff x="5577329" y="362764"/>
            <a:chExt cx="2621229" cy="1667401"/>
          </a:xfrm>
        </p:grpSpPr>
        <p:cxnSp>
          <p:nvCxnSpPr>
            <p:cNvPr id="484" name="Straight Arrow Connector 483">
              <a:extLst>
                <a:ext uri="{FF2B5EF4-FFF2-40B4-BE49-F238E27FC236}">
                  <a16:creationId xmlns:a16="http://schemas.microsoft.com/office/drawing/2014/main" id="{A7DF80D8-C03F-668C-358A-F2C897CE484E}"/>
                </a:ext>
              </a:extLst>
            </p:cNvPr>
            <p:cNvCxnSpPr>
              <a:cxnSpLocks/>
              <a:stCxn id="485" idx="6"/>
              <a:endCxn id="503" idx="7"/>
            </p:cNvCxnSpPr>
            <p:nvPr/>
          </p:nvCxnSpPr>
          <p:spPr>
            <a:xfrm>
              <a:off x="6984035" y="579558"/>
              <a:ext cx="895498" cy="517565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5" name="Oval 484">
              <a:extLst>
                <a:ext uri="{FF2B5EF4-FFF2-40B4-BE49-F238E27FC236}">
                  <a16:creationId xmlns:a16="http://schemas.microsoft.com/office/drawing/2014/main" id="{651751A8-5644-CC81-FCC5-66DB09DF2C70}"/>
                </a:ext>
              </a:extLst>
            </p:cNvPr>
            <p:cNvSpPr/>
            <p:nvPr/>
          </p:nvSpPr>
          <p:spPr>
            <a:xfrm>
              <a:off x="6709715" y="44239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487" name="Straight Arrow Connector 486">
              <a:extLst>
                <a:ext uri="{FF2B5EF4-FFF2-40B4-BE49-F238E27FC236}">
                  <a16:creationId xmlns:a16="http://schemas.microsoft.com/office/drawing/2014/main" id="{98C1FD25-0989-95A9-1D53-7AF6C09323A8}"/>
                </a:ext>
              </a:extLst>
            </p:cNvPr>
            <p:cNvCxnSpPr>
              <a:cxnSpLocks/>
              <a:stCxn id="485" idx="2"/>
              <a:endCxn id="508" idx="7"/>
            </p:cNvCxnSpPr>
            <p:nvPr/>
          </p:nvCxnSpPr>
          <p:spPr>
            <a:xfrm rot="10800000" flipV="1">
              <a:off x="6080879" y="579558"/>
              <a:ext cx="628837" cy="512826"/>
            </a:xfrm>
            <a:prstGeom prst="curvedConnector2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1" name="Straight Arrow Connector 490">
              <a:extLst>
                <a:ext uri="{FF2B5EF4-FFF2-40B4-BE49-F238E27FC236}">
                  <a16:creationId xmlns:a16="http://schemas.microsoft.com/office/drawing/2014/main" id="{33DF76FA-BD58-6A61-DAA5-FFBE90F52D8B}"/>
                </a:ext>
              </a:extLst>
            </p:cNvPr>
            <p:cNvCxnSpPr>
              <a:cxnSpLocks/>
              <a:stCxn id="485" idx="5"/>
              <a:endCxn id="506" idx="7"/>
            </p:cNvCxnSpPr>
            <p:nvPr/>
          </p:nvCxnSpPr>
          <p:spPr>
            <a:xfrm>
              <a:off x="6943862" y="676545"/>
              <a:ext cx="3143" cy="438132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5" name="Straight Arrow Connector 494">
              <a:extLst>
                <a:ext uri="{FF2B5EF4-FFF2-40B4-BE49-F238E27FC236}">
                  <a16:creationId xmlns:a16="http://schemas.microsoft.com/office/drawing/2014/main" id="{3DC8278D-DE10-8398-77C5-66CB931984B9}"/>
                </a:ext>
              </a:extLst>
            </p:cNvPr>
            <p:cNvCxnSpPr>
              <a:cxnSpLocks/>
              <a:stCxn id="485" idx="6"/>
              <a:endCxn id="503" idx="1"/>
            </p:cNvCxnSpPr>
            <p:nvPr/>
          </p:nvCxnSpPr>
          <p:spPr>
            <a:xfrm>
              <a:off x="6984035" y="579558"/>
              <a:ext cx="701524" cy="517565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A1A25E25-A1F1-D1FD-45DC-6CF055831D9B}"/>
                </a:ext>
              </a:extLst>
            </p:cNvPr>
            <p:cNvSpPr txBox="1"/>
            <p:nvPr/>
          </p:nvSpPr>
          <p:spPr>
            <a:xfrm>
              <a:off x="6702757" y="362764"/>
              <a:ext cx="277640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</a:rPr>
                <a:t>p</a:t>
              </a:r>
            </a:p>
          </p:txBody>
        </p:sp>
        <p:grpSp>
          <p:nvGrpSpPr>
            <p:cNvPr id="511" name="Group 510">
              <a:extLst>
                <a:ext uri="{FF2B5EF4-FFF2-40B4-BE49-F238E27FC236}">
                  <a16:creationId xmlns:a16="http://schemas.microsoft.com/office/drawing/2014/main" id="{640E2D09-B775-1862-11D4-1D18C812C672}"/>
                </a:ext>
              </a:extLst>
            </p:cNvPr>
            <p:cNvGrpSpPr/>
            <p:nvPr/>
          </p:nvGrpSpPr>
          <p:grpSpPr>
            <a:xfrm>
              <a:off x="5778185" y="993974"/>
              <a:ext cx="411412" cy="1011892"/>
              <a:chOff x="3465237" y="3276059"/>
              <a:chExt cx="411412" cy="1011892"/>
            </a:xfrm>
          </p:grpSpPr>
          <p:grpSp>
            <p:nvGrpSpPr>
              <p:cNvPr id="490" name="Group 489">
                <a:extLst>
                  <a:ext uri="{FF2B5EF4-FFF2-40B4-BE49-F238E27FC236}">
                    <a16:creationId xmlns:a16="http://schemas.microsoft.com/office/drawing/2014/main" id="{9C4E93B3-BCDC-6A8C-8A4F-BEB8FF825811}"/>
                  </a:ext>
                </a:extLst>
              </p:cNvPr>
              <p:cNvGrpSpPr/>
              <p:nvPr/>
            </p:nvGrpSpPr>
            <p:grpSpPr>
              <a:xfrm>
                <a:off x="3465237" y="3334296"/>
                <a:ext cx="411412" cy="953655"/>
                <a:chOff x="6587549" y="3454673"/>
                <a:chExt cx="411412" cy="953655"/>
              </a:xfrm>
            </p:grpSpPr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977E1A21-4511-3531-3963-4C30E61A710F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09" name="Extract 508">
                  <a:extLst>
                    <a:ext uri="{FF2B5EF4-FFF2-40B4-BE49-F238E27FC236}">
                      <a16:creationId xmlns:a16="http://schemas.microsoft.com/office/drawing/2014/main" id="{21064C85-57BA-DC56-C0CB-7E85769BD0C9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97" name="TextBox 496">
                <a:extLst>
                  <a:ext uri="{FF2B5EF4-FFF2-40B4-BE49-F238E27FC236}">
                    <a16:creationId xmlns:a16="http://schemas.microsoft.com/office/drawing/2014/main" id="{B06F2522-8D7F-DA03-3E6F-19D270F44E66}"/>
                  </a:ext>
                </a:extLst>
              </p:cNvPr>
              <p:cNvSpPr txBox="1"/>
              <p:nvPr/>
            </p:nvSpPr>
            <p:spPr>
              <a:xfrm>
                <a:off x="3525271" y="3276059"/>
                <a:ext cx="31931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n</a:t>
                </a:r>
                <a:r>
                  <a:rPr lang="en-US" sz="1300" baseline="-25000" dirty="0">
                    <a:latin typeface="Tw Cen MT" panose="020B0602020104020603" pitchFamily="34" charset="77"/>
                  </a:rPr>
                  <a:t>1</a:t>
                </a:r>
              </a:p>
            </p:txBody>
          </p:sp>
        </p:grp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9B6AE834-13EA-7AE3-D567-18958E333183}"/>
                </a:ext>
              </a:extLst>
            </p:cNvPr>
            <p:cNvGrpSpPr/>
            <p:nvPr/>
          </p:nvGrpSpPr>
          <p:grpSpPr>
            <a:xfrm>
              <a:off x="6633648" y="1015656"/>
              <a:ext cx="411412" cy="1014509"/>
              <a:chOff x="4010146" y="3272013"/>
              <a:chExt cx="411412" cy="1014509"/>
            </a:xfrm>
          </p:grpSpPr>
          <p:grpSp>
            <p:nvGrpSpPr>
              <p:cNvPr id="493" name="Group 492">
                <a:extLst>
                  <a:ext uri="{FF2B5EF4-FFF2-40B4-BE49-F238E27FC236}">
                    <a16:creationId xmlns:a16="http://schemas.microsoft.com/office/drawing/2014/main" id="{8BB8D357-1455-B00E-9D62-1FD838CDE951}"/>
                  </a:ext>
                </a:extLst>
              </p:cNvPr>
              <p:cNvGrpSpPr/>
              <p:nvPr/>
            </p:nvGrpSpPr>
            <p:grpSpPr>
              <a:xfrm>
                <a:off x="4010146" y="3330861"/>
                <a:ext cx="411412" cy="955661"/>
                <a:chOff x="7316750" y="3452824"/>
                <a:chExt cx="411412" cy="955661"/>
              </a:xfrm>
            </p:grpSpPr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056C622A-0C4A-037D-1738-C844419B824C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07" name="Extract 506">
                  <a:extLst>
                    <a:ext uri="{FF2B5EF4-FFF2-40B4-BE49-F238E27FC236}">
                      <a16:creationId xmlns:a16="http://schemas.microsoft.com/office/drawing/2014/main" id="{D72C3451-8C3E-F9FE-163A-C393420783CE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98" name="TextBox 497">
                <a:extLst>
                  <a:ext uri="{FF2B5EF4-FFF2-40B4-BE49-F238E27FC236}">
                    <a16:creationId xmlns:a16="http://schemas.microsoft.com/office/drawing/2014/main" id="{6F84FD83-615F-9FED-AB74-C28DD4FAFBC5}"/>
                  </a:ext>
                </a:extLst>
              </p:cNvPr>
              <p:cNvSpPr txBox="1"/>
              <p:nvPr/>
            </p:nvSpPr>
            <p:spPr>
              <a:xfrm>
                <a:off x="4079255" y="3272013"/>
                <a:ext cx="319318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n</a:t>
                </a:r>
                <a:r>
                  <a:rPr lang="en-US" sz="1300" baseline="-25000" dirty="0">
                    <a:latin typeface="Tw Cen MT" panose="020B0602020104020603" pitchFamily="34" charset="77"/>
                  </a:rPr>
                  <a:t>2</a:t>
                </a:r>
              </a:p>
            </p:txBody>
          </p:sp>
        </p:grp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F496D0B5-756A-266C-F074-02B569252DAB}"/>
                </a:ext>
              </a:extLst>
            </p:cNvPr>
            <p:cNvGrpSpPr/>
            <p:nvPr/>
          </p:nvGrpSpPr>
          <p:grpSpPr>
            <a:xfrm>
              <a:off x="7566176" y="997259"/>
              <a:ext cx="411412" cy="1015352"/>
              <a:chOff x="4757082" y="3271170"/>
              <a:chExt cx="411412" cy="1015352"/>
            </a:xfrm>
          </p:grpSpPr>
          <p:grpSp>
            <p:nvGrpSpPr>
              <p:cNvPr id="494" name="Group 493">
                <a:extLst>
                  <a:ext uri="{FF2B5EF4-FFF2-40B4-BE49-F238E27FC236}">
                    <a16:creationId xmlns:a16="http://schemas.microsoft.com/office/drawing/2014/main" id="{2D591FF1-3925-DA70-A801-131095971BE0}"/>
                  </a:ext>
                </a:extLst>
              </p:cNvPr>
              <p:cNvGrpSpPr/>
              <p:nvPr/>
            </p:nvGrpSpPr>
            <p:grpSpPr>
              <a:xfrm>
                <a:off x="4757082" y="3330861"/>
                <a:ext cx="411412" cy="955661"/>
                <a:chOff x="7999896" y="3448722"/>
                <a:chExt cx="411412" cy="955661"/>
              </a:xfrm>
            </p:grpSpPr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00CD2D14-5C8A-73A7-1B3E-E9F18402A014}"/>
                    </a:ext>
                  </a:extLst>
                </p:cNvPr>
                <p:cNvSpPr/>
                <p:nvPr/>
              </p:nvSpPr>
              <p:spPr>
                <a:xfrm>
                  <a:off x="8079106" y="3448722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04" name="Extract 503">
                  <a:extLst>
                    <a:ext uri="{FF2B5EF4-FFF2-40B4-BE49-F238E27FC236}">
                      <a16:creationId xmlns:a16="http://schemas.microsoft.com/office/drawing/2014/main" id="{F39B4C70-DDF6-589B-0EEA-68D4C283EF19}"/>
                    </a:ext>
                  </a:extLst>
                </p:cNvPr>
                <p:cNvSpPr/>
                <p:nvPr/>
              </p:nvSpPr>
              <p:spPr>
                <a:xfrm>
                  <a:off x="7999896" y="3725048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99" name="TextBox 498">
                <a:extLst>
                  <a:ext uri="{FF2B5EF4-FFF2-40B4-BE49-F238E27FC236}">
                    <a16:creationId xmlns:a16="http://schemas.microsoft.com/office/drawing/2014/main" id="{E55CF96D-DF62-8984-FB42-01A287013A27}"/>
                  </a:ext>
                </a:extLst>
              </p:cNvPr>
              <p:cNvSpPr txBox="1"/>
              <p:nvPr/>
            </p:nvSpPr>
            <p:spPr>
              <a:xfrm>
                <a:off x="4838345" y="3271170"/>
                <a:ext cx="290425" cy="240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n</a:t>
                </a:r>
                <a:r>
                  <a:rPr lang="en-US" sz="1300" baseline="-25000" dirty="0">
                    <a:latin typeface="Tw Cen MT" panose="020B0602020104020603" pitchFamily="34" charset="77"/>
                  </a:rPr>
                  <a:t>m</a:t>
                </a:r>
              </a:p>
            </p:txBody>
          </p:sp>
        </p:grpSp>
        <p:cxnSp>
          <p:nvCxnSpPr>
            <p:cNvPr id="512" name="Straight Arrow Connector 511">
              <a:extLst>
                <a:ext uri="{FF2B5EF4-FFF2-40B4-BE49-F238E27FC236}">
                  <a16:creationId xmlns:a16="http://schemas.microsoft.com/office/drawing/2014/main" id="{2CFF731C-BA3F-2026-43B9-0A9F200121F6}"/>
                </a:ext>
              </a:extLst>
            </p:cNvPr>
            <p:cNvCxnSpPr>
              <a:cxnSpLocks/>
              <a:stCxn id="485" idx="2"/>
              <a:endCxn id="508" idx="1"/>
            </p:cNvCxnSpPr>
            <p:nvPr/>
          </p:nvCxnSpPr>
          <p:spPr>
            <a:xfrm rot="10800000" flipV="1">
              <a:off x="5886905" y="579558"/>
              <a:ext cx="822811" cy="512826"/>
            </a:xfrm>
            <a:prstGeom prst="curvedConnector2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6" name="Straight Arrow Connector 545">
              <a:extLst>
                <a:ext uri="{FF2B5EF4-FFF2-40B4-BE49-F238E27FC236}">
                  <a16:creationId xmlns:a16="http://schemas.microsoft.com/office/drawing/2014/main" id="{C78E6E9B-D1CB-5847-9F90-79F7E5330078}"/>
                </a:ext>
              </a:extLst>
            </p:cNvPr>
            <p:cNvCxnSpPr>
              <a:cxnSpLocks/>
              <a:stCxn id="485" idx="3"/>
              <a:endCxn id="506" idx="1"/>
            </p:cNvCxnSpPr>
            <p:nvPr/>
          </p:nvCxnSpPr>
          <p:spPr>
            <a:xfrm>
              <a:off x="6749888" y="676545"/>
              <a:ext cx="3143" cy="438132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125AFFB3-B67F-2699-A960-A6D0055C10E8}"/>
                </a:ext>
              </a:extLst>
            </p:cNvPr>
            <p:cNvSpPr txBox="1"/>
            <p:nvPr/>
          </p:nvSpPr>
          <p:spPr>
            <a:xfrm>
              <a:off x="6685120" y="688272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31F00CC4-CEFE-05FD-ABCB-938720A58F8C}"/>
                </a:ext>
              </a:extLst>
            </p:cNvPr>
            <p:cNvSpPr txBox="1"/>
            <p:nvPr/>
          </p:nvSpPr>
          <p:spPr>
            <a:xfrm>
              <a:off x="5937537" y="688272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DB33473D-4E92-647D-8807-D1DA6BE7B781}"/>
                </a:ext>
              </a:extLst>
            </p:cNvPr>
            <p:cNvSpPr txBox="1"/>
            <p:nvPr/>
          </p:nvSpPr>
          <p:spPr>
            <a:xfrm>
              <a:off x="7504790" y="688272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65112E54-083F-FD22-43E3-DD91863A6978}"/>
                </a:ext>
              </a:extLst>
            </p:cNvPr>
            <p:cNvSpPr txBox="1"/>
            <p:nvPr/>
          </p:nvSpPr>
          <p:spPr>
            <a:xfrm>
              <a:off x="7165646" y="1037111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97E92F4E-A6FA-5843-0C3A-98A24005D471}"/>
                </a:ext>
              </a:extLst>
            </p:cNvPr>
            <p:cNvSpPr txBox="1"/>
            <p:nvPr/>
          </p:nvSpPr>
          <p:spPr>
            <a:xfrm>
              <a:off x="5577329" y="642750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(1,1)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BF8F2C45-8312-13FF-7771-F38CAFDB167C}"/>
                </a:ext>
              </a:extLst>
            </p:cNvPr>
            <p:cNvSpPr txBox="1"/>
            <p:nvPr/>
          </p:nvSpPr>
          <p:spPr>
            <a:xfrm>
              <a:off x="6084222" y="826771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(1,a)</a:t>
              </a:r>
            </a:p>
          </p:txBody>
        </p:sp>
        <p:sp>
          <p:nvSpPr>
            <p:cNvPr id="567" name="TextBox 566">
              <a:extLst>
                <a:ext uri="{FF2B5EF4-FFF2-40B4-BE49-F238E27FC236}">
                  <a16:creationId xmlns:a16="http://schemas.microsoft.com/office/drawing/2014/main" id="{409B8B14-3BDD-A225-194F-7113FC061C1E}"/>
                </a:ext>
              </a:extLst>
            </p:cNvPr>
            <p:cNvSpPr txBox="1"/>
            <p:nvPr/>
          </p:nvSpPr>
          <p:spPr>
            <a:xfrm>
              <a:off x="6408768" y="642750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(2,1)</a:t>
              </a:r>
            </a:p>
          </p:txBody>
        </p:sp>
        <p:sp>
          <p:nvSpPr>
            <p:cNvPr id="568" name="TextBox 567">
              <a:extLst>
                <a:ext uri="{FF2B5EF4-FFF2-40B4-BE49-F238E27FC236}">
                  <a16:creationId xmlns:a16="http://schemas.microsoft.com/office/drawing/2014/main" id="{E4AA26EB-387F-781B-11CE-3CDA362A0AEF}"/>
                </a:ext>
              </a:extLst>
            </p:cNvPr>
            <p:cNvSpPr txBox="1"/>
            <p:nvPr/>
          </p:nvSpPr>
          <p:spPr>
            <a:xfrm>
              <a:off x="6911109" y="826771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(2,b)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DB13AA48-EFAA-C7E6-52F6-1F8269A85998}"/>
                </a:ext>
              </a:extLst>
            </p:cNvPr>
            <p:cNvSpPr txBox="1"/>
            <p:nvPr/>
          </p:nvSpPr>
          <p:spPr>
            <a:xfrm>
              <a:off x="7230122" y="642750"/>
              <a:ext cx="385738" cy="240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(m,1)</a:t>
              </a:r>
            </a:p>
          </p:txBody>
        </p:sp>
        <p:sp>
          <p:nvSpPr>
            <p:cNvPr id="570" name="TextBox 569">
              <a:extLst>
                <a:ext uri="{FF2B5EF4-FFF2-40B4-BE49-F238E27FC236}">
                  <a16:creationId xmlns:a16="http://schemas.microsoft.com/office/drawing/2014/main" id="{6EBBEE09-DAF2-3468-20FB-BFF6C9ED0803}"/>
                </a:ext>
              </a:extLst>
            </p:cNvPr>
            <p:cNvSpPr txBox="1"/>
            <p:nvPr/>
          </p:nvSpPr>
          <p:spPr>
            <a:xfrm>
              <a:off x="7817024" y="826771"/>
              <a:ext cx="381534" cy="240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</a:t>
              </a:r>
              <a:r>
                <a:rPr lang="en-US" sz="1300" baseline="-25000" dirty="0" err="1">
                  <a:latin typeface="Tw Cen MT" panose="020B0602020104020603" pitchFamily="34" charset="77"/>
                  <a:cs typeface="Consolas" panose="020B0609020204030204" pitchFamily="49" charset="0"/>
                </a:rPr>
                <a:t>m,x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)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3C86B2A-5447-68E3-0B07-0C232A022BBB}"/>
              </a:ext>
            </a:extLst>
          </p:cNvPr>
          <p:cNvGrpSpPr/>
          <p:nvPr/>
        </p:nvGrpSpPr>
        <p:grpSpPr>
          <a:xfrm>
            <a:off x="-25515" y="21032"/>
            <a:ext cx="2676033" cy="1632231"/>
            <a:chOff x="5577329" y="397934"/>
            <a:chExt cx="2676033" cy="1632231"/>
          </a:xfrm>
        </p:grpSpPr>
        <p:cxnSp>
          <p:nvCxnSpPr>
            <p:cNvPr id="7" name="Straight Arrow Connector 483">
              <a:extLst>
                <a:ext uri="{FF2B5EF4-FFF2-40B4-BE49-F238E27FC236}">
                  <a16:creationId xmlns:a16="http://schemas.microsoft.com/office/drawing/2014/main" id="{AEE02FE5-7D71-4DEC-4F83-8EDADD9B18BE}"/>
                </a:ext>
              </a:extLst>
            </p:cNvPr>
            <p:cNvCxnSpPr>
              <a:cxnSpLocks/>
              <a:stCxn id="8" idx="6"/>
              <a:endCxn id="30" idx="7"/>
            </p:cNvCxnSpPr>
            <p:nvPr/>
          </p:nvCxnSpPr>
          <p:spPr>
            <a:xfrm>
              <a:off x="6984035" y="579558"/>
              <a:ext cx="895498" cy="517565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BE583AC-6172-8A9B-3296-1E52578E6FBE}"/>
                </a:ext>
              </a:extLst>
            </p:cNvPr>
            <p:cNvSpPr/>
            <p:nvPr/>
          </p:nvSpPr>
          <p:spPr>
            <a:xfrm>
              <a:off x="6709715" y="44239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" name="Straight Arrow Connector 486">
              <a:extLst>
                <a:ext uri="{FF2B5EF4-FFF2-40B4-BE49-F238E27FC236}">
                  <a16:creationId xmlns:a16="http://schemas.microsoft.com/office/drawing/2014/main" id="{A8A89745-4A30-A093-ECC4-336D7E4F8D16}"/>
                </a:ext>
              </a:extLst>
            </p:cNvPr>
            <p:cNvCxnSpPr>
              <a:cxnSpLocks/>
              <a:stCxn id="8" idx="2"/>
              <a:endCxn id="38" idx="7"/>
            </p:cNvCxnSpPr>
            <p:nvPr/>
          </p:nvCxnSpPr>
          <p:spPr>
            <a:xfrm rot="10800000" flipV="1">
              <a:off x="6080879" y="579558"/>
              <a:ext cx="628837" cy="512826"/>
            </a:xfrm>
            <a:prstGeom prst="curvedConnector2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9264F98-D1B9-3570-961D-42FA8914E9A5}"/>
                </a:ext>
              </a:extLst>
            </p:cNvPr>
            <p:cNvCxnSpPr>
              <a:cxnSpLocks/>
              <a:stCxn id="8" idx="5"/>
              <a:endCxn id="34" idx="7"/>
            </p:cNvCxnSpPr>
            <p:nvPr/>
          </p:nvCxnSpPr>
          <p:spPr>
            <a:xfrm>
              <a:off x="6943862" y="676545"/>
              <a:ext cx="3143" cy="438132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494">
              <a:extLst>
                <a:ext uri="{FF2B5EF4-FFF2-40B4-BE49-F238E27FC236}">
                  <a16:creationId xmlns:a16="http://schemas.microsoft.com/office/drawing/2014/main" id="{886184B9-48F2-130F-2628-F267BF0B7044}"/>
                </a:ext>
              </a:extLst>
            </p:cNvPr>
            <p:cNvCxnSpPr>
              <a:cxnSpLocks/>
              <a:stCxn id="8" idx="6"/>
              <a:endCxn id="30" idx="1"/>
            </p:cNvCxnSpPr>
            <p:nvPr/>
          </p:nvCxnSpPr>
          <p:spPr>
            <a:xfrm>
              <a:off x="6984035" y="579558"/>
              <a:ext cx="701524" cy="517565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2723C2-2374-D4F0-8138-38FCB5A2F915}"/>
                </a:ext>
              </a:extLst>
            </p:cNvPr>
            <p:cNvSpPr txBox="1"/>
            <p:nvPr/>
          </p:nvSpPr>
          <p:spPr>
            <a:xfrm>
              <a:off x="6702757" y="397934"/>
              <a:ext cx="277640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</a:rPr>
                <a:t>p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123357C-B0E3-42C3-E003-2C962EA45ACF}"/>
                </a:ext>
              </a:extLst>
            </p:cNvPr>
            <p:cNvGrpSpPr/>
            <p:nvPr/>
          </p:nvGrpSpPr>
          <p:grpSpPr>
            <a:xfrm>
              <a:off x="5778185" y="1029144"/>
              <a:ext cx="411412" cy="976722"/>
              <a:chOff x="3465237" y="3311229"/>
              <a:chExt cx="411412" cy="976722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30AC25A-0BA4-E28B-DDE4-FF8494C42347}"/>
                  </a:ext>
                </a:extLst>
              </p:cNvPr>
              <p:cNvGrpSpPr/>
              <p:nvPr/>
            </p:nvGrpSpPr>
            <p:grpSpPr>
              <a:xfrm>
                <a:off x="3465237" y="3334296"/>
                <a:ext cx="411412" cy="953655"/>
                <a:chOff x="6587549" y="3454673"/>
                <a:chExt cx="411412" cy="953655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D6FE513-D240-AE75-A2DB-D6728043D321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39" name="Extract 38">
                  <a:extLst>
                    <a:ext uri="{FF2B5EF4-FFF2-40B4-BE49-F238E27FC236}">
                      <a16:creationId xmlns:a16="http://schemas.microsoft.com/office/drawing/2014/main" id="{E0B739AD-DDE8-6754-3BF5-15C84589A928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07BACAC-86B9-E846-776F-FC80A7022F13}"/>
                  </a:ext>
                </a:extLst>
              </p:cNvPr>
              <p:cNvSpPr txBox="1"/>
              <p:nvPr/>
            </p:nvSpPr>
            <p:spPr>
              <a:xfrm>
                <a:off x="3525271" y="3311229"/>
                <a:ext cx="31931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n</a:t>
                </a:r>
                <a:r>
                  <a:rPr lang="en-US" sz="1300" baseline="-25000" dirty="0">
                    <a:latin typeface="Tw Cen MT" panose="020B0602020104020603" pitchFamily="34" charset="77"/>
                  </a:rPr>
                  <a:t>1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15E61E0-9731-6B6F-8E72-11CCE7E6E003}"/>
                </a:ext>
              </a:extLst>
            </p:cNvPr>
            <p:cNvGrpSpPr/>
            <p:nvPr/>
          </p:nvGrpSpPr>
          <p:grpSpPr>
            <a:xfrm>
              <a:off x="6633648" y="1050826"/>
              <a:ext cx="411412" cy="979339"/>
              <a:chOff x="4010146" y="3307183"/>
              <a:chExt cx="411412" cy="979339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3343A89-DDA5-0245-BBED-060375A02C1E}"/>
                  </a:ext>
                </a:extLst>
              </p:cNvPr>
              <p:cNvGrpSpPr/>
              <p:nvPr/>
            </p:nvGrpSpPr>
            <p:grpSpPr>
              <a:xfrm>
                <a:off x="4010146" y="3330861"/>
                <a:ext cx="411412" cy="955661"/>
                <a:chOff x="7316750" y="3452824"/>
                <a:chExt cx="411412" cy="955661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4D5DA4F6-BF4A-C439-9697-1EF655CDA764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35" name="Extract 34">
                  <a:extLst>
                    <a:ext uri="{FF2B5EF4-FFF2-40B4-BE49-F238E27FC236}">
                      <a16:creationId xmlns:a16="http://schemas.microsoft.com/office/drawing/2014/main" id="{959E98C7-4FAD-96B3-6F64-76E2D334CB54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B199E95-99F7-666B-5824-D2065EF6BB03}"/>
                  </a:ext>
                </a:extLst>
              </p:cNvPr>
              <p:cNvSpPr txBox="1"/>
              <p:nvPr/>
            </p:nvSpPr>
            <p:spPr>
              <a:xfrm>
                <a:off x="4079255" y="3307183"/>
                <a:ext cx="319318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n</a:t>
                </a:r>
                <a:r>
                  <a:rPr lang="en-US" sz="1300" baseline="-25000" dirty="0">
                    <a:latin typeface="Tw Cen MT" panose="020B0602020104020603" pitchFamily="34" charset="77"/>
                  </a:rPr>
                  <a:t>2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A5106BE-6868-7104-B202-47CC1D8C966E}"/>
                </a:ext>
              </a:extLst>
            </p:cNvPr>
            <p:cNvGrpSpPr/>
            <p:nvPr/>
          </p:nvGrpSpPr>
          <p:grpSpPr>
            <a:xfrm>
              <a:off x="7566176" y="1032429"/>
              <a:ext cx="413405" cy="980182"/>
              <a:chOff x="4757082" y="3306340"/>
              <a:chExt cx="413405" cy="98018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ADA6A9E-D2C2-0B01-C745-9D3090C02B86}"/>
                  </a:ext>
                </a:extLst>
              </p:cNvPr>
              <p:cNvGrpSpPr/>
              <p:nvPr/>
            </p:nvGrpSpPr>
            <p:grpSpPr>
              <a:xfrm>
                <a:off x="4757082" y="3330861"/>
                <a:ext cx="411412" cy="955661"/>
                <a:chOff x="7999896" y="3448722"/>
                <a:chExt cx="411412" cy="955661"/>
              </a:xfrm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EE36335E-D651-9CBC-C93B-4E60164CE854}"/>
                    </a:ext>
                  </a:extLst>
                </p:cNvPr>
                <p:cNvSpPr/>
                <p:nvPr/>
              </p:nvSpPr>
              <p:spPr>
                <a:xfrm>
                  <a:off x="8079106" y="3448722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31" name="Extract 30">
                  <a:extLst>
                    <a:ext uri="{FF2B5EF4-FFF2-40B4-BE49-F238E27FC236}">
                      <a16:creationId xmlns:a16="http://schemas.microsoft.com/office/drawing/2014/main" id="{778AB699-4BFE-C2BE-0888-ED41D0B9DE3E}"/>
                    </a:ext>
                  </a:extLst>
                </p:cNvPr>
                <p:cNvSpPr/>
                <p:nvPr/>
              </p:nvSpPr>
              <p:spPr>
                <a:xfrm>
                  <a:off x="7999896" y="3725048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E4EA06A-BC94-7993-0C59-FF5A2EA67B8A}"/>
                  </a:ext>
                </a:extLst>
              </p:cNvPr>
              <p:cNvSpPr txBox="1"/>
              <p:nvPr/>
            </p:nvSpPr>
            <p:spPr>
              <a:xfrm>
                <a:off x="4838345" y="3306340"/>
                <a:ext cx="332142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Tw Cen MT" panose="020B0602020104020603" pitchFamily="34" charset="77"/>
                  </a:rPr>
                  <a:t>n</a:t>
                </a:r>
                <a:r>
                  <a:rPr lang="en-US" sz="1300" baseline="-25000" dirty="0">
                    <a:latin typeface="Tw Cen MT" panose="020B0602020104020603" pitchFamily="34" charset="77"/>
                  </a:rPr>
                  <a:t>m</a:t>
                </a:r>
              </a:p>
            </p:txBody>
          </p:sp>
        </p:grpSp>
        <p:cxnSp>
          <p:nvCxnSpPr>
            <p:cNvPr id="16" name="Straight Arrow Connector 511">
              <a:extLst>
                <a:ext uri="{FF2B5EF4-FFF2-40B4-BE49-F238E27FC236}">
                  <a16:creationId xmlns:a16="http://schemas.microsoft.com/office/drawing/2014/main" id="{07D81C17-4E7B-4356-E178-6075F832D89B}"/>
                </a:ext>
              </a:extLst>
            </p:cNvPr>
            <p:cNvCxnSpPr>
              <a:cxnSpLocks/>
              <a:stCxn id="8" idx="2"/>
              <a:endCxn id="38" idx="1"/>
            </p:cNvCxnSpPr>
            <p:nvPr/>
          </p:nvCxnSpPr>
          <p:spPr>
            <a:xfrm rot="10800000" flipV="1">
              <a:off x="5886905" y="579558"/>
              <a:ext cx="822811" cy="512826"/>
            </a:xfrm>
            <a:prstGeom prst="curvedConnector2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F5FA8C3-92D9-DB2B-F086-56E2F45C74A8}"/>
                </a:ext>
              </a:extLst>
            </p:cNvPr>
            <p:cNvCxnSpPr>
              <a:cxnSpLocks/>
              <a:stCxn id="8" idx="3"/>
              <a:endCxn id="34" idx="1"/>
            </p:cNvCxnSpPr>
            <p:nvPr/>
          </p:nvCxnSpPr>
          <p:spPr>
            <a:xfrm>
              <a:off x="6749888" y="676545"/>
              <a:ext cx="3143" cy="438132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A0EF451-A6CD-7217-79FB-3C3595583C8F}"/>
                </a:ext>
              </a:extLst>
            </p:cNvPr>
            <p:cNvSpPr txBox="1"/>
            <p:nvPr/>
          </p:nvSpPr>
          <p:spPr>
            <a:xfrm>
              <a:off x="6685120" y="688272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DFA6757-6EA3-73BC-CC50-8C4280BFC7A5}"/>
                </a:ext>
              </a:extLst>
            </p:cNvPr>
            <p:cNvSpPr txBox="1"/>
            <p:nvPr/>
          </p:nvSpPr>
          <p:spPr>
            <a:xfrm>
              <a:off x="5937537" y="688272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743D8B-10EC-4CCB-A4A9-AC43A6BDB11C}"/>
                </a:ext>
              </a:extLst>
            </p:cNvPr>
            <p:cNvSpPr txBox="1"/>
            <p:nvPr/>
          </p:nvSpPr>
          <p:spPr>
            <a:xfrm>
              <a:off x="7504790" y="688272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56B0FEE-494F-5F68-A742-0365F1457087}"/>
                </a:ext>
              </a:extLst>
            </p:cNvPr>
            <p:cNvSpPr txBox="1"/>
            <p:nvPr/>
          </p:nvSpPr>
          <p:spPr>
            <a:xfrm>
              <a:off x="7165646" y="1037111"/>
              <a:ext cx="280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  <a:endParaRPr lang="en-US" sz="12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746FE0-785A-8F9E-E1EF-E9F2CF7C750F}"/>
                </a:ext>
              </a:extLst>
            </p:cNvPr>
            <p:cNvSpPr txBox="1"/>
            <p:nvPr/>
          </p:nvSpPr>
          <p:spPr>
            <a:xfrm>
              <a:off x="5577329" y="642750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(1,1)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FF6F2E-E401-769E-0A95-3BCBF2098F03}"/>
                </a:ext>
              </a:extLst>
            </p:cNvPr>
            <p:cNvSpPr txBox="1"/>
            <p:nvPr/>
          </p:nvSpPr>
          <p:spPr>
            <a:xfrm>
              <a:off x="6084222" y="826771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(1,a)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BB571C8-C3CE-1523-944E-E839881DA091}"/>
                </a:ext>
              </a:extLst>
            </p:cNvPr>
            <p:cNvSpPr txBox="1"/>
            <p:nvPr/>
          </p:nvSpPr>
          <p:spPr>
            <a:xfrm>
              <a:off x="6408768" y="642750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(2,1)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67DC0B-3FB4-5A7F-5D30-08025F126D58}"/>
                </a:ext>
              </a:extLst>
            </p:cNvPr>
            <p:cNvSpPr txBox="1"/>
            <p:nvPr/>
          </p:nvSpPr>
          <p:spPr>
            <a:xfrm>
              <a:off x="6911109" y="826771"/>
              <a:ext cx="42832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(2,b)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6285C77-A26B-97B0-37F3-C99CF4363CE1}"/>
                </a:ext>
              </a:extLst>
            </p:cNvPr>
            <p:cNvSpPr txBox="1"/>
            <p:nvPr/>
          </p:nvSpPr>
          <p:spPr>
            <a:xfrm>
              <a:off x="7230122" y="642750"/>
              <a:ext cx="44114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(m,1)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B41584A-D03D-AA12-7ED5-0AEFFA3C3318}"/>
                </a:ext>
              </a:extLst>
            </p:cNvPr>
            <p:cNvSpPr txBox="1"/>
            <p:nvPr/>
          </p:nvSpPr>
          <p:spPr>
            <a:xfrm>
              <a:off x="7817024" y="826771"/>
              <a:ext cx="43633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  <a:cs typeface="Consolas" panose="020B0609020204030204" pitchFamily="49" charset="0"/>
                </a:rPr>
                <a:t>l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(</a:t>
              </a:r>
              <a:r>
                <a:rPr lang="en-US" sz="1300" baseline="-25000" dirty="0" err="1">
                  <a:latin typeface="Tw Cen MT" panose="020B0602020104020603" pitchFamily="34" charset="77"/>
                  <a:cs typeface="Consolas" panose="020B0609020204030204" pitchFamily="49" charset="0"/>
                </a:rPr>
                <a:t>m,x</a:t>
              </a:r>
              <a:r>
                <a:rPr lang="en-US" sz="1300" baseline="-25000" dirty="0">
                  <a:latin typeface="Tw Cen MT" panose="020B0602020104020603" pitchFamily="34" charset="77"/>
                  <a:cs typeface="Consolas" panose="020B0609020204030204" pitchFamily="49" charset="0"/>
                </a:rPr>
                <a:t>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586210D-5AB2-3422-2937-6D16D572DB5B}"/>
              </a:ext>
            </a:extLst>
          </p:cNvPr>
          <p:cNvGrpSpPr/>
          <p:nvPr/>
        </p:nvGrpSpPr>
        <p:grpSpPr>
          <a:xfrm>
            <a:off x="196765" y="2297430"/>
            <a:ext cx="4495648" cy="2511580"/>
            <a:chOff x="196765" y="2297430"/>
            <a:chExt cx="4495648" cy="251158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2D55DE3-282B-0796-49C5-716B86839216}"/>
                </a:ext>
              </a:extLst>
            </p:cNvPr>
            <p:cNvSpPr/>
            <p:nvPr/>
          </p:nvSpPr>
          <p:spPr>
            <a:xfrm>
              <a:off x="2237074" y="2297430"/>
              <a:ext cx="548640" cy="5486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</a:t>
              </a:r>
            </a:p>
          </p:txBody>
        </p:sp>
        <p:sp>
          <p:nvSpPr>
            <p:cNvPr id="486" name="Oval 485">
              <a:extLst>
                <a:ext uri="{FF2B5EF4-FFF2-40B4-BE49-F238E27FC236}">
                  <a16:creationId xmlns:a16="http://schemas.microsoft.com/office/drawing/2014/main" id="{599E9A44-4468-7484-1FD4-F009E9C7EAB2}"/>
                </a:ext>
              </a:extLst>
            </p:cNvPr>
            <p:cNvSpPr/>
            <p:nvPr/>
          </p:nvSpPr>
          <p:spPr>
            <a:xfrm>
              <a:off x="2237074" y="3280980"/>
              <a:ext cx="548640" cy="5486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baseline="-25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488" name="Oval 487">
              <a:extLst>
                <a:ext uri="{FF2B5EF4-FFF2-40B4-BE49-F238E27FC236}">
                  <a16:creationId xmlns:a16="http://schemas.microsoft.com/office/drawing/2014/main" id="{286A4704-71FD-F0D4-A269-A5D48EC95719}"/>
                </a:ext>
              </a:extLst>
            </p:cNvPr>
            <p:cNvSpPr/>
            <p:nvPr/>
          </p:nvSpPr>
          <p:spPr>
            <a:xfrm>
              <a:off x="3796215" y="3295499"/>
              <a:ext cx="548640" cy="5486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baseline="-25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</a:p>
          </p:txBody>
        </p:sp>
        <p:cxnSp>
          <p:nvCxnSpPr>
            <p:cNvPr id="489" name="Straight Arrow Connector 477">
              <a:extLst>
                <a:ext uri="{FF2B5EF4-FFF2-40B4-BE49-F238E27FC236}">
                  <a16:creationId xmlns:a16="http://schemas.microsoft.com/office/drawing/2014/main" id="{595A6E75-3A7B-526D-8D06-D3EE8D3D3048}"/>
                </a:ext>
              </a:extLst>
            </p:cNvPr>
            <p:cNvCxnSpPr>
              <a:cxnSpLocks/>
              <a:stCxn id="47" idx="3"/>
              <a:endCxn id="486" idx="1"/>
            </p:cNvCxnSpPr>
            <p:nvPr/>
          </p:nvCxnSpPr>
          <p:spPr>
            <a:xfrm>
              <a:off x="2317420" y="2765724"/>
              <a:ext cx="0" cy="59560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2" name="Straight Arrow Connector 477">
              <a:extLst>
                <a:ext uri="{FF2B5EF4-FFF2-40B4-BE49-F238E27FC236}">
                  <a16:creationId xmlns:a16="http://schemas.microsoft.com/office/drawing/2014/main" id="{0FF46084-E113-D700-4040-699B2F9D8DC8}"/>
                </a:ext>
              </a:extLst>
            </p:cNvPr>
            <p:cNvCxnSpPr>
              <a:cxnSpLocks/>
              <a:stCxn id="47" idx="5"/>
              <a:endCxn id="486" idx="7"/>
            </p:cNvCxnSpPr>
            <p:nvPr/>
          </p:nvCxnSpPr>
          <p:spPr>
            <a:xfrm>
              <a:off x="2705368" y="2765724"/>
              <a:ext cx="0" cy="59560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2" name="Straight Arrow Connector 477">
              <a:extLst>
                <a:ext uri="{FF2B5EF4-FFF2-40B4-BE49-F238E27FC236}">
                  <a16:creationId xmlns:a16="http://schemas.microsoft.com/office/drawing/2014/main" id="{D170F458-F365-DB51-7384-1EDEF76CF7D8}"/>
                </a:ext>
              </a:extLst>
            </p:cNvPr>
            <p:cNvCxnSpPr>
              <a:cxnSpLocks/>
              <a:stCxn id="47" idx="6"/>
              <a:endCxn id="488" idx="7"/>
            </p:cNvCxnSpPr>
            <p:nvPr/>
          </p:nvCxnSpPr>
          <p:spPr>
            <a:xfrm>
              <a:off x="2785714" y="2571750"/>
              <a:ext cx="1478795" cy="804095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5" name="Straight Arrow Connector 477">
              <a:extLst>
                <a:ext uri="{FF2B5EF4-FFF2-40B4-BE49-F238E27FC236}">
                  <a16:creationId xmlns:a16="http://schemas.microsoft.com/office/drawing/2014/main" id="{535E6BD1-0E2C-69BB-8B00-BBBE45770B5C}"/>
                </a:ext>
              </a:extLst>
            </p:cNvPr>
            <p:cNvCxnSpPr>
              <a:cxnSpLocks/>
              <a:stCxn id="47" idx="6"/>
              <a:endCxn id="488" idx="1"/>
            </p:cNvCxnSpPr>
            <p:nvPr/>
          </p:nvCxnSpPr>
          <p:spPr>
            <a:xfrm>
              <a:off x="2785714" y="2571750"/>
              <a:ext cx="1090847" cy="804095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B4640DB9-334D-EC79-C413-BB00BE13E950}"/>
                </a:ext>
              </a:extLst>
            </p:cNvPr>
            <p:cNvSpPr txBox="1"/>
            <p:nvPr/>
          </p:nvSpPr>
          <p:spPr>
            <a:xfrm>
              <a:off x="2340818" y="285369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6A973A5C-9049-3468-9972-63AD384468C0}"/>
                </a:ext>
              </a:extLst>
            </p:cNvPr>
            <p:cNvSpPr txBox="1"/>
            <p:nvPr/>
          </p:nvSpPr>
          <p:spPr>
            <a:xfrm>
              <a:off x="3739376" y="285369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</a:p>
          </p:txBody>
        </p:sp>
        <p:cxnSp>
          <p:nvCxnSpPr>
            <p:cNvPr id="478" name="Straight Arrow Connector 477">
              <a:extLst>
                <a:ext uri="{FF2B5EF4-FFF2-40B4-BE49-F238E27FC236}">
                  <a16:creationId xmlns:a16="http://schemas.microsoft.com/office/drawing/2014/main" id="{2C80C7F5-2A14-58D3-408A-07A3A865016F}"/>
                </a:ext>
              </a:extLst>
            </p:cNvPr>
            <p:cNvCxnSpPr>
              <a:cxnSpLocks/>
              <a:stCxn id="47" idx="2"/>
              <a:endCxn id="46" idx="1"/>
            </p:cNvCxnSpPr>
            <p:nvPr/>
          </p:nvCxnSpPr>
          <p:spPr>
            <a:xfrm rot="10800000" flipV="1">
              <a:off x="649118" y="2571750"/>
              <a:ext cx="1587957" cy="813800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5CD758-1308-0182-811B-347F66BDE120}"/>
                </a:ext>
              </a:extLst>
            </p:cNvPr>
            <p:cNvSpPr/>
            <p:nvPr/>
          </p:nvSpPr>
          <p:spPr>
            <a:xfrm>
              <a:off x="568771" y="3305204"/>
              <a:ext cx="548640" cy="5486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baseline="-25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cxnSp>
          <p:nvCxnSpPr>
            <p:cNvPr id="50" name="Straight Arrow Connector 477">
              <a:extLst>
                <a:ext uri="{FF2B5EF4-FFF2-40B4-BE49-F238E27FC236}">
                  <a16:creationId xmlns:a16="http://schemas.microsoft.com/office/drawing/2014/main" id="{AE663760-5292-FC8C-E7E6-96A7C06CE645}"/>
                </a:ext>
              </a:extLst>
            </p:cNvPr>
            <p:cNvCxnSpPr>
              <a:cxnSpLocks/>
              <a:stCxn id="47" idx="2"/>
              <a:endCxn id="46" idx="7"/>
            </p:cNvCxnSpPr>
            <p:nvPr/>
          </p:nvCxnSpPr>
          <p:spPr>
            <a:xfrm rot="10800000" flipV="1">
              <a:off x="1037066" y="2571750"/>
              <a:ext cx="1200009" cy="813800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2CC0A50E-BAB8-C805-CC82-E07145B2B009}"/>
                </a:ext>
              </a:extLst>
            </p:cNvPr>
            <p:cNvSpPr txBox="1"/>
            <p:nvPr/>
          </p:nvSpPr>
          <p:spPr>
            <a:xfrm>
              <a:off x="849119" y="285369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B6079E27-5828-61CC-14B9-8F04A03D79E8}"/>
                </a:ext>
              </a:extLst>
            </p:cNvPr>
            <p:cNvSpPr txBox="1"/>
            <p:nvPr/>
          </p:nvSpPr>
          <p:spPr>
            <a:xfrm>
              <a:off x="196765" y="2853690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(1,1)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C7659272-AA75-50CE-F15D-41F0933E9E55}"/>
                </a:ext>
              </a:extLst>
            </p:cNvPr>
            <p:cNvSpPr txBox="1"/>
            <p:nvPr/>
          </p:nvSpPr>
          <p:spPr>
            <a:xfrm>
              <a:off x="1198556" y="2853690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(1,a)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B3419944-153D-6B1E-48D5-99C753461EDC}"/>
                </a:ext>
              </a:extLst>
            </p:cNvPr>
            <p:cNvSpPr txBox="1"/>
            <p:nvPr/>
          </p:nvSpPr>
          <p:spPr>
            <a:xfrm>
              <a:off x="2940265" y="332985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1D3E426-59E4-BDF8-93E5-44AADB54629C}"/>
                </a:ext>
              </a:extLst>
            </p:cNvPr>
            <p:cNvSpPr txBox="1"/>
            <p:nvPr/>
          </p:nvSpPr>
          <p:spPr>
            <a:xfrm>
              <a:off x="1807077" y="2853690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(2,1)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086A75A-F938-0726-51D8-154DB39A29E3}"/>
                </a:ext>
              </a:extLst>
            </p:cNvPr>
            <p:cNvSpPr txBox="1"/>
            <p:nvPr/>
          </p:nvSpPr>
          <p:spPr>
            <a:xfrm>
              <a:off x="2641534" y="2853690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(2,b)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8D2778-CB48-3D6A-0D25-9D586D291FF6}"/>
                </a:ext>
              </a:extLst>
            </p:cNvPr>
            <p:cNvSpPr txBox="1"/>
            <p:nvPr/>
          </p:nvSpPr>
          <p:spPr>
            <a:xfrm>
              <a:off x="3238623" y="2853690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(m,1)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D8E293-5239-FFB4-6066-E38481C8B835}"/>
                </a:ext>
              </a:extLst>
            </p:cNvPr>
            <p:cNvSpPr txBox="1"/>
            <p:nvPr/>
          </p:nvSpPr>
          <p:spPr>
            <a:xfrm>
              <a:off x="4079745" y="2853690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baseline="-250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m,x</a:t>
              </a:r>
              <a:r>
                <a:rPr lang="en-US" baseline="-25000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sp>
          <p:nvSpPr>
            <p:cNvPr id="56" name="Extract 55">
              <a:extLst>
                <a:ext uri="{FF2B5EF4-FFF2-40B4-BE49-F238E27FC236}">
                  <a16:creationId xmlns:a16="http://schemas.microsoft.com/office/drawing/2014/main" id="{58C42930-7C59-1013-4792-024627D9374D}"/>
                </a:ext>
              </a:extLst>
            </p:cNvPr>
            <p:cNvSpPr/>
            <p:nvPr/>
          </p:nvSpPr>
          <p:spPr>
            <a:xfrm>
              <a:off x="554692" y="3853844"/>
              <a:ext cx="562719" cy="947793"/>
            </a:xfrm>
            <a:prstGeom prst="flowChartExtra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Extract 39">
              <a:extLst>
                <a:ext uri="{FF2B5EF4-FFF2-40B4-BE49-F238E27FC236}">
                  <a16:creationId xmlns:a16="http://schemas.microsoft.com/office/drawing/2014/main" id="{E2BDB72F-FC28-E36E-F324-9C59A2957CE8}"/>
                </a:ext>
              </a:extLst>
            </p:cNvPr>
            <p:cNvSpPr/>
            <p:nvPr/>
          </p:nvSpPr>
          <p:spPr>
            <a:xfrm>
              <a:off x="2230034" y="3837989"/>
              <a:ext cx="562719" cy="947793"/>
            </a:xfrm>
            <a:prstGeom prst="flowChartExtra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Extract 40">
              <a:extLst>
                <a:ext uri="{FF2B5EF4-FFF2-40B4-BE49-F238E27FC236}">
                  <a16:creationId xmlns:a16="http://schemas.microsoft.com/office/drawing/2014/main" id="{319A433D-AA81-B680-AD9B-AB33A72C5850}"/>
                </a:ext>
              </a:extLst>
            </p:cNvPr>
            <p:cNvSpPr/>
            <p:nvPr/>
          </p:nvSpPr>
          <p:spPr>
            <a:xfrm>
              <a:off x="3798385" y="3861217"/>
              <a:ext cx="562719" cy="947793"/>
            </a:xfrm>
            <a:prstGeom prst="flowChartExtra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8865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6C2F7EC7-964A-55F4-3109-32B9DD518F77}"/>
              </a:ext>
            </a:extLst>
          </p:cNvPr>
          <p:cNvGrpSpPr/>
          <p:nvPr/>
        </p:nvGrpSpPr>
        <p:grpSpPr>
          <a:xfrm>
            <a:off x="2904554" y="3401224"/>
            <a:ext cx="3678674" cy="1546557"/>
            <a:chOff x="3405017" y="2186518"/>
            <a:chExt cx="3678674" cy="1546557"/>
          </a:xfrm>
        </p:grpSpPr>
        <p:cxnSp>
          <p:nvCxnSpPr>
            <p:cNvPr id="943" name="Straight Arrow Connector 942">
              <a:extLst>
                <a:ext uri="{FF2B5EF4-FFF2-40B4-BE49-F238E27FC236}">
                  <a16:creationId xmlns:a16="http://schemas.microsoft.com/office/drawing/2014/main" id="{B1D89DF4-AFE6-01B2-D640-26807AA06B42}"/>
                </a:ext>
              </a:extLst>
            </p:cNvPr>
            <p:cNvCxnSpPr>
              <a:cxnSpLocks/>
              <a:stCxn id="945" idx="3"/>
              <a:endCxn id="944" idx="0"/>
            </p:cNvCxnSpPr>
            <p:nvPr/>
          </p:nvCxnSpPr>
          <p:spPr>
            <a:xfrm flipH="1">
              <a:off x="4291826" y="2652762"/>
              <a:ext cx="857359" cy="27719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4" name="Oval 943">
              <a:extLst>
                <a:ext uri="{FF2B5EF4-FFF2-40B4-BE49-F238E27FC236}">
                  <a16:creationId xmlns:a16="http://schemas.microsoft.com/office/drawing/2014/main" id="{4224B7C6-602F-9F79-9486-8F2E12D778CE}"/>
                </a:ext>
              </a:extLst>
            </p:cNvPr>
            <p:cNvSpPr/>
            <p:nvPr/>
          </p:nvSpPr>
          <p:spPr>
            <a:xfrm>
              <a:off x="4154666" y="292995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45" name="Oval 944">
              <a:extLst>
                <a:ext uri="{FF2B5EF4-FFF2-40B4-BE49-F238E27FC236}">
                  <a16:creationId xmlns:a16="http://schemas.microsoft.com/office/drawing/2014/main" id="{52CA1683-6340-6C69-FF20-80D49FD73E21}"/>
                </a:ext>
              </a:extLst>
            </p:cNvPr>
            <p:cNvSpPr/>
            <p:nvPr/>
          </p:nvSpPr>
          <p:spPr>
            <a:xfrm>
              <a:off x="5109012" y="2418615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946" name="TextBox 945">
              <a:extLst>
                <a:ext uri="{FF2B5EF4-FFF2-40B4-BE49-F238E27FC236}">
                  <a16:creationId xmlns:a16="http://schemas.microsoft.com/office/drawing/2014/main" id="{8ED68E78-547B-0161-B15F-CD983BAE8828}"/>
                </a:ext>
              </a:extLst>
            </p:cNvPr>
            <p:cNvSpPr txBox="1"/>
            <p:nvPr/>
          </p:nvSpPr>
          <p:spPr>
            <a:xfrm>
              <a:off x="4692333" y="255940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47" name="Oval 946">
              <a:extLst>
                <a:ext uri="{FF2B5EF4-FFF2-40B4-BE49-F238E27FC236}">
                  <a16:creationId xmlns:a16="http://schemas.microsoft.com/office/drawing/2014/main" id="{104C51B8-603F-C4E6-2289-AFCC9E7BCC91}"/>
                </a:ext>
              </a:extLst>
            </p:cNvPr>
            <p:cNvSpPr/>
            <p:nvPr/>
          </p:nvSpPr>
          <p:spPr>
            <a:xfrm>
              <a:off x="4154666" y="3454247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48" name="Straight Arrow Connector 947">
              <a:extLst>
                <a:ext uri="{FF2B5EF4-FFF2-40B4-BE49-F238E27FC236}">
                  <a16:creationId xmlns:a16="http://schemas.microsoft.com/office/drawing/2014/main" id="{6057FC72-14B0-F089-C0C4-8D86C710F97E}"/>
                </a:ext>
              </a:extLst>
            </p:cNvPr>
            <p:cNvCxnSpPr>
              <a:cxnSpLocks/>
              <a:stCxn id="944" idx="4"/>
              <a:endCxn id="947" idx="0"/>
            </p:cNvCxnSpPr>
            <p:nvPr/>
          </p:nvCxnSpPr>
          <p:spPr>
            <a:xfrm>
              <a:off x="4291826" y="3204278"/>
              <a:ext cx="0" cy="24996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9" name="TextBox 948">
              <a:extLst>
                <a:ext uri="{FF2B5EF4-FFF2-40B4-BE49-F238E27FC236}">
                  <a16:creationId xmlns:a16="http://schemas.microsoft.com/office/drawing/2014/main" id="{E8DD9EFF-B85F-7714-7DE2-1CB9EFC3CCF2}"/>
                </a:ext>
              </a:extLst>
            </p:cNvPr>
            <p:cNvSpPr txBox="1"/>
            <p:nvPr/>
          </p:nvSpPr>
          <p:spPr>
            <a:xfrm>
              <a:off x="4264150" y="3177777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50" name="TextBox 949">
              <a:extLst>
                <a:ext uri="{FF2B5EF4-FFF2-40B4-BE49-F238E27FC236}">
                  <a16:creationId xmlns:a16="http://schemas.microsoft.com/office/drawing/2014/main" id="{F9A56076-7068-639E-1321-90463B919FAF}"/>
                </a:ext>
              </a:extLst>
            </p:cNvPr>
            <p:cNvSpPr txBox="1"/>
            <p:nvPr/>
          </p:nvSpPr>
          <p:spPr>
            <a:xfrm>
              <a:off x="4958753" y="2186518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951" name="TextBox 950">
              <a:extLst>
                <a:ext uri="{FF2B5EF4-FFF2-40B4-BE49-F238E27FC236}">
                  <a16:creationId xmlns:a16="http://schemas.microsoft.com/office/drawing/2014/main" id="{EA8E3433-F6D0-5170-D4FD-A77B093E8BB1}"/>
                </a:ext>
              </a:extLst>
            </p:cNvPr>
            <p:cNvSpPr txBox="1"/>
            <p:nvPr/>
          </p:nvSpPr>
          <p:spPr>
            <a:xfrm>
              <a:off x="3405017" y="2933449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952" name="TextBox 951">
              <a:extLst>
                <a:ext uri="{FF2B5EF4-FFF2-40B4-BE49-F238E27FC236}">
                  <a16:creationId xmlns:a16="http://schemas.microsoft.com/office/drawing/2014/main" id="{70419458-BDB3-859E-8B6D-07C5E998CB08}"/>
                </a:ext>
              </a:extLst>
            </p:cNvPr>
            <p:cNvSpPr txBox="1"/>
            <p:nvPr/>
          </p:nvSpPr>
          <p:spPr>
            <a:xfrm>
              <a:off x="3405017" y="3466957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953" name="Straight Arrow Connector 952">
              <a:extLst>
                <a:ext uri="{FF2B5EF4-FFF2-40B4-BE49-F238E27FC236}">
                  <a16:creationId xmlns:a16="http://schemas.microsoft.com/office/drawing/2014/main" id="{9AA77C28-59C8-B007-FDFD-68EB7E5B8516}"/>
                </a:ext>
              </a:extLst>
            </p:cNvPr>
            <p:cNvCxnSpPr>
              <a:cxnSpLocks/>
              <a:stCxn id="945" idx="3"/>
              <a:endCxn id="944" idx="7"/>
            </p:cNvCxnSpPr>
            <p:nvPr/>
          </p:nvCxnSpPr>
          <p:spPr>
            <a:xfrm flipH="1">
              <a:off x="4388813" y="2652762"/>
              <a:ext cx="760372" cy="31736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4" name="TextBox 953">
              <a:extLst>
                <a:ext uri="{FF2B5EF4-FFF2-40B4-BE49-F238E27FC236}">
                  <a16:creationId xmlns:a16="http://schemas.microsoft.com/office/drawing/2014/main" id="{1DDA55BB-D056-FDDE-6A61-0AADC633A2C4}"/>
                </a:ext>
              </a:extLst>
            </p:cNvPr>
            <p:cNvSpPr txBox="1"/>
            <p:nvPr/>
          </p:nvSpPr>
          <p:spPr>
            <a:xfrm>
              <a:off x="5509920" y="2562752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9</a:t>
              </a:r>
            </a:p>
          </p:txBody>
        </p:sp>
        <p:sp>
          <p:nvSpPr>
            <p:cNvPr id="955" name="Oval 954">
              <a:extLst>
                <a:ext uri="{FF2B5EF4-FFF2-40B4-BE49-F238E27FC236}">
                  <a16:creationId xmlns:a16="http://schemas.microsoft.com/office/drawing/2014/main" id="{7D28883D-818F-A2AB-BD76-C020356A5B87}"/>
                </a:ext>
              </a:extLst>
            </p:cNvPr>
            <p:cNvSpPr/>
            <p:nvPr/>
          </p:nvSpPr>
          <p:spPr>
            <a:xfrm>
              <a:off x="5107241" y="2927094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65" name="TextBox 964">
              <a:extLst>
                <a:ext uri="{FF2B5EF4-FFF2-40B4-BE49-F238E27FC236}">
                  <a16:creationId xmlns:a16="http://schemas.microsoft.com/office/drawing/2014/main" id="{58004300-EE6D-DD72-319A-7B04E6D5DF34}"/>
                </a:ext>
              </a:extLst>
            </p:cNvPr>
            <p:cNvSpPr txBox="1"/>
            <p:nvPr/>
          </p:nvSpPr>
          <p:spPr>
            <a:xfrm>
              <a:off x="4713508" y="273761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967" name="Straight Arrow Connector 966">
              <a:extLst>
                <a:ext uri="{FF2B5EF4-FFF2-40B4-BE49-F238E27FC236}">
                  <a16:creationId xmlns:a16="http://schemas.microsoft.com/office/drawing/2014/main" id="{82BE1F12-D95F-C2FF-B6A6-A86BD47C4416}"/>
                </a:ext>
              </a:extLst>
            </p:cNvPr>
            <p:cNvCxnSpPr>
              <a:cxnSpLocks/>
              <a:stCxn id="945" idx="4"/>
              <a:endCxn id="955" idx="0"/>
            </p:cNvCxnSpPr>
            <p:nvPr/>
          </p:nvCxnSpPr>
          <p:spPr>
            <a:xfrm flipH="1">
              <a:off x="5244401" y="2692935"/>
              <a:ext cx="1771" cy="23415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0" name="Oval 969">
              <a:extLst>
                <a:ext uri="{FF2B5EF4-FFF2-40B4-BE49-F238E27FC236}">
                  <a16:creationId xmlns:a16="http://schemas.microsoft.com/office/drawing/2014/main" id="{EAEFC807-56F8-73E0-8084-4A859E2A84A9}"/>
                </a:ext>
              </a:extLst>
            </p:cNvPr>
            <p:cNvSpPr/>
            <p:nvPr/>
          </p:nvSpPr>
          <p:spPr>
            <a:xfrm>
              <a:off x="5111888" y="3454247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71" name="Straight Arrow Connector 970">
              <a:extLst>
                <a:ext uri="{FF2B5EF4-FFF2-40B4-BE49-F238E27FC236}">
                  <a16:creationId xmlns:a16="http://schemas.microsoft.com/office/drawing/2014/main" id="{AC3A653A-806E-1F57-CD0C-4429EC5DE423}"/>
                </a:ext>
              </a:extLst>
            </p:cNvPr>
            <p:cNvCxnSpPr>
              <a:cxnSpLocks/>
              <a:stCxn id="955" idx="4"/>
              <a:endCxn id="970" idx="0"/>
            </p:cNvCxnSpPr>
            <p:nvPr/>
          </p:nvCxnSpPr>
          <p:spPr>
            <a:xfrm>
              <a:off x="5244401" y="3201414"/>
              <a:ext cx="4647" cy="252833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5" name="Oval 974">
              <a:extLst>
                <a:ext uri="{FF2B5EF4-FFF2-40B4-BE49-F238E27FC236}">
                  <a16:creationId xmlns:a16="http://schemas.microsoft.com/office/drawing/2014/main" id="{4BC86DCB-A796-A50F-3CEB-CF75BD96703E}"/>
                </a:ext>
              </a:extLst>
            </p:cNvPr>
            <p:cNvSpPr/>
            <p:nvPr/>
          </p:nvSpPr>
          <p:spPr>
            <a:xfrm>
              <a:off x="5948788" y="295028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76" name="Straight Arrow Connector 975">
              <a:extLst>
                <a:ext uri="{FF2B5EF4-FFF2-40B4-BE49-F238E27FC236}">
                  <a16:creationId xmlns:a16="http://schemas.microsoft.com/office/drawing/2014/main" id="{E8DA051A-E2C2-1474-C367-87B8D3271CDB}"/>
                </a:ext>
              </a:extLst>
            </p:cNvPr>
            <p:cNvCxnSpPr>
              <a:cxnSpLocks/>
              <a:stCxn id="945" idx="5"/>
              <a:endCxn id="975" idx="0"/>
            </p:cNvCxnSpPr>
            <p:nvPr/>
          </p:nvCxnSpPr>
          <p:spPr>
            <a:xfrm>
              <a:off x="5343159" y="2652762"/>
              <a:ext cx="742789" cy="29752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9" name="Oval 978">
              <a:extLst>
                <a:ext uri="{FF2B5EF4-FFF2-40B4-BE49-F238E27FC236}">
                  <a16:creationId xmlns:a16="http://schemas.microsoft.com/office/drawing/2014/main" id="{2FD8B76F-D327-174C-301C-9A773F8318B8}"/>
                </a:ext>
              </a:extLst>
            </p:cNvPr>
            <p:cNvSpPr/>
            <p:nvPr/>
          </p:nvSpPr>
          <p:spPr>
            <a:xfrm>
              <a:off x="5953035" y="3458755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80" name="Straight Arrow Connector 979">
              <a:extLst>
                <a:ext uri="{FF2B5EF4-FFF2-40B4-BE49-F238E27FC236}">
                  <a16:creationId xmlns:a16="http://schemas.microsoft.com/office/drawing/2014/main" id="{51FDEF2B-3DDE-02C3-8B24-FDCF0C3241FE}"/>
                </a:ext>
              </a:extLst>
            </p:cNvPr>
            <p:cNvCxnSpPr>
              <a:cxnSpLocks/>
              <a:stCxn id="970" idx="7"/>
              <a:endCxn id="975" idx="3"/>
            </p:cNvCxnSpPr>
            <p:nvPr/>
          </p:nvCxnSpPr>
          <p:spPr>
            <a:xfrm flipV="1">
              <a:off x="5346035" y="3184435"/>
              <a:ext cx="642926" cy="309985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4" name="Straight Arrow Connector 983">
              <a:extLst>
                <a:ext uri="{FF2B5EF4-FFF2-40B4-BE49-F238E27FC236}">
                  <a16:creationId xmlns:a16="http://schemas.microsoft.com/office/drawing/2014/main" id="{098DCDF5-CFE1-350B-9C36-C7E05841D594}"/>
                </a:ext>
              </a:extLst>
            </p:cNvPr>
            <p:cNvCxnSpPr>
              <a:cxnSpLocks/>
              <a:stCxn id="975" idx="4"/>
              <a:endCxn id="979" idx="0"/>
            </p:cNvCxnSpPr>
            <p:nvPr/>
          </p:nvCxnSpPr>
          <p:spPr>
            <a:xfrm>
              <a:off x="6085948" y="3224608"/>
              <a:ext cx="4247" cy="234147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1" name="TextBox 990">
              <a:extLst>
                <a:ext uri="{FF2B5EF4-FFF2-40B4-BE49-F238E27FC236}">
                  <a16:creationId xmlns:a16="http://schemas.microsoft.com/office/drawing/2014/main" id="{45EB053D-D8F1-2CFA-F091-421275A96D7E}"/>
                </a:ext>
              </a:extLst>
            </p:cNvPr>
            <p:cNvSpPr txBox="1"/>
            <p:nvPr/>
          </p:nvSpPr>
          <p:spPr>
            <a:xfrm>
              <a:off x="4553299" y="2929958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92" name="TextBox 991">
              <a:extLst>
                <a:ext uri="{FF2B5EF4-FFF2-40B4-BE49-F238E27FC236}">
                  <a16:creationId xmlns:a16="http://schemas.microsoft.com/office/drawing/2014/main" id="{6597B0A6-6C0D-05E4-127A-288128CD49FA}"/>
                </a:ext>
              </a:extLst>
            </p:cNvPr>
            <p:cNvSpPr txBox="1"/>
            <p:nvPr/>
          </p:nvSpPr>
          <p:spPr>
            <a:xfrm>
              <a:off x="4540478" y="346876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93" name="TextBox 992">
              <a:extLst>
                <a:ext uri="{FF2B5EF4-FFF2-40B4-BE49-F238E27FC236}">
                  <a16:creationId xmlns:a16="http://schemas.microsoft.com/office/drawing/2014/main" id="{59E7B3B9-793E-2E33-E439-E36403FADD58}"/>
                </a:ext>
              </a:extLst>
            </p:cNvPr>
            <p:cNvSpPr txBox="1"/>
            <p:nvPr/>
          </p:nvSpPr>
          <p:spPr>
            <a:xfrm>
              <a:off x="6171232" y="2911315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CCID=7/9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94" name="TextBox 993">
              <a:extLst>
                <a:ext uri="{FF2B5EF4-FFF2-40B4-BE49-F238E27FC236}">
                  <a16:creationId xmlns:a16="http://schemas.microsoft.com/office/drawing/2014/main" id="{6B0CB407-C9B1-838D-E35A-1894D22F0CAC}"/>
                </a:ext>
              </a:extLst>
            </p:cNvPr>
            <p:cNvSpPr txBox="1"/>
            <p:nvPr/>
          </p:nvSpPr>
          <p:spPr>
            <a:xfrm>
              <a:off x="6212940" y="3428919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CCID=8/10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95" name="TextBox 994">
              <a:extLst>
                <a:ext uri="{FF2B5EF4-FFF2-40B4-BE49-F238E27FC236}">
                  <a16:creationId xmlns:a16="http://schemas.microsoft.com/office/drawing/2014/main" id="{49F89D01-0CA0-4DE0-7C65-197DCC40FD30}"/>
                </a:ext>
              </a:extLst>
            </p:cNvPr>
            <p:cNvSpPr txBox="1"/>
            <p:nvPr/>
          </p:nvSpPr>
          <p:spPr>
            <a:xfrm>
              <a:off x="5221202" y="2659129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996" name="TextBox 995">
              <a:extLst>
                <a:ext uri="{FF2B5EF4-FFF2-40B4-BE49-F238E27FC236}">
                  <a16:creationId xmlns:a16="http://schemas.microsoft.com/office/drawing/2014/main" id="{6A1439B5-EDED-4E2B-59D4-B606544F632D}"/>
                </a:ext>
              </a:extLst>
            </p:cNvPr>
            <p:cNvSpPr txBox="1"/>
            <p:nvPr/>
          </p:nvSpPr>
          <p:spPr>
            <a:xfrm>
              <a:off x="5230337" y="317783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997" name="TextBox 996">
              <a:extLst>
                <a:ext uri="{FF2B5EF4-FFF2-40B4-BE49-F238E27FC236}">
                  <a16:creationId xmlns:a16="http://schemas.microsoft.com/office/drawing/2014/main" id="{07C845EF-FAFA-F208-30C0-A2FBEFC0E0C2}"/>
                </a:ext>
              </a:extLst>
            </p:cNvPr>
            <p:cNvSpPr txBox="1"/>
            <p:nvPr/>
          </p:nvSpPr>
          <p:spPr>
            <a:xfrm>
              <a:off x="5526512" y="3135229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998" name="TextBox 997">
              <a:extLst>
                <a:ext uri="{FF2B5EF4-FFF2-40B4-BE49-F238E27FC236}">
                  <a16:creationId xmlns:a16="http://schemas.microsoft.com/office/drawing/2014/main" id="{D4043A17-724F-188B-993E-B47C7A45A638}"/>
                </a:ext>
              </a:extLst>
            </p:cNvPr>
            <p:cNvSpPr txBox="1"/>
            <p:nvPr/>
          </p:nvSpPr>
          <p:spPr>
            <a:xfrm>
              <a:off x="6060778" y="3159194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2D11AAFB-5049-CD6A-C0D7-3F92B00E73DD}"/>
              </a:ext>
            </a:extLst>
          </p:cNvPr>
          <p:cNvGrpSpPr/>
          <p:nvPr/>
        </p:nvGrpSpPr>
        <p:grpSpPr>
          <a:xfrm>
            <a:off x="3086260" y="1582769"/>
            <a:ext cx="3678674" cy="1546557"/>
            <a:chOff x="3405017" y="2186518"/>
            <a:chExt cx="3678674" cy="1546557"/>
          </a:xfrm>
        </p:grpSpPr>
        <p:cxnSp>
          <p:nvCxnSpPr>
            <p:cNvPr id="1031" name="Straight Arrow Connector 1030">
              <a:extLst>
                <a:ext uri="{FF2B5EF4-FFF2-40B4-BE49-F238E27FC236}">
                  <a16:creationId xmlns:a16="http://schemas.microsoft.com/office/drawing/2014/main" id="{CDEB556D-F221-04AA-28EB-03370BC963AE}"/>
                </a:ext>
              </a:extLst>
            </p:cNvPr>
            <p:cNvCxnSpPr>
              <a:cxnSpLocks/>
              <a:stCxn id="1033" idx="3"/>
              <a:endCxn id="1032" idx="0"/>
            </p:cNvCxnSpPr>
            <p:nvPr/>
          </p:nvCxnSpPr>
          <p:spPr>
            <a:xfrm flipH="1">
              <a:off x="4291826" y="2652762"/>
              <a:ext cx="857359" cy="27719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C9ED4E6E-6B72-AB62-C0EF-DB10DF8C52B6}"/>
                </a:ext>
              </a:extLst>
            </p:cNvPr>
            <p:cNvSpPr/>
            <p:nvPr/>
          </p:nvSpPr>
          <p:spPr>
            <a:xfrm>
              <a:off x="4154666" y="292995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DDE3DA34-F008-B038-E9C0-3EC9C4778F9D}"/>
                </a:ext>
              </a:extLst>
            </p:cNvPr>
            <p:cNvSpPr/>
            <p:nvPr/>
          </p:nvSpPr>
          <p:spPr>
            <a:xfrm>
              <a:off x="5109012" y="2418615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CF0FF7BB-0F46-F9F3-E738-79B54FB6CA18}"/>
                </a:ext>
              </a:extLst>
            </p:cNvPr>
            <p:cNvSpPr txBox="1"/>
            <p:nvPr/>
          </p:nvSpPr>
          <p:spPr>
            <a:xfrm>
              <a:off x="4692333" y="255940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E289CF45-57B4-943E-6215-B9A3526F1181}"/>
                </a:ext>
              </a:extLst>
            </p:cNvPr>
            <p:cNvSpPr/>
            <p:nvPr/>
          </p:nvSpPr>
          <p:spPr>
            <a:xfrm>
              <a:off x="4154666" y="3454247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36" name="Straight Arrow Connector 1035">
              <a:extLst>
                <a:ext uri="{FF2B5EF4-FFF2-40B4-BE49-F238E27FC236}">
                  <a16:creationId xmlns:a16="http://schemas.microsoft.com/office/drawing/2014/main" id="{751E0C54-9310-FC5B-9976-47C4F164FF52}"/>
                </a:ext>
              </a:extLst>
            </p:cNvPr>
            <p:cNvCxnSpPr>
              <a:cxnSpLocks/>
              <a:stCxn id="1032" idx="4"/>
              <a:endCxn id="1035" idx="0"/>
            </p:cNvCxnSpPr>
            <p:nvPr/>
          </p:nvCxnSpPr>
          <p:spPr>
            <a:xfrm>
              <a:off x="4291826" y="3204278"/>
              <a:ext cx="0" cy="24996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3C7A3327-C49F-8465-2D04-DA436D26D029}"/>
                </a:ext>
              </a:extLst>
            </p:cNvPr>
            <p:cNvSpPr txBox="1"/>
            <p:nvPr/>
          </p:nvSpPr>
          <p:spPr>
            <a:xfrm>
              <a:off x="4264150" y="3177777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572F05CC-3F02-B463-0461-2736CCA53B92}"/>
                </a:ext>
              </a:extLst>
            </p:cNvPr>
            <p:cNvSpPr txBox="1"/>
            <p:nvPr/>
          </p:nvSpPr>
          <p:spPr>
            <a:xfrm>
              <a:off x="4958753" y="2186518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56FF261E-473D-6346-ABA1-B26E5ED3FAB7}"/>
                </a:ext>
              </a:extLst>
            </p:cNvPr>
            <p:cNvSpPr txBox="1"/>
            <p:nvPr/>
          </p:nvSpPr>
          <p:spPr>
            <a:xfrm>
              <a:off x="3405017" y="2933449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9CCAF585-B136-AE09-7A54-E689CAA40847}"/>
                </a:ext>
              </a:extLst>
            </p:cNvPr>
            <p:cNvSpPr txBox="1"/>
            <p:nvPr/>
          </p:nvSpPr>
          <p:spPr>
            <a:xfrm>
              <a:off x="3405017" y="3466957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1041" name="Straight Arrow Connector 1040">
              <a:extLst>
                <a:ext uri="{FF2B5EF4-FFF2-40B4-BE49-F238E27FC236}">
                  <a16:creationId xmlns:a16="http://schemas.microsoft.com/office/drawing/2014/main" id="{AC387BBE-1B1D-35B7-3F7A-10157D8E72B9}"/>
                </a:ext>
              </a:extLst>
            </p:cNvPr>
            <p:cNvCxnSpPr>
              <a:cxnSpLocks/>
              <a:stCxn id="1033" idx="3"/>
              <a:endCxn id="1032" idx="7"/>
            </p:cNvCxnSpPr>
            <p:nvPr/>
          </p:nvCxnSpPr>
          <p:spPr>
            <a:xfrm flipH="1">
              <a:off x="4388813" y="2652762"/>
              <a:ext cx="760372" cy="31736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2E619732-FDB0-281A-F7BA-7B711C99A053}"/>
                </a:ext>
              </a:extLst>
            </p:cNvPr>
            <p:cNvSpPr txBox="1"/>
            <p:nvPr/>
          </p:nvSpPr>
          <p:spPr>
            <a:xfrm>
              <a:off x="5509920" y="2562752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9</a:t>
              </a:r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2AF84E06-9723-2400-EA1D-727A256B3EAC}"/>
                </a:ext>
              </a:extLst>
            </p:cNvPr>
            <p:cNvSpPr/>
            <p:nvPr/>
          </p:nvSpPr>
          <p:spPr>
            <a:xfrm>
              <a:off x="5107241" y="2927094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0DAFCFCC-E95C-DE36-EE01-5644B3184CCE}"/>
                </a:ext>
              </a:extLst>
            </p:cNvPr>
            <p:cNvSpPr txBox="1"/>
            <p:nvPr/>
          </p:nvSpPr>
          <p:spPr>
            <a:xfrm>
              <a:off x="4713508" y="273761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1045" name="Straight Arrow Connector 1044">
              <a:extLst>
                <a:ext uri="{FF2B5EF4-FFF2-40B4-BE49-F238E27FC236}">
                  <a16:creationId xmlns:a16="http://schemas.microsoft.com/office/drawing/2014/main" id="{BED36808-3806-BCD3-69B7-B9F81E32DE21}"/>
                </a:ext>
              </a:extLst>
            </p:cNvPr>
            <p:cNvCxnSpPr>
              <a:cxnSpLocks/>
              <a:stCxn id="1033" idx="4"/>
              <a:endCxn id="1043" idx="0"/>
            </p:cNvCxnSpPr>
            <p:nvPr/>
          </p:nvCxnSpPr>
          <p:spPr>
            <a:xfrm flipH="1">
              <a:off x="5244401" y="2692935"/>
              <a:ext cx="1771" cy="23415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F7991972-AB58-1CEF-B419-2F2A7C978D45}"/>
                </a:ext>
              </a:extLst>
            </p:cNvPr>
            <p:cNvSpPr/>
            <p:nvPr/>
          </p:nvSpPr>
          <p:spPr>
            <a:xfrm>
              <a:off x="5111888" y="3454247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47" name="Straight Arrow Connector 1046">
              <a:extLst>
                <a:ext uri="{FF2B5EF4-FFF2-40B4-BE49-F238E27FC236}">
                  <a16:creationId xmlns:a16="http://schemas.microsoft.com/office/drawing/2014/main" id="{896A3FB8-43A4-5822-BC2B-645C710E9A1B}"/>
                </a:ext>
              </a:extLst>
            </p:cNvPr>
            <p:cNvCxnSpPr>
              <a:cxnSpLocks/>
              <a:stCxn id="1043" idx="4"/>
              <a:endCxn id="1046" idx="0"/>
            </p:cNvCxnSpPr>
            <p:nvPr/>
          </p:nvCxnSpPr>
          <p:spPr>
            <a:xfrm>
              <a:off x="5244401" y="3201414"/>
              <a:ext cx="4647" cy="252833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E3B4E26A-F0FC-AAF7-1C27-0EB6EF3C567D}"/>
                </a:ext>
              </a:extLst>
            </p:cNvPr>
            <p:cNvSpPr/>
            <p:nvPr/>
          </p:nvSpPr>
          <p:spPr>
            <a:xfrm>
              <a:off x="5948788" y="2950288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49" name="Straight Arrow Connector 1048">
              <a:extLst>
                <a:ext uri="{FF2B5EF4-FFF2-40B4-BE49-F238E27FC236}">
                  <a16:creationId xmlns:a16="http://schemas.microsoft.com/office/drawing/2014/main" id="{EE7210DE-FE62-6FEE-BAA2-326F0BBC20DF}"/>
                </a:ext>
              </a:extLst>
            </p:cNvPr>
            <p:cNvCxnSpPr>
              <a:cxnSpLocks/>
              <a:stCxn id="1033" idx="5"/>
              <a:endCxn id="1048" idx="0"/>
            </p:cNvCxnSpPr>
            <p:nvPr/>
          </p:nvCxnSpPr>
          <p:spPr>
            <a:xfrm>
              <a:off x="5343159" y="2652762"/>
              <a:ext cx="742789" cy="297526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0" name="Oval 1049">
              <a:extLst>
                <a:ext uri="{FF2B5EF4-FFF2-40B4-BE49-F238E27FC236}">
                  <a16:creationId xmlns:a16="http://schemas.microsoft.com/office/drawing/2014/main" id="{05BE6422-2BFB-735A-7EE4-01DD902E9E69}"/>
                </a:ext>
              </a:extLst>
            </p:cNvPr>
            <p:cNvSpPr/>
            <p:nvPr/>
          </p:nvSpPr>
          <p:spPr>
            <a:xfrm>
              <a:off x="5953035" y="3458755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51" name="Straight Arrow Connector 1050">
              <a:extLst>
                <a:ext uri="{FF2B5EF4-FFF2-40B4-BE49-F238E27FC236}">
                  <a16:creationId xmlns:a16="http://schemas.microsoft.com/office/drawing/2014/main" id="{26357EB2-3420-489A-2C1F-4024208261A6}"/>
                </a:ext>
              </a:extLst>
            </p:cNvPr>
            <p:cNvCxnSpPr>
              <a:cxnSpLocks/>
              <a:stCxn id="1046" idx="7"/>
              <a:endCxn id="1048" idx="3"/>
            </p:cNvCxnSpPr>
            <p:nvPr/>
          </p:nvCxnSpPr>
          <p:spPr>
            <a:xfrm flipV="1">
              <a:off x="5346035" y="3184435"/>
              <a:ext cx="642926" cy="309985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2" name="Straight Arrow Connector 1051">
              <a:extLst>
                <a:ext uri="{FF2B5EF4-FFF2-40B4-BE49-F238E27FC236}">
                  <a16:creationId xmlns:a16="http://schemas.microsoft.com/office/drawing/2014/main" id="{C6FA6FAE-292A-39D8-CA8F-4702B66F0F00}"/>
                </a:ext>
              </a:extLst>
            </p:cNvPr>
            <p:cNvCxnSpPr>
              <a:cxnSpLocks/>
              <a:stCxn id="1048" idx="4"/>
              <a:endCxn id="1050" idx="0"/>
            </p:cNvCxnSpPr>
            <p:nvPr/>
          </p:nvCxnSpPr>
          <p:spPr>
            <a:xfrm>
              <a:off x="6085948" y="3224608"/>
              <a:ext cx="4247" cy="234147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8CC13A8C-9C02-AA67-CCF3-9BEBF4F94D12}"/>
                </a:ext>
              </a:extLst>
            </p:cNvPr>
            <p:cNvSpPr txBox="1"/>
            <p:nvPr/>
          </p:nvSpPr>
          <p:spPr>
            <a:xfrm>
              <a:off x="4553299" y="2929958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23442898-38E6-29EC-D20F-5B57D22021E5}"/>
                </a:ext>
              </a:extLst>
            </p:cNvPr>
            <p:cNvSpPr txBox="1"/>
            <p:nvPr/>
          </p:nvSpPr>
          <p:spPr>
            <a:xfrm>
              <a:off x="4540478" y="346876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EAEEDC64-0643-55D2-4060-398561A3A927}"/>
                </a:ext>
              </a:extLst>
            </p:cNvPr>
            <p:cNvSpPr txBox="1"/>
            <p:nvPr/>
          </p:nvSpPr>
          <p:spPr>
            <a:xfrm>
              <a:off x="6171232" y="2911315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CCID=7/9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A38EF34B-BE79-B711-1751-A2117A4A4F1E}"/>
                </a:ext>
              </a:extLst>
            </p:cNvPr>
            <p:cNvSpPr txBox="1"/>
            <p:nvPr/>
          </p:nvSpPr>
          <p:spPr>
            <a:xfrm>
              <a:off x="6212940" y="3428919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CCID=8/10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DBDCCD28-7333-A2DB-1B34-DB8A10C0F9CA}"/>
                </a:ext>
              </a:extLst>
            </p:cNvPr>
            <p:cNvSpPr txBox="1"/>
            <p:nvPr/>
          </p:nvSpPr>
          <p:spPr>
            <a:xfrm>
              <a:off x="5221202" y="2659129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CAEA1350-CD5A-0ACD-AAFF-41A8B58FC52A}"/>
                </a:ext>
              </a:extLst>
            </p:cNvPr>
            <p:cNvSpPr txBox="1"/>
            <p:nvPr/>
          </p:nvSpPr>
          <p:spPr>
            <a:xfrm>
              <a:off x="5230337" y="317783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1059" name="TextBox 1058">
              <a:extLst>
                <a:ext uri="{FF2B5EF4-FFF2-40B4-BE49-F238E27FC236}">
                  <a16:creationId xmlns:a16="http://schemas.microsoft.com/office/drawing/2014/main" id="{0B34B29D-33E5-3331-CAE7-E274309F8E6D}"/>
                </a:ext>
              </a:extLst>
            </p:cNvPr>
            <p:cNvSpPr txBox="1"/>
            <p:nvPr/>
          </p:nvSpPr>
          <p:spPr>
            <a:xfrm>
              <a:off x="5526512" y="3135229"/>
              <a:ext cx="26321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562BEC00-73D5-D6DC-0606-E89278DBD188}"/>
                </a:ext>
              </a:extLst>
            </p:cNvPr>
            <p:cNvSpPr txBox="1"/>
            <p:nvPr/>
          </p:nvSpPr>
          <p:spPr>
            <a:xfrm>
              <a:off x="6060778" y="3159194"/>
              <a:ext cx="26321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1</a:t>
              </a:r>
            </a:p>
          </p:txBody>
        </p:sp>
      </p:grpSp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3820C7E7-2611-AFB2-ACB4-866D3D9A7D5C}"/>
              </a:ext>
            </a:extLst>
          </p:cNvPr>
          <p:cNvGrpSpPr/>
          <p:nvPr/>
        </p:nvGrpSpPr>
        <p:grpSpPr>
          <a:xfrm>
            <a:off x="3061190" y="39586"/>
            <a:ext cx="3678674" cy="1546557"/>
            <a:chOff x="3405017" y="2186518"/>
            <a:chExt cx="3678674" cy="1546557"/>
          </a:xfrm>
        </p:grpSpPr>
        <p:cxnSp>
          <p:nvCxnSpPr>
            <p:cNvPr id="1062" name="Straight Arrow Connector 1061">
              <a:extLst>
                <a:ext uri="{FF2B5EF4-FFF2-40B4-BE49-F238E27FC236}">
                  <a16:creationId xmlns:a16="http://schemas.microsoft.com/office/drawing/2014/main" id="{AED5C1AE-909D-2993-F669-C4FD78FD8C60}"/>
                </a:ext>
              </a:extLst>
            </p:cNvPr>
            <p:cNvCxnSpPr>
              <a:cxnSpLocks/>
              <a:stCxn id="1064" idx="3"/>
              <a:endCxn id="1063" idx="0"/>
            </p:cNvCxnSpPr>
            <p:nvPr/>
          </p:nvCxnSpPr>
          <p:spPr>
            <a:xfrm flipH="1">
              <a:off x="4291826" y="2652762"/>
              <a:ext cx="857359" cy="27719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370E6D89-2482-F3E5-742D-8F30C1CCD8C9}"/>
                </a:ext>
              </a:extLst>
            </p:cNvPr>
            <p:cNvSpPr/>
            <p:nvPr/>
          </p:nvSpPr>
          <p:spPr>
            <a:xfrm>
              <a:off x="4154666" y="292995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FBE74CD5-F399-80DB-6A6A-25E2A43B01C1}"/>
                </a:ext>
              </a:extLst>
            </p:cNvPr>
            <p:cNvSpPr/>
            <p:nvPr/>
          </p:nvSpPr>
          <p:spPr>
            <a:xfrm>
              <a:off x="5109012" y="2418615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E4F6B2E6-C59A-35BE-F1A8-D56535E23FD5}"/>
                </a:ext>
              </a:extLst>
            </p:cNvPr>
            <p:cNvSpPr txBox="1"/>
            <p:nvPr/>
          </p:nvSpPr>
          <p:spPr>
            <a:xfrm>
              <a:off x="4692333" y="255940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FFB2D49F-E0E4-D03A-EDF0-40A0BA19E8BC}"/>
                </a:ext>
              </a:extLst>
            </p:cNvPr>
            <p:cNvSpPr/>
            <p:nvPr/>
          </p:nvSpPr>
          <p:spPr>
            <a:xfrm>
              <a:off x="4154666" y="3454247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67" name="Straight Arrow Connector 1066">
              <a:extLst>
                <a:ext uri="{FF2B5EF4-FFF2-40B4-BE49-F238E27FC236}">
                  <a16:creationId xmlns:a16="http://schemas.microsoft.com/office/drawing/2014/main" id="{C59C05C5-8236-4593-7B8E-ACF494A56313}"/>
                </a:ext>
              </a:extLst>
            </p:cNvPr>
            <p:cNvCxnSpPr>
              <a:cxnSpLocks/>
              <a:stCxn id="1063" idx="4"/>
              <a:endCxn id="1066" idx="0"/>
            </p:cNvCxnSpPr>
            <p:nvPr/>
          </p:nvCxnSpPr>
          <p:spPr>
            <a:xfrm>
              <a:off x="4291826" y="3204278"/>
              <a:ext cx="0" cy="24996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4775D3D5-CF5C-05AB-BD2E-2EC595808DE8}"/>
                </a:ext>
              </a:extLst>
            </p:cNvPr>
            <p:cNvSpPr txBox="1"/>
            <p:nvPr/>
          </p:nvSpPr>
          <p:spPr>
            <a:xfrm>
              <a:off x="4264150" y="3177777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B9061944-068E-9365-F496-338AC590902D}"/>
                </a:ext>
              </a:extLst>
            </p:cNvPr>
            <p:cNvSpPr txBox="1"/>
            <p:nvPr/>
          </p:nvSpPr>
          <p:spPr>
            <a:xfrm>
              <a:off x="4958753" y="2186518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0055248A-D6E7-5F28-935A-6C3C00FE23C3}"/>
                </a:ext>
              </a:extLst>
            </p:cNvPr>
            <p:cNvSpPr txBox="1"/>
            <p:nvPr/>
          </p:nvSpPr>
          <p:spPr>
            <a:xfrm>
              <a:off x="3405017" y="2933449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1071" name="TextBox 1070">
              <a:extLst>
                <a:ext uri="{FF2B5EF4-FFF2-40B4-BE49-F238E27FC236}">
                  <a16:creationId xmlns:a16="http://schemas.microsoft.com/office/drawing/2014/main" id="{34E9184B-4D44-377C-2AFA-70CB7FBF018A}"/>
                </a:ext>
              </a:extLst>
            </p:cNvPr>
            <p:cNvSpPr txBox="1"/>
            <p:nvPr/>
          </p:nvSpPr>
          <p:spPr>
            <a:xfrm>
              <a:off x="3405017" y="3466957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1072" name="Straight Arrow Connector 1071">
              <a:extLst>
                <a:ext uri="{FF2B5EF4-FFF2-40B4-BE49-F238E27FC236}">
                  <a16:creationId xmlns:a16="http://schemas.microsoft.com/office/drawing/2014/main" id="{E8533895-877C-0B9A-6B49-19268633E880}"/>
                </a:ext>
              </a:extLst>
            </p:cNvPr>
            <p:cNvCxnSpPr>
              <a:cxnSpLocks/>
              <a:stCxn id="1064" idx="3"/>
              <a:endCxn id="1063" idx="7"/>
            </p:cNvCxnSpPr>
            <p:nvPr/>
          </p:nvCxnSpPr>
          <p:spPr>
            <a:xfrm flipH="1">
              <a:off x="4388813" y="2652762"/>
              <a:ext cx="760372" cy="317369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4BA81F10-F7D1-E5E7-2EF9-94EF15137A80}"/>
                </a:ext>
              </a:extLst>
            </p:cNvPr>
            <p:cNvSpPr txBox="1"/>
            <p:nvPr/>
          </p:nvSpPr>
          <p:spPr>
            <a:xfrm>
              <a:off x="5509920" y="2562752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9</a:t>
              </a:r>
            </a:p>
          </p:txBody>
        </p:sp>
        <p:sp>
          <p:nvSpPr>
            <p:cNvPr id="1074" name="Oval 1073">
              <a:extLst>
                <a:ext uri="{FF2B5EF4-FFF2-40B4-BE49-F238E27FC236}">
                  <a16:creationId xmlns:a16="http://schemas.microsoft.com/office/drawing/2014/main" id="{A1DF0205-4E6B-83C9-4A76-7832FEDE0F34}"/>
                </a:ext>
              </a:extLst>
            </p:cNvPr>
            <p:cNvSpPr/>
            <p:nvPr/>
          </p:nvSpPr>
          <p:spPr>
            <a:xfrm>
              <a:off x="5107241" y="2927094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D3347B5C-705D-2CC1-0109-594EAB41BDAA}"/>
                </a:ext>
              </a:extLst>
            </p:cNvPr>
            <p:cNvSpPr txBox="1"/>
            <p:nvPr/>
          </p:nvSpPr>
          <p:spPr>
            <a:xfrm>
              <a:off x="4713508" y="273761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1076" name="Straight Arrow Connector 1075">
              <a:extLst>
                <a:ext uri="{FF2B5EF4-FFF2-40B4-BE49-F238E27FC236}">
                  <a16:creationId xmlns:a16="http://schemas.microsoft.com/office/drawing/2014/main" id="{34C87E56-85B6-DCE5-DE18-65073BA332A7}"/>
                </a:ext>
              </a:extLst>
            </p:cNvPr>
            <p:cNvCxnSpPr>
              <a:cxnSpLocks/>
              <a:stCxn id="1064" idx="4"/>
              <a:endCxn id="1074" idx="0"/>
            </p:cNvCxnSpPr>
            <p:nvPr/>
          </p:nvCxnSpPr>
          <p:spPr>
            <a:xfrm flipH="1">
              <a:off x="5244401" y="2692935"/>
              <a:ext cx="1771" cy="234159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7" name="Oval 1076">
              <a:extLst>
                <a:ext uri="{FF2B5EF4-FFF2-40B4-BE49-F238E27FC236}">
                  <a16:creationId xmlns:a16="http://schemas.microsoft.com/office/drawing/2014/main" id="{2DAFE08A-D5BA-2E5A-192E-63177A1FEA81}"/>
                </a:ext>
              </a:extLst>
            </p:cNvPr>
            <p:cNvSpPr/>
            <p:nvPr/>
          </p:nvSpPr>
          <p:spPr>
            <a:xfrm>
              <a:off x="5111888" y="3454247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78" name="Straight Arrow Connector 1077">
              <a:extLst>
                <a:ext uri="{FF2B5EF4-FFF2-40B4-BE49-F238E27FC236}">
                  <a16:creationId xmlns:a16="http://schemas.microsoft.com/office/drawing/2014/main" id="{F67C32F0-A767-26D4-EE21-F831163CB471}"/>
                </a:ext>
              </a:extLst>
            </p:cNvPr>
            <p:cNvCxnSpPr>
              <a:cxnSpLocks/>
              <a:stCxn id="1074" idx="4"/>
              <a:endCxn id="1077" idx="0"/>
            </p:cNvCxnSpPr>
            <p:nvPr/>
          </p:nvCxnSpPr>
          <p:spPr>
            <a:xfrm>
              <a:off x="5244401" y="3201414"/>
              <a:ext cx="4647" cy="252833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9" name="Oval 1078">
              <a:extLst>
                <a:ext uri="{FF2B5EF4-FFF2-40B4-BE49-F238E27FC236}">
                  <a16:creationId xmlns:a16="http://schemas.microsoft.com/office/drawing/2014/main" id="{25FA79CA-6C90-7BD7-BE90-E4B2B9D872DE}"/>
                </a:ext>
              </a:extLst>
            </p:cNvPr>
            <p:cNvSpPr/>
            <p:nvPr/>
          </p:nvSpPr>
          <p:spPr>
            <a:xfrm>
              <a:off x="5948788" y="2950288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80" name="Straight Arrow Connector 1079">
              <a:extLst>
                <a:ext uri="{FF2B5EF4-FFF2-40B4-BE49-F238E27FC236}">
                  <a16:creationId xmlns:a16="http://schemas.microsoft.com/office/drawing/2014/main" id="{1BCC2A9B-7E4C-9186-772F-929DA6EE6FB8}"/>
                </a:ext>
              </a:extLst>
            </p:cNvPr>
            <p:cNvCxnSpPr>
              <a:cxnSpLocks/>
              <a:stCxn id="1064" idx="5"/>
              <a:endCxn id="1079" idx="0"/>
            </p:cNvCxnSpPr>
            <p:nvPr/>
          </p:nvCxnSpPr>
          <p:spPr>
            <a:xfrm>
              <a:off x="5343159" y="2652762"/>
              <a:ext cx="742789" cy="297526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81" name="Oval 1080">
              <a:extLst>
                <a:ext uri="{FF2B5EF4-FFF2-40B4-BE49-F238E27FC236}">
                  <a16:creationId xmlns:a16="http://schemas.microsoft.com/office/drawing/2014/main" id="{040EF833-152D-A356-F897-F928447E07DB}"/>
                </a:ext>
              </a:extLst>
            </p:cNvPr>
            <p:cNvSpPr/>
            <p:nvPr/>
          </p:nvSpPr>
          <p:spPr>
            <a:xfrm>
              <a:off x="5953035" y="3458755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082" name="Straight Arrow Connector 1081">
              <a:extLst>
                <a:ext uri="{FF2B5EF4-FFF2-40B4-BE49-F238E27FC236}">
                  <a16:creationId xmlns:a16="http://schemas.microsoft.com/office/drawing/2014/main" id="{9229DF94-DE9D-DE8E-1A5C-EABC895A816B}"/>
                </a:ext>
              </a:extLst>
            </p:cNvPr>
            <p:cNvCxnSpPr>
              <a:cxnSpLocks/>
              <a:stCxn id="1077" idx="7"/>
              <a:endCxn id="1079" idx="3"/>
            </p:cNvCxnSpPr>
            <p:nvPr/>
          </p:nvCxnSpPr>
          <p:spPr>
            <a:xfrm flipV="1">
              <a:off x="5346035" y="3184435"/>
              <a:ext cx="642926" cy="309985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3" name="Straight Arrow Connector 1082">
              <a:extLst>
                <a:ext uri="{FF2B5EF4-FFF2-40B4-BE49-F238E27FC236}">
                  <a16:creationId xmlns:a16="http://schemas.microsoft.com/office/drawing/2014/main" id="{DE54B01F-90E8-87FB-6F9E-AC9CF01656E6}"/>
                </a:ext>
              </a:extLst>
            </p:cNvPr>
            <p:cNvCxnSpPr>
              <a:cxnSpLocks/>
              <a:stCxn id="1079" idx="4"/>
              <a:endCxn id="1081" idx="0"/>
            </p:cNvCxnSpPr>
            <p:nvPr/>
          </p:nvCxnSpPr>
          <p:spPr>
            <a:xfrm>
              <a:off x="6085948" y="3224608"/>
              <a:ext cx="4247" cy="234147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4CC91046-BCB0-855F-6833-CC1161ADC799}"/>
                </a:ext>
              </a:extLst>
            </p:cNvPr>
            <p:cNvSpPr txBox="1"/>
            <p:nvPr/>
          </p:nvSpPr>
          <p:spPr>
            <a:xfrm>
              <a:off x="4553299" y="2929958"/>
              <a:ext cx="6431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414E7C19-F83A-194F-A1E7-FD80B7C962D0}"/>
                </a:ext>
              </a:extLst>
            </p:cNvPr>
            <p:cNvSpPr txBox="1"/>
            <p:nvPr/>
          </p:nvSpPr>
          <p:spPr>
            <a:xfrm>
              <a:off x="4540478" y="3468764"/>
              <a:ext cx="6431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86" name="TextBox 1085">
              <a:extLst>
                <a:ext uri="{FF2B5EF4-FFF2-40B4-BE49-F238E27FC236}">
                  <a16:creationId xmlns:a16="http://schemas.microsoft.com/office/drawing/2014/main" id="{7E7CD2D1-373C-4E5E-6018-5F02026C9947}"/>
                </a:ext>
              </a:extLst>
            </p:cNvPr>
            <p:cNvSpPr txBox="1"/>
            <p:nvPr/>
          </p:nvSpPr>
          <p:spPr>
            <a:xfrm>
              <a:off x="6171232" y="2911315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CCID=7/9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1BAFEFA0-30FD-4EDD-E261-13F56CF1764E}"/>
                </a:ext>
              </a:extLst>
            </p:cNvPr>
            <p:cNvSpPr txBox="1"/>
            <p:nvPr/>
          </p:nvSpPr>
          <p:spPr>
            <a:xfrm>
              <a:off x="6212940" y="3428919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CCID=8/10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122E03D0-D30A-CAFE-7E2A-899CA9282F51}"/>
                </a:ext>
              </a:extLst>
            </p:cNvPr>
            <p:cNvSpPr txBox="1"/>
            <p:nvPr/>
          </p:nvSpPr>
          <p:spPr>
            <a:xfrm>
              <a:off x="5221202" y="2659129"/>
              <a:ext cx="26321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7D3821D9-3F93-D6E4-5C5F-66AFFC7191CC}"/>
                </a:ext>
              </a:extLst>
            </p:cNvPr>
            <p:cNvSpPr txBox="1"/>
            <p:nvPr/>
          </p:nvSpPr>
          <p:spPr>
            <a:xfrm>
              <a:off x="5230337" y="317783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302BB774-E4AD-E7BF-7D8D-18CC49DD41D6}"/>
                </a:ext>
              </a:extLst>
            </p:cNvPr>
            <p:cNvSpPr txBox="1"/>
            <p:nvPr/>
          </p:nvSpPr>
          <p:spPr>
            <a:xfrm>
              <a:off x="5526512" y="3135229"/>
              <a:ext cx="26321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F5360016-F5CC-34A6-AB8A-5ACD2A463D7B}"/>
                </a:ext>
              </a:extLst>
            </p:cNvPr>
            <p:cNvSpPr txBox="1"/>
            <p:nvPr/>
          </p:nvSpPr>
          <p:spPr>
            <a:xfrm>
              <a:off x="6060778" y="3159194"/>
              <a:ext cx="26321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2070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7" name="Group 836">
            <a:extLst>
              <a:ext uri="{FF2B5EF4-FFF2-40B4-BE49-F238E27FC236}">
                <a16:creationId xmlns:a16="http://schemas.microsoft.com/office/drawing/2014/main" id="{CC6FAA58-F3BB-9F97-9681-2E9C9C6A9527}"/>
              </a:ext>
            </a:extLst>
          </p:cNvPr>
          <p:cNvGrpSpPr/>
          <p:nvPr/>
        </p:nvGrpSpPr>
        <p:grpSpPr>
          <a:xfrm>
            <a:off x="5600417" y="324377"/>
            <a:ext cx="2633473" cy="1783080"/>
            <a:chOff x="3920186" y="2918706"/>
            <a:chExt cx="2637706" cy="1784407"/>
          </a:xfrm>
        </p:grpSpPr>
        <p:sp>
          <p:nvSpPr>
            <p:cNvPr id="754" name="TextBox 753">
              <a:extLst>
                <a:ext uri="{FF2B5EF4-FFF2-40B4-BE49-F238E27FC236}">
                  <a16:creationId xmlns:a16="http://schemas.microsoft.com/office/drawing/2014/main" id="{95EA088A-C07C-FD11-C6FD-CB0F3EFF14C3}"/>
                </a:ext>
              </a:extLst>
            </p:cNvPr>
            <p:cNvSpPr txBox="1"/>
            <p:nvPr/>
          </p:nvSpPr>
          <p:spPr>
            <a:xfrm>
              <a:off x="4192230" y="2918706"/>
              <a:ext cx="2115208" cy="215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NCP(p)=2xNCP(n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)+NCP(n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2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</a:t>
              </a:r>
              <a:r>
                <a:rPr lang="en-US" sz="800" b="1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+NCP(n</a:t>
              </a:r>
              <a:r>
                <a:rPr lang="en-US" sz="800" b="1" baseline="-25000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3</a:t>
              </a:r>
              <a:r>
                <a:rPr lang="en-US" sz="800" b="1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)+1</a:t>
              </a:r>
              <a:endParaRPr lang="en-US" sz="8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grpSp>
          <p:nvGrpSpPr>
            <p:cNvPr id="813" name="Group 812">
              <a:extLst>
                <a:ext uri="{FF2B5EF4-FFF2-40B4-BE49-F238E27FC236}">
                  <a16:creationId xmlns:a16="http://schemas.microsoft.com/office/drawing/2014/main" id="{F8CF27CA-7486-214F-AE7C-B9C0AE919BD2}"/>
                </a:ext>
              </a:extLst>
            </p:cNvPr>
            <p:cNvGrpSpPr/>
            <p:nvPr/>
          </p:nvGrpSpPr>
          <p:grpSpPr>
            <a:xfrm>
              <a:off x="3920186" y="3086481"/>
              <a:ext cx="2637706" cy="1616632"/>
              <a:chOff x="3920186" y="3086481"/>
              <a:chExt cx="2637706" cy="1616632"/>
            </a:xfrm>
          </p:grpSpPr>
          <p:sp>
            <p:nvSpPr>
              <p:cNvPr id="799" name="TextBox 798">
                <a:extLst>
                  <a:ext uri="{FF2B5EF4-FFF2-40B4-BE49-F238E27FC236}">
                    <a16:creationId xmlns:a16="http://schemas.microsoft.com/office/drawing/2014/main" id="{B27B8688-A9D8-1CC4-1AB6-7659E1F58D49}"/>
                  </a:ext>
                </a:extLst>
              </p:cNvPr>
              <p:cNvSpPr txBox="1"/>
              <p:nvPr/>
            </p:nvSpPr>
            <p:spPr>
              <a:xfrm>
                <a:off x="3976611" y="3699534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1</a:t>
                </a:r>
              </a:p>
            </p:txBody>
          </p:sp>
          <p:cxnSp>
            <p:nvCxnSpPr>
              <p:cNvPr id="745" name="Straight Arrow Connector 744">
                <a:extLst>
                  <a:ext uri="{FF2B5EF4-FFF2-40B4-BE49-F238E27FC236}">
                    <a16:creationId xmlns:a16="http://schemas.microsoft.com/office/drawing/2014/main" id="{4EA69F5F-5F6D-8DDC-4B27-FE2622D41196}"/>
                  </a:ext>
                </a:extLst>
              </p:cNvPr>
              <p:cNvCxnSpPr>
                <a:cxnSpLocks/>
                <a:stCxn id="746" idx="5"/>
                <a:endCxn id="756" idx="0"/>
              </p:cNvCxnSpPr>
              <p:nvPr/>
            </p:nvCxnSpPr>
            <p:spPr>
              <a:xfrm>
                <a:off x="5217923" y="3372363"/>
                <a:ext cx="834250" cy="37366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6" name="Oval 745">
                <a:extLst>
                  <a:ext uri="{FF2B5EF4-FFF2-40B4-BE49-F238E27FC236}">
                    <a16:creationId xmlns:a16="http://schemas.microsoft.com/office/drawing/2014/main" id="{27B57A35-852B-BDB0-6992-2334BB6BFE9A}"/>
                  </a:ext>
                </a:extLst>
              </p:cNvPr>
              <p:cNvSpPr/>
              <p:nvPr/>
            </p:nvSpPr>
            <p:spPr>
              <a:xfrm>
                <a:off x="4983776" y="313821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747" name="Straight Arrow Connector 746">
                <a:extLst>
                  <a:ext uri="{FF2B5EF4-FFF2-40B4-BE49-F238E27FC236}">
                    <a16:creationId xmlns:a16="http://schemas.microsoft.com/office/drawing/2014/main" id="{62CCF80B-56D6-1CE4-B04E-48A99F4E85A8}"/>
                  </a:ext>
                </a:extLst>
              </p:cNvPr>
              <p:cNvCxnSpPr>
                <a:cxnSpLocks/>
                <a:stCxn id="746" idx="3"/>
                <a:endCxn id="762" idx="0"/>
              </p:cNvCxnSpPr>
              <p:nvPr/>
            </p:nvCxnSpPr>
            <p:spPr>
              <a:xfrm flipH="1">
                <a:off x="4125892" y="3372363"/>
                <a:ext cx="898057" cy="37709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3BB8A3DD-86AB-3500-3BC7-A03DA1F47451}"/>
                  </a:ext>
                </a:extLst>
              </p:cNvPr>
              <p:cNvGrpSpPr/>
              <p:nvPr/>
            </p:nvGrpSpPr>
            <p:grpSpPr>
              <a:xfrm>
                <a:off x="3920186" y="3749458"/>
                <a:ext cx="411412" cy="953655"/>
                <a:chOff x="6587549" y="3454673"/>
                <a:chExt cx="411412" cy="953655"/>
              </a:xfrm>
            </p:grpSpPr>
            <p:sp>
              <p:nvSpPr>
                <p:cNvPr id="762" name="Oval 761">
                  <a:extLst>
                    <a:ext uri="{FF2B5EF4-FFF2-40B4-BE49-F238E27FC236}">
                      <a16:creationId xmlns:a16="http://schemas.microsoft.com/office/drawing/2014/main" id="{C1DECD5D-D1F6-3F2C-AA33-69B0F951114E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763" name="Extract 762">
                  <a:extLst>
                    <a:ext uri="{FF2B5EF4-FFF2-40B4-BE49-F238E27FC236}">
                      <a16:creationId xmlns:a16="http://schemas.microsoft.com/office/drawing/2014/main" id="{96F9C68D-685C-1925-B0F8-E308785DBD64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49" name="TextBox 748">
                <a:extLst>
                  <a:ext uri="{FF2B5EF4-FFF2-40B4-BE49-F238E27FC236}">
                    <a16:creationId xmlns:a16="http://schemas.microsoft.com/office/drawing/2014/main" id="{D0269037-3320-0BE5-C89F-4C0EC213F438}"/>
                  </a:ext>
                </a:extLst>
              </p:cNvPr>
              <p:cNvSpPr txBox="1"/>
              <p:nvPr/>
            </p:nvSpPr>
            <p:spPr>
              <a:xfrm>
                <a:off x="4399450" y="3321557"/>
                <a:ext cx="263214" cy="231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</a:p>
            </p:txBody>
          </p:sp>
          <p:cxnSp>
            <p:nvCxnSpPr>
              <p:cNvPr id="750" name="Straight Arrow Connector 749">
                <a:extLst>
                  <a:ext uri="{FF2B5EF4-FFF2-40B4-BE49-F238E27FC236}">
                    <a16:creationId xmlns:a16="http://schemas.microsoft.com/office/drawing/2014/main" id="{EE054055-659A-B904-98AB-897061ED237A}"/>
                  </a:ext>
                </a:extLst>
              </p:cNvPr>
              <p:cNvCxnSpPr>
                <a:cxnSpLocks/>
                <a:stCxn id="746" idx="4"/>
                <a:endCxn id="759" idx="0"/>
              </p:cNvCxnSpPr>
              <p:nvPr/>
            </p:nvCxnSpPr>
            <p:spPr>
              <a:xfrm>
                <a:off x="5120936" y="3412536"/>
                <a:ext cx="0" cy="33348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51" name="Group 750">
                <a:extLst>
                  <a:ext uri="{FF2B5EF4-FFF2-40B4-BE49-F238E27FC236}">
                    <a16:creationId xmlns:a16="http://schemas.microsoft.com/office/drawing/2014/main" id="{CAA22C7C-2382-D282-9F02-BC6C613F6B07}"/>
                  </a:ext>
                </a:extLst>
              </p:cNvPr>
              <p:cNvGrpSpPr/>
              <p:nvPr/>
            </p:nvGrpSpPr>
            <p:grpSpPr>
              <a:xfrm>
                <a:off x="4904566" y="3746023"/>
                <a:ext cx="411412" cy="955661"/>
                <a:chOff x="7316750" y="3452824"/>
                <a:chExt cx="411412" cy="955661"/>
              </a:xfrm>
            </p:grpSpPr>
            <p:sp>
              <p:nvSpPr>
                <p:cNvPr id="759" name="Oval 758">
                  <a:extLst>
                    <a:ext uri="{FF2B5EF4-FFF2-40B4-BE49-F238E27FC236}">
                      <a16:creationId xmlns:a16="http://schemas.microsoft.com/office/drawing/2014/main" id="{33E07139-7CF9-90AA-10D3-4C35FDE6EA91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760" name="Extract 759">
                  <a:extLst>
                    <a:ext uri="{FF2B5EF4-FFF2-40B4-BE49-F238E27FC236}">
                      <a16:creationId xmlns:a16="http://schemas.microsoft.com/office/drawing/2014/main" id="{EDBA6D83-64DF-411A-4AAE-02403DF61C45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2" name="TextBox 751">
                <a:extLst>
                  <a:ext uri="{FF2B5EF4-FFF2-40B4-BE49-F238E27FC236}">
                    <a16:creationId xmlns:a16="http://schemas.microsoft.com/office/drawing/2014/main" id="{CD6786BC-EB60-09EE-B459-21DE3D9405C4}"/>
                  </a:ext>
                </a:extLst>
              </p:cNvPr>
              <p:cNvSpPr txBox="1"/>
              <p:nvPr/>
            </p:nvSpPr>
            <p:spPr>
              <a:xfrm>
                <a:off x="5052514" y="3500380"/>
                <a:ext cx="779680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</a:p>
            </p:txBody>
          </p:sp>
          <p:grpSp>
            <p:nvGrpSpPr>
              <p:cNvPr id="753" name="Group 752">
                <a:extLst>
                  <a:ext uri="{FF2B5EF4-FFF2-40B4-BE49-F238E27FC236}">
                    <a16:creationId xmlns:a16="http://schemas.microsoft.com/office/drawing/2014/main" id="{FD1A2DE8-6BF6-B37B-C3D0-D4E69F414DC1}"/>
                  </a:ext>
                </a:extLst>
              </p:cNvPr>
              <p:cNvGrpSpPr/>
              <p:nvPr/>
            </p:nvGrpSpPr>
            <p:grpSpPr>
              <a:xfrm>
                <a:off x="5835803" y="3746023"/>
                <a:ext cx="411412" cy="955661"/>
                <a:chOff x="7999896" y="3448722"/>
                <a:chExt cx="411412" cy="955661"/>
              </a:xfrm>
            </p:grpSpPr>
            <p:sp>
              <p:nvSpPr>
                <p:cNvPr id="756" name="Oval 755">
                  <a:extLst>
                    <a:ext uri="{FF2B5EF4-FFF2-40B4-BE49-F238E27FC236}">
                      <a16:creationId xmlns:a16="http://schemas.microsoft.com/office/drawing/2014/main" id="{FFC3D2C7-3B21-549F-7DB4-CE0B2F20DCB7}"/>
                    </a:ext>
                  </a:extLst>
                </p:cNvPr>
                <p:cNvSpPr/>
                <p:nvPr/>
              </p:nvSpPr>
              <p:spPr>
                <a:xfrm>
                  <a:off x="8079106" y="3448722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757" name="Extract 756">
                  <a:extLst>
                    <a:ext uri="{FF2B5EF4-FFF2-40B4-BE49-F238E27FC236}">
                      <a16:creationId xmlns:a16="http://schemas.microsoft.com/office/drawing/2014/main" id="{7BD894ED-4F13-5427-64C0-1751E23271CC}"/>
                    </a:ext>
                  </a:extLst>
                </p:cNvPr>
                <p:cNvSpPr/>
                <p:nvPr/>
              </p:nvSpPr>
              <p:spPr>
                <a:xfrm>
                  <a:off x="7999896" y="3725048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98" name="TextBox 797">
                <a:extLst>
                  <a:ext uri="{FF2B5EF4-FFF2-40B4-BE49-F238E27FC236}">
                    <a16:creationId xmlns:a16="http://schemas.microsoft.com/office/drawing/2014/main" id="{5A05306B-97BD-8DD3-13D3-720D23428028}"/>
                  </a:ext>
                </a:extLst>
              </p:cNvPr>
              <p:cNvSpPr txBox="1"/>
              <p:nvPr/>
            </p:nvSpPr>
            <p:spPr>
              <a:xfrm>
                <a:off x="4992367" y="3086481"/>
                <a:ext cx="277640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p</a:t>
                </a:r>
              </a:p>
            </p:txBody>
          </p:sp>
          <p:sp>
            <p:nvSpPr>
              <p:cNvPr id="800" name="TextBox 799">
                <a:extLst>
                  <a:ext uri="{FF2B5EF4-FFF2-40B4-BE49-F238E27FC236}">
                    <a16:creationId xmlns:a16="http://schemas.microsoft.com/office/drawing/2014/main" id="{A75990A9-A0F2-48E8-DECE-7CB1A6740398}"/>
                  </a:ext>
                </a:extLst>
              </p:cNvPr>
              <p:cNvSpPr txBox="1"/>
              <p:nvPr/>
            </p:nvSpPr>
            <p:spPr>
              <a:xfrm>
                <a:off x="4969199" y="3694809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2</a:t>
                </a:r>
              </a:p>
            </p:txBody>
          </p:sp>
          <p:sp>
            <p:nvSpPr>
              <p:cNvPr id="801" name="TextBox 800">
                <a:extLst>
                  <a:ext uri="{FF2B5EF4-FFF2-40B4-BE49-F238E27FC236}">
                    <a16:creationId xmlns:a16="http://schemas.microsoft.com/office/drawing/2014/main" id="{E0C9F35D-753C-7FC9-B83E-2B0F2D3A0666}"/>
                  </a:ext>
                </a:extLst>
              </p:cNvPr>
              <p:cNvSpPr txBox="1"/>
              <p:nvPr/>
            </p:nvSpPr>
            <p:spPr>
              <a:xfrm>
                <a:off x="5906625" y="3679094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3</a:t>
                </a:r>
              </a:p>
            </p:txBody>
          </p:sp>
          <p:cxnSp>
            <p:nvCxnSpPr>
              <p:cNvPr id="804" name="Straight Arrow Connector 803">
                <a:extLst>
                  <a:ext uri="{FF2B5EF4-FFF2-40B4-BE49-F238E27FC236}">
                    <a16:creationId xmlns:a16="http://schemas.microsoft.com/office/drawing/2014/main" id="{8EF89AA0-C32A-E219-5B47-66958BB49274}"/>
                  </a:ext>
                </a:extLst>
              </p:cNvPr>
              <p:cNvCxnSpPr>
                <a:cxnSpLocks/>
                <a:endCxn id="762" idx="6"/>
              </p:cNvCxnSpPr>
              <p:nvPr/>
            </p:nvCxnSpPr>
            <p:spPr>
              <a:xfrm flipH="1">
                <a:off x="4263052" y="3401109"/>
                <a:ext cx="747302" cy="4855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1" name="TextBox 810">
                <a:extLst>
                  <a:ext uri="{FF2B5EF4-FFF2-40B4-BE49-F238E27FC236}">
                    <a16:creationId xmlns:a16="http://schemas.microsoft.com/office/drawing/2014/main" id="{98E8C005-5E81-C635-964A-EC91609369F0}"/>
                  </a:ext>
                </a:extLst>
              </p:cNvPr>
              <p:cNvSpPr txBox="1"/>
              <p:nvPr/>
            </p:nvSpPr>
            <p:spPr>
              <a:xfrm>
                <a:off x="4403093" y="3698019"/>
                <a:ext cx="641928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  <a:endParaRPr lang="en-US" sz="800" baseline="-25000" dirty="0">
                  <a:solidFill>
                    <a:srgbClr val="FF0000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812" name="TextBox 811">
                <a:extLst>
                  <a:ext uri="{FF2B5EF4-FFF2-40B4-BE49-F238E27FC236}">
                    <a16:creationId xmlns:a16="http://schemas.microsoft.com/office/drawing/2014/main" id="{E46A861B-F6AB-04E4-3FC5-2BFF88992EBF}"/>
                  </a:ext>
                </a:extLst>
              </p:cNvPr>
              <p:cNvSpPr txBox="1"/>
              <p:nvPr/>
            </p:nvSpPr>
            <p:spPr>
              <a:xfrm>
                <a:off x="5305690" y="3317373"/>
                <a:ext cx="1252202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</a:t>
                </a:r>
                <a:r>
                  <a:rPr lang="en-US" sz="800" b="1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+1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C89DC6A-A440-54E4-C37C-6AD62E39A0A5}"/>
              </a:ext>
            </a:extLst>
          </p:cNvPr>
          <p:cNvGrpSpPr/>
          <p:nvPr/>
        </p:nvGrpSpPr>
        <p:grpSpPr>
          <a:xfrm>
            <a:off x="2688250" y="236607"/>
            <a:ext cx="2115520" cy="1795936"/>
            <a:chOff x="3920186" y="2905840"/>
            <a:chExt cx="2118920" cy="179727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43EE382-0FF9-BA51-C5B3-99CAA004755B}"/>
                </a:ext>
              </a:extLst>
            </p:cNvPr>
            <p:cNvSpPr txBox="1"/>
            <p:nvPr/>
          </p:nvSpPr>
          <p:spPr>
            <a:xfrm>
              <a:off x="4223266" y="2905840"/>
              <a:ext cx="1815840" cy="215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NCP(p)=2xNCP(n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</a:t>
              </a:r>
              <a:r>
                <a:rPr lang="en-US" sz="800" b="1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+NCP(n</a:t>
              </a:r>
              <a:r>
                <a:rPr lang="en-US" sz="800" b="1" baseline="-25000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2</a:t>
              </a:r>
              <a:r>
                <a:rPr lang="en-US" sz="800" b="1" dirty="0">
                  <a:solidFill>
                    <a:srgbClr val="FF0000"/>
                  </a:solidFill>
                  <a:latin typeface="Tw Cen MT" panose="020B0602020104020603" pitchFamily="34" charset="77"/>
                </a:rPr>
                <a:t>)+1</a:t>
              </a:r>
              <a:endParaRPr lang="en-US" sz="800" b="1" baseline="-25000" dirty="0">
                <a:solidFill>
                  <a:srgbClr val="FF0000"/>
                </a:solidFill>
                <a:latin typeface="Tw Cen MT" panose="020B0602020104020603" pitchFamily="34" charset="77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DD687DC-C106-F4D2-E838-0CC135FB1606}"/>
                </a:ext>
              </a:extLst>
            </p:cNvPr>
            <p:cNvGrpSpPr/>
            <p:nvPr/>
          </p:nvGrpSpPr>
          <p:grpSpPr>
            <a:xfrm>
              <a:off x="3920186" y="3086481"/>
              <a:ext cx="1994825" cy="1616632"/>
              <a:chOff x="3920186" y="3086481"/>
              <a:chExt cx="1994825" cy="16166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B74251-3030-D554-848C-C601D1264888}"/>
                  </a:ext>
                </a:extLst>
              </p:cNvPr>
              <p:cNvSpPr txBox="1"/>
              <p:nvPr/>
            </p:nvSpPr>
            <p:spPr>
              <a:xfrm>
                <a:off x="3976611" y="3699534"/>
                <a:ext cx="340158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1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F91D5EC-A139-C7D0-AF0A-DBB657F216BF}"/>
                  </a:ext>
                </a:extLst>
              </p:cNvPr>
              <p:cNvSpPr/>
              <p:nvPr/>
            </p:nvSpPr>
            <p:spPr>
              <a:xfrm>
                <a:off x="4983776" y="313821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FA04C89D-E2ED-7800-8423-B8A1E49E4EDB}"/>
                  </a:ext>
                </a:extLst>
              </p:cNvPr>
              <p:cNvCxnSpPr>
                <a:cxnSpLocks/>
                <a:stCxn id="7" idx="3"/>
                <a:endCxn id="50" idx="0"/>
              </p:cNvCxnSpPr>
              <p:nvPr/>
            </p:nvCxnSpPr>
            <p:spPr>
              <a:xfrm flipH="1">
                <a:off x="4125892" y="3372363"/>
                <a:ext cx="898057" cy="37709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42D4F1B-21D4-0D2B-13F9-72D0F2D20F7C}"/>
                  </a:ext>
                </a:extLst>
              </p:cNvPr>
              <p:cNvGrpSpPr/>
              <p:nvPr/>
            </p:nvGrpSpPr>
            <p:grpSpPr>
              <a:xfrm>
                <a:off x="3920186" y="3749458"/>
                <a:ext cx="411412" cy="953655"/>
                <a:chOff x="6587549" y="3454673"/>
                <a:chExt cx="411412" cy="953655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C3CBD94-A187-F11E-0858-3BBBAFC54E4A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1" name="Extract 50">
                  <a:extLst>
                    <a:ext uri="{FF2B5EF4-FFF2-40B4-BE49-F238E27FC236}">
                      <a16:creationId xmlns:a16="http://schemas.microsoft.com/office/drawing/2014/main" id="{9BC2C986-140C-78DF-8260-1399A9AF52EC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4CE01D-C398-72B1-17B7-8E0F3B7A5C17}"/>
                  </a:ext>
                </a:extLst>
              </p:cNvPr>
              <p:cNvSpPr txBox="1"/>
              <p:nvPr/>
            </p:nvSpPr>
            <p:spPr>
              <a:xfrm>
                <a:off x="4399450" y="3321557"/>
                <a:ext cx="263214" cy="231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A6F64F2F-FE8E-B5B5-1331-06F9F3CC808A}"/>
                  </a:ext>
                </a:extLst>
              </p:cNvPr>
              <p:cNvCxnSpPr>
                <a:cxnSpLocks/>
                <a:stCxn id="7" idx="4"/>
                <a:endCxn id="48" idx="0"/>
              </p:cNvCxnSpPr>
              <p:nvPr/>
            </p:nvCxnSpPr>
            <p:spPr>
              <a:xfrm>
                <a:off x="5120936" y="3412536"/>
                <a:ext cx="0" cy="333487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7D3EF0F-AB13-5308-989B-EE4B0D7DDE5A}"/>
                  </a:ext>
                </a:extLst>
              </p:cNvPr>
              <p:cNvGrpSpPr/>
              <p:nvPr/>
            </p:nvGrpSpPr>
            <p:grpSpPr>
              <a:xfrm>
                <a:off x="4904566" y="3746023"/>
                <a:ext cx="411412" cy="955661"/>
                <a:chOff x="7316750" y="3452824"/>
                <a:chExt cx="411412" cy="955661"/>
              </a:xfrm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8A88F56-AA10-7C58-004C-7913009484D2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49" name="Extract 48">
                  <a:extLst>
                    <a:ext uri="{FF2B5EF4-FFF2-40B4-BE49-F238E27FC236}">
                      <a16:creationId xmlns:a16="http://schemas.microsoft.com/office/drawing/2014/main" id="{F90201BF-EBC8-9EB3-AC4D-448CE22C8BC8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64F8882-11C4-6925-A8A0-A9AADBCE0CB3}"/>
                  </a:ext>
                </a:extLst>
              </p:cNvPr>
              <p:cNvSpPr txBox="1"/>
              <p:nvPr/>
            </p:nvSpPr>
            <p:spPr>
              <a:xfrm>
                <a:off x="5052514" y="3500380"/>
                <a:ext cx="862497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</a:t>
                </a:r>
                <a:r>
                  <a:rPr lang="en-US" sz="800" b="1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+1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0B4199-DA24-1C96-633B-5681B7AC240E}"/>
                  </a:ext>
                </a:extLst>
              </p:cNvPr>
              <p:cNvSpPr txBox="1"/>
              <p:nvPr/>
            </p:nvSpPr>
            <p:spPr>
              <a:xfrm>
                <a:off x="4992367" y="3086481"/>
                <a:ext cx="277640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p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2489281-0669-7EDC-33A3-94A4B3E3CF7F}"/>
                  </a:ext>
                </a:extLst>
              </p:cNvPr>
              <p:cNvSpPr txBox="1"/>
              <p:nvPr/>
            </p:nvSpPr>
            <p:spPr>
              <a:xfrm>
                <a:off x="4969199" y="3687716"/>
                <a:ext cx="340158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2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7E96BC4F-7728-5171-9415-7F53C3090D23}"/>
                  </a:ext>
                </a:extLst>
              </p:cNvPr>
              <p:cNvCxnSpPr>
                <a:cxnSpLocks/>
                <a:endCxn id="50" idx="6"/>
              </p:cNvCxnSpPr>
              <p:nvPr/>
            </p:nvCxnSpPr>
            <p:spPr>
              <a:xfrm flipH="1">
                <a:off x="4263052" y="3401109"/>
                <a:ext cx="747302" cy="4855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1961804-15AF-635E-98E7-BA63A670577E}"/>
                  </a:ext>
                </a:extLst>
              </p:cNvPr>
              <p:cNvSpPr txBox="1"/>
              <p:nvPr/>
            </p:nvSpPr>
            <p:spPr>
              <a:xfrm>
                <a:off x="4333989" y="3711210"/>
                <a:ext cx="659706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  <a:endParaRPr lang="en-US" sz="800" baseline="-25000" dirty="0">
                  <a:solidFill>
                    <a:srgbClr val="FF0000"/>
                  </a:solidFill>
                  <a:latin typeface="Tw Cen MT" panose="020B0602020104020603" pitchFamily="34" charset="77"/>
                </a:endParaRPr>
              </a:p>
            </p:txBody>
          </p:sp>
        </p:grpSp>
      </p:grp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9BBBA265-F6B8-82E7-2CF2-C62D4458B7F8}"/>
              </a:ext>
            </a:extLst>
          </p:cNvPr>
          <p:cNvCxnSpPr>
            <a:cxnSpLocks/>
          </p:cNvCxnSpPr>
          <p:nvPr/>
        </p:nvCxnSpPr>
        <p:spPr>
          <a:xfrm>
            <a:off x="1840306" y="2951481"/>
            <a:ext cx="741266" cy="296990"/>
          </a:xfrm>
          <a:prstGeom prst="straightConnector1">
            <a:avLst/>
          </a:prstGeom>
          <a:ln w="15875">
            <a:noFill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ADDA412C-9658-20DA-73B8-FA8DE31BFA26}"/>
              </a:ext>
            </a:extLst>
          </p:cNvPr>
          <p:cNvCxnSpPr>
            <a:cxnSpLocks/>
            <a:endCxn id="504" idx="3"/>
          </p:cNvCxnSpPr>
          <p:nvPr/>
        </p:nvCxnSpPr>
        <p:spPr>
          <a:xfrm flipV="1">
            <a:off x="1741054" y="3475629"/>
            <a:ext cx="723533" cy="427288"/>
          </a:xfrm>
          <a:prstGeom prst="straightConnector1">
            <a:avLst/>
          </a:prstGeom>
          <a:ln w="15875">
            <a:noFill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D2C1F0C7-C813-0650-AEF8-2B9C1332C9B9}"/>
              </a:ext>
            </a:extLst>
          </p:cNvPr>
          <p:cNvGrpSpPr/>
          <p:nvPr/>
        </p:nvGrpSpPr>
        <p:grpSpPr>
          <a:xfrm>
            <a:off x="5465326" y="2905384"/>
            <a:ext cx="3678674" cy="1863082"/>
            <a:chOff x="5465326" y="2905384"/>
            <a:chExt cx="3678674" cy="1863082"/>
          </a:xfrm>
        </p:grpSpPr>
        <p:cxnSp>
          <p:nvCxnSpPr>
            <p:cNvPr id="935" name="Straight Arrow Connector 934">
              <a:extLst>
                <a:ext uri="{FF2B5EF4-FFF2-40B4-BE49-F238E27FC236}">
                  <a16:creationId xmlns:a16="http://schemas.microsoft.com/office/drawing/2014/main" id="{93EF7825-E867-4532-2C58-51FAC15F4350}"/>
                </a:ext>
              </a:extLst>
            </p:cNvPr>
            <p:cNvCxnSpPr>
              <a:cxnSpLocks/>
              <a:stCxn id="937" idx="3"/>
              <a:endCxn id="936" idx="0"/>
            </p:cNvCxnSpPr>
            <p:nvPr/>
          </p:nvCxnSpPr>
          <p:spPr>
            <a:xfrm flipH="1">
              <a:off x="6352135" y="3371628"/>
              <a:ext cx="857359" cy="467112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6" name="Oval 935">
              <a:extLst>
                <a:ext uri="{FF2B5EF4-FFF2-40B4-BE49-F238E27FC236}">
                  <a16:creationId xmlns:a16="http://schemas.microsoft.com/office/drawing/2014/main" id="{E53D93FC-0B5C-8444-A8CC-3303EDF139F1}"/>
                </a:ext>
              </a:extLst>
            </p:cNvPr>
            <p:cNvSpPr/>
            <p:nvPr/>
          </p:nvSpPr>
          <p:spPr>
            <a:xfrm>
              <a:off x="6214975" y="383874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37" name="Oval 936">
              <a:extLst>
                <a:ext uri="{FF2B5EF4-FFF2-40B4-BE49-F238E27FC236}">
                  <a16:creationId xmlns:a16="http://schemas.microsoft.com/office/drawing/2014/main" id="{EB5AC2D2-C1D9-B57F-41BB-19DAAE886288}"/>
                </a:ext>
              </a:extLst>
            </p:cNvPr>
            <p:cNvSpPr/>
            <p:nvPr/>
          </p:nvSpPr>
          <p:spPr>
            <a:xfrm>
              <a:off x="7169321" y="3137481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938" name="TextBox 937">
              <a:extLst>
                <a:ext uri="{FF2B5EF4-FFF2-40B4-BE49-F238E27FC236}">
                  <a16:creationId xmlns:a16="http://schemas.microsoft.com/office/drawing/2014/main" id="{CBB2F3A8-49A5-11DB-9586-0994967E6E0E}"/>
                </a:ext>
              </a:extLst>
            </p:cNvPr>
            <p:cNvSpPr txBox="1"/>
            <p:nvPr/>
          </p:nvSpPr>
          <p:spPr>
            <a:xfrm>
              <a:off x="6752642" y="3278271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39" name="Oval 938">
              <a:extLst>
                <a:ext uri="{FF2B5EF4-FFF2-40B4-BE49-F238E27FC236}">
                  <a16:creationId xmlns:a16="http://schemas.microsoft.com/office/drawing/2014/main" id="{F29BD697-2E30-5F30-999A-9D106AEACAFD}"/>
                </a:ext>
              </a:extLst>
            </p:cNvPr>
            <p:cNvSpPr/>
            <p:nvPr/>
          </p:nvSpPr>
          <p:spPr>
            <a:xfrm>
              <a:off x="6214975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40" name="Straight Arrow Connector 939">
              <a:extLst>
                <a:ext uri="{FF2B5EF4-FFF2-40B4-BE49-F238E27FC236}">
                  <a16:creationId xmlns:a16="http://schemas.microsoft.com/office/drawing/2014/main" id="{99BD3C20-AFDE-2535-0ABD-AD0A301D0F95}"/>
                </a:ext>
              </a:extLst>
            </p:cNvPr>
            <p:cNvCxnSpPr>
              <a:cxnSpLocks/>
              <a:stCxn id="936" idx="4"/>
              <a:endCxn id="939" idx="0"/>
            </p:cNvCxnSpPr>
            <p:nvPr/>
          </p:nvCxnSpPr>
          <p:spPr>
            <a:xfrm>
              <a:off x="6352135" y="4113060"/>
              <a:ext cx="0" cy="376578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1" name="TextBox 940">
              <a:extLst>
                <a:ext uri="{FF2B5EF4-FFF2-40B4-BE49-F238E27FC236}">
                  <a16:creationId xmlns:a16="http://schemas.microsoft.com/office/drawing/2014/main" id="{76A7B740-44CD-FEA5-964B-DE8909852AC7}"/>
                </a:ext>
              </a:extLst>
            </p:cNvPr>
            <p:cNvSpPr txBox="1"/>
            <p:nvPr/>
          </p:nvSpPr>
          <p:spPr>
            <a:xfrm>
              <a:off x="6291058" y="413549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42" name="TextBox 941">
              <a:extLst>
                <a:ext uri="{FF2B5EF4-FFF2-40B4-BE49-F238E27FC236}">
                  <a16:creationId xmlns:a16="http://schemas.microsoft.com/office/drawing/2014/main" id="{E0D08515-9164-AD2C-D6AF-7FFC9C038C64}"/>
                </a:ext>
              </a:extLst>
            </p:cNvPr>
            <p:cNvSpPr txBox="1"/>
            <p:nvPr/>
          </p:nvSpPr>
          <p:spPr>
            <a:xfrm>
              <a:off x="7019062" y="290538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943" name="TextBox 942">
              <a:extLst>
                <a:ext uri="{FF2B5EF4-FFF2-40B4-BE49-F238E27FC236}">
                  <a16:creationId xmlns:a16="http://schemas.microsoft.com/office/drawing/2014/main" id="{EC6CE031-DB90-4F98-2781-8A27B5685C13}"/>
                </a:ext>
              </a:extLst>
            </p:cNvPr>
            <p:cNvSpPr txBox="1"/>
            <p:nvPr/>
          </p:nvSpPr>
          <p:spPr>
            <a:xfrm>
              <a:off x="5465326" y="3842231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944" name="TextBox 943">
              <a:extLst>
                <a:ext uri="{FF2B5EF4-FFF2-40B4-BE49-F238E27FC236}">
                  <a16:creationId xmlns:a16="http://schemas.microsoft.com/office/drawing/2014/main" id="{86707520-DD52-280A-D24D-91B499A44DE5}"/>
                </a:ext>
              </a:extLst>
            </p:cNvPr>
            <p:cNvSpPr txBox="1"/>
            <p:nvPr/>
          </p:nvSpPr>
          <p:spPr>
            <a:xfrm>
              <a:off x="5485124" y="4489638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945" name="Straight Arrow Connector 944">
              <a:extLst>
                <a:ext uri="{FF2B5EF4-FFF2-40B4-BE49-F238E27FC236}">
                  <a16:creationId xmlns:a16="http://schemas.microsoft.com/office/drawing/2014/main" id="{EC602DA9-F218-7177-10EE-115EF5E408B4}"/>
                </a:ext>
              </a:extLst>
            </p:cNvPr>
            <p:cNvCxnSpPr>
              <a:cxnSpLocks/>
              <a:stCxn id="937" idx="3"/>
              <a:endCxn id="936" idx="7"/>
            </p:cNvCxnSpPr>
            <p:nvPr/>
          </p:nvCxnSpPr>
          <p:spPr>
            <a:xfrm flipH="1">
              <a:off x="6449122" y="3371628"/>
              <a:ext cx="760372" cy="507285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6" name="TextBox 945">
              <a:extLst>
                <a:ext uri="{FF2B5EF4-FFF2-40B4-BE49-F238E27FC236}">
                  <a16:creationId xmlns:a16="http://schemas.microsoft.com/office/drawing/2014/main" id="{1EBAA69C-AB83-C95C-CC47-6E16C4BEBE0A}"/>
                </a:ext>
              </a:extLst>
            </p:cNvPr>
            <p:cNvSpPr txBox="1"/>
            <p:nvPr/>
          </p:nvSpPr>
          <p:spPr>
            <a:xfrm>
              <a:off x="7662187" y="335833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9</a:t>
              </a:r>
            </a:p>
          </p:txBody>
        </p:sp>
        <p:sp>
          <p:nvSpPr>
            <p:cNvPr id="947" name="Oval 946">
              <a:extLst>
                <a:ext uri="{FF2B5EF4-FFF2-40B4-BE49-F238E27FC236}">
                  <a16:creationId xmlns:a16="http://schemas.microsoft.com/office/drawing/2014/main" id="{2BC76B90-6B27-4C33-9C7A-4836D411F3A4}"/>
                </a:ext>
              </a:extLst>
            </p:cNvPr>
            <p:cNvSpPr/>
            <p:nvPr/>
          </p:nvSpPr>
          <p:spPr>
            <a:xfrm>
              <a:off x="7167550" y="383587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48" name="TextBox 947">
              <a:extLst>
                <a:ext uri="{FF2B5EF4-FFF2-40B4-BE49-F238E27FC236}">
                  <a16:creationId xmlns:a16="http://schemas.microsoft.com/office/drawing/2014/main" id="{AD7B0F49-C687-7F42-D670-623077E3F4F9}"/>
                </a:ext>
              </a:extLst>
            </p:cNvPr>
            <p:cNvSpPr txBox="1"/>
            <p:nvPr/>
          </p:nvSpPr>
          <p:spPr>
            <a:xfrm>
              <a:off x="6773817" y="353385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949" name="Straight Arrow Connector 948">
              <a:extLst>
                <a:ext uri="{FF2B5EF4-FFF2-40B4-BE49-F238E27FC236}">
                  <a16:creationId xmlns:a16="http://schemas.microsoft.com/office/drawing/2014/main" id="{7E87914D-6585-D34C-D470-7D0D2C7A3EB3}"/>
                </a:ext>
              </a:extLst>
            </p:cNvPr>
            <p:cNvCxnSpPr>
              <a:cxnSpLocks/>
              <a:stCxn id="937" idx="4"/>
              <a:endCxn id="947" idx="0"/>
            </p:cNvCxnSpPr>
            <p:nvPr/>
          </p:nvCxnSpPr>
          <p:spPr>
            <a:xfrm flipH="1">
              <a:off x="7304710" y="3411801"/>
              <a:ext cx="1771" cy="424075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0" name="Oval 949">
              <a:extLst>
                <a:ext uri="{FF2B5EF4-FFF2-40B4-BE49-F238E27FC236}">
                  <a16:creationId xmlns:a16="http://schemas.microsoft.com/office/drawing/2014/main" id="{BF75EBC3-1071-B585-61EC-871E2272E64D}"/>
                </a:ext>
              </a:extLst>
            </p:cNvPr>
            <p:cNvSpPr/>
            <p:nvPr/>
          </p:nvSpPr>
          <p:spPr>
            <a:xfrm>
              <a:off x="7172197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51" name="Straight Arrow Connector 950">
              <a:extLst>
                <a:ext uri="{FF2B5EF4-FFF2-40B4-BE49-F238E27FC236}">
                  <a16:creationId xmlns:a16="http://schemas.microsoft.com/office/drawing/2014/main" id="{F9D0A745-AF89-9B6B-A555-928631EBAB1C}"/>
                </a:ext>
              </a:extLst>
            </p:cNvPr>
            <p:cNvCxnSpPr>
              <a:cxnSpLocks/>
              <a:stCxn id="947" idx="4"/>
              <a:endCxn id="950" idx="0"/>
            </p:cNvCxnSpPr>
            <p:nvPr/>
          </p:nvCxnSpPr>
          <p:spPr>
            <a:xfrm>
              <a:off x="7304710" y="4110196"/>
              <a:ext cx="4647" cy="379442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2" name="Oval 951">
              <a:extLst>
                <a:ext uri="{FF2B5EF4-FFF2-40B4-BE49-F238E27FC236}">
                  <a16:creationId xmlns:a16="http://schemas.microsoft.com/office/drawing/2014/main" id="{0E601E62-3AB4-3B0D-A61A-7DE97DE8889A}"/>
                </a:ext>
              </a:extLst>
            </p:cNvPr>
            <p:cNvSpPr/>
            <p:nvPr/>
          </p:nvSpPr>
          <p:spPr>
            <a:xfrm>
              <a:off x="8009097" y="3859070"/>
              <a:ext cx="274320" cy="27432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53" name="Straight Arrow Connector 952">
              <a:extLst>
                <a:ext uri="{FF2B5EF4-FFF2-40B4-BE49-F238E27FC236}">
                  <a16:creationId xmlns:a16="http://schemas.microsoft.com/office/drawing/2014/main" id="{A55027CA-1961-0B6D-73F8-F89F3FFB9057}"/>
                </a:ext>
              </a:extLst>
            </p:cNvPr>
            <p:cNvCxnSpPr>
              <a:cxnSpLocks/>
              <a:stCxn id="937" idx="5"/>
              <a:endCxn id="952" idx="0"/>
            </p:cNvCxnSpPr>
            <p:nvPr/>
          </p:nvCxnSpPr>
          <p:spPr>
            <a:xfrm>
              <a:off x="7403468" y="3371628"/>
              <a:ext cx="742789" cy="487442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4" name="Oval 953">
              <a:extLst>
                <a:ext uri="{FF2B5EF4-FFF2-40B4-BE49-F238E27FC236}">
                  <a16:creationId xmlns:a16="http://schemas.microsoft.com/office/drawing/2014/main" id="{3B908C69-0E21-5480-C006-7C4FB8E36196}"/>
                </a:ext>
              </a:extLst>
            </p:cNvPr>
            <p:cNvSpPr/>
            <p:nvPr/>
          </p:nvSpPr>
          <p:spPr>
            <a:xfrm>
              <a:off x="8013344" y="4494146"/>
              <a:ext cx="274320" cy="27432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55" name="Straight Arrow Connector 954">
              <a:extLst>
                <a:ext uri="{FF2B5EF4-FFF2-40B4-BE49-F238E27FC236}">
                  <a16:creationId xmlns:a16="http://schemas.microsoft.com/office/drawing/2014/main" id="{49D5AAF7-32DC-F89C-B41E-13704F5D4ED7}"/>
                </a:ext>
              </a:extLst>
            </p:cNvPr>
            <p:cNvCxnSpPr>
              <a:cxnSpLocks/>
              <a:stCxn id="950" idx="7"/>
              <a:endCxn id="952" idx="3"/>
            </p:cNvCxnSpPr>
            <p:nvPr/>
          </p:nvCxnSpPr>
          <p:spPr>
            <a:xfrm flipV="1">
              <a:off x="7406344" y="4093217"/>
              <a:ext cx="642926" cy="436594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6" name="Straight Arrow Connector 955">
              <a:extLst>
                <a:ext uri="{FF2B5EF4-FFF2-40B4-BE49-F238E27FC236}">
                  <a16:creationId xmlns:a16="http://schemas.microsoft.com/office/drawing/2014/main" id="{875DD2B3-650C-031D-22E8-A8AC7DA4FF55}"/>
                </a:ext>
              </a:extLst>
            </p:cNvPr>
            <p:cNvCxnSpPr>
              <a:cxnSpLocks/>
              <a:stCxn id="952" idx="4"/>
              <a:endCxn id="954" idx="0"/>
            </p:cNvCxnSpPr>
            <p:nvPr/>
          </p:nvCxnSpPr>
          <p:spPr>
            <a:xfrm>
              <a:off x="8146257" y="4133390"/>
              <a:ext cx="4247" cy="360756"/>
            </a:xfrm>
            <a:prstGeom prst="straightConnector1">
              <a:avLst/>
            </a:prstGeom>
            <a:ln w="15875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7" name="TextBox 956">
              <a:extLst>
                <a:ext uri="{FF2B5EF4-FFF2-40B4-BE49-F238E27FC236}">
                  <a16:creationId xmlns:a16="http://schemas.microsoft.com/office/drawing/2014/main" id="{43DDB6AC-27A8-611B-C7EE-6DA95BDD1237}"/>
                </a:ext>
              </a:extLst>
            </p:cNvPr>
            <p:cNvSpPr txBox="1"/>
            <p:nvPr/>
          </p:nvSpPr>
          <p:spPr>
            <a:xfrm>
              <a:off x="6613608" y="3838740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58" name="TextBox 957">
              <a:extLst>
                <a:ext uri="{FF2B5EF4-FFF2-40B4-BE49-F238E27FC236}">
                  <a16:creationId xmlns:a16="http://schemas.microsoft.com/office/drawing/2014/main" id="{86E94D20-5E75-FC80-E256-30A121910D5C}"/>
                </a:ext>
              </a:extLst>
            </p:cNvPr>
            <p:cNvSpPr txBox="1"/>
            <p:nvPr/>
          </p:nvSpPr>
          <p:spPr>
            <a:xfrm>
              <a:off x="6600787" y="4504155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59" name="TextBox 958">
              <a:extLst>
                <a:ext uri="{FF2B5EF4-FFF2-40B4-BE49-F238E27FC236}">
                  <a16:creationId xmlns:a16="http://schemas.microsoft.com/office/drawing/2014/main" id="{D5BA7FFC-C767-3A59-F4C1-3A87A44DE1E7}"/>
                </a:ext>
              </a:extLst>
            </p:cNvPr>
            <p:cNvSpPr txBox="1"/>
            <p:nvPr/>
          </p:nvSpPr>
          <p:spPr>
            <a:xfrm>
              <a:off x="8231541" y="3820097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CCID=7/9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8397F3B1-307D-2BAD-4215-B60E9DFFFDE8}"/>
                </a:ext>
              </a:extLst>
            </p:cNvPr>
            <p:cNvSpPr txBox="1"/>
            <p:nvPr/>
          </p:nvSpPr>
          <p:spPr>
            <a:xfrm>
              <a:off x="8273249" y="4493032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CCID=8/10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FB36DF35-45E3-C786-EB87-31E0F18070C1}"/>
                </a:ext>
              </a:extLst>
            </p:cNvPr>
            <p:cNvSpPr txBox="1"/>
            <p:nvPr/>
          </p:nvSpPr>
          <p:spPr>
            <a:xfrm>
              <a:off x="7275738" y="3520154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DD1ED276-F6C6-839A-E31E-88E0E3A6D44C}"/>
                </a:ext>
              </a:extLst>
            </p:cNvPr>
            <p:cNvSpPr txBox="1"/>
            <p:nvPr/>
          </p:nvSpPr>
          <p:spPr>
            <a:xfrm>
              <a:off x="7268768" y="412151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6242FE7F-C7DE-C1F0-9ADE-869E69F8ADE6}"/>
                </a:ext>
              </a:extLst>
            </p:cNvPr>
            <p:cNvSpPr txBox="1"/>
            <p:nvPr/>
          </p:nvSpPr>
          <p:spPr>
            <a:xfrm>
              <a:off x="7594702" y="406174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02D569B2-2990-DFE0-8B4F-67FB1DA20889}"/>
                </a:ext>
              </a:extLst>
            </p:cNvPr>
            <p:cNvSpPr txBox="1"/>
            <p:nvPr/>
          </p:nvSpPr>
          <p:spPr>
            <a:xfrm>
              <a:off x="8099934" y="415148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775A2CF-8A85-EB52-2D87-20661E52E969}"/>
                </a:ext>
              </a:extLst>
            </p:cNvPr>
            <p:cNvSpPr/>
            <p:nvPr/>
          </p:nvSpPr>
          <p:spPr>
            <a:xfrm>
              <a:off x="7465139" y="3191393"/>
              <a:ext cx="368303" cy="124177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47F9E47-C102-1DD7-41B8-5A9F599D187D}"/>
                </a:ext>
              </a:extLst>
            </p:cNvPr>
            <p:cNvSpPr/>
            <p:nvPr/>
          </p:nvSpPr>
          <p:spPr>
            <a:xfrm>
              <a:off x="6513471" y="3912103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FDDEC55-C2C5-DB2C-4699-1B847B9325CD}"/>
                </a:ext>
              </a:extLst>
            </p:cNvPr>
            <p:cNvSpPr/>
            <p:nvPr/>
          </p:nvSpPr>
          <p:spPr>
            <a:xfrm>
              <a:off x="6512261" y="456553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D029804-0A73-C517-4AFF-B355DDC72D32}"/>
                </a:ext>
              </a:extLst>
            </p:cNvPr>
            <p:cNvSpPr/>
            <p:nvPr/>
          </p:nvSpPr>
          <p:spPr>
            <a:xfrm>
              <a:off x="7465140" y="390192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6B0F81A-DF7B-FD91-08E8-B7BD15B5FE83}"/>
                </a:ext>
              </a:extLst>
            </p:cNvPr>
            <p:cNvSpPr/>
            <p:nvPr/>
          </p:nvSpPr>
          <p:spPr>
            <a:xfrm>
              <a:off x="7471392" y="456996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B6A208B-1AE0-0DBD-27EE-1FA7E5A15771}"/>
                </a:ext>
              </a:extLst>
            </p:cNvPr>
            <p:cNvSpPr/>
            <p:nvPr/>
          </p:nvSpPr>
          <p:spPr>
            <a:xfrm>
              <a:off x="8214374" y="373054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B48B128-DF75-05A8-BC10-398D51FFF129}"/>
                </a:ext>
              </a:extLst>
            </p:cNvPr>
            <p:cNvSpPr/>
            <p:nvPr/>
          </p:nvSpPr>
          <p:spPr>
            <a:xfrm>
              <a:off x="8276750" y="4407556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F9DE785-5525-538D-CEF3-48FFBFC33F63}"/>
                </a:ext>
              </a:extLst>
            </p:cNvPr>
            <p:cNvSpPr/>
            <p:nvPr/>
          </p:nvSpPr>
          <p:spPr>
            <a:xfrm>
              <a:off x="7862498" y="2971942"/>
              <a:ext cx="410752" cy="125366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NCP</a:t>
              </a:r>
            </a:p>
          </p:txBody>
        </p:sp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3C6735B3-63C3-B9E1-FAEE-75540674E7FD}"/>
              </a:ext>
            </a:extLst>
          </p:cNvPr>
          <p:cNvGrpSpPr/>
          <p:nvPr/>
        </p:nvGrpSpPr>
        <p:grpSpPr>
          <a:xfrm>
            <a:off x="-201383" y="2593513"/>
            <a:ext cx="2198593" cy="1755643"/>
            <a:chOff x="-201383" y="2593513"/>
            <a:chExt cx="2198593" cy="175564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F8DA693-4200-8A05-D23D-2879281AC78F}"/>
                </a:ext>
              </a:extLst>
            </p:cNvPr>
            <p:cNvGrpSpPr/>
            <p:nvPr/>
          </p:nvGrpSpPr>
          <p:grpSpPr>
            <a:xfrm>
              <a:off x="-201383" y="2593513"/>
              <a:ext cx="2198593" cy="1755643"/>
              <a:chOff x="-119357" y="2477712"/>
              <a:chExt cx="2196861" cy="1753629"/>
            </a:xfrm>
          </p:grpSpPr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78C02032-4B32-BB98-D0CC-828E46F20AD5}"/>
                  </a:ext>
                </a:extLst>
              </p:cNvPr>
              <p:cNvCxnSpPr>
                <a:cxnSpLocks/>
                <a:stCxn id="489" idx="3"/>
                <a:endCxn id="488" idx="0"/>
              </p:cNvCxnSpPr>
              <p:nvPr/>
            </p:nvCxnSpPr>
            <p:spPr>
              <a:xfrm flipH="1">
                <a:off x="767452" y="2943956"/>
                <a:ext cx="857359" cy="277196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8" name="Oval 487">
                <a:extLst>
                  <a:ext uri="{FF2B5EF4-FFF2-40B4-BE49-F238E27FC236}">
                    <a16:creationId xmlns:a16="http://schemas.microsoft.com/office/drawing/2014/main" id="{36A613AE-9086-73EA-F49B-859B8789009F}"/>
                  </a:ext>
                </a:extLst>
              </p:cNvPr>
              <p:cNvSpPr/>
              <p:nvPr/>
            </p:nvSpPr>
            <p:spPr>
              <a:xfrm>
                <a:off x="630292" y="322115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  <a:endParaRPr lang="en-US" sz="1100" baseline="-250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489" name="Oval 488">
                <a:extLst>
                  <a:ext uri="{FF2B5EF4-FFF2-40B4-BE49-F238E27FC236}">
                    <a16:creationId xmlns:a16="http://schemas.microsoft.com/office/drawing/2014/main" id="{39DB39FC-9675-F040-C3AB-0F25A4B4E98D}"/>
                  </a:ext>
                </a:extLst>
              </p:cNvPr>
              <p:cNvSpPr/>
              <p:nvPr/>
            </p:nvSpPr>
            <p:spPr>
              <a:xfrm>
                <a:off x="1584638" y="2709809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490" name="TextBox 489">
                <a:extLst>
                  <a:ext uri="{FF2B5EF4-FFF2-40B4-BE49-F238E27FC236}">
                    <a16:creationId xmlns:a16="http://schemas.microsoft.com/office/drawing/2014/main" id="{77FA6611-E1F8-95DF-B07C-A80BCC5F323A}"/>
                  </a:ext>
                </a:extLst>
              </p:cNvPr>
              <p:cNvSpPr txBox="1"/>
              <p:nvPr/>
            </p:nvSpPr>
            <p:spPr>
              <a:xfrm>
                <a:off x="1167959" y="2850599"/>
                <a:ext cx="26642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491" name="Oval 490">
                <a:extLst>
                  <a:ext uri="{FF2B5EF4-FFF2-40B4-BE49-F238E27FC236}">
                    <a16:creationId xmlns:a16="http://schemas.microsoft.com/office/drawing/2014/main" id="{2AC76703-F69B-A4D3-05F4-F4D61AC0DE10}"/>
                  </a:ext>
                </a:extLst>
              </p:cNvPr>
              <p:cNvSpPr/>
              <p:nvPr/>
            </p:nvSpPr>
            <p:spPr>
              <a:xfrm>
                <a:off x="630292" y="392811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  <a:endParaRPr lang="en-US" sz="1100" baseline="-250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EB3B7AF-9098-4528-B812-568F4F6FC97A}"/>
                  </a:ext>
                </a:extLst>
              </p:cNvPr>
              <p:cNvCxnSpPr>
                <a:cxnSpLocks/>
                <a:stCxn id="488" idx="4"/>
                <a:endCxn id="491" idx="0"/>
              </p:cNvCxnSpPr>
              <p:nvPr/>
            </p:nvCxnSpPr>
            <p:spPr>
              <a:xfrm>
                <a:off x="767452" y="3495472"/>
                <a:ext cx="0" cy="432640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3" name="TextBox 492">
                <a:extLst>
                  <a:ext uri="{FF2B5EF4-FFF2-40B4-BE49-F238E27FC236}">
                    <a16:creationId xmlns:a16="http://schemas.microsoft.com/office/drawing/2014/main" id="{30E913BE-1A83-1D53-10F3-6D8443E37B21}"/>
                  </a:ext>
                </a:extLst>
              </p:cNvPr>
              <p:cNvSpPr txBox="1"/>
              <p:nvPr/>
            </p:nvSpPr>
            <p:spPr>
              <a:xfrm>
                <a:off x="739776" y="3468971"/>
                <a:ext cx="26642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494" name="TextBox 493">
                <a:extLst>
                  <a:ext uri="{FF2B5EF4-FFF2-40B4-BE49-F238E27FC236}">
                    <a16:creationId xmlns:a16="http://schemas.microsoft.com/office/drawing/2014/main" id="{033C74D6-EDEC-7382-5B29-876E9F86BC99}"/>
                  </a:ext>
                </a:extLst>
              </p:cNvPr>
              <p:cNvSpPr txBox="1"/>
              <p:nvPr/>
            </p:nvSpPr>
            <p:spPr>
              <a:xfrm>
                <a:off x="1434379" y="2477712"/>
                <a:ext cx="643125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CCID=0</a:t>
                </a:r>
              </a:p>
            </p:txBody>
          </p:sp>
          <p:sp>
            <p:nvSpPr>
              <p:cNvPr id="495" name="TextBox 494">
                <a:extLst>
                  <a:ext uri="{FF2B5EF4-FFF2-40B4-BE49-F238E27FC236}">
                    <a16:creationId xmlns:a16="http://schemas.microsoft.com/office/drawing/2014/main" id="{2CFC5582-9CDF-FCB5-9530-58C2F056CF55}"/>
                  </a:ext>
                </a:extLst>
              </p:cNvPr>
              <p:cNvSpPr txBox="1"/>
              <p:nvPr/>
            </p:nvSpPr>
            <p:spPr>
              <a:xfrm>
                <a:off x="-119357" y="3224643"/>
                <a:ext cx="792205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CCID=1/3</a:t>
                </a:r>
              </a:p>
            </p:txBody>
          </p:sp>
          <p:sp>
            <p:nvSpPr>
              <p:cNvPr id="496" name="TextBox 495">
                <a:extLst>
                  <a:ext uri="{FF2B5EF4-FFF2-40B4-BE49-F238E27FC236}">
                    <a16:creationId xmlns:a16="http://schemas.microsoft.com/office/drawing/2014/main" id="{2C09FBE6-AA41-E104-D202-A724A98C44D1}"/>
                  </a:ext>
                </a:extLst>
              </p:cNvPr>
              <p:cNvSpPr txBox="1"/>
              <p:nvPr/>
            </p:nvSpPr>
            <p:spPr>
              <a:xfrm>
                <a:off x="-119357" y="3940826"/>
                <a:ext cx="792205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CCID=2/4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074F48FB-5071-B527-4351-6035484467FF}"/>
                  </a:ext>
                </a:extLst>
              </p:cNvPr>
              <p:cNvCxnSpPr>
                <a:cxnSpLocks/>
                <a:stCxn id="489" idx="3"/>
                <a:endCxn id="488" idx="7"/>
              </p:cNvCxnSpPr>
              <p:nvPr/>
            </p:nvCxnSpPr>
            <p:spPr>
              <a:xfrm flipH="1">
                <a:off x="864439" y="2943956"/>
                <a:ext cx="760372" cy="317369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0" name="TextBox 499">
                <a:extLst>
                  <a:ext uri="{FF2B5EF4-FFF2-40B4-BE49-F238E27FC236}">
                    <a16:creationId xmlns:a16="http://schemas.microsoft.com/office/drawing/2014/main" id="{1FC68947-7015-E7C5-9D2E-29691382FC27}"/>
                  </a:ext>
                </a:extLst>
              </p:cNvPr>
              <p:cNvSpPr txBox="1"/>
              <p:nvPr/>
            </p:nvSpPr>
            <p:spPr>
              <a:xfrm>
                <a:off x="1189134" y="3028804"/>
                <a:ext cx="263214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3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B382C4F-1C64-43C1-B69A-251E7B307469}"/>
                  </a:ext>
                </a:extLst>
              </p:cNvPr>
              <p:cNvSpPr/>
              <p:nvPr/>
            </p:nvSpPr>
            <p:spPr>
              <a:xfrm>
                <a:off x="937792" y="3361893"/>
                <a:ext cx="148957" cy="133579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B676658-D727-03ED-AC79-78992C913C45}"/>
                  </a:ext>
                </a:extLst>
              </p:cNvPr>
              <p:cNvSpPr/>
              <p:nvPr/>
            </p:nvSpPr>
            <p:spPr>
              <a:xfrm>
                <a:off x="929286" y="4097762"/>
                <a:ext cx="157463" cy="133579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9FEA92-06D6-EE96-4BDD-D2DF3787889D}"/>
                </a:ext>
              </a:extLst>
            </p:cNvPr>
            <p:cNvSpPr/>
            <p:nvPr/>
          </p:nvSpPr>
          <p:spPr>
            <a:xfrm>
              <a:off x="1817993" y="2920238"/>
              <a:ext cx="149074" cy="133733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28C4509D-9505-D4E1-20C8-AA67500728D0}"/>
              </a:ext>
            </a:extLst>
          </p:cNvPr>
          <p:cNvGrpSpPr/>
          <p:nvPr/>
        </p:nvGrpSpPr>
        <p:grpSpPr>
          <a:xfrm>
            <a:off x="1972771" y="2998895"/>
            <a:ext cx="3451048" cy="1856050"/>
            <a:chOff x="1972771" y="2998895"/>
            <a:chExt cx="3451048" cy="1856050"/>
          </a:xfrm>
        </p:grpSpPr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374366CD-6E18-8A56-BF17-E192B5BC49A3}"/>
                </a:ext>
              </a:extLst>
            </p:cNvPr>
            <p:cNvSpPr/>
            <p:nvPr/>
          </p:nvSpPr>
          <p:spPr>
            <a:xfrm>
              <a:off x="2424414" y="3241482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2929462E-73F6-92F9-B1A8-DCEE717DEEAD}"/>
                </a:ext>
              </a:extLst>
            </p:cNvPr>
            <p:cNvSpPr/>
            <p:nvPr/>
          </p:nvSpPr>
          <p:spPr>
            <a:xfrm>
              <a:off x="2428661" y="3862493"/>
              <a:ext cx="274320" cy="274320"/>
            </a:xfrm>
            <a:prstGeom prst="ellipse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508" name="Straight Arrow Connector 507">
              <a:extLst>
                <a:ext uri="{FF2B5EF4-FFF2-40B4-BE49-F238E27FC236}">
                  <a16:creationId xmlns:a16="http://schemas.microsoft.com/office/drawing/2014/main" id="{CEE4BEB0-41F9-A9CE-4D68-876B3EF1B83C}"/>
                </a:ext>
              </a:extLst>
            </p:cNvPr>
            <p:cNvCxnSpPr>
              <a:cxnSpLocks/>
              <a:stCxn id="504" idx="4"/>
              <a:endCxn id="506" idx="0"/>
            </p:cNvCxnSpPr>
            <p:nvPr/>
          </p:nvCxnSpPr>
          <p:spPr>
            <a:xfrm>
              <a:off x="2561574" y="3515802"/>
              <a:ext cx="4247" cy="346691"/>
            </a:xfrm>
            <a:prstGeom prst="straightConnector1">
              <a:avLst/>
            </a:prstGeom>
            <a:ln w="15875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C78ED67D-1D63-1AF9-476D-325CEC76EF36}"/>
                </a:ext>
              </a:extLst>
            </p:cNvPr>
            <p:cNvSpPr txBox="1"/>
            <p:nvPr/>
          </p:nvSpPr>
          <p:spPr>
            <a:xfrm>
              <a:off x="2646858" y="3202509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CCID=7/9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84BEC331-F013-17AE-9460-5652CBF945A5}"/>
                </a:ext>
              </a:extLst>
            </p:cNvPr>
            <p:cNvSpPr txBox="1"/>
            <p:nvPr/>
          </p:nvSpPr>
          <p:spPr>
            <a:xfrm>
              <a:off x="2688566" y="3832657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CCID=8/10</a:t>
              </a:r>
              <a:endParaRPr lang="en-US" sz="1100" baseline="-25000" dirty="0">
                <a:solidFill>
                  <a:schemeClr val="bg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7F13392A-B0BF-5B96-89E5-477DB3EDB0A7}"/>
                </a:ext>
              </a:extLst>
            </p:cNvPr>
            <p:cNvSpPr txBox="1"/>
            <p:nvPr/>
          </p:nvSpPr>
          <p:spPr>
            <a:xfrm>
              <a:off x="2451996" y="3450388"/>
              <a:ext cx="26321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Tw Cen MT" panose="020B0602020104020603" pitchFamily="34" charset="77"/>
                </a:rPr>
                <a:t>1</a:t>
              </a:r>
            </a:p>
          </p:txBody>
        </p:sp>
        <p:cxnSp>
          <p:nvCxnSpPr>
            <p:cNvPr id="904" name="Straight Arrow Connector 903">
              <a:extLst>
                <a:ext uri="{FF2B5EF4-FFF2-40B4-BE49-F238E27FC236}">
                  <a16:creationId xmlns:a16="http://schemas.microsoft.com/office/drawing/2014/main" id="{E02A63F0-AAAF-F9A8-BEB8-9AF3363DC393}"/>
                </a:ext>
              </a:extLst>
            </p:cNvPr>
            <p:cNvCxnSpPr>
              <a:cxnSpLocks/>
              <a:stCxn id="906" idx="3"/>
              <a:endCxn id="905" idx="0"/>
            </p:cNvCxnSpPr>
            <p:nvPr/>
          </p:nvCxnSpPr>
          <p:spPr>
            <a:xfrm flipH="1">
              <a:off x="2859580" y="3465139"/>
              <a:ext cx="857359" cy="389740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5" name="Oval 904">
              <a:extLst>
                <a:ext uri="{FF2B5EF4-FFF2-40B4-BE49-F238E27FC236}">
                  <a16:creationId xmlns:a16="http://schemas.microsoft.com/office/drawing/2014/main" id="{66AE68C6-8BFA-19A9-8D3B-2AD6D56F0375}"/>
                </a:ext>
              </a:extLst>
            </p:cNvPr>
            <p:cNvSpPr/>
            <p:nvPr/>
          </p:nvSpPr>
          <p:spPr>
            <a:xfrm>
              <a:off x="2722420" y="3854879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06" name="Oval 905">
              <a:extLst>
                <a:ext uri="{FF2B5EF4-FFF2-40B4-BE49-F238E27FC236}">
                  <a16:creationId xmlns:a16="http://schemas.microsoft.com/office/drawing/2014/main" id="{7D24FE14-68DC-894F-798E-CAE0BB6D2CBE}"/>
                </a:ext>
              </a:extLst>
            </p:cNvPr>
            <p:cNvSpPr/>
            <p:nvPr/>
          </p:nvSpPr>
          <p:spPr>
            <a:xfrm>
              <a:off x="3676766" y="3230992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907" name="TextBox 906">
              <a:extLst>
                <a:ext uri="{FF2B5EF4-FFF2-40B4-BE49-F238E27FC236}">
                  <a16:creationId xmlns:a16="http://schemas.microsoft.com/office/drawing/2014/main" id="{0A76B002-07E2-9721-7A61-6DC3A0CDA93B}"/>
                </a:ext>
              </a:extLst>
            </p:cNvPr>
            <p:cNvSpPr txBox="1"/>
            <p:nvPr/>
          </p:nvSpPr>
          <p:spPr>
            <a:xfrm>
              <a:off x="3260087" y="3371782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08" name="Oval 907">
              <a:extLst>
                <a:ext uri="{FF2B5EF4-FFF2-40B4-BE49-F238E27FC236}">
                  <a16:creationId xmlns:a16="http://schemas.microsoft.com/office/drawing/2014/main" id="{C1CCECBA-D9A1-A59F-F3C1-5E519241438A}"/>
                </a:ext>
              </a:extLst>
            </p:cNvPr>
            <p:cNvSpPr/>
            <p:nvPr/>
          </p:nvSpPr>
          <p:spPr>
            <a:xfrm>
              <a:off x="2722420" y="4576117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10" name="Straight Arrow Connector 909">
              <a:extLst>
                <a:ext uri="{FF2B5EF4-FFF2-40B4-BE49-F238E27FC236}">
                  <a16:creationId xmlns:a16="http://schemas.microsoft.com/office/drawing/2014/main" id="{7FD9BCD0-1788-60FC-E4B2-4181D03299F5}"/>
                </a:ext>
              </a:extLst>
            </p:cNvPr>
            <p:cNvCxnSpPr>
              <a:cxnSpLocks/>
              <a:stCxn id="905" idx="4"/>
              <a:endCxn id="908" idx="0"/>
            </p:cNvCxnSpPr>
            <p:nvPr/>
          </p:nvCxnSpPr>
          <p:spPr>
            <a:xfrm>
              <a:off x="2859580" y="4129199"/>
              <a:ext cx="0" cy="446918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1" name="TextBox 910">
              <a:extLst>
                <a:ext uri="{FF2B5EF4-FFF2-40B4-BE49-F238E27FC236}">
                  <a16:creationId xmlns:a16="http://schemas.microsoft.com/office/drawing/2014/main" id="{BB53E26E-4F7F-5D7F-8EB5-2B2FD8A38FD3}"/>
                </a:ext>
              </a:extLst>
            </p:cNvPr>
            <p:cNvSpPr txBox="1"/>
            <p:nvPr/>
          </p:nvSpPr>
          <p:spPr>
            <a:xfrm>
              <a:off x="2817776" y="4166236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12" name="TextBox 911">
              <a:extLst>
                <a:ext uri="{FF2B5EF4-FFF2-40B4-BE49-F238E27FC236}">
                  <a16:creationId xmlns:a16="http://schemas.microsoft.com/office/drawing/2014/main" id="{D2B48C06-39A9-DAAC-422F-7B77FB12A81E}"/>
                </a:ext>
              </a:extLst>
            </p:cNvPr>
            <p:cNvSpPr txBox="1"/>
            <p:nvPr/>
          </p:nvSpPr>
          <p:spPr>
            <a:xfrm>
              <a:off x="3526507" y="2998895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913" name="TextBox 912">
              <a:extLst>
                <a:ext uri="{FF2B5EF4-FFF2-40B4-BE49-F238E27FC236}">
                  <a16:creationId xmlns:a16="http://schemas.microsoft.com/office/drawing/2014/main" id="{4EC0DD8A-5986-48D9-245B-205A36D5AAC8}"/>
                </a:ext>
              </a:extLst>
            </p:cNvPr>
            <p:cNvSpPr txBox="1"/>
            <p:nvPr/>
          </p:nvSpPr>
          <p:spPr>
            <a:xfrm>
              <a:off x="1972771" y="3858370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914" name="TextBox 913">
              <a:extLst>
                <a:ext uri="{FF2B5EF4-FFF2-40B4-BE49-F238E27FC236}">
                  <a16:creationId xmlns:a16="http://schemas.microsoft.com/office/drawing/2014/main" id="{9D76EDEE-27F9-B5C9-FA5E-906EF0857B83}"/>
                </a:ext>
              </a:extLst>
            </p:cNvPr>
            <p:cNvSpPr txBox="1"/>
            <p:nvPr/>
          </p:nvSpPr>
          <p:spPr>
            <a:xfrm>
              <a:off x="1972771" y="4588827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915" name="Straight Arrow Connector 914">
              <a:extLst>
                <a:ext uri="{FF2B5EF4-FFF2-40B4-BE49-F238E27FC236}">
                  <a16:creationId xmlns:a16="http://schemas.microsoft.com/office/drawing/2014/main" id="{18C21158-3E78-FF1F-F1BD-D46BE46EA0F2}"/>
                </a:ext>
              </a:extLst>
            </p:cNvPr>
            <p:cNvCxnSpPr>
              <a:cxnSpLocks/>
              <a:stCxn id="906" idx="3"/>
              <a:endCxn id="905" idx="7"/>
            </p:cNvCxnSpPr>
            <p:nvPr/>
          </p:nvCxnSpPr>
          <p:spPr>
            <a:xfrm flipH="1">
              <a:off x="2956567" y="3465139"/>
              <a:ext cx="760372" cy="429913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7" name="Oval 916">
              <a:extLst>
                <a:ext uri="{FF2B5EF4-FFF2-40B4-BE49-F238E27FC236}">
                  <a16:creationId xmlns:a16="http://schemas.microsoft.com/office/drawing/2014/main" id="{7C4EBC0C-FFF4-A1C4-9F05-F8E42985AA76}"/>
                </a:ext>
              </a:extLst>
            </p:cNvPr>
            <p:cNvSpPr/>
            <p:nvPr/>
          </p:nvSpPr>
          <p:spPr>
            <a:xfrm>
              <a:off x="3674995" y="3852015"/>
              <a:ext cx="274320" cy="27432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19" name="TextBox 918">
              <a:extLst>
                <a:ext uri="{FF2B5EF4-FFF2-40B4-BE49-F238E27FC236}">
                  <a16:creationId xmlns:a16="http://schemas.microsoft.com/office/drawing/2014/main" id="{6F1E44FD-73C5-F87B-9B5B-B3F564CE34A4}"/>
                </a:ext>
              </a:extLst>
            </p:cNvPr>
            <p:cNvSpPr txBox="1"/>
            <p:nvPr/>
          </p:nvSpPr>
          <p:spPr>
            <a:xfrm>
              <a:off x="3281262" y="3592191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920" name="Straight Arrow Connector 919">
              <a:extLst>
                <a:ext uri="{FF2B5EF4-FFF2-40B4-BE49-F238E27FC236}">
                  <a16:creationId xmlns:a16="http://schemas.microsoft.com/office/drawing/2014/main" id="{531562EE-E5FB-0D45-CE08-F15639917F89}"/>
                </a:ext>
              </a:extLst>
            </p:cNvPr>
            <p:cNvCxnSpPr>
              <a:cxnSpLocks/>
              <a:stCxn id="906" idx="4"/>
              <a:endCxn id="917" idx="0"/>
            </p:cNvCxnSpPr>
            <p:nvPr/>
          </p:nvCxnSpPr>
          <p:spPr>
            <a:xfrm flipH="1">
              <a:off x="3812155" y="3505312"/>
              <a:ext cx="1771" cy="34670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21" name="Oval 920">
              <a:extLst>
                <a:ext uri="{FF2B5EF4-FFF2-40B4-BE49-F238E27FC236}">
                  <a16:creationId xmlns:a16="http://schemas.microsoft.com/office/drawing/2014/main" id="{323088A4-613A-7ED9-C8E4-D139AC14F41B}"/>
                </a:ext>
              </a:extLst>
            </p:cNvPr>
            <p:cNvSpPr/>
            <p:nvPr/>
          </p:nvSpPr>
          <p:spPr>
            <a:xfrm>
              <a:off x="3679642" y="4576117"/>
              <a:ext cx="274320" cy="27432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22" name="Straight Arrow Connector 921">
              <a:extLst>
                <a:ext uri="{FF2B5EF4-FFF2-40B4-BE49-F238E27FC236}">
                  <a16:creationId xmlns:a16="http://schemas.microsoft.com/office/drawing/2014/main" id="{1192A13B-F3DA-CFAE-4E55-3770226E7C07}"/>
                </a:ext>
              </a:extLst>
            </p:cNvPr>
            <p:cNvCxnSpPr>
              <a:cxnSpLocks/>
              <a:stCxn id="917" idx="4"/>
              <a:endCxn id="921" idx="0"/>
            </p:cNvCxnSpPr>
            <p:nvPr/>
          </p:nvCxnSpPr>
          <p:spPr>
            <a:xfrm>
              <a:off x="3812155" y="4126335"/>
              <a:ext cx="4647" cy="449782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23" name="Oval 922">
              <a:extLst>
                <a:ext uri="{FF2B5EF4-FFF2-40B4-BE49-F238E27FC236}">
                  <a16:creationId xmlns:a16="http://schemas.microsoft.com/office/drawing/2014/main" id="{0C0DD83F-FF9F-D212-B3BB-5C9C723707C9}"/>
                </a:ext>
              </a:extLst>
            </p:cNvPr>
            <p:cNvSpPr/>
            <p:nvPr/>
          </p:nvSpPr>
          <p:spPr>
            <a:xfrm>
              <a:off x="4516542" y="3875209"/>
              <a:ext cx="274320" cy="27432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25" name="Oval 924">
              <a:extLst>
                <a:ext uri="{FF2B5EF4-FFF2-40B4-BE49-F238E27FC236}">
                  <a16:creationId xmlns:a16="http://schemas.microsoft.com/office/drawing/2014/main" id="{02B59111-AEEC-879A-AD8E-BFDD9A5FD7A1}"/>
                </a:ext>
              </a:extLst>
            </p:cNvPr>
            <p:cNvSpPr/>
            <p:nvPr/>
          </p:nvSpPr>
          <p:spPr>
            <a:xfrm>
              <a:off x="4520789" y="4580625"/>
              <a:ext cx="274320" cy="274320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475" name="Straight Arrow Connector 474">
              <a:extLst>
                <a:ext uri="{FF2B5EF4-FFF2-40B4-BE49-F238E27FC236}">
                  <a16:creationId xmlns:a16="http://schemas.microsoft.com/office/drawing/2014/main" id="{1C6B5EA5-9864-33B4-3CAB-3D45D5F1B813}"/>
                </a:ext>
              </a:extLst>
            </p:cNvPr>
            <p:cNvCxnSpPr>
              <a:cxnSpLocks/>
              <a:stCxn id="921" idx="7"/>
              <a:endCxn id="923" idx="3"/>
            </p:cNvCxnSpPr>
            <p:nvPr/>
          </p:nvCxnSpPr>
          <p:spPr>
            <a:xfrm flipV="1">
              <a:off x="3913789" y="4109356"/>
              <a:ext cx="642926" cy="506934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8" name="Straight Arrow Connector 477">
              <a:extLst>
                <a:ext uri="{FF2B5EF4-FFF2-40B4-BE49-F238E27FC236}">
                  <a16:creationId xmlns:a16="http://schemas.microsoft.com/office/drawing/2014/main" id="{B74A98FB-43C6-BFE1-F676-D9EF3DB18DA1}"/>
                </a:ext>
              </a:extLst>
            </p:cNvPr>
            <p:cNvCxnSpPr>
              <a:cxnSpLocks/>
              <a:stCxn id="923" idx="4"/>
              <a:endCxn id="925" idx="0"/>
            </p:cNvCxnSpPr>
            <p:nvPr/>
          </p:nvCxnSpPr>
          <p:spPr>
            <a:xfrm>
              <a:off x="4653702" y="4149529"/>
              <a:ext cx="4247" cy="431096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D04B395C-4F0D-AE6B-5AC6-E3273167B647}"/>
                </a:ext>
              </a:extLst>
            </p:cNvPr>
            <p:cNvSpPr txBox="1"/>
            <p:nvPr/>
          </p:nvSpPr>
          <p:spPr>
            <a:xfrm>
              <a:off x="3121053" y="3854879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2DDBE659-44B4-B8FF-27ED-346E29FAECA0}"/>
                </a:ext>
              </a:extLst>
            </p:cNvPr>
            <p:cNvSpPr txBox="1"/>
            <p:nvPr/>
          </p:nvSpPr>
          <p:spPr>
            <a:xfrm>
              <a:off x="3108232" y="459063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4AB43EF2-5E36-C17F-02FD-A5E1CBFD0ECB}"/>
                </a:ext>
              </a:extLst>
            </p:cNvPr>
            <p:cNvSpPr txBox="1"/>
            <p:nvPr/>
          </p:nvSpPr>
          <p:spPr>
            <a:xfrm>
              <a:off x="4738986" y="3836236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CCID=7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0668BF3E-9F79-576C-B54C-4FECC3DF16AB}"/>
                </a:ext>
              </a:extLst>
            </p:cNvPr>
            <p:cNvSpPr txBox="1"/>
            <p:nvPr/>
          </p:nvSpPr>
          <p:spPr>
            <a:xfrm>
              <a:off x="4780694" y="4550789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CCID=8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E451869D-6685-5A5E-67F4-9EC0033C4535}"/>
                </a:ext>
              </a:extLst>
            </p:cNvPr>
            <p:cNvSpPr txBox="1"/>
            <p:nvPr/>
          </p:nvSpPr>
          <p:spPr>
            <a:xfrm>
              <a:off x="3788956" y="3471506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C4265318-402F-14C3-E23E-5983B575ACA3}"/>
                </a:ext>
              </a:extLst>
            </p:cNvPr>
            <p:cNvSpPr txBox="1"/>
            <p:nvPr/>
          </p:nvSpPr>
          <p:spPr>
            <a:xfrm>
              <a:off x="3765419" y="414539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532757E6-68B6-9B91-D751-D5F5FAA643BC}"/>
                </a:ext>
              </a:extLst>
            </p:cNvPr>
            <p:cNvSpPr txBox="1"/>
            <p:nvPr/>
          </p:nvSpPr>
          <p:spPr>
            <a:xfrm>
              <a:off x="4094266" y="406015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4830F694-0414-32D9-07CD-43AF1E976D40}"/>
                </a:ext>
              </a:extLst>
            </p:cNvPr>
            <p:cNvSpPr txBox="1"/>
            <p:nvPr/>
          </p:nvSpPr>
          <p:spPr>
            <a:xfrm>
              <a:off x="4612189" y="417550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996B3F-20E6-45D2-26D6-B5F1B5AF80C7}"/>
                </a:ext>
              </a:extLst>
            </p:cNvPr>
            <p:cNvSpPr/>
            <p:nvPr/>
          </p:nvSpPr>
          <p:spPr>
            <a:xfrm>
              <a:off x="3972584" y="3284904"/>
              <a:ext cx="368303" cy="124177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5DD3CE-DB81-820F-7EC0-CA746ADD88CF}"/>
                </a:ext>
              </a:extLst>
            </p:cNvPr>
            <p:cNvSpPr/>
            <p:nvPr/>
          </p:nvSpPr>
          <p:spPr>
            <a:xfrm>
              <a:off x="3020916" y="3928242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7D4D69-C46C-231A-F195-B167AF28361D}"/>
                </a:ext>
              </a:extLst>
            </p:cNvPr>
            <p:cNvSpPr/>
            <p:nvPr/>
          </p:nvSpPr>
          <p:spPr>
            <a:xfrm>
              <a:off x="3019706" y="4652017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98" name="Rectangle 897">
              <a:extLst>
                <a:ext uri="{FF2B5EF4-FFF2-40B4-BE49-F238E27FC236}">
                  <a16:creationId xmlns:a16="http://schemas.microsoft.com/office/drawing/2014/main" id="{5562B68F-1EFD-703A-60CD-9DED4CCDC9B6}"/>
                </a:ext>
              </a:extLst>
            </p:cNvPr>
            <p:cNvSpPr/>
            <p:nvPr/>
          </p:nvSpPr>
          <p:spPr>
            <a:xfrm>
              <a:off x="3972585" y="391806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99" name="Rectangle 898">
              <a:extLst>
                <a:ext uri="{FF2B5EF4-FFF2-40B4-BE49-F238E27FC236}">
                  <a16:creationId xmlns:a16="http://schemas.microsoft.com/office/drawing/2014/main" id="{44F28229-61B4-76D2-A877-00B5C3E4B4C0}"/>
                </a:ext>
              </a:extLst>
            </p:cNvPr>
            <p:cNvSpPr/>
            <p:nvPr/>
          </p:nvSpPr>
          <p:spPr>
            <a:xfrm>
              <a:off x="3978837" y="465644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01" name="Rectangle 900">
              <a:extLst>
                <a:ext uri="{FF2B5EF4-FFF2-40B4-BE49-F238E27FC236}">
                  <a16:creationId xmlns:a16="http://schemas.microsoft.com/office/drawing/2014/main" id="{58B9953A-BC94-55A2-2862-316C6B0791D9}"/>
                </a:ext>
              </a:extLst>
            </p:cNvPr>
            <p:cNvSpPr/>
            <p:nvPr/>
          </p:nvSpPr>
          <p:spPr>
            <a:xfrm>
              <a:off x="4721819" y="374668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02" name="Rectangle 901">
              <a:extLst>
                <a:ext uri="{FF2B5EF4-FFF2-40B4-BE49-F238E27FC236}">
                  <a16:creationId xmlns:a16="http://schemas.microsoft.com/office/drawing/2014/main" id="{F10AD6B7-EC1A-D5D3-335F-F71D802422A2}"/>
                </a:ext>
              </a:extLst>
            </p:cNvPr>
            <p:cNvSpPr/>
            <p:nvPr/>
          </p:nvSpPr>
          <p:spPr>
            <a:xfrm>
              <a:off x="4784195" y="4494035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89AF6A41-EC52-D2BC-792D-4C3E929BEC82}"/>
              </a:ext>
            </a:extLst>
          </p:cNvPr>
          <p:cNvGrpSpPr/>
          <p:nvPr/>
        </p:nvGrpSpPr>
        <p:grpSpPr>
          <a:xfrm>
            <a:off x="167767" y="306423"/>
            <a:ext cx="2094639" cy="1789966"/>
            <a:chOff x="-273002" y="231538"/>
            <a:chExt cx="2094639" cy="1789966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F4F3C11-41B1-E5BF-CB16-E77A082D0FE0}"/>
                </a:ext>
              </a:extLst>
            </p:cNvPr>
            <p:cNvGrpSpPr/>
            <p:nvPr/>
          </p:nvGrpSpPr>
          <p:grpSpPr>
            <a:xfrm>
              <a:off x="-273002" y="231538"/>
              <a:ext cx="2094639" cy="1789966"/>
              <a:chOff x="3920186" y="2911815"/>
              <a:chExt cx="2098006" cy="1791298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075EB3C-AAAE-CF89-C41E-66C923C4381E}"/>
                  </a:ext>
                </a:extLst>
              </p:cNvPr>
              <p:cNvSpPr txBox="1"/>
              <p:nvPr/>
            </p:nvSpPr>
            <p:spPr>
              <a:xfrm>
                <a:off x="4202352" y="2911815"/>
                <a:ext cx="1815840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NCP(p)=2xNCP(n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  <a:endParaRPr lang="en-US" sz="800" b="1" baseline="-25000" dirty="0">
                  <a:solidFill>
                    <a:srgbClr val="0070C0"/>
                  </a:solidFill>
                  <a:latin typeface="Tw Cen MT" panose="020B0602020104020603" pitchFamily="34" charset="77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114D2EF4-E19D-1ED5-3B30-D580C6207504}"/>
                  </a:ext>
                </a:extLst>
              </p:cNvPr>
              <p:cNvGrpSpPr/>
              <p:nvPr/>
            </p:nvGrpSpPr>
            <p:grpSpPr>
              <a:xfrm>
                <a:off x="3920186" y="3086481"/>
                <a:ext cx="1349821" cy="1616632"/>
                <a:chOff x="3920186" y="3086481"/>
                <a:chExt cx="1349821" cy="1616632"/>
              </a:xfrm>
            </p:grpSpPr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5ED64B8-1063-596F-9DFE-6E7C629EA129}"/>
                    </a:ext>
                  </a:extLst>
                </p:cNvPr>
                <p:cNvSpPr txBox="1"/>
                <p:nvPr/>
              </p:nvSpPr>
              <p:spPr>
                <a:xfrm>
                  <a:off x="3976611" y="3699534"/>
                  <a:ext cx="340158" cy="292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00" dirty="0"/>
                    <a:t>n</a:t>
                  </a:r>
                  <a:r>
                    <a:rPr lang="en-US" sz="1300" baseline="-25000" dirty="0"/>
                    <a:t>1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0D628B26-1C89-488D-10F8-108156DB093E}"/>
                    </a:ext>
                  </a:extLst>
                </p:cNvPr>
                <p:cNvSpPr/>
                <p:nvPr/>
              </p:nvSpPr>
              <p:spPr>
                <a:xfrm>
                  <a:off x="4983776" y="3138216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0D37AD6B-3D5C-71FB-817F-958904C69F97}"/>
                    </a:ext>
                  </a:extLst>
                </p:cNvPr>
                <p:cNvCxnSpPr>
                  <a:cxnSpLocks/>
                  <a:stCxn id="57" idx="3"/>
                  <a:endCxn id="932" idx="0"/>
                </p:cNvCxnSpPr>
                <p:nvPr/>
              </p:nvCxnSpPr>
              <p:spPr>
                <a:xfrm flipH="1">
                  <a:off x="4125892" y="3372363"/>
                  <a:ext cx="898057" cy="377095"/>
                </a:xfrm>
                <a:prstGeom prst="straightConnector1">
                  <a:avLst/>
                </a:prstGeom>
                <a:ln w="15875">
                  <a:solidFill>
                    <a:srgbClr val="FF0000"/>
                  </a:solidFill>
                  <a:prstDash val="solid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00E3EAE0-85D5-3DBD-F5A3-4A5A37A7D438}"/>
                    </a:ext>
                  </a:extLst>
                </p:cNvPr>
                <p:cNvGrpSpPr/>
                <p:nvPr/>
              </p:nvGrpSpPr>
              <p:grpSpPr>
                <a:xfrm>
                  <a:off x="3920186" y="3749458"/>
                  <a:ext cx="411412" cy="953655"/>
                  <a:chOff x="6587549" y="3454673"/>
                  <a:chExt cx="411412" cy="953655"/>
                </a:xfrm>
              </p:grpSpPr>
              <p:sp>
                <p:nvSpPr>
                  <p:cNvPr id="932" name="Oval 931">
                    <a:extLst>
                      <a:ext uri="{FF2B5EF4-FFF2-40B4-BE49-F238E27FC236}">
                        <a16:creationId xmlns:a16="http://schemas.microsoft.com/office/drawing/2014/main" id="{BCDF44D6-4B15-B27D-FEF8-07E42F737409}"/>
                      </a:ext>
                    </a:extLst>
                  </p:cNvPr>
                  <p:cNvSpPr/>
                  <p:nvPr/>
                </p:nvSpPr>
                <p:spPr>
                  <a:xfrm>
                    <a:off x="6656095" y="3454673"/>
                    <a:ext cx="274320" cy="274320"/>
                  </a:xfrm>
                  <a:prstGeom prst="ellipse">
                    <a:avLst/>
                  </a:prstGeom>
                  <a:noFill/>
                  <a:ln w="15875">
                    <a:solidFill>
                      <a:srgbClr val="FF0000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 baseline="-25000" dirty="0">
                      <a:solidFill>
                        <a:schemeClr val="tx1"/>
                      </a:solidFill>
                      <a:latin typeface="Tw Cen MT" panose="020B0602020104020603" pitchFamily="34" charset="77"/>
                    </a:endParaRPr>
                  </a:p>
                </p:txBody>
              </p:sp>
              <p:sp>
                <p:nvSpPr>
                  <p:cNvPr id="933" name="Extract 932">
                    <a:extLst>
                      <a:ext uri="{FF2B5EF4-FFF2-40B4-BE49-F238E27FC236}">
                        <a16:creationId xmlns:a16="http://schemas.microsoft.com/office/drawing/2014/main" id="{A1005C40-FB43-0DA5-F927-F43D1C7106F9}"/>
                      </a:ext>
                    </a:extLst>
                  </p:cNvPr>
                  <p:cNvSpPr/>
                  <p:nvPr/>
                </p:nvSpPr>
                <p:spPr>
                  <a:xfrm>
                    <a:off x="6587549" y="3728993"/>
                    <a:ext cx="411412" cy="679335"/>
                  </a:xfrm>
                  <a:prstGeom prst="flowChartExtract">
                    <a:avLst/>
                  </a:prstGeom>
                  <a:noFill/>
                  <a:ln w="15875">
                    <a:solidFill>
                      <a:srgbClr val="FF0000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5D101CD-2248-59DF-386F-3759C2401630}"/>
                    </a:ext>
                  </a:extLst>
                </p:cNvPr>
                <p:cNvSpPr txBox="1"/>
                <p:nvPr/>
              </p:nvSpPr>
              <p:spPr>
                <a:xfrm>
                  <a:off x="4399450" y="3321557"/>
                  <a:ext cx="263214" cy="2310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900" dirty="0">
                      <a:solidFill>
                        <a:schemeClr val="tx1"/>
                      </a:solidFill>
                      <a:latin typeface="Tw Cen MT" panose="020B0602020104020603" pitchFamily="34" charset="77"/>
                    </a:rPr>
                    <a:t>1</a:t>
                  </a:r>
                </a:p>
              </p:txBody>
            </p:sp>
            <p:sp>
              <p:nvSpPr>
                <p:cNvPr id="897" name="TextBox 896">
                  <a:extLst>
                    <a:ext uri="{FF2B5EF4-FFF2-40B4-BE49-F238E27FC236}">
                      <a16:creationId xmlns:a16="http://schemas.microsoft.com/office/drawing/2014/main" id="{F219A9C0-7A1F-79F7-9AC0-AB7C6812F07A}"/>
                    </a:ext>
                  </a:extLst>
                </p:cNvPr>
                <p:cNvSpPr txBox="1"/>
                <p:nvPr/>
              </p:nvSpPr>
              <p:spPr>
                <a:xfrm>
                  <a:off x="4992367" y="3086481"/>
                  <a:ext cx="277640" cy="292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00" dirty="0"/>
                    <a:t>p</a:t>
                  </a:r>
                </a:p>
              </p:txBody>
            </p:sp>
            <p:cxnSp>
              <p:nvCxnSpPr>
                <p:cNvPr id="918" name="Straight Arrow Connector 917">
                  <a:extLst>
                    <a:ext uri="{FF2B5EF4-FFF2-40B4-BE49-F238E27FC236}">
                      <a16:creationId xmlns:a16="http://schemas.microsoft.com/office/drawing/2014/main" id="{D81400DA-43FA-E3B9-C86A-E6092C117B79}"/>
                    </a:ext>
                  </a:extLst>
                </p:cNvPr>
                <p:cNvCxnSpPr>
                  <a:cxnSpLocks/>
                  <a:endCxn id="932" idx="6"/>
                </p:cNvCxnSpPr>
                <p:nvPr/>
              </p:nvCxnSpPr>
              <p:spPr>
                <a:xfrm flipH="1">
                  <a:off x="4263052" y="3401109"/>
                  <a:ext cx="747302" cy="485509"/>
                </a:xfrm>
                <a:prstGeom prst="straightConnector1">
                  <a:avLst/>
                </a:prstGeom>
                <a:ln w="15875">
                  <a:solidFill>
                    <a:srgbClr val="FF0000"/>
                  </a:solidFill>
                  <a:prstDash val="solid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61AEBEC1-5A99-45C2-DFA0-A0EDCF179D71}"/>
                </a:ext>
              </a:extLst>
            </p:cNvPr>
            <p:cNvSpPr txBox="1"/>
            <p:nvPr/>
          </p:nvSpPr>
          <p:spPr>
            <a:xfrm>
              <a:off x="417350" y="905698"/>
              <a:ext cx="91705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)+1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7411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7" name="Group 836">
            <a:extLst>
              <a:ext uri="{FF2B5EF4-FFF2-40B4-BE49-F238E27FC236}">
                <a16:creationId xmlns:a16="http://schemas.microsoft.com/office/drawing/2014/main" id="{CC6FAA58-F3BB-9F97-9681-2E9C9C6A9527}"/>
              </a:ext>
            </a:extLst>
          </p:cNvPr>
          <p:cNvGrpSpPr/>
          <p:nvPr/>
        </p:nvGrpSpPr>
        <p:grpSpPr>
          <a:xfrm>
            <a:off x="5600417" y="324377"/>
            <a:ext cx="2633473" cy="1783080"/>
            <a:chOff x="3920186" y="2918706"/>
            <a:chExt cx="2637706" cy="1784407"/>
          </a:xfrm>
        </p:grpSpPr>
        <p:sp>
          <p:nvSpPr>
            <p:cNvPr id="754" name="TextBox 753">
              <a:extLst>
                <a:ext uri="{FF2B5EF4-FFF2-40B4-BE49-F238E27FC236}">
                  <a16:creationId xmlns:a16="http://schemas.microsoft.com/office/drawing/2014/main" id="{95EA088A-C07C-FD11-C6FD-CB0F3EFF14C3}"/>
                </a:ext>
              </a:extLst>
            </p:cNvPr>
            <p:cNvSpPr txBox="1"/>
            <p:nvPr/>
          </p:nvSpPr>
          <p:spPr>
            <a:xfrm>
              <a:off x="4192230" y="2918706"/>
              <a:ext cx="2115208" cy="215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NCP(p)=2xNCP(n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)+NCP(n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2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</a:t>
              </a:r>
              <a:r>
                <a:rPr lang="en-US" sz="800" b="1" dirty="0">
                  <a:solidFill>
                    <a:srgbClr val="00B0F0"/>
                  </a:solidFill>
                  <a:latin typeface="Tw Cen MT" panose="020B0602020104020603" pitchFamily="34" charset="77"/>
                </a:rPr>
                <a:t>+NCP(n</a:t>
              </a:r>
              <a:r>
                <a:rPr lang="en-US" sz="800" b="1" baseline="-25000" dirty="0">
                  <a:solidFill>
                    <a:srgbClr val="00B0F0"/>
                  </a:solidFill>
                  <a:latin typeface="Tw Cen MT" panose="020B0602020104020603" pitchFamily="34" charset="77"/>
                </a:rPr>
                <a:t>3</a:t>
              </a:r>
              <a:r>
                <a:rPr lang="en-US" sz="800" b="1" dirty="0">
                  <a:solidFill>
                    <a:srgbClr val="00B0F0"/>
                  </a:solidFill>
                  <a:latin typeface="Tw Cen MT" panose="020B0602020104020603" pitchFamily="34" charset="77"/>
                </a:rPr>
                <a:t>)+1</a:t>
              </a:r>
              <a:endParaRPr lang="en-US" sz="800" b="1" baseline="-25000" dirty="0">
                <a:solidFill>
                  <a:srgbClr val="00B0F0"/>
                </a:solidFill>
                <a:latin typeface="Tw Cen MT" panose="020B0602020104020603" pitchFamily="34" charset="77"/>
              </a:endParaRPr>
            </a:p>
          </p:txBody>
        </p:sp>
        <p:grpSp>
          <p:nvGrpSpPr>
            <p:cNvPr id="813" name="Group 812">
              <a:extLst>
                <a:ext uri="{FF2B5EF4-FFF2-40B4-BE49-F238E27FC236}">
                  <a16:creationId xmlns:a16="http://schemas.microsoft.com/office/drawing/2014/main" id="{F8CF27CA-7486-214F-AE7C-B9C0AE919BD2}"/>
                </a:ext>
              </a:extLst>
            </p:cNvPr>
            <p:cNvGrpSpPr/>
            <p:nvPr/>
          </p:nvGrpSpPr>
          <p:grpSpPr>
            <a:xfrm>
              <a:off x="3920186" y="3086481"/>
              <a:ext cx="2637706" cy="1616632"/>
              <a:chOff x="3920186" y="3086481"/>
              <a:chExt cx="2637706" cy="1616632"/>
            </a:xfrm>
          </p:grpSpPr>
          <p:sp>
            <p:nvSpPr>
              <p:cNvPr id="799" name="TextBox 798">
                <a:extLst>
                  <a:ext uri="{FF2B5EF4-FFF2-40B4-BE49-F238E27FC236}">
                    <a16:creationId xmlns:a16="http://schemas.microsoft.com/office/drawing/2014/main" id="{B27B8688-A9D8-1CC4-1AB6-7659E1F58D49}"/>
                  </a:ext>
                </a:extLst>
              </p:cNvPr>
              <p:cNvSpPr txBox="1"/>
              <p:nvPr/>
            </p:nvSpPr>
            <p:spPr>
              <a:xfrm>
                <a:off x="3976611" y="3699534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1</a:t>
                </a:r>
              </a:p>
            </p:txBody>
          </p:sp>
          <p:cxnSp>
            <p:nvCxnSpPr>
              <p:cNvPr id="745" name="Straight Arrow Connector 744">
                <a:extLst>
                  <a:ext uri="{FF2B5EF4-FFF2-40B4-BE49-F238E27FC236}">
                    <a16:creationId xmlns:a16="http://schemas.microsoft.com/office/drawing/2014/main" id="{4EA69F5F-5F6D-8DDC-4B27-FE2622D41196}"/>
                  </a:ext>
                </a:extLst>
              </p:cNvPr>
              <p:cNvCxnSpPr>
                <a:cxnSpLocks/>
                <a:stCxn id="746" idx="5"/>
                <a:endCxn id="756" idx="0"/>
              </p:cNvCxnSpPr>
              <p:nvPr/>
            </p:nvCxnSpPr>
            <p:spPr>
              <a:xfrm>
                <a:off x="5217923" y="3372363"/>
                <a:ext cx="834250" cy="373660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6" name="Oval 745">
                <a:extLst>
                  <a:ext uri="{FF2B5EF4-FFF2-40B4-BE49-F238E27FC236}">
                    <a16:creationId xmlns:a16="http://schemas.microsoft.com/office/drawing/2014/main" id="{27B57A35-852B-BDB0-6992-2334BB6BFE9A}"/>
                  </a:ext>
                </a:extLst>
              </p:cNvPr>
              <p:cNvSpPr/>
              <p:nvPr/>
            </p:nvSpPr>
            <p:spPr>
              <a:xfrm>
                <a:off x="4983776" y="313821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747" name="Straight Arrow Connector 746">
                <a:extLst>
                  <a:ext uri="{FF2B5EF4-FFF2-40B4-BE49-F238E27FC236}">
                    <a16:creationId xmlns:a16="http://schemas.microsoft.com/office/drawing/2014/main" id="{62CCF80B-56D6-1CE4-B04E-48A99F4E85A8}"/>
                  </a:ext>
                </a:extLst>
              </p:cNvPr>
              <p:cNvCxnSpPr>
                <a:cxnSpLocks/>
                <a:stCxn id="746" idx="3"/>
                <a:endCxn id="762" idx="0"/>
              </p:cNvCxnSpPr>
              <p:nvPr/>
            </p:nvCxnSpPr>
            <p:spPr>
              <a:xfrm flipH="1">
                <a:off x="4125892" y="3372363"/>
                <a:ext cx="898057" cy="37709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3BB8A3DD-86AB-3500-3BC7-A03DA1F47451}"/>
                  </a:ext>
                </a:extLst>
              </p:cNvPr>
              <p:cNvGrpSpPr/>
              <p:nvPr/>
            </p:nvGrpSpPr>
            <p:grpSpPr>
              <a:xfrm>
                <a:off x="3920186" y="3749458"/>
                <a:ext cx="411412" cy="953655"/>
                <a:chOff x="6587549" y="3454673"/>
                <a:chExt cx="411412" cy="953655"/>
              </a:xfrm>
            </p:grpSpPr>
            <p:sp>
              <p:nvSpPr>
                <p:cNvPr id="762" name="Oval 761">
                  <a:extLst>
                    <a:ext uri="{FF2B5EF4-FFF2-40B4-BE49-F238E27FC236}">
                      <a16:creationId xmlns:a16="http://schemas.microsoft.com/office/drawing/2014/main" id="{C1DECD5D-D1F6-3F2C-AA33-69B0F951114E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763" name="Extract 762">
                  <a:extLst>
                    <a:ext uri="{FF2B5EF4-FFF2-40B4-BE49-F238E27FC236}">
                      <a16:creationId xmlns:a16="http://schemas.microsoft.com/office/drawing/2014/main" id="{96F9C68D-685C-1925-B0F8-E308785DBD64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49" name="TextBox 748">
                <a:extLst>
                  <a:ext uri="{FF2B5EF4-FFF2-40B4-BE49-F238E27FC236}">
                    <a16:creationId xmlns:a16="http://schemas.microsoft.com/office/drawing/2014/main" id="{D0269037-3320-0BE5-C89F-4C0EC213F438}"/>
                  </a:ext>
                </a:extLst>
              </p:cNvPr>
              <p:cNvSpPr txBox="1"/>
              <p:nvPr/>
            </p:nvSpPr>
            <p:spPr>
              <a:xfrm>
                <a:off x="4399450" y="3321557"/>
                <a:ext cx="263214" cy="231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</a:p>
            </p:txBody>
          </p:sp>
          <p:cxnSp>
            <p:nvCxnSpPr>
              <p:cNvPr id="750" name="Straight Arrow Connector 749">
                <a:extLst>
                  <a:ext uri="{FF2B5EF4-FFF2-40B4-BE49-F238E27FC236}">
                    <a16:creationId xmlns:a16="http://schemas.microsoft.com/office/drawing/2014/main" id="{EE054055-659A-B904-98AB-897061ED237A}"/>
                  </a:ext>
                </a:extLst>
              </p:cNvPr>
              <p:cNvCxnSpPr>
                <a:cxnSpLocks/>
                <a:stCxn id="746" idx="4"/>
                <a:endCxn id="759" idx="0"/>
              </p:cNvCxnSpPr>
              <p:nvPr/>
            </p:nvCxnSpPr>
            <p:spPr>
              <a:xfrm>
                <a:off x="5120936" y="3412536"/>
                <a:ext cx="0" cy="33348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51" name="Group 750">
                <a:extLst>
                  <a:ext uri="{FF2B5EF4-FFF2-40B4-BE49-F238E27FC236}">
                    <a16:creationId xmlns:a16="http://schemas.microsoft.com/office/drawing/2014/main" id="{CAA22C7C-2382-D282-9F02-BC6C613F6B07}"/>
                  </a:ext>
                </a:extLst>
              </p:cNvPr>
              <p:cNvGrpSpPr/>
              <p:nvPr/>
            </p:nvGrpSpPr>
            <p:grpSpPr>
              <a:xfrm>
                <a:off x="4904566" y="3746023"/>
                <a:ext cx="411412" cy="955661"/>
                <a:chOff x="7316750" y="3452824"/>
                <a:chExt cx="411412" cy="955661"/>
              </a:xfrm>
            </p:grpSpPr>
            <p:sp>
              <p:nvSpPr>
                <p:cNvPr id="759" name="Oval 758">
                  <a:extLst>
                    <a:ext uri="{FF2B5EF4-FFF2-40B4-BE49-F238E27FC236}">
                      <a16:creationId xmlns:a16="http://schemas.microsoft.com/office/drawing/2014/main" id="{33E07139-7CF9-90AA-10D3-4C35FDE6EA91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760" name="Extract 759">
                  <a:extLst>
                    <a:ext uri="{FF2B5EF4-FFF2-40B4-BE49-F238E27FC236}">
                      <a16:creationId xmlns:a16="http://schemas.microsoft.com/office/drawing/2014/main" id="{EDBA6D83-64DF-411A-4AAE-02403DF61C45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2" name="TextBox 751">
                <a:extLst>
                  <a:ext uri="{FF2B5EF4-FFF2-40B4-BE49-F238E27FC236}">
                    <a16:creationId xmlns:a16="http://schemas.microsoft.com/office/drawing/2014/main" id="{CD6786BC-EB60-09EE-B459-21DE3D9405C4}"/>
                  </a:ext>
                </a:extLst>
              </p:cNvPr>
              <p:cNvSpPr txBox="1"/>
              <p:nvPr/>
            </p:nvSpPr>
            <p:spPr>
              <a:xfrm>
                <a:off x="5052514" y="3500380"/>
                <a:ext cx="779680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</a:p>
            </p:txBody>
          </p:sp>
          <p:grpSp>
            <p:nvGrpSpPr>
              <p:cNvPr id="753" name="Group 752">
                <a:extLst>
                  <a:ext uri="{FF2B5EF4-FFF2-40B4-BE49-F238E27FC236}">
                    <a16:creationId xmlns:a16="http://schemas.microsoft.com/office/drawing/2014/main" id="{FD1A2DE8-6BF6-B37B-C3D0-D4E69F414DC1}"/>
                  </a:ext>
                </a:extLst>
              </p:cNvPr>
              <p:cNvGrpSpPr/>
              <p:nvPr/>
            </p:nvGrpSpPr>
            <p:grpSpPr>
              <a:xfrm>
                <a:off x="5835803" y="3746023"/>
                <a:ext cx="411412" cy="955661"/>
                <a:chOff x="7999896" y="3448722"/>
                <a:chExt cx="411412" cy="955661"/>
              </a:xfrm>
            </p:grpSpPr>
            <p:sp>
              <p:nvSpPr>
                <p:cNvPr id="756" name="Oval 755">
                  <a:extLst>
                    <a:ext uri="{FF2B5EF4-FFF2-40B4-BE49-F238E27FC236}">
                      <a16:creationId xmlns:a16="http://schemas.microsoft.com/office/drawing/2014/main" id="{FFC3D2C7-3B21-549F-7DB4-CE0B2F20DCB7}"/>
                    </a:ext>
                  </a:extLst>
                </p:cNvPr>
                <p:cNvSpPr/>
                <p:nvPr/>
              </p:nvSpPr>
              <p:spPr>
                <a:xfrm>
                  <a:off x="8079106" y="3448722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757" name="Extract 756">
                  <a:extLst>
                    <a:ext uri="{FF2B5EF4-FFF2-40B4-BE49-F238E27FC236}">
                      <a16:creationId xmlns:a16="http://schemas.microsoft.com/office/drawing/2014/main" id="{7BD894ED-4F13-5427-64C0-1751E23271CC}"/>
                    </a:ext>
                  </a:extLst>
                </p:cNvPr>
                <p:cNvSpPr/>
                <p:nvPr/>
              </p:nvSpPr>
              <p:spPr>
                <a:xfrm>
                  <a:off x="7999896" y="3725048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98" name="TextBox 797">
                <a:extLst>
                  <a:ext uri="{FF2B5EF4-FFF2-40B4-BE49-F238E27FC236}">
                    <a16:creationId xmlns:a16="http://schemas.microsoft.com/office/drawing/2014/main" id="{5A05306B-97BD-8DD3-13D3-720D23428028}"/>
                  </a:ext>
                </a:extLst>
              </p:cNvPr>
              <p:cNvSpPr txBox="1"/>
              <p:nvPr/>
            </p:nvSpPr>
            <p:spPr>
              <a:xfrm>
                <a:off x="4992367" y="3086481"/>
                <a:ext cx="277640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p</a:t>
                </a:r>
              </a:p>
            </p:txBody>
          </p:sp>
          <p:sp>
            <p:nvSpPr>
              <p:cNvPr id="800" name="TextBox 799">
                <a:extLst>
                  <a:ext uri="{FF2B5EF4-FFF2-40B4-BE49-F238E27FC236}">
                    <a16:creationId xmlns:a16="http://schemas.microsoft.com/office/drawing/2014/main" id="{A75990A9-A0F2-48E8-DECE-7CB1A6740398}"/>
                  </a:ext>
                </a:extLst>
              </p:cNvPr>
              <p:cNvSpPr txBox="1"/>
              <p:nvPr/>
            </p:nvSpPr>
            <p:spPr>
              <a:xfrm>
                <a:off x="4969199" y="3694809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2</a:t>
                </a:r>
              </a:p>
            </p:txBody>
          </p:sp>
          <p:sp>
            <p:nvSpPr>
              <p:cNvPr id="801" name="TextBox 800">
                <a:extLst>
                  <a:ext uri="{FF2B5EF4-FFF2-40B4-BE49-F238E27FC236}">
                    <a16:creationId xmlns:a16="http://schemas.microsoft.com/office/drawing/2014/main" id="{E0C9F35D-753C-7FC9-B83E-2B0F2D3A0666}"/>
                  </a:ext>
                </a:extLst>
              </p:cNvPr>
              <p:cNvSpPr txBox="1"/>
              <p:nvPr/>
            </p:nvSpPr>
            <p:spPr>
              <a:xfrm>
                <a:off x="5906625" y="3679094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3</a:t>
                </a:r>
              </a:p>
            </p:txBody>
          </p:sp>
          <p:cxnSp>
            <p:nvCxnSpPr>
              <p:cNvPr id="804" name="Straight Arrow Connector 803">
                <a:extLst>
                  <a:ext uri="{FF2B5EF4-FFF2-40B4-BE49-F238E27FC236}">
                    <a16:creationId xmlns:a16="http://schemas.microsoft.com/office/drawing/2014/main" id="{8EF89AA0-C32A-E219-5B47-66958BB49274}"/>
                  </a:ext>
                </a:extLst>
              </p:cNvPr>
              <p:cNvCxnSpPr>
                <a:cxnSpLocks/>
                <a:endCxn id="762" idx="6"/>
              </p:cNvCxnSpPr>
              <p:nvPr/>
            </p:nvCxnSpPr>
            <p:spPr>
              <a:xfrm flipH="1">
                <a:off x="4263052" y="3401109"/>
                <a:ext cx="747302" cy="4855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1" name="TextBox 810">
                <a:extLst>
                  <a:ext uri="{FF2B5EF4-FFF2-40B4-BE49-F238E27FC236}">
                    <a16:creationId xmlns:a16="http://schemas.microsoft.com/office/drawing/2014/main" id="{98E8C005-5E81-C635-964A-EC91609369F0}"/>
                  </a:ext>
                </a:extLst>
              </p:cNvPr>
              <p:cNvSpPr txBox="1"/>
              <p:nvPr/>
            </p:nvSpPr>
            <p:spPr>
              <a:xfrm>
                <a:off x="4403093" y="3698019"/>
                <a:ext cx="641928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  <a:endParaRPr lang="en-US" sz="800" baseline="-25000" dirty="0">
                  <a:solidFill>
                    <a:srgbClr val="FF0000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812" name="TextBox 811">
                <a:extLst>
                  <a:ext uri="{FF2B5EF4-FFF2-40B4-BE49-F238E27FC236}">
                    <a16:creationId xmlns:a16="http://schemas.microsoft.com/office/drawing/2014/main" id="{E46A861B-F6AB-04E4-3FC5-2BFF88992EBF}"/>
                  </a:ext>
                </a:extLst>
              </p:cNvPr>
              <p:cNvSpPr txBox="1"/>
              <p:nvPr/>
            </p:nvSpPr>
            <p:spPr>
              <a:xfrm>
                <a:off x="5305690" y="3317373"/>
                <a:ext cx="1252202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</a:t>
                </a:r>
                <a:r>
                  <a:rPr lang="en-US" sz="800" b="1" dirty="0">
                    <a:solidFill>
                      <a:srgbClr val="00B0F0"/>
                    </a:solidFill>
                    <a:latin typeface="Tw Cen MT" panose="020B0602020104020603" pitchFamily="34" charset="77"/>
                  </a:rPr>
                  <a:t>+1</a:t>
                </a:r>
              </a:p>
            </p:txBody>
          </p:sp>
        </p:grpSp>
      </p:grp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9BBBA265-F6B8-82E7-2CF2-C62D4458B7F8}"/>
              </a:ext>
            </a:extLst>
          </p:cNvPr>
          <p:cNvCxnSpPr>
            <a:cxnSpLocks/>
          </p:cNvCxnSpPr>
          <p:nvPr/>
        </p:nvCxnSpPr>
        <p:spPr>
          <a:xfrm>
            <a:off x="1840306" y="2951481"/>
            <a:ext cx="741266" cy="296990"/>
          </a:xfrm>
          <a:prstGeom prst="straightConnector1">
            <a:avLst/>
          </a:prstGeom>
          <a:ln w="15875">
            <a:noFill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ADDA412C-9658-20DA-73B8-FA8DE31BFA26}"/>
              </a:ext>
            </a:extLst>
          </p:cNvPr>
          <p:cNvCxnSpPr>
            <a:cxnSpLocks/>
          </p:cNvCxnSpPr>
          <p:nvPr/>
        </p:nvCxnSpPr>
        <p:spPr>
          <a:xfrm flipV="1">
            <a:off x="1741054" y="3475629"/>
            <a:ext cx="723533" cy="427288"/>
          </a:xfrm>
          <a:prstGeom prst="straightConnector1">
            <a:avLst/>
          </a:prstGeom>
          <a:ln w="15875">
            <a:noFill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D2C1F0C7-C813-0650-AEF8-2B9C1332C9B9}"/>
              </a:ext>
            </a:extLst>
          </p:cNvPr>
          <p:cNvGrpSpPr/>
          <p:nvPr/>
        </p:nvGrpSpPr>
        <p:grpSpPr>
          <a:xfrm>
            <a:off x="5465326" y="2905384"/>
            <a:ext cx="3678674" cy="1863082"/>
            <a:chOff x="5465326" y="2905384"/>
            <a:chExt cx="3678674" cy="1863082"/>
          </a:xfrm>
        </p:grpSpPr>
        <p:cxnSp>
          <p:nvCxnSpPr>
            <p:cNvPr id="935" name="Straight Arrow Connector 934">
              <a:extLst>
                <a:ext uri="{FF2B5EF4-FFF2-40B4-BE49-F238E27FC236}">
                  <a16:creationId xmlns:a16="http://schemas.microsoft.com/office/drawing/2014/main" id="{93EF7825-E867-4532-2C58-51FAC15F4350}"/>
                </a:ext>
              </a:extLst>
            </p:cNvPr>
            <p:cNvCxnSpPr>
              <a:cxnSpLocks/>
              <a:stCxn id="937" idx="3"/>
              <a:endCxn id="936" idx="0"/>
            </p:cNvCxnSpPr>
            <p:nvPr/>
          </p:nvCxnSpPr>
          <p:spPr>
            <a:xfrm flipH="1">
              <a:off x="6352135" y="3371628"/>
              <a:ext cx="857359" cy="467112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6" name="Oval 935">
              <a:extLst>
                <a:ext uri="{FF2B5EF4-FFF2-40B4-BE49-F238E27FC236}">
                  <a16:creationId xmlns:a16="http://schemas.microsoft.com/office/drawing/2014/main" id="{E53D93FC-0B5C-8444-A8CC-3303EDF139F1}"/>
                </a:ext>
              </a:extLst>
            </p:cNvPr>
            <p:cNvSpPr/>
            <p:nvPr/>
          </p:nvSpPr>
          <p:spPr>
            <a:xfrm>
              <a:off x="6214975" y="383874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37" name="Oval 936">
              <a:extLst>
                <a:ext uri="{FF2B5EF4-FFF2-40B4-BE49-F238E27FC236}">
                  <a16:creationId xmlns:a16="http://schemas.microsoft.com/office/drawing/2014/main" id="{EB5AC2D2-C1D9-B57F-41BB-19DAAE886288}"/>
                </a:ext>
              </a:extLst>
            </p:cNvPr>
            <p:cNvSpPr/>
            <p:nvPr/>
          </p:nvSpPr>
          <p:spPr>
            <a:xfrm>
              <a:off x="7169321" y="3137481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938" name="TextBox 937">
              <a:extLst>
                <a:ext uri="{FF2B5EF4-FFF2-40B4-BE49-F238E27FC236}">
                  <a16:creationId xmlns:a16="http://schemas.microsoft.com/office/drawing/2014/main" id="{CBB2F3A8-49A5-11DB-9586-0994967E6E0E}"/>
                </a:ext>
              </a:extLst>
            </p:cNvPr>
            <p:cNvSpPr txBox="1"/>
            <p:nvPr/>
          </p:nvSpPr>
          <p:spPr>
            <a:xfrm>
              <a:off x="6752642" y="3278271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39" name="Oval 938">
              <a:extLst>
                <a:ext uri="{FF2B5EF4-FFF2-40B4-BE49-F238E27FC236}">
                  <a16:creationId xmlns:a16="http://schemas.microsoft.com/office/drawing/2014/main" id="{F29BD697-2E30-5F30-999A-9D106AEACAFD}"/>
                </a:ext>
              </a:extLst>
            </p:cNvPr>
            <p:cNvSpPr/>
            <p:nvPr/>
          </p:nvSpPr>
          <p:spPr>
            <a:xfrm>
              <a:off x="6214975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40" name="Straight Arrow Connector 939">
              <a:extLst>
                <a:ext uri="{FF2B5EF4-FFF2-40B4-BE49-F238E27FC236}">
                  <a16:creationId xmlns:a16="http://schemas.microsoft.com/office/drawing/2014/main" id="{99BD3C20-AFDE-2535-0ABD-AD0A301D0F95}"/>
                </a:ext>
              </a:extLst>
            </p:cNvPr>
            <p:cNvCxnSpPr>
              <a:cxnSpLocks/>
              <a:stCxn id="936" idx="4"/>
              <a:endCxn id="939" idx="0"/>
            </p:cNvCxnSpPr>
            <p:nvPr/>
          </p:nvCxnSpPr>
          <p:spPr>
            <a:xfrm>
              <a:off x="6352135" y="4113060"/>
              <a:ext cx="0" cy="376578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1" name="TextBox 940">
              <a:extLst>
                <a:ext uri="{FF2B5EF4-FFF2-40B4-BE49-F238E27FC236}">
                  <a16:creationId xmlns:a16="http://schemas.microsoft.com/office/drawing/2014/main" id="{76A7B740-44CD-FEA5-964B-DE8909852AC7}"/>
                </a:ext>
              </a:extLst>
            </p:cNvPr>
            <p:cNvSpPr txBox="1"/>
            <p:nvPr/>
          </p:nvSpPr>
          <p:spPr>
            <a:xfrm>
              <a:off x="6291058" y="413549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42" name="TextBox 941">
              <a:extLst>
                <a:ext uri="{FF2B5EF4-FFF2-40B4-BE49-F238E27FC236}">
                  <a16:creationId xmlns:a16="http://schemas.microsoft.com/office/drawing/2014/main" id="{E0D08515-9164-AD2C-D6AF-7FFC9C038C64}"/>
                </a:ext>
              </a:extLst>
            </p:cNvPr>
            <p:cNvSpPr txBox="1"/>
            <p:nvPr/>
          </p:nvSpPr>
          <p:spPr>
            <a:xfrm>
              <a:off x="7019062" y="290538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943" name="TextBox 942">
              <a:extLst>
                <a:ext uri="{FF2B5EF4-FFF2-40B4-BE49-F238E27FC236}">
                  <a16:creationId xmlns:a16="http://schemas.microsoft.com/office/drawing/2014/main" id="{EC6CE031-DB90-4F98-2781-8A27B5685C13}"/>
                </a:ext>
              </a:extLst>
            </p:cNvPr>
            <p:cNvSpPr txBox="1"/>
            <p:nvPr/>
          </p:nvSpPr>
          <p:spPr>
            <a:xfrm>
              <a:off x="5465326" y="3842231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944" name="TextBox 943">
              <a:extLst>
                <a:ext uri="{FF2B5EF4-FFF2-40B4-BE49-F238E27FC236}">
                  <a16:creationId xmlns:a16="http://schemas.microsoft.com/office/drawing/2014/main" id="{86707520-DD52-280A-D24D-91B499A44DE5}"/>
                </a:ext>
              </a:extLst>
            </p:cNvPr>
            <p:cNvSpPr txBox="1"/>
            <p:nvPr/>
          </p:nvSpPr>
          <p:spPr>
            <a:xfrm>
              <a:off x="5485124" y="4489638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945" name="Straight Arrow Connector 944">
              <a:extLst>
                <a:ext uri="{FF2B5EF4-FFF2-40B4-BE49-F238E27FC236}">
                  <a16:creationId xmlns:a16="http://schemas.microsoft.com/office/drawing/2014/main" id="{EC602DA9-F218-7177-10EE-115EF5E408B4}"/>
                </a:ext>
              </a:extLst>
            </p:cNvPr>
            <p:cNvCxnSpPr>
              <a:cxnSpLocks/>
              <a:stCxn id="937" idx="3"/>
              <a:endCxn id="936" idx="7"/>
            </p:cNvCxnSpPr>
            <p:nvPr/>
          </p:nvCxnSpPr>
          <p:spPr>
            <a:xfrm flipH="1">
              <a:off x="6449122" y="3371628"/>
              <a:ext cx="760372" cy="507285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6" name="TextBox 945">
              <a:extLst>
                <a:ext uri="{FF2B5EF4-FFF2-40B4-BE49-F238E27FC236}">
                  <a16:creationId xmlns:a16="http://schemas.microsoft.com/office/drawing/2014/main" id="{1EBAA69C-AB83-C95C-CC47-6E16C4BEBE0A}"/>
                </a:ext>
              </a:extLst>
            </p:cNvPr>
            <p:cNvSpPr txBox="1"/>
            <p:nvPr/>
          </p:nvSpPr>
          <p:spPr>
            <a:xfrm>
              <a:off x="7662187" y="335833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9</a:t>
              </a:r>
            </a:p>
          </p:txBody>
        </p:sp>
        <p:sp>
          <p:nvSpPr>
            <p:cNvPr id="947" name="Oval 946">
              <a:extLst>
                <a:ext uri="{FF2B5EF4-FFF2-40B4-BE49-F238E27FC236}">
                  <a16:creationId xmlns:a16="http://schemas.microsoft.com/office/drawing/2014/main" id="{2BC76B90-6B27-4C33-9C7A-4836D411F3A4}"/>
                </a:ext>
              </a:extLst>
            </p:cNvPr>
            <p:cNvSpPr/>
            <p:nvPr/>
          </p:nvSpPr>
          <p:spPr>
            <a:xfrm>
              <a:off x="7167550" y="383587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948" name="TextBox 947">
              <a:extLst>
                <a:ext uri="{FF2B5EF4-FFF2-40B4-BE49-F238E27FC236}">
                  <a16:creationId xmlns:a16="http://schemas.microsoft.com/office/drawing/2014/main" id="{AD7B0F49-C687-7F42-D670-623077E3F4F9}"/>
                </a:ext>
              </a:extLst>
            </p:cNvPr>
            <p:cNvSpPr txBox="1"/>
            <p:nvPr/>
          </p:nvSpPr>
          <p:spPr>
            <a:xfrm>
              <a:off x="6773817" y="353385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949" name="Straight Arrow Connector 948">
              <a:extLst>
                <a:ext uri="{FF2B5EF4-FFF2-40B4-BE49-F238E27FC236}">
                  <a16:creationId xmlns:a16="http://schemas.microsoft.com/office/drawing/2014/main" id="{7E87914D-6585-D34C-D470-7D0D2C7A3EB3}"/>
                </a:ext>
              </a:extLst>
            </p:cNvPr>
            <p:cNvCxnSpPr>
              <a:cxnSpLocks/>
              <a:stCxn id="937" idx="4"/>
              <a:endCxn id="947" idx="0"/>
            </p:cNvCxnSpPr>
            <p:nvPr/>
          </p:nvCxnSpPr>
          <p:spPr>
            <a:xfrm flipH="1">
              <a:off x="7304710" y="3411801"/>
              <a:ext cx="1771" cy="424075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0" name="Oval 949">
              <a:extLst>
                <a:ext uri="{FF2B5EF4-FFF2-40B4-BE49-F238E27FC236}">
                  <a16:creationId xmlns:a16="http://schemas.microsoft.com/office/drawing/2014/main" id="{BF75EBC3-1071-B585-61EC-871E2272E64D}"/>
                </a:ext>
              </a:extLst>
            </p:cNvPr>
            <p:cNvSpPr/>
            <p:nvPr/>
          </p:nvSpPr>
          <p:spPr>
            <a:xfrm>
              <a:off x="7172197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51" name="Straight Arrow Connector 950">
              <a:extLst>
                <a:ext uri="{FF2B5EF4-FFF2-40B4-BE49-F238E27FC236}">
                  <a16:creationId xmlns:a16="http://schemas.microsoft.com/office/drawing/2014/main" id="{F9D0A745-AF89-9B6B-A555-928631EBAB1C}"/>
                </a:ext>
              </a:extLst>
            </p:cNvPr>
            <p:cNvCxnSpPr>
              <a:cxnSpLocks/>
              <a:stCxn id="947" idx="4"/>
              <a:endCxn id="950" idx="0"/>
            </p:cNvCxnSpPr>
            <p:nvPr/>
          </p:nvCxnSpPr>
          <p:spPr>
            <a:xfrm>
              <a:off x="7304710" y="4110196"/>
              <a:ext cx="4647" cy="379442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2" name="Oval 951">
              <a:extLst>
                <a:ext uri="{FF2B5EF4-FFF2-40B4-BE49-F238E27FC236}">
                  <a16:creationId xmlns:a16="http://schemas.microsoft.com/office/drawing/2014/main" id="{0E601E62-3AB4-3B0D-A61A-7DE97DE8889A}"/>
                </a:ext>
              </a:extLst>
            </p:cNvPr>
            <p:cNvSpPr/>
            <p:nvPr/>
          </p:nvSpPr>
          <p:spPr>
            <a:xfrm>
              <a:off x="8009097" y="385907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53" name="Straight Arrow Connector 952">
              <a:extLst>
                <a:ext uri="{FF2B5EF4-FFF2-40B4-BE49-F238E27FC236}">
                  <a16:creationId xmlns:a16="http://schemas.microsoft.com/office/drawing/2014/main" id="{A55027CA-1961-0B6D-73F8-F89F3FFB9057}"/>
                </a:ext>
              </a:extLst>
            </p:cNvPr>
            <p:cNvCxnSpPr>
              <a:cxnSpLocks/>
              <a:stCxn id="937" idx="5"/>
              <a:endCxn id="952" idx="0"/>
            </p:cNvCxnSpPr>
            <p:nvPr/>
          </p:nvCxnSpPr>
          <p:spPr>
            <a:xfrm>
              <a:off x="7403468" y="3371628"/>
              <a:ext cx="742789" cy="487442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4" name="Oval 953">
              <a:extLst>
                <a:ext uri="{FF2B5EF4-FFF2-40B4-BE49-F238E27FC236}">
                  <a16:creationId xmlns:a16="http://schemas.microsoft.com/office/drawing/2014/main" id="{3B908C69-0E21-5480-C006-7C4FB8E36196}"/>
                </a:ext>
              </a:extLst>
            </p:cNvPr>
            <p:cNvSpPr/>
            <p:nvPr/>
          </p:nvSpPr>
          <p:spPr>
            <a:xfrm>
              <a:off x="8013344" y="449414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955" name="Straight Arrow Connector 954">
              <a:extLst>
                <a:ext uri="{FF2B5EF4-FFF2-40B4-BE49-F238E27FC236}">
                  <a16:creationId xmlns:a16="http://schemas.microsoft.com/office/drawing/2014/main" id="{49D5AAF7-32DC-F89C-B41E-13704F5D4ED7}"/>
                </a:ext>
              </a:extLst>
            </p:cNvPr>
            <p:cNvCxnSpPr>
              <a:cxnSpLocks/>
              <a:stCxn id="950" idx="7"/>
              <a:endCxn id="952" idx="3"/>
            </p:cNvCxnSpPr>
            <p:nvPr/>
          </p:nvCxnSpPr>
          <p:spPr>
            <a:xfrm flipV="1">
              <a:off x="7406344" y="4093217"/>
              <a:ext cx="642926" cy="436594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6" name="Straight Arrow Connector 955">
              <a:extLst>
                <a:ext uri="{FF2B5EF4-FFF2-40B4-BE49-F238E27FC236}">
                  <a16:creationId xmlns:a16="http://schemas.microsoft.com/office/drawing/2014/main" id="{875DD2B3-650C-031D-22E8-A8AC7DA4FF55}"/>
                </a:ext>
              </a:extLst>
            </p:cNvPr>
            <p:cNvCxnSpPr>
              <a:cxnSpLocks/>
              <a:stCxn id="952" idx="4"/>
              <a:endCxn id="954" idx="0"/>
            </p:cNvCxnSpPr>
            <p:nvPr/>
          </p:nvCxnSpPr>
          <p:spPr>
            <a:xfrm>
              <a:off x="8146257" y="4133390"/>
              <a:ext cx="4247" cy="360756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7" name="TextBox 956">
              <a:extLst>
                <a:ext uri="{FF2B5EF4-FFF2-40B4-BE49-F238E27FC236}">
                  <a16:creationId xmlns:a16="http://schemas.microsoft.com/office/drawing/2014/main" id="{43DDB6AC-27A8-611B-C7EE-6DA95BDD1237}"/>
                </a:ext>
              </a:extLst>
            </p:cNvPr>
            <p:cNvSpPr txBox="1"/>
            <p:nvPr/>
          </p:nvSpPr>
          <p:spPr>
            <a:xfrm>
              <a:off x="6613608" y="3838740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58" name="TextBox 957">
              <a:extLst>
                <a:ext uri="{FF2B5EF4-FFF2-40B4-BE49-F238E27FC236}">
                  <a16:creationId xmlns:a16="http://schemas.microsoft.com/office/drawing/2014/main" id="{86E94D20-5E75-FC80-E256-30A121910D5C}"/>
                </a:ext>
              </a:extLst>
            </p:cNvPr>
            <p:cNvSpPr txBox="1"/>
            <p:nvPr/>
          </p:nvSpPr>
          <p:spPr>
            <a:xfrm>
              <a:off x="6600787" y="4504155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959" name="TextBox 958">
              <a:extLst>
                <a:ext uri="{FF2B5EF4-FFF2-40B4-BE49-F238E27FC236}">
                  <a16:creationId xmlns:a16="http://schemas.microsoft.com/office/drawing/2014/main" id="{D5BA7FFC-C767-3A59-F4C1-3A87A44DE1E7}"/>
                </a:ext>
              </a:extLst>
            </p:cNvPr>
            <p:cNvSpPr txBox="1"/>
            <p:nvPr/>
          </p:nvSpPr>
          <p:spPr>
            <a:xfrm>
              <a:off x="8231541" y="3820097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CCID=7/9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8397F3B1-307D-2BAD-4215-B60E9DFFFDE8}"/>
                </a:ext>
              </a:extLst>
            </p:cNvPr>
            <p:cNvSpPr txBox="1"/>
            <p:nvPr/>
          </p:nvSpPr>
          <p:spPr>
            <a:xfrm>
              <a:off x="8273249" y="4493032"/>
              <a:ext cx="8707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CCID=8/10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FB36DF35-45E3-C786-EB87-31E0F18070C1}"/>
                </a:ext>
              </a:extLst>
            </p:cNvPr>
            <p:cNvSpPr txBox="1"/>
            <p:nvPr/>
          </p:nvSpPr>
          <p:spPr>
            <a:xfrm>
              <a:off x="7275738" y="3520154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DD1ED276-F6C6-839A-E31E-88E0E3A6D44C}"/>
                </a:ext>
              </a:extLst>
            </p:cNvPr>
            <p:cNvSpPr txBox="1"/>
            <p:nvPr/>
          </p:nvSpPr>
          <p:spPr>
            <a:xfrm>
              <a:off x="7268768" y="412151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6242FE7F-C7DE-C1F0-9ADE-869E69F8ADE6}"/>
                </a:ext>
              </a:extLst>
            </p:cNvPr>
            <p:cNvSpPr txBox="1"/>
            <p:nvPr/>
          </p:nvSpPr>
          <p:spPr>
            <a:xfrm>
              <a:off x="7594702" y="406174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02D569B2-2990-DFE0-8B4F-67FB1DA20889}"/>
                </a:ext>
              </a:extLst>
            </p:cNvPr>
            <p:cNvSpPr txBox="1"/>
            <p:nvPr/>
          </p:nvSpPr>
          <p:spPr>
            <a:xfrm>
              <a:off x="8099934" y="415148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775A2CF-8A85-EB52-2D87-20661E52E969}"/>
                </a:ext>
              </a:extLst>
            </p:cNvPr>
            <p:cNvSpPr/>
            <p:nvPr/>
          </p:nvSpPr>
          <p:spPr>
            <a:xfrm>
              <a:off x="7465139" y="3191393"/>
              <a:ext cx="368303" cy="124177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47F9E47-C102-1DD7-41B8-5A9F599D187D}"/>
                </a:ext>
              </a:extLst>
            </p:cNvPr>
            <p:cNvSpPr/>
            <p:nvPr/>
          </p:nvSpPr>
          <p:spPr>
            <a:xfrm>
              <a:off x="6513471" y="3912103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FDDEC55-C2C5-DB2C-4699-1B847B9325CD}"/>
                </a:ext>
              </a:extLst>
            </p:cNvPr>
            <p:cNvSpPr/>
            <p:nvPr/>
          </p:nvSpPr>
          <p:spPr>
            <a:xfrm>
              <a:off x="6512261" y="456553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D029804-0A73-C517-4AFF-B355DDC72D32}"/>
                </a:ext>
              </a:extLst>
            </p:cNvPr>
            <p:cNvSpPr/>
            <p:nvPr/>
          </p:nvSpPr>
          <p:spPr>
            <a:xfrm>
              <a:off x="7465140" y="390192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6B0F81A-DF7B-FD91-08E8-B7BD15B5FE83}"/>
                </a:ext>
              </a:extLst>
            </p:cNvPr>
            <p:cNvSpPr/>
            <p:nvPr/>
          </p:nvSpPr>
          <p:spPr>
            <a:xfrm>
              <a:off x="7471392" y="456996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B6A208B-1AE0-0DBD-27EE-1FA7E5A15771}"/>
                </a:ext>
              </a:extLst>
            </p:cNvPr>
            <p:cNvSpPr/>
            <p:nvPr/>
          </p:nvSpPr>
          <p:spPr>
            <a:xfrm>
              <a:off x="8214374" y="373054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B48B128-DF75-05A8-BC10-398D51FFF129}"/>
                </a:ext>
              </a:extLst>
            </p:cNvPr>
            <p:cNvSpPr/>
            <p:nvPr/>
          </p:nvSpPr>
          <p:spPr>
            <a:xfrm>
              <a:off x="8276750" y="4407556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F9DE785-5525-538D-CEF3-48FFBFC33F63}"/>
                </a:ext>
              </a:extLst>
            </p:cNvPr>
            <p:cNvSpPr/>
            <p:nvPr/>
          </p:nvSpPr>
          <p:spPr>
            <a:xfrm>
              <a:off x="7862498" y="2971942"/>
              <a:ext cx="410752" cy="125366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NCP</a:t>
              </a:r>
            </a:p>
          </p:txBody>
        </p:sp>
      </p:grpSp>
      <p:grpSp>
        <p:nvGrpSpPr>
          <p:cNvPr id="924" name="Group 923">
            <a:extLst>
              <a:ext uri="{FF2B5EF4-FFF2-40B4-BE49-F238E27FC236}">
                <a16:creationId xmlns:a16="http://schemas.microsoft.com/office/drawing/2014/main" id="{E0C557A6-3C6B-AF8D-7144-2CE17FD1695A}"/>
              </a:ext>
            </a:extLst>
          </p:cNvPr>
          <p:cNvGrpSpPr/>
          <p:nvPr/>
        </p:nvGrpSpPr>
        <p:grpSpPr>
          <a:xfrm>
            <a:off x="3085655" y="327288"/>
            <a:ext cx="2383421" cy="1783080"/>
            <a:chOff x="3920186" y="2918706"/>
            <a:chExt cx="2387252" cy="1784407"/>
          </a:xfrm>
        </p:grpSpPr>
        <p:sp>
          <p:nvSpPr>
            <p:cNvPr id="926" name="TextBox 925">
              <a:extLst>
                <a:ext uri="{FF2B5EF4-FFF2-40B4-BE49-F238E27FC236}">
                  <a16:creationId xmlns:a16="http://schemas.microsoft.com/office/drawing/2014/main" id="{ADBDC781-A0F2-B030-90A5-9B261E77141B}"/>
                </a:ext>
              </a:extLst>
            </p:cNvPr>
            <p:cNvSpPr txBox="1"/>
            <p:nvPr/>
          </p:nvSpPr>
          <p:spPr>
            <a:xfrm>
              <a:off x="4192230" y="2918706"/>
              <a:ext cx="2115208" cy="215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NCP(p)=2xNCP(n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</a:t>
              </a:r>
              <a:r>
                <a:rPr lang="en-US" sz="800" b="1" dirty="0">
                  <a:solidFill>
                    <a:srgbClr val="00B0F0"/>
                  </a:solidFill>
                  <a:latin typeface="Tw Cen MT" panose="020B0602020104020603" pitchFamily="34" charset="77"/>
                </a:rPr>
                <a:t>+NCP(n</a:t>
              </a:r>
              <a:r>
                <a:rPr lang="en-US" sz="800" b="1" baseline="-25000" dirty="0">
                  <a:solidFill>
                    <a:srgbClr val="00B0F0"/>
                  </a:solidFill>
                  <a:latin typeface="Tw Cen MT" panose="020B0602020104020603" pitchFamily="34" charset="77"/>
                </a:rPr>
                <a:t>2</a:t>
              </a:r>
              <a:r>
                <a:rPr lang="en-US" sz="800" b="1" dirty="0">
                  <a:solidFill>
                    <a:srgbClr val="00B0F0"/>
                  </a:solidFill>
                  <a:latin typeface="Tw Cen MT" panose="020B0602020104020603" pitchFamily="34" charset="77"/>
                </a:rPr>
                <a:t>)+1</a:t>
              </a:r>
              <a:endParaRPr lang="en-US" sz="800" b="1" baseline="-25000" dirty="0">
                <a:solidFill>
                  <a:srgbClr val="00B0F0"/>
                </a:solidFill>
                <a:latin typeface="Tw Cen MT" panose="020B0602020104020603" pitchFamily="34" charset="77"/>
              </a:endParaRPr>
            </a:p>
          </p:txBody>
        </p:sp>
        <p:grpSp>
          <p:nvGrpSpPr>
            <p:cNvPr id="927" name="Group 926">
              <a:extLst>
                <a:ext uri="{FF2B5EF4-FFF2-40B4-BE49-F238E27FC236}">
                  <a16:creationId xmlns:a16="http://schemas.microsoft.com/office/drawing/2014/main" id="{FD786A48-FE85-60B8-D0BC-E3DBFCFA59AA}"/>
                </a:ext>
              </a:extLst>
            </p:cNvPr>
            <p:cNvGrpSpPr/>
            <p:nvPr/>
          </p:nvGrpSpPr>
          <p:grpSpPr>
            <a:xfrm>
              <a:off x="3920186" y="3086481"/>
              <a:ext cx="2327029" cy="1616632"/>
              <a:chOff x="3920186" y="3086481"/>
              <a:chExt cx="2327029" cy="1616632"/>
            </a:xfrm>
          </p:grpSpPr>
          <p:sp>
            <p:nvSpPr>
              <p:cNvPr id="928" name="TextBox 927">
                <a:extLst>
                  <a:ext uri="{FF2B5EF4-FFF2-40B4-BE49-F238E27FC236}">
                    <a16:creationId xmlns:a16="http://schemas.microsoft.com/office/drawing/2014/main" id="{37133346-569F-B2D9-E876-722FD8C72C99}"/>
                  </a:ext>
                </a:extLst>
              </p:cNvPr>
              <p:cNvSpPr txBox="1"/>
              <p:nvPr/>
            </p:nvSpPr>
            <p:spPr>
              <a:xfrm>
                <a:off x="3976611" y="3699534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1</a:t>
                </a:r>
              </a:p>
            </p:txBody>
          </p:sp>
          <p:cxnSp>
            <p:nvCxnSpPr>
              <p:cNvPr id="929" name="Straight Arrow Connector 928">
                <a:extLst>
                  <a:ext uri="{FF2B5EF4-FFF2-40B4-BE49-F238E27FC236}">
                    <a16:creationId xmlns:a16="http://schemas.microsoft.com/office/drawing/2014/main" id="{8FC1AA1C-F377-A519-6312-586CC8F327BB}"/>
                  </a:ext>
                </a:extLst>
              </p:cNvPr>
              <p:cNvCxnSpPr>
                <a:cxnSpLocks/>
                <a:stCxn id="930" idx="5"/>
                <a:endCxn id="464" idx="0"/>
              </p:cNvCxnSpPr>
              <p:nvPr/>
            </p:nvCxnSpPr>
            <p:spPr>
              <a:xfrm>
                <a:off x="5217923" y="3372363"/>
                <a:ext cx="834250" cy="373660"/>
              </a:xfrm>
              <a:prstGeom prst="straightConnector1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30" name="Oval 929">
                <a:extLst>
                  <a:ext uri="{FF2B5EF4-FFF2-40B4-BE49-F238E27FC236}">
                    <a16:creationId xmlns:a16="http://schemas.microsoft.com/office/drawing/2014/main" id="{04FE4115-1190-F221-D0E4-5B966420BF19}"/>
                  </a:ext>
                </a:extLst>
              </p:cNvPr>
              <p:cNvSpPr/>
              <p:nvPr/>
            </p:nvSpPr>
            <p:spPr>
              <a:xfrm>
                <a:off x="4983776" y="313821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931" name="Straight Arrow Connector 930">
                <a:extLst>
                  <a:ext uri="{FF2B5EF4-FFF2-40B4-BE49-F238E27FC236}">
                    <a16:creationId xmlns:a16="http://schemas.microsoft.com/office/drawing/2014/main" id="{0CF212CB-BF04-696B-E6DA-75DF0AA36637}"/>
                  </a:ext>
                </a:extLst>
              </p:cNvPr>
              <p:cNvCxnSpPr>
                <a:cxnSpLocks/>
                <a:stCxn id="930" idx="3"/>
                <a:endCxn id="468" idx="0"/>
              </p:cNvCxnSpPr>
              <p:nvPr/>
            </p:nvCxnSpPr>
            <p:spPr>
              <a:xfrm flipH="1">
                <a:off x="4125892" y="3372363"/>
                <a:ext cx="898057" cy="37709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34" name="Group 933">
                <a:extLst>
                  <a:ext uri="{FF2B5EF4-FFF2-40B4-BE49-F238E27FC236}">
                    <a16:creationId xmlns:a16="http://schemas.microsoft.com/office/drawing/2014/main" id="{931576F6-E400-ADE2-C191-110B8883508D}"/>
                  </a:ext>
                </a:extLst>
              </p:cNvPr>
              <p:cNvGrpSpPr/>
              <p:nvPr/>
            </p:nvGrpSpPr>
            <p:grpSpPr>
              <a:xfrm>
                <a:off x="3920186" y="3749458"/>
                <a:ext cx="411412" cy="953655"/>
                <a:chOff x="6587549" y="3454673"/>
                <a:chExt cx="411412" cy="953655"/>
              </a:xfrm>
            </p:grpSpPr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891031FD-38AD-D3F4-3C46-1A21A8DD702A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469" name="Extract 468">
                  <a:extLst>
                    <a:ext uri="{FF2B5EF4-FFF2-40B4-BE49-F238E27FC236}">
                      <a16:creationId xmlns:a16="http://schemas.microsoft.com/office/drawing/2014/main" id="{AF6326F7-63CB-60AC-2590-22DACA8D1D5D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1B074D79-87C1-1721-F6DA-C044FB4E020E}"/>
                  </a:ext>
                </a:extLst>
              </p:cNvPr>
              <p:cNvSpPr txBox="1"/>
              <p:nvPr/>
            </p:nvSpPr>
            <p:spPr>
              <a:xfrm>
                <a:off x="4399450" y="3321557"/>
                <a:ext cx="263214" cy="231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</a:p>
            </p:txBody>
          </p:sp>
          <p:cxnSp>
            <p:nvCxnSpPr>
              <p:cNvPr id="454" name="Straight Arrow Connector 453">
                <a:extLst>
                  <a:ext uri="{FF2B5EF4-FFF2-40B4-BE49-F238E27FC236}">
                    <a16:creationId xmlns:a16="http://schemas.microsoft.com/office/drawing/2014/main" id="{F1B8F38B-241E-1793-9C7A-4A8E5370BC9A}"/>
                  </a:ext>
                </a:extLst>
              </p:cNvPr>
              <p:cNvCxnSpPr>
                <a:cxnSpLocks/>
                <a:stCxn id="930" idx="4"/>
                <a:endCxn id="466" idx="0"/>
              </p:cNvCxnSpPr>
              <p:nvPr/>
            </p:nvCxnSpPr>
            <p:spPr>
              <a:xfrm>
                <a:off x="5120936" y="3412536"/>
                <a:ext cx="0" cy="333487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6657BCFA-5464-D2B5-5438-2D3D91B04D26}"/>
                  </a:ext>
                </a:extLst>
              </p:cNvPr>
              <p:cNvGrpSpPr/>
              <p:nvPr/>
            </p:nvGrpSpPr>
            <p:grpSpPr>
              <a:xfrm>
                <a:off x="4904566" y="3746023"/>
                <a:ext cx="411412" cy="955661"/>
                <a:chOff x="7316750" y="3452824"/>
                <a:chExt cx="411412" cy="955661"/>
              </a:xfrm>
            </p:grpSpPr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428AD452-97CF-FB53-DBEF-96376D553C7E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rgbClr val="00B0F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467" name="Extract 466">
                  <a:extLst>
                    <a:ext uri="{FF2B5EF4-FFF2-40B4-BE49-F238E27FC236}">
                      <a16:creationId xmlns:a16="http://schemas.microsoft.com/office/drawing/2014/main" id="{A7571808-767C-5329-0A66-A1BB2FCF5817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rgbClr val="00B0F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1CD9B0B7-72FE-2B0F-6977-600684CB9384}"/>
                  </a:ext>
                </a:extLst>
              </p:cNvPr>
              <p:cNvSpPr txBox="1"/>
              <p:nvPr/>
            </p:nvSpPr>
            <p:spPr>
              <a:xfrm>
                <a:off x="5052514" y="3500380"/>
                <a:ext cx="779680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2xNCP(n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</a:t>
                </a:r>
                <a:r>
                  <a:rPr lang="en-US" sz="800" b="1" dirty="0">
                    <a:solidFill>
                      <a:srgbClr val="00B0F0"/>
                    </a:solidFill>
                    <a:latin typeface="Tw Cen MT" panose="020B0602020104020603" pitchFamily="34" charset="77"/>
                  </a:rPr>
                  <a:t>+1</a:t>
                </a:r>
              </a:p>
            </p:txBody>
          </p:sp>
          <p:grpSp>
            <p:nvGrpSpPr>
              <p:cNvPr id="457" name="Group 456">
                <a:extLst>
                  <a:ext uri="{FF2B5EF4-FFF2-40B4-BE49-F238E27FC236}">
                    <a16:creationId xmlns:a16="http://schemas.microsoft.com/office/drawing/2014/main" id="{2BB5484F-CBC9-12DD-2A87-7F89864C4A4A}"/>
                  </a:ext>
                </a:extLst>
              </p:cNvPr>
              <p:cNvGrpSpPr/>
              <p:nvPr/>
            </p:nvGrpSpPr>
            <p:grpSpPr>
              <a:xfrm>
                <a:off x="5835803" y="3746023"/>
                <a:ext cx="411412" cy="955661"/>
                <a:chOff x="7999896" y="3448722"/>
                <a:chExt cx="411412" cy="955661"/>
              </a:xfrm>
            </p:grpSpPr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AFA949C0-5591-0706-772D-DDEF6C6799A5}"/>
                    </a:ext>
                  </a:extLst>
                </p:cNvPr>
                <p:cNvSpPr/>
                <p:nvPr/>
              </p:nvSpPr>
              <p:spPr>
                <a:xfrm>
                  <a:off x="8079106" y="3448722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bg1">
                      <a:lumMod val="6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465" name="Extract 464">
                  <a:extLst>
                    <a:ext uri="{FF2B5EF4-FFF2-40B4-BE49-F238E27FC236}">
                      <a16:creationId xmlns:a16="http://schemas.microsoft.com/office/drawing/2014/main" id="{C29AF945-0385-124B-85A6-95384B162F0D}"/>
                    </a:ext>
                  </a:extLst>
                </p:cNvPr>
                <p:cNvSpPr/>
                <p:nvPr/>
              </p:nvSpPr>
              <p:spPr>
                <a:xfrm>
                  <a:off x="7999896" y="3725048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bg1">
                      <a:lumMod val="6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8" name="TextBox 457">
                <a:extLst>
                  <a:ext uri="{FF2B5EF4-FFF2-40B4-BE49-F238E27FC236}">
                    <a16:creationId xmlns:a16="http://schemas.microsoft.com/office/drawing/2014/main" id="{6CAEE0B6-9ADD-0586-5ED6-0B1F7675A04F}"/>
                  </a:ext>
                </a:extLst>
              </p:cNvPr>
              <p:cNvSpPr txBox="1"/>
              <p:nvPr/>
            </p:nvSpPr>
            <p:spPr>
              <a:xfrm>
                <a:off x="4992367" y="3086481"/>
                <a:ext cx="277640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p</a:t>
                </a:r>
              </a:p>
            </p:txBody>
          </p:sp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B2784482-CE93-9C84-7601-1799FA4E3338}"/>
                  </a:ext>
                </a:extLst>
              </p:cNvPr>
              <p:cNvSpPr txBox="1"/>
              <p:nvPr/>
            </p:nvSpPr>
            <p:spPr>
              <a:xfrm>
                <a:off x="4969199" y="3694809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2</a:t>
                </a:r>
              </a:p>
            </p:txBody>
          </p:sp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E8072E07-3205-8586-F6D7-226F836D7C8F}"/>
                  </a:ext>
                </a:extLst>
              </p:cNvPr>
              <p:cNvSpPr txBox="1"/>
              <p:nvPr/>
            </p:nvSpPr>
            <p:spPr>
              <a:xfrm>
                <a:off x="5906625" y="3693172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solidFill>
                      <a:schemeClr val="bg1">
                        <a:lumMod val="65000"/>
                      </a:schemeClr>
                    </a:solidFill>
                  </a:rPr>
                  <a:t>n</a:t>
                </a:r>
                <a:r>
                  <a:rPr lang="en-US" sz="1300" baseline="-25000" dirty="0">
                    <a:solidFill>
                      <a:schemeClr val="bg1">
                        <a:lumMod val="65000"/>
                      </a:schemeClr>
                    </a:solidFill>
                  </a:rPr>
                  <a:t>3</a:t>
                </a:r>
              </a:p>
            </p:txBody>
          </p:sp>
          <p:cxnSp>
            <p:nvCxnSpPr>
              <p:cNvPr id="461" name="Straight Arrow Connector 460">
                <a:extLst>
                  <a:ext uri="{FF2B5EF4-FFF2-40B4-BE49-F238E27FC236}">
                    <a16:creationId xmlns:a16="http://schemas.microsoft.com/office/drawing/2014/main" id="{2AA2703E-B629-C249-1E67-89A1C37ABA46}"/>
                  </a:ext>
                </a:extLst>
              </p:cNvPr>
              <p:cNvCxnSpPr>
                <a:cxnSpLocks/>
                <a:endCxn id="468" idx="6"/>
              </p:cNvCxnSpPr>
              <p:nvPr/>
            </p:nvCxnSpPr>
            <p:spPr>
              <a:xfrm flipH="1">
                <a:off x="4263052" y="3401109"/>
                <a:ext cx="747302" cy="4855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B88F0988-2BC6-B1B1-718F-217DD1A7D657}"/>
                  </a:ext>
                </a:extLst>
              </p:cNvPr>
              <p:cNvSpPr txBox="1"/>
              <p:nvPr/>
            </p:nvSpPr>
            <p:spPr>
              <a:xfrm>
                <a:off x="4403093" y="3698019"/>
                <a:ext cx="641928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  <a:endParaRPr lang="en-US" sz="800" baseline="-25000" dirty="0">
                  <a:solidFill>
                    <a:srgbClr val="FF0000"/>
                  </a:solidFill>
                  <a:latin typeface="Tw Cen MT" panose="020B0602020104020603" pitchFamily="34" charset="77"/>
                </a:endParaRPr>
              </a:p>
            </p:txBody>
          </p:sp>
        </p:grp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74021440-AAA8-F299-C9C9-397C3A4F9774}"/>
              </a:ext>
            </a:extLst>
          </p:cNvPr>
          <p:cNvGrpSpPr/>
          <p:nvPr/>
        </p:nvGrpSpPr>
        <p:grpSpPr>
          <a:xfrm>
            <a:off x="260265" y="368066"/>
            <a:ext cx="2383421" cy="1783080"/>
            <a:chOff x="3920186" y="2918706"/>
            <a:chExt cx="2387252" cy="1784407"/>
          </a:xfrm>
        </p:grpSpPr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0683E7E5-4208-F9D7-D92E-6DA4AED5B5CD}"/>
                </a:ext>
              </a:extLst>
            </p:cNvPr>
            <p:cNvSpPr txBox="1"/>
            <p:nvPr/>
          </p:nvSpPr>
          <p:spPr>
            <a:xfrm>
              <a:off x="4192230" y="2918706"/>
              <a:ext cx="2115208" cy="2156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NCP(p)=2xNCP(n</a:t>
              </a:r>
              <a:r>
                <a:rPr lang="en-US" sz="800" baseline="-250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)+1</a:t>
              </a:r>
              <a:endParaRPr lang="en-US" sz="800" b="1" baseline="-25000" dirty="0">
                <a:solidFill>
                  <a:srgbClr val="0070C0"/>
                </a:solidFill>
                <a:latin typeface="Tw Cen MT" panose="020B0602020104020603" pitchFamily="34" charset="77"/>
              </a:endParaRPr>
            </a:p>
          </p:txBody>
        </p: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A56230CA-76E8-D6B3-F43F-F769C1D50FD2}"/>
                </a:ext>
              </a:extLst>
            </p:cNvPr>
            <p:cNvGrpSpPr/>
            <p:nvPr/>
          </p:nvGrpSpPr>
          <p:grpSpPr>
            <a:xfrm>
              <a:off x="3920186" y="3086481"/>
              <a:ext cx="2327029" cy="1616632"/>
              <a:chOff x="3920186" y="3086481"/>
              <a:chExt cx="2327029" cy="1616632"/>
            </a:xfrm>
          </p:grpSpPr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542967DE-D97B-9759-FFB9-5C3B378A3445}"/>
                  </a:ext>
                </a:extLst>
              </p:cNvPr>
              <p:cNvSpPr txBox="1"/>
              <p:nvPr/>
            </p:nvSpPr>
            <p:spPr>
              <a:xfrm>
                <a:off x="3976611" y="3699534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n</a:t>
                </a:r>
                <a:r>
                  <a:rPr lang="en-US" sz="1300" baseline="-25000" dirty="0"/>
                  <a:t>1</a:t>
                </a:r>
              </a:p>
            </p:txBody>
          </p:sp>
          <p:cxnSp>
            <p:nvCxnSpPr>
              <p:cNvPr id="476" name="Straight Arrow Connector 475">
                <a:extLst>
                  <a:ext uri="{FF2B5EF4-FFF2-40B4-BE49-F238E27FC236}">
                    <a16:creationId xmlns:a16="http://schemas.microsoft.com/office/drawing/2014/main" id="{CAC4AA7D-7EA1-A0A1-C6C0-55324217C820}"/>
                  </a:ext>
                </a:extLst>
              </p:cNvPr>
              <p:cNvCxnSpPr>
                <a:cxnSpLocks/>
                <a:stCxn id="477" idx="5"/>
                <a:endCxn id="509" idx="0"/>
              </p:cNvCxnSpPr>
              <p:nvPr/>
            </p:nvCxnSpPr>
            <p:spPr>
              <a:xfrm>
                <a:off x="5217923" y="3372363"/>
                <a:ext cx="834250" cy="373660"/>
              </a:xfrm>
              <a:prstGeom prst="straightConnector1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7" name="Oval 476">
                <a:extLst>
                  <a:ext uri="{FF2B5EF4-FFF2-40B4-BE49-F238E27FC236}">
                    <a16:creationId xmlns:a16="http://schemas.microsoft.com/office/drawing/2014/main" id="{520B70CD-1C88-D64D-1544-82B4FEFC349F}"/>
                  </a:ext>
                </a:extLst>
              </p:cNvPr>
              <p:cNvSpPr/>
              <p:nvPr/>
            </p:nvSpPr>
            <p:spPr>
              <a:xfrm>
                <a:off x="4983776" y="313821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479" name="Straight Arrow Connector 478">
                <a:extLst>
                  <a:ext uri="{FF2B5EF4-FFF2-40B4-BE49-F238E27FC236}">
                    <a16:creationId xmlns:a16="http://schemas.microsoft.com/office/drawing/2014/main" id="{C072142B-714A-11F7-47A8-7F4832A08209}"/>
                  </a:ext>
                </a:extLst>
              </p:cNvPr>
              <p:cNvCxnSpPr>
                <a:cxnSpLocks/>
                <a:stCxn id="477" idx="3"/>
                <a:endCxn id="528" idx="0"/>
              </p:cNvCxnSpPr>
              <p:nvPr/>
            </p:nvCxnSpPr>
            <p:spPr>
              <a:xfrm flipH="1">
                <a:off x="4125892" y="3372363"/>
                <a:ext cx="898057" cy="377095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80" name="Group 479">
                <a:extLst>
                  <a:ext uri="{FF2B5EF4-FFF2-40B4-BE49-F238E27FC236}">
                    <a16:creationId xmlns:a16="http://schemas.microsoft.com/office/drawing/2014/main" id="{99B98B80-4AB5-6874-24C3-53104998D321}"/>
                  </a:ext>
                </a:extLst>
              </p:cNvPr>
              <p:cNvGrpSpPr/>
              <p:nvPr/>
            </p:nvGrpSpPr>
            <p:grpSpPr>
              <a:xfrm>
                <a:off x="3920186" y="3749458"/>
                <a:ext cx="411412" cy="953655"/>
                <a:chOff x="6587549" y="3454673"/>
                <a:chExt cx="411412" cy="953655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94F8BA10-F25A-51ED-B8A8-674C72693FCB}"/>
                    </a:ext>
                  </a:extLst>
                </p:cNvPr>
                <p:cNvSpPr/>
                <p:nvPr/>
              </p:nvSpPr>
              <p:spPr>
                <a:xfrm>
                  <a:off x="6656095" y="3454673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rgbClr val="00B0F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29" name="Extract 528">
                  <a:extLst>
                    <a:ext uri="{FF2B5EF4-FFF2-40B4-BE49-F238E27FC236}">
                      <a16:creationId xmlns:a16="http://schemas.microsoft.com/office/drawing/2014/main" id="{88190931-F07A-5E9A-5B8A-987B2943909F}"/>
                    </a:ext>
                  </a:extLst>
                </p:cNvPr>
                <p:cNvSpPr/>
                <p:nvPr/>
              </p:nvSpPr>
              <p:spPr>
                <a:xfrm>
                  <a:off x="6587549" y="3728993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rgbClr val="00B0F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81" name="TextBox 480">
                <a:extLst>
                  <a:ext uri="{FF2B5EF4-FFF2-40B4-BE49-F238E27FC236}">
                    <a16:creationId xmlns:a16="http://schemas.microsoft.com/office/drawing/2014/main" id="{5ADA45E9-767D-C354-7756-5E1B450DD0E5}"/>
                  </a:ext>
                </a:extLst>
              </p:cNvPr>
              <p:cNvSpPr txBox="1"/>
              <p:nvPr/>
            </p:nvSpPr>
            <p:spPr>
              <a:xfrm>
                <a:off x="4399450" y="3321557"/>
                <a:ext cx="263214" cy="231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</a:p>
            </p:txBody>
          </p:sp>
          <p:cxnSp>
            <p:nvCxnSpPr>
              <p:cNvPr id="482" name="Straight Arrow Connector 481">
                <a:extLst>
                  <a:ext uri="{FF2B5EF4-FFF2-40B4-BE49-F238E27FC236}">
                    <a16:creationId xmlns:a16="http://schemas.microsoft.com/office/drawing/2014/main" id="{E670E704-0B8B-85E6-92D1-6C64DFA575A5}"/>
                  </a:ext>
                </a:extLst>
              </p:cNvPr>
              <p:cNvCxnSpPr>
                <a:cxnSpLocks/>
                <a:stCxn id="477" idx="4"/>
                <a:endCxn id="514" idx="0"/>
              </p:cNvCxnSpPr>
              <p:nvPr/>
            </p:nvCxnSpPr>
            <p:spPr>
              <a:xfrm>
                <a:off x="5120936" y="3412536"/>
                <a:ext cx="0" cy="333487"/>
              </a:xfrm>
              <a:prstGeom prst="straightConnector1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83" name="Group 482">
                <a:extLst>
                  <a:ext uri="{FF2B5EF4-FFF2-40B4-BE49-F238E27FC236}">
                    <a16:creationId xmlns:a16="http://schemas.microsoft.com/office/drawing/2014/main" id="{E3D396F7-14DE-798B-D446-C25158F971A7}"/>
                  </a:ext>
                </a:extLst>
              </p:cNvPr>
              <p:cNvGrpSpPr/>
              <p:nvPr/>
            </p:nvGrpSpPr>
            <p:grpSpPr>
              <a:xfrm>
                <a:off x="4904566" y="3746023"/>
                <a:ext cx="411412" cy="955661"/>
                <a:chOff x="7316750" y="3452824"/>
                <a:chExt cx="411412" cy="955661"/>
              </a:xfrm>
            </p:grpSpPr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6A76D578-AB15-9B4C-23AF-70672239D9D2}"/>
                    </a:ext>
                  </a:extLst>
                </p:cNvPr>
                <p:cNvSpPr/>
                <p:nvPr/>
              </p:nvSpPr>
              <p:spPr>
                <a:xfrm>
                  <a:off x="7395960" y="3452824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bg1">
                      <a:lumMod val="6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18" name="Extract 517">
                  <a:extLst>
                    <a:ext uri="{FF2B5EF4-FFF2-40B4-BE49-F238E27FC236}">
                      <a16:creationId xmlns:a16="http://schemas.microsoft.com/office/drawing/2014/main" id="{0B9CD699-CE43-8C70-2E8E-400B696F6219}"/>
                    </a:ext>
                  </a:extLst>
                </p:cNvPr>
                <p:cNvSpPr/>
                <p:nvPr/>
              </p:nvSpPr>
              <p:spPr>
                <a:xfrm>
                  <a:off x="7316750" y="3729150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bg1">
                      <a:lumMod val="6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85" name="Group 484">
                <a:extLst>
                  <a:ext uri="{FF2B5EF4-FFF2-40B4-BE49-F238E27FC236}">
                    <a16:creationId xmlns:a16="http://schemas.microsoft.com/office/drawing/2014/main" id="{88F3252D-44A2-F8E9-FE1E-0C3D76901198}"/>
                  </a:ext>
                </a:extLst>
              </p:cNvPr>
              <p:cNvGrpSpPr/>
              <p:nvPr/>
            </p:nvGrpSpPr>
            <p:grpSpPr>
              <a:xfrm>
                <a:off x="5835803" y="3746023"/>
                <a:ext cx="411412" cy="955661"/>
                <a:chOff x="7999896" y="3448722"/>
                <a:chExt cx="411412" cy="955661"/>
              </a:xfrm>
            </p:grpSpPr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E93406AA-C0B2-CBEF-72E6-B854014E2F52}"/>
                    </a:ext>
                  </a:extLst>
                </p:cNvPr>
                <p:cNvSpPr/>
                <p:nvPr/>
              </p:nvSpPr>
              <p:spPr>
                <a:xfrm>
                  <a:off x="8079106" y="3448722"/>
                  <a:ext cx="274320" cy="274320"/>
                </a:xfrm>
                <a:prstGeom prst="ellipse">
                  <a:avLst/>
                </a:prstGeom>
                <a:noFill/>
                <a:ln w="15875">
                  <a:solidFill>
                    <a:schemeClr val="bg1">
                      <a:lumMod val="6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endParaRPr>
                </a:p>
              </p:txBody>
            </p:sp>
            <p:sp>
              <p:nvSpPr>
                <p:cNvPr id="510" name="Extract 509">
                  <a:extLst>
                    <a:ext uri="{FF2B5EF4-FFF2-40B4-BE49-F238E27FC236}">
                      <a16:creationId xmlns:a16="http://schemas.microsoft.com/office/drawing/2014/main" id="{9965E8D7-781C-C7DE-A2FB-B7EFEAD70DC5}"/>
                    </a:ext>
                  </a:extLst>
                </p:cNvPr>
                <p:cNvSpPr/>
                <p:nvPr/>
              </p:nvSpPr>
              <p:spPr>
                <a:xfrm>
                  <a:off x="7999896" y="3725048"/>
                  <a:ext cx="411412" cy="679335"/>
                </a:xfrm>
                <a:prstGeom prst="flowChartExtract">
                  <a:avLst/>
                </a:prstGeom>
                <a:noFill/>
                <a:ln w="15875">
                  <a:solidFill>
                    <a:schemeClr val="bg1">
                      <a:lumMod val="6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98" name="TextBox 497">
                <a:extLst>
                  <a:ext uri="{FF2B5EF4-FFF2-40B4-BE49-F238E27FC236}">
                    <a16:creationId xmlns:a16="http://schemas.microsoft.com/office/drawing/2014/main" id="{861BE0DA-FA24-7EE7-D1F6-F4AE3FBB9551}"/>
                  </a:ext>
                </a:extLst>
              </p:cNvPr>
              <p:cNvSpPr txBox="1"/>
              <p:nvPr/>
            </p:nvSpPr>
            <p:spPr>
              <a:xfrm>
                <a:off x="4992367" y="3086481"/>
                <a:ext cx="277640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/>
                  <a:t>p</a:t>
                </a:r>
              </a:p>
            </p:txBody>
          </p:sp>
          <p:sp>
            <p:nvSpPr>
              <p:cNvPr id="499" name="TextBox 498">
                <a:extLst>
                  <a:ext uri="{FF2B5EF4-FFF2-40B4-BE49-F238E27FC236}">
                    <a16:creationId xmlns:a16="http://schemas.microsoft.com/office/drawing/2014/main" id="{B3320A78-0E2F-643A-DE15-3BB91EB75FE0}"/>
                  </a:ext>
                </a:extLst>
              </p:cNvPr>
              <p:cNvSpPr txBox="1"/>
              <p:nvPr/>
            </p:nvSpPr>
            <p:spPr>
              <a:xfrm>
                <a:off x="4969199" y="3694809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solidFill>
                      <a:schemeClr val="bg1">
                        <a:lumMod val="65000"/>
                      </a:schemeClr>
                    </a:solidFill>
                  </a:rPr>
                  <a:t>n</a:t>
                </a:r>
                <a:r>
                  <a:rPr lang="en-US" sz="1300" baseline="-25000" dirty="0">
                    <a:solidFill>
                      <a:schemeClr val="bg1">
                        <a:lumMod val="65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501" name="TextBox 500">
                <a:extLst>
                  <a:ext uri="{FF2B5EF4-FFF2-40B4-BE49-F238E27FC236}">
                    <a16:creationId xmlns:a16="http://schemas.microsoft.com/office/drawing/2014/main" id="{DBF7B508-1586-B895-F29B-87C64573A752}"/>
                  </a:ext>
                </a:extLst>
              </p:cNvPr>
              <p:cNvSpPr txBox="1"/>
              <p:nvPr/>
            </p:nvSpPr>
            <p:spPr>
              <a:xfrm>
                <a:off x="5906625" y="3693172"/>
                <a:ext cx="340158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solidFill>
                      <a:schemeClr val="bg1">
                        <a:lumMod val="65000"/>
                      </a:schemeClr>
                    </a:solidFill>
                  </a:rPr>
                  <a:t>n</a:t>
                </a:r>
                <a:r>
                  <a:rPr lang="en-US" sz="1300" baseline="-25000" dirty="0">
                    <a:solidFill>
                      <a:schemeClr val="bg1">
                        <a:lumMod val="65000"/>
                      </a:schemeClr>
                    </a:solidFill>
                  </a:rPr>
                  <a:t>3</a:t>
                </a:r>
              </a:p>
            </p:txBody>
          </p: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8E9FBDC-90A1-FF53-A368-1E6E1F696C7D}"/>
                  </a:ext>
                </a:extLst>
              </p:cNvPr>
              <p:cNvCxnSpPr>
                <a:cxnSpLocks/>
                <a:endCxn id="528" idx="6"/>
              </p:cNvCxnSpPr>
              <p:nvPr/>
            </p:nvCxnSpPr>
            <p:spPr>
              <a:xfrm flipH="1">
                <a:off x="4263052" y="3401109"/>
                <a:ext cx="747302" cy="485509"/>
              </a:xfrm>
              <a:prstGeom prst="straightConnector1">
                <a:avLst/>
              </a:prstGeom>
              <a:ln w="15875">
                <a:solidFill>
                  <a:srgbClr val="00B0F0"/>
                </a:solidFill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3" name="TextBox 502">
                <a:extLst>
                  <a:ext uri="{FF2B5EF4-FFF2-40B4-BE49-F238E27FC236}">
                    <a16:creationId xmlns:a16="http://schemas.microsoft.com/office/drawing/2014/main" id="{6BEDC1B5-1184-F40A-4DE0-BD76897D4A4C}"/>
                  </a:ext>
                </a:extLst>
              </p:cNvPr>
              <p:cNvSpPr txBox="1"/>
              <p:nvPr/>
            </p:nvSpPr>
            <p:spPr>
              <a:xfrm>
                <a:off x="4403093" y="3698019"/>
                <a:ext cx="641928" cy="2156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NCP(n</a:t>
                </a:r>
                <a:r>
                  <a:rPr lang="en-US" sz="800" baseline="-250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1</a:t>
                </a:r>
                <a:r>
                  <a:rPr lang="en-US" sz="8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)+1</a:t>
                </a:r>
                <a:endParaRPr lang="en-US" sz="800" baseline="-25000" dirty="0">
                  <a:solidFill>
                    <a:srgbClr val="FF0000"/>
                  </a:solidFill>
                  <a:latin typeface="Tw Cen MT" panose="020B0602020104020603" pitchFamily="34" charset="77"/>
                </a:endParaRPr>
              </a:p>
            </p:txBody>
          </p:sp>
        </p:grpSp>
      </p:grp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8FE2DB3B-C3A5-C995-E912-78798E4ECFA5}"/>
              </a:ext>
            </a:extLst>
          </p:cNvPr>
          <p:cNvGrpSpPr/>
          <p:nvPr/>
        </p:nvGrpSpPr>
        <p:grpSpPr>
          <a:xfrm>
            <a:off x="1985583" y="2970388"/>
            <a:ext cx="3451048" cy="1863082"/>
            <a:chOff x="5465326" y="2905384"/>
            <a:chExt cx="3451048" cy="1863082"/>
          </a:xfrm>
        </p:grpSpPr>
        <p:cxnSp>
          <p:nvCxnSpPr>
            <p:cNvPr id="570" name="Straight Arrow Connector 569">
              <a:extLst>
                <a:ext uri="{FF2B5EF4-FFF2-40B4-BE49-F238E27FC236}">
                  <a16:creationId xmlns:a16="http://schemas.microsoft.com/office/drawing/2014/main" id="{253E0D64-0627-270A-5B65-C97BE961A3E4}"/>
                </a:ext>
              </a:extLst>
            </p:cNvPr>
            <p:cNvCxnSpPr>
              <a:cxnSpLocks/>
              <a:stCxn id="572" idx="3"/>
              <a:endCxn id="571" idx="0"/>
            </p:cNvCxnSpPr>
            <p:nvPr/>
          </p:nvCxnSpPr>
          <p:spPr>
            <a:xfrm flipH="1">
              <a:off x="6352135" y="3371628"/>
              <a:ext cx="857359" cy="467112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181326CF-D62B-0AF2-8EA0-FED7758CF64F}"/>
                </a:ext>
              </a:extLst>
            </p:cNvPr>
            <p:cNvSpPr/>
            <p:nvPr/>
          </p:nvSpPr>
          <p:spPr>
            <a:xfrm>
              <a:off x="6214975" y="383874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13D26CE2-B9F0-A641-2F27-9F946DC76D39}"/>
                </a:ext>
              </a:extLst>
            </p:cNvPr>
            <p:cNvSpPr/>
            <p:nvPr/>
          </p:nvSpPr>
          <p:spPr>
            <a:xfrm>
              <a:off x="7169321" y="3137481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B680BAEF-F6C6-85D7-E9CD-C5F08F2C5F48}"/>
                </a:ext>
              </a:extLst>
            </p:cNvPr>
            <p:cNvSpPr txBox="1"/>
            <p:nvPr/>
          </p:nvSpPr>
          <p:spPr>
            <a:xfrm>
              <a:off x="6752642" y="3278271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574" name="Oval 573">
              <a:extLst>
                <a:ext uri="{FF2B5EF4-FFF2-40B4-BE49-F238E27FC236}">
                  <a16:creationId xmlns:a16="http://schemas.microsoft.com/office/drawing/2014/main" id="{8607D6F2-BDCE-6916-064A-92D71912F311}"/>
                </a:ext>
              </a:extLst>
            </p:cNvPr>
            <p:cNvSpPr/>
            <p:nvPr/>
          </p:nvSpPr>
          <p:spPr>
            <a:xfrm>
              <a:off x="6214975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575" name="Straight Arrow Connector 574">
              <a:extLst>
                <a:ext uri="{FF2B5EF4-FFF2-40B4-BE49-F238E27FC236}">
                  <a16:creationId xmlns:a16="http://schemas.microsoft.com/office/drawing/2014/main" id="{C688929C-8D17-91C3-E706-5238E69E216B}"/>
                </a:ext>
              </a:extLst>
            </p:cNvPr>
            <p:cNvCxnSpPr>
              <a:cxnSpLocks/>
              <a:stCxn id="571" idx="4"/>
              <a:endCxn id="574" idx="0"/>
            </p:cNvCxnSpPr>
            <p:nvPr/>
          </p:nvCxnSpPr>
          <p:spPr>
            <a:xfrm>
              <a:off x="6352135" y="4113060"/>
              <a:ext cx="0" cy="376578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4" name="TextBox 703">
              <a:extLst>
                <a:ext uri="{FF2B5EF4-FFF2-40B4-BE49-F238E27FC236}">
                  <a16:creationId xmlns:a16="http://schemas.microsoft.com/office/drawing/2014/main" id="{952B0EA8-E678-B5E9-ABD8-40BAB9B28C06}"/>
                </a:ext>
              </a:extLst>
            </p:cNvPr>
            <p:cNvSpPr txBox="1"/>
            <p:nvPr/>
          </p:nvSpPr>
          <p:spPr>
            <a:xfrm>
              <a:off x="6291058" y="413549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05" name="TextBox 704">
              <a:extLst>
                <a:ext uri="{FF2B5EF4-FFF2-40B4-BE49-F238E27FC236}">
                  <a16:creationId xmlns:a16="http://schemas.microsoft.com/office/drawing/2014/main" id="{60A7505D-8F52-269F-1447-C8BCB2D7E91A}"/>
                </a:ext>
              </a:extLst>
            </p:cNvPr>
            <p:cNvSpPr txBox="1"/>
            <p:nvPr/>
          </p:nvSpPr>
          <p:spPr>
            <a:xfrm>
              <a:off x="7019062" y="290538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706" name="TextBox 705">
              <a:extLst>
                <a:ext uri="{FF2B5EF4-FFF2-40B4-BE49-F238E27FC236}">
                  <a16:creationId xmlns:a16="http://schemas.microsoft.com/office/drawing/2014/main" id="{AF2E9824-B504-7109-B3E6-ACD0975B9FB9}"/>
                </a:ext>
              </a:extLst>
            </p:cNvPr>
            <p:cNvSpPr txBox="1"/>
            <p:nvPr/>
          </p:nvSpPr>
          <p:spPr>
            <a:xfrm>
              <a:off x="5465326" y="3842231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707" name="TextBox 706">
              <a:extLst>
                <a:ext uri="{FF2B5EF4-FFF2-40B4-BE49-F238E27FC236}">
                  <a16:creationId xmlns:a16="http://schemas.microsoft.com/office/drawing/2014/main" id="{7D8A99C1-88C1-66BD-7A6A-84D4AD9EBA95}"/>
                </a:ext>
              </a:extLst>
            </p:cNvPr>
            <p:cNvSpPr txBox="1"/>
            <p:nvPr/>
          </p:nvSpPr>
          <p:spPr>
            <a:xfrm>
              <a:off x="5485124" y="4489638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708" name="Straight Arrow Connector 707">
              <a:extLst>
                <a:ext uri="{FF2B5EF4-FFF2-40B4-BE49-F238E27FC236}">
                  <a16:creationId xmlns:a16="http://schemas.microsoft.com/office/drawing/2014/main" id="{42826C45-5E44-0F5C-A973-755BB6592BAF}"/>
                </a:ext>
              </a:extLst>
            </p:cNvPr>
            <p:cNvCxnSpPr>
              <a:cxnSpLocks/>
              <a:stCxn id="572" idx="3"/>
              <a:endCxn id="571" idx="7"/>
            </p:cNvCxnSpPr>
            <p:nvPr/>
          </p:nvCxnSpPr>
          <p:spPr>
            <a:xfrm flipH="1">
              <a:off x="6449122" y="3371628"/>
              <a:ext cx="760372" cy="507285"/>
            </a:xfrm>
            <a:prstGeom prst="straightConnector1">
              <a:avLst/>
            </a:prstGeom>
            <a:ln w="15875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0" name="Oval 709">
              <a:extLst>
                <a:ext uri="{FF2B5EF4-FFF2-40B4-BE49-F238E27FC236}">
                  <a16:creationId xmlns:a16="http://schemas.microsoft.com/office/drawing/2014/main" id="{B593CB0A-6E15-31B4-0E43-698EBC18716A}"/>
                </a:ext>
              </a:extLst>
            </p:cNvPr>
            <p:cNvSpPr/>
            <p:nvPr/>
          </p:nvSpPr>
          <p:spPr>
            <a:xfrm>
              <a:off x="7167550" y="383587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96124D35-9F9E-5528-9B72-25B6F6A2BF3B}"/>
                </a:ext>
              </a:extLst>
            </p:cNvPr>
            <p:cNvSpPr txBox="1"/>
            <p:nvPr/>
          </p:nvSpPr>
          <p:spPr>
            <a:xfrm>
              <a:off x="6773817" y="353385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712" name="Straight Arrow Connector 711">
              <a:extLst>
                <a:ext uri="{FF2B5EF4-FFF2-40B4-BE49-F238E27FC236}">
                  <a16:creationId xmlns:a16="http://schemas.microsoft.com/office/drawing/2014/main" id="{D55F2069-3308-D043-23F1-0CFA43B753AD}"/>
                </a:ext>
              </a:extLst>
            </p:cNvPr>
            <p:cNvCxnSpPr>
              <a:cxnSpLocks/>
              <a:stCxn id="572" idx="4"/>
              <a:endCxn id="710" idx="0"/>
            </p:cNvCxnSpPr>
            <p:nvPr/>
          </p:nvCxnSpPr>
          <p:spPr>
            <a:xfrm flipH="1">
              <a:off x="7304710" y="3411801"/>
              <a:ext cx="1771" cy="424075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3" name="Oval 712">
              <a:extLst>
                <a:ext uri="{FF2B5EF4-FFF2-40B4-BE49-F238E27FC236}">
                  <a16:creationId xmlns:a16="http://schemas.microsoft.com/office/drawing/2014/main" id="{0C3A2F94-0C82-5ADE-0986-DF05631B6FFC}"/>
                </a:ext>
              </a:extLst>
            </p:cNvPr>
            <p:cNvSpPr/>
            <p:nvPr/>
          </p:nvSpPr>
          <p:spPr>
            <a:xfrm>
              <a:off x="7172197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14" name="Straight Arrow Connector 713">
              <a:extLst>
                <a:ext uri="{FF2B5EF4-FFF2-40B4-BE49-F238E27FC236}">
                  <a16:creationId xmlns:a16="http://schemas.microsoft.com/office/drawing/2014/main" id="{AF9E4F3C-FA32-B153-6B19-5B77650C0F23}"/>
                </a:ext>
              </a:extLst>
            </p:cNvPr>
            <p:cNvCxnSpPr>
              <a:cxnSpLocks/>
              <a:stCxn id="710" idx="4"/>
              <a:endCxn id="713" idx="0"/>
            </p:cNvCxnSpPr>
            <p:nvPr/>
          </p:nvCxnSpPr>
          <p:spPr>
            <a:xfrm>
              <a:off x="7304710" y="4110196"/>
              <a:ext cx="4647" cy="379442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5" name="Oval 714">
              <a:extLst>
                <a:ext uri="{FF2B5EF4-FFF2-40B4-BE49-F238E27FC236}">
                  <a16:creationId xmlns:a16="http://schemas.microsoft.com/office/drawing/2014/main" id="{7301B79E-8F84-3540-D0B6-0AAA37206923}"/>
                </a:ext>
              </a:extLst>
            </p:cNvPr>
            <p:cNvSpPr/>
            <p:nvPr/>
          </p:nvSpPr>
          <p:spPr>
            <a:xfrm>
              <a:off x="8009097" y="385907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16" name="Straight Arrow Connector 715">
              <a:extLst>
                <a:ext uri="{FF2B5EF4-FFF2-40B4-BE49-F238E27FC236}">
                  <a16:creationId xmlns:a16="http://schemas.microsoft.com/office/drawing/2014/main" id="{E75FC7C4-C57C-47E4-D5BF-818346C269C7}"/>
                </a:ext>
              </a:extLst>
            </p:cNvPr>
            <p:cNvCxnSpPr>
              <a:cxnSpLocks/>
              <a:stCxn id="572" idx="5"/>
              <a:endCxn id="715" idx="0"/>
            </p:cNvCxnSpPr>
            <p:nvPr/>
          </p:nvCxnSpPr>
          <p:spPr>
            <a:xfrm>
              <a:off x="7403468" y="3371628"/>
              <a:ext cx="742789" cy="487442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7" name="Oval 716">
              <a:extLst>
                <a:ext uri="{FF2B5EF4-FFF2-40B4-BE49-F238E27FC236}">
                  <a16:creationId xmlns:a16="http://schemas.microsoft.com/office/drawing/2014/main" id="{51843D92-08C3-7845-DA49-88DDFDB0B11B}"/>
                </a:ext>
              </a:extLst>
            </p:cNvPr>
            <p:cNvSpPr/>
            <p:nvPr/>
          </p:nvSpPr>
          <p:spPr>
            <a:xfrm>
              <a:off x="8013344" y="449414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18" name="Straight Arrow Connector 717">
              <a:extLst>
                <a:ext uri="{FF2B5EF4-FFF2-40B4-BE49-F238E27FC236}">
                  <a16:creationId xmlns:a16="http://schemas.microsoft.com/office/drawing/2014/main" id="{528E962D-2859-CBBC-2D01-26F1174DD517}"/>
                </a:ext>
              </a:extLst>
            </p:cNvPr>
            <p:cNvCxnSpPr>
              <a:cxnSpLocks/>
              <a:stCxn id="713" idx="7"/>
              <a:endCxn id="715" idx="3"/>
            </p:cNvCxnSpPr>
            <p:nvPr/>
          </p:nvCxnSpPr>
          <p:spPr>
            <a:xfrm flipV="1">
              <a:off x="7406344" y="4093217"/>
              <a:ext cx="642926" cy="436594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9" name="Straight Arrow Connector 718">
              <a:extLst>
                <a:ext uri="{FF2B5EF4-FFF2-40B4-BE49-F238E27FC236}">
                  <a16:creationId xmlns:a16="http://schemas.microsoft.com/office/drawing/2014/main" id="{3BCBF613-A621-F7EE-4275-E528BF83FE2D}"/>
                </a:ext>
              </a:extLst>
            </p:cNvPr>
            <p:cNvCxnSpPr>
              <a:cxnSpLocks/>
              <a:stCxn id="715" idx="4"/>
              <a:endCxn id="717" idx="0"/>
            </p:cNvCxnSpPr>
            <p:nvPr/>
          </p:nvCxnSpPr>
          <p:spPr>
            <a:xfrm>
              <a:off x="8146257" y="4133390"/>
              <a:ext cx="4247" cy="360756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80290C07-E284-90D3-0102-03A14D8D764C}"/>
                </a:ext>
              </a:extLst>
            </p:cNvPr>
            <p:cNvSpPr txBox="1"/>
            <p:nvPr/>
          </p:nvSpPr>
          <p:spPr>
            <a:xfrm>
              <a:off x="6613608" y="3838740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CCID=5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21" name="TextBox 720">
              <a:extLst>
                <a:ext uri="{FF2B5EF4-FFF2-40B4-BE49-F238E27FC236}">
                  <a16:creationId xmlns:a16="http://schemas.microsoft.com/office/drawing/2014/main" id="{028EE690-4807-CCEA-343D-B666B7EE6E36}"/>
                </a:ext>
              </a:extLst>
            </p:cNvPr>
            <p:cNvSpPr txBox="1"/>
            <p:nvPr/>
          </p:nvSpPr>
          <p:spPr>
            <a:xfrm>
              <a:off x="6600787" y="4504155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CCID=6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22" name="TextBox 721">
              <a:extLst>
                <a:ext uri="{FF2B5EF4-FFF2-40B4-BE49-F238E27FC236}">
                  <a16:creationId xmlns:a16="http://schemas.microsoft.com/office/drawing/2014/main" id="{6044F4EA-FD0F-6BC6-A060-76096983127F}"/>
                </a:ext>
              </a:extLst>
            </p:cNvPr>
            <p:cNvSpPr txBox="1"/>
            <p:nvPr/>
          </p:nvSpPr>
          <p:spPr>
            <a:xfrm>
              <a:off x="8231541" y="3820097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CCID=7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23" name="TextBox 722">
              <a:extLst>
                <a:ext uri="{FF2B5EF4-FFF2-40B4-BE49-F238E27FC236}">
                  <a16:creationId xmlns:a16="http://schemas.microsoft.com/office/drawing/2014/main" id="{5F72A829-908C-8082-4260-559844AB1506}"/>
                </a:ext>
              </a:extLst>
            </p:cNvPr>
            <p:cNvSpPr txBox="1"/>
            <p:nvPr/>
          </p:nvSpPr>
          <p:spPr>
            <a:xfrm>
              <a:off x="8273249" y="4493032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CCID=8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24" name="TextBox 723">
              <a:extLst>
                <a:ext uri="{FF2B5EF4-FFF2-40B4-BE49-F238E27FC236}">
                  <a16:creationId xmlns:a16="http://schemas.microsoft.com/office/drawing/2014/main" id="{5B490680-0B3B-F5B6-F430-FCD698F6F79E}"/>
                </a:ext>
              </a:extLst>
            </p:cNvPr>
            <p:cNvSpPr txBox="1"/>
            <p:nvPr/>
          </p:nvSpPr>
          <p:spPr>
            <a:xfrm>
              <a:off x="7275738" y="3520154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5</a:t>
              </a:r>
            </a:p>
          </p:txBody>
        </p:sp>
        <p:sp>
          <p:nvSpPr>
            <p:cNvPr id="725" name="TextBox 724">
              <a:extLst>
                <a:ext uri="{FF2B5EF4-FFF2-40B4-BE49-F238E27FC236}">
                  <a16:creationId xmlns:a16="http://schemas.microsoft.com/office/drawing/2014/main" id="{EC47E85A-013F-94D9-9EEF-A38C4A189407}"/>
                </a:ext>
              </a:extLst>
            </p:cNvPr>
            <p:cNvSpPr txBox="1"/>
            <p:nvPr/>
          </p:nvSpPr>
          <p:spPr>
            <a:xfrm>
              <a:off x="7268768" y="412151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726" name="TextBox 725">
              <a:extLst>
                <a:ext uri="{FF2B5EF4-FFF2-40B4-BE49-F238E27FC236}">
                  <a16:creationId xmlns:a16="http://schemas.microsoft.com/office/drawing/2014/main" id="{84636B44-1A54-9E63-CE23-B20FEB3119CF}"/>
                </a:ext>
              </a:extLst>
            </p:cNvPr>
            <p:cNvSpPr txBox="1"/>
            <p:nvPr/>
          </p:nvSpPr>
          <p:spPr>
            <a:xfrm>
              <a:off x="7594702" y="406174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727" name="TextBox 726">
              <a:extLst>
                <a:ext uri="{FF2B5EF4-FFF2-40B4-BE49-F238E27FC236}">
                  <a16:creationId xmlns:a16="http://schemas.microsoft.com/office/drawing/2014/main" id="{C9B4CBD3-7CE8-A51E-C513-C331B8BABB29}"/>
                </a:ext>
              </a:extLst>
            </p:cNvPr>
            <p:cNvSpPr txBox="1"/>
            <p:nvPr/>
          </p:nvSpPr>
          <p:spPr>
            <a:xfrm>
              <a:off x="8099934" y="4151485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</a:p>
          </p:txBody>
        </p:sp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83085958-80F8-9081-CB2C-225BF259630A}"/>
                </a:ext>
              </a:extLst>
            </p:cNvPr>
            <p:cNvSpPr/>
            <p:nvPr/>
          </p:nvSpPr>
          <p:spPr>
            <a:xfrm>
              <a:off x="7465139" y="3191393"/>
              <a:ext cx="368303" cy="124177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29" name="Rectangle 728">
              <a:extLst>
                <a:ext uri="{FF2B5EF4-FFF2-40B4-BE49-F238E27FC236}">
                  <a16:creationId xmlns:a16="http://schemas.microsoft.com/office/drawing/2014/main" id="{994B01A5-45B4-60A3-D6EA-6B7237E1E13C}"/>
                </a:ext>
              </a:extLst>
            </p:cNvPr>
            <p:cNvSpPr/>
            <p:nvPr/>
          </p:nvSpPr>
          <p:spPr>
            <a:xfrm>
              <a:off x="6513471" y="3912103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30" name="Rectangle 729">
              <a:extLst>
                <a:ext uri="{FF2B5EF4-FFF2-40B4-BE49-F238E27FC236}">
                  <a16:creationId xmlns:a16="http://schemas.microsoft.com/office/drawing/2014/main" id="{F3A82981-29CA-75C0-5A8B-72B83F362CDB}"/>
                </a:ext>
              </a:extLst>
            </p:cNvPr>
            <p:cNvSpPr/>
            <p:nvPr/>
          </p:nvSpPr>
          <p:spPr>
            <a:xfrm>
              <a:off x="6512261" y="456553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31" name="Rectangle 730">
              <a:extLst>
                <a:ext uri="{FF2B5EF4-FFF2-40B4-BE49-F238E27FC236}">
                  <a16:creationId xmlns:a16="http://schemas.microsoft.com/office/drawing/2014/main" id="{BD13976A-3FD0-FCE1-430D-477F48DEC866}"/>
                </a:ext>
              </a:extLst>
            </p:cNvPr>
            <p:cNvSpPr/>
            <p:nvPr/>
          </p:nvSpPr>
          <p:spPr>
            <a:xfrm>
              <a:off x="7465140" y="390192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32" name="Rectangle 731">
              <a:extLst>
                <a:ext uri="{FF2B5EF4-FFF2-40B4-BE49-F238E27FC236}">
                  <a16:creationId xmlns:a16="http://schemas.microsoft.com/office/drawing/2014/main" id="{C53E2635-2BC7-00C0-DECA-B0B93DE9C0FC}"/>
                </a:ext>
              </a:extLst>
            </p:cNvPr>
            <p:cNvSpPr/>
            <p:nvPr/>
          </p:nvSpPr>
          <p:spPr>
            <a:xfrm>
              <a:off x="7471392" y="456996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33" name="Rectangle 732">
              <a:extLst>
                <a:ext uri="{FF2B5EF4-FFF2-40B4-BE49-F238E27FC236}">
                  <a16:creationId xmlns:a16="http://schemas.microsoft.com/office/drawing/2014/main" id="{B13491A1-77C2-D80C-D65A-D8A2B5B16B1F}"/>
                </a:ext>
              </a:extLst>
            </p:cNvPr>
            <p:cNvSpPr/>
            <p:nvPr/>
          </p:nvSpPr>
          <p:spPr>
            <a:xfrm>
              <a:off x="8214374" y="3730549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34" name="Rectangle 733">
              <a:extLst>
                <a:ext uri="{FF2B5EF4-FFF2-40B4-BE49-F238E27FC236}">
                  <a16:creationId xmlns:a16="http://schemas.microsoft.com/office/drawing/2014/main" id="{1862D3CB-2D4B-138F-29EB-AB7E32D87EA4}"/>
                </a:ext>
              </a:extLst>
            </p:cNvPr>
            <p:cNvSpPr/>
            <p:nvPr/>
          </p:nvSpPr>
          <p:spPr>
            <a:xfrm>
              <a:off x="8276750" y="4407556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E45D6236-9DF3-A6C6-FDFF-3ECAEDBA033E}"/>
                </a:ext>
              </a:extLst>
            </p:cNvPr>
            <p:cNvSpPr/>
            <p:nvPr/>
          </p:nvSpPr>
          <p:spPr>
            <a:xfrm>
              <a:off x="7862498" y="2971942"/>
              <a:ext cx="410752" cy="125366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NCP</a:t>
              </a:r>
            </a:p>
          </p:txBody>
        </p:sp>
      </p:grpSp>
      <p:grpSp>
        <p:nvGrpSpPr>
          <p:cNvPr id="736" name="Group 735">
            <a:extLst>
              <a:ext uri="{FF2B5EF4-FFF2-40B4-BE49-F238E27FC236}">
                <a16:creationId xmlns:a16="http://schemas.microsoft.com/office/drawing/2014/main" id="{44237327-1C87-894C-774A-C442F9E23E9F}"/>
              </a:ext>
            </a:extLst>
          </p:cNvPr>
          <p:cNvGrpSpPr/>
          <p:nvPr/>
        </p:nvGrpSpPr>
        <p:grpSpPr>
          <a:xfrm>
            <a:off x="-381449" y="2230135"/>
            <a:ext cx="2822338" cy="1863082"/>
            <a:chOff x="5465326" y="2905384"/>
            <a:chExt cx="2822338" cy="1863082"/>
          </a:xfrm>
        </p:grpSpPr>
        <p:cxnSp>
          <p:nvCxnSpPr>
            <p:cNvPr id="737" name="Straight Arrow Connector 736">
              <a:extLst>
                <a:ext uri="{FF2B5EF4-FFF2-40B4-BE49-F238E27FC236}">
                  <a16:creationId xmlns:a16="http://schemas.microsoft.com/office/drawing/2014/main" id="{01E2258D-EA39-04DD-E15F-B8452A596133}"/>
                </a:ext>
              </a:extLst>
            </p:cNvPr>
            <p:cNvCxnSpPr>
              <a:cxnSpLocks/>
              <a:stCxn id="739" idx="3"/>
              <a:endCxn id="738" idx="0"/>
            </p:cNvCxnSpPr>
            <p:nvPr/>
          </p:nvCxnSpPr>
          <p:spPr>
            <a:xfrm flipH="1">
              <a:off x="6352135" y="3371628"/>
              <a:ext cx="857359" cy="467112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8" name="Oval 737">
              <a:extLst>
                <a:ext uri="{FF2B5EF4-FFF2-40B4-BE49-F238E27FC236}">
                  <a16:creationId xmlns:a16="http://schemas.microsoft.com/office/drawing/2014/main" id="{636CC129-5113-0006-86AE-81446F70FB41}"/>
                </a:ext>
              </a:extLst>
            </p:cNvPr>
            <p:cNvSpPr/>
            <p:nvPr/>
          </p:nvSpPr>
          <p:spPr>
            <a:xfrm>
              <a:off x="6214975" y="383874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B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739" name="Oval 738">
              <a:extLst>
                <a:ext uri="{FF2B5EF4-FFF2-40B4-BE49-F238E27FC236}">
                  <a16:creationId xmlns:a16="http://schemas.microsoft.com/office/drawing/2014/main" id="{01CDD355-E51A-3CFD-C077-0DA4161FC7C1}"/>
                </a:ext>
              </a:extLst>
            </p:cNvPr>
            <p:cNvSpPr/>
            <p:nvPr/>
          </p:nvSpPr>
          <p:spPr>
            <a:xfrm>
              <a:off x="7169321" y="3137481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A</a:t>
              </a:r>
            </a:p>
          </p:txBody>
        </p:sp>
        <p:sp>
          <p:nvSpPr>
            <p:cNvPr id="740" name="TextBox 739">
              <a:extLst>
                <a:ext uri="{FF2B5EF4-FFF2-40B4-BE49-F238E27FC236}">
                  <a16:creationId xmlns:a16="http://schemas.microsoft.com/office/drawing/2014/main" id="{541BF896-D796-4A30-A7EE-7CF44C78BCCF}"/>
                </a:ext>
              </a:extLst>
            </p:cNvPr>
            <p:cNvSpPr txBox="1"/>
            <p:nvPr/>
          </p:nvSpPr>
          <p:spPr>
            <a:xfrm>
              <a:off x="6752642" y="3278271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41" name="Oval 740">
              <a:extLst>
                <a:ext uri="{FF2B5EF4-FFF2-40B4-BE49-F238E27FC236}">
                  <a16:creationId xmlns:a16="http://schemas.microsoft.com/office/drawing/2014/main" id="{CFE41399-9B12-DA1A-BF43-10CF0C442418}"/>
                </a:ext>
              </a:extLst>
            </p:cNvPr>
            <p:cNvSpPr/>
            <p:nvPr/>
          </p:nvSpPr>
          <p:spPr>
            <a:xfrm>
              <a:off x="6214975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C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42" name="Straight Arrow Connector 741">
              <a:extLst>
                <a:ext uri="{FF2B5EF4-FFF2-40B4-BE49-F238E27FC236}">
                  <a16:creationId xmlns:a16="http://schemas.microsoft.com/office/drawing/2014/main" id="{8DF986CB-1C78-FB6B-C357-80BC782A0A2E}"/>
                </a:ext>
              </a:extLst>
            </p:cNvPr>
            <p:cNvCxnSpPr>
              <a:cxnSpLocks/>
              <a:stCxn id="738" idx="4"/>
              <a:endCxn id="741" idx="0"/>
            </p:cNvCxnSpPr>
            <p:nvPr/>
          </p:nvCxnSpPr>
          <p:spPr>
            <a:xfrm>
              <a:off x="6352135" y="4113060"/>
              <a:ext cx="0" cy="376578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43" name="TextBox 742">
              <a:extLst>
                <a:ext uri="{FF2B5EF4-FFF2-40B4-BE49-F238E27FC236}">
                  <a16:creationId xmlns:a16="http://schemas.microsoft.com/office/drawing/2014/main" id="{0F140659-3289-869D-5649-F6EA46226BB0}"/>
                </a:ext>
              </a:extLst>
            </p:cNvPr>
            <p:cNvSpPr txBox="1"/>
            <p:nvPr/>
          </p:nvSpPr>
          <p:spPr>
            <a:xfrm>
              <a:off x="6291058" y="4135490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1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sp>
          <p:nvSpPr>
            <p:cNvPr id="744" name="TextBox 743">
              <a:extLst>
                <a:ext uri="{FF2B5EF4-FFF2-40B4-BE49-F238E27FC236}">
                  <a16:creationId xmlns:a16="http://schemas.microsoft.com/office/drawing/2014/main" id="{B7CA20CE-233E-CE6C-00DD-80ACF9C3D895}"/>
                </a:ext>
              </a:extLst>
            </p:cNvPr>
            <p:cNvSpPr txBox="1"/>
            <p:nvPr/>
          </p:nvSpPr>
          <p:spPr>
            <a:xfrm>
              <a:off x="7019062" y="2905384"/>
              <a:ext cx="6431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CCID=0</a:t>
              </a:r>
            </a:p>
          </p:txBody>
        </p:sp>
        <p:sp>
          <p:nvSpPr>
            <p:cNvPr id="755" name="TextBox 754">
              <a:extLst>
                <a:ext uri="{FF2B5EF4-FFF2-40B4-BE49-F238E27FC236}">
                  <a16:creationId xmlns:a16="http://schemas.microsoft.com/office/drawing/2014/main" id="{AC0C6919-36A5-F5D0-8A71-D4049ADBF03D}"/>
                </a:ext>
              </a:extLst>
            </p:cNvPr>
            <p:cNvSpPr txBox="1"/>
            <p:nvPr/>
          </p:nvSpPr>
          <p:spPr>
            <a:xfrm>
              <a:off x="5465326" y="3842231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CCID=1/3</a:t>
              </a:r>
            </a:p>
          </p:txBody>
        </p:sp>
        <p:sp>
          <p:nvSpPr>
            <p:cNvPr id="758" name="TextBox 757">
              <a:extLst>
                <a:ext uri="{FF2B5EF4-FFF2-40B4-BE49-F238E27FC236}">
                  <a16:creationId xmlns:a16="http://schemas.microsoft.com/office/drawing/2014/main" id="{EDBE9C1D-1C49-F329-C497-191B1A554958}"/>
                </a:ext>
              </a:extLst>
            </p:cNvPr>
            <p:cNvSpPr txBox="1"/>
            <p:nvPr/>
          </p:nvSpPr>
          <p:spPr>
            <a:xfrm>
              <a:off x="5485124" y="4489638"/>
              <a:ext cx="7922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CCID=2/4</a:t>
              </a:r>
              <a:endParaRPr lang="en-US" sz="1100" baseline="-25000" dirty="0">
                <a:latin typeface="Tw Cen MT" panose="020B0602020104020603" pitchFamily="34" charset="77"/>
              </a:endParaRPr>
            </a:p>
          </p:txBody>
        </p:sp>
        <p:cxnSp>
          <p:nvCxnSpPr>
            <p:cNvPr id="761" name="Straight Arrow Connector 760">
              <a:extLst>
                <a:ext uri="{FF2B5EF4-FFF2-40B4-BE49-F238E27FC236}">
                  <a16:creationId xmlns:a16="http://schemas.microsoft.com/office/drawing/2014/main" id="{48ACE541-7F1E-723B-94A3-5318AD4B6F76}"/>
                </a:ext>
              </a:extLst>
            </p:cNvPr>
            <p:cNvCxnSpPr>
              <a:cxnSpLocks/>
              <a:stCxn id="739" idx="3"/>
              <a:endCxn id="738" idx="7"/>
            </p:cNvCxnSpPr>
            <p:nvPr/>
          </p:nvCxnSpPr>
          <p:spPr>
            <a:xfrm flipH="1">
              <a:off x="6449122" y="3371628"/>
              <a:ext cx="760372" cy="507285"/>
            </a:xfrm>
            <a:prstGeom prst="straightConnector1">
              <a:avLst/>
            </a:prstGeom>
            <a:ln w="15875">
              <a:solidFill>
                <a:schemeClr val="accent2">
                  <a:lumMod val="75000"/>
                </a:schemeClr>
              </a:solidFill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4" name="Oval 763">
              <a:extLst>
                <a:ext uri="{FF2B5EF4-FFF2-40B4-BE49-F238E27FC236}">
                  <a16:creationId xmlns:a16="http://schemas.microsoft.com/office/drawing/2014/main" id="{83860893-6FD1-0A49-4C4D-25EA25A20000}"/>
                </a:ext>
              </a:extLst>
            </p:cNvPr>
            <p:cNvSpPr/>
            <p:nvPr/>
          </p:nvSpPr>
          <p:spPr>
            <a:xfrm>
              <a:off x="7167550" y="383587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D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sp>
          <p:nvSpPr>
            <p:cNvPr id="765" name="TextBox 764">
              <a:extLst>
                <a:ext uri="{FF2B5EF4-FFF2-40B4-BE49-F238E27FC236}">
                  <a16:creationId xmlns:a16="http://schemas.microsoft.com/office/drawing/2014/main" id="{93D1989F-5E97-EAD0-3724-7EDF82303565}"/>
                </a:ext>
              </a:extLst>
            </p:cNvPr>
            <p:cNvSpPr txBox="1"/>
            <p:nvPr/>
          </p:nvSpPr>
          <p:spPr>
            <a:xfrm>
              <a:off x="6773817" y="3533850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3</a:t>
              </a:r>
            </a:p>
          </p:txBody>
        </p:sp>
        <p:cxnSp>
          <p:nvCxnSpPr>
            <p:cNvPr id="766" name="Straight Arrow Connector 765">
              <a:extLst>
                <a:ext uri="{FF2B5EF4-FFF2-40B4-BE49-F238E27FC236}">
                  <a16:creationId xmlns:a16="http://schemas.microsoft.com/office/drawing/2014/main" id="{CAEE0990-9614-4F56-3425-2E36A58445D5}"/>
                </a:ext>
              </a:extLst>
            </p:cNvPr>
            <p:cNvCxnSpPr>
              <a:cxnSpLocks/>
              <a:stCxn id="739" idx="4"/>
              <a:endCxn id="764" idx="0"/>
            </p:cNvCxnSpPr>
            <p:nvPr/>
          </p:nvCxnSpPr>
          <p:spPr>
            <a:xfrm flipH="1">
              <a:off x="7304710" y="3411801"/>
              <a:ext cx="1771" cy="424075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7" name="Oval 766">
              <a:extLst>
                <a:ext uri="{FF2B5EF4-FFF2-40B4-BE49-F238E27FC236}">
                  <a16:creationId xmlns:a16="http://schemas.microsoft.com/office/drawing/2014/main" id="{726D26E9-1347-7D2C-B14F-0D744C979AD5}"/>
                </a:ext>
              </a:extLst>
            </p:cNvPr>
            <p:cNvSpPr/>
            <p:nvPr/>
          </p:nvSpPr>
          <p:spPr>
            <a:xfrm>
              <a:off x="7172197" y="4489638"/>
              <a:ext cx="274320" cy="274320"/>
            </a:xfrm>
            <a:prstGeom prst="ellipse">
              <a:avLst/>
            </a:prstGeom>
            <a:noFill/>
            <a:ln w="15875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E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68" name="Straight Arrow Connector 767">
              <a:extLst>
                <a:ext uri="{FF2B5EF4-FFF2-40B4-BE49-F238E27FC236}">
                  <a16:creationId xmlns:a16="http://schemas.microsoft.com/office/drawing/2014/main" id="{6D9D66A7-C91F-10FA-C9D9-8ECA224F079E}"/>
                </a:ext>
              </a:extLst>
            </p:cNvPr>
            <p:cNvCxnSpPr>
              <a:cxnSpLocks/>
              <a:stCxn id="764" idx="4"/>
              <a:endCxn id="767" idx="0"/>
            </p:cNvCxnSpPr>
            <p:nvPr/>
          </p:nvCxnSpPr>
          <p:spPr>
            <a:xfrm>
              <a:off x="7304710" y="4110196"/>
              <a:ext cx="4647" cy="379442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9" name="Oval 768">
              <a:extLst>
                <a:ext uri="{FF2B5EF4-FFF2-40B4-BE49-F238E27FC236}">
                  <a16:creationId xmlns:a16="http://schemas.microsoft.com/office/drawing/2014/main" id="{3D304F27-2B98-3B23-E848-C29DFA9DA1DF}"/>
                </a:ext>
              </a:extLst>
            </p:cNvPr>
            <p:cNvSpPr/>
            <p:nvPr/>
          </p:nvSpPr>
          <p:spPr>
            <a:xfrm>
              <a:off x="8009097" y="3859070"/>
              <a:ext cx="274320" cy="274320"/>
            </a:xfrm>
            <a:prstGeom prst="ellipse">
              <a:avLst/>
            </a:prstGeom>
            <a:noFill/>
            <a:ln w="15875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F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70" name="Straight Arrow Connector 769">
              <a:extLst>
                <a:ext uri="{FF2B5EF4-FFF2-40B4-BE49-F238E27FC236}">
                  <a16:creationId xmlns:a16="http://schemas.microsoft.com/office/drawing/2014/main" id="{5AD4A061-197F-43AB-C496-817CE5054B62}"/>
                </a:ext>
              </a:extLst>
            </p:cNvPr>
            <p:cNvCxnSpPr>
              <a:cxnSpLocks/>
              <a:stCxn id="739" idx="5"/>
              <a:endCxn id="769" idx="0"/>
            </p:cNvCxnSpPr>
            <p:nvPr/>
          </p:nvCxnSpPr>
          <p:spPr>
            <a:xfrm>
              <a:off x="7403468" y="3371628"/>
              <a:ext cx="742789" cy="487442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1" name="Oval 770">
              <a:extLst>
                <a:ext uri="{FF2B5EF4-FFF2-40B4-BE49-F238E27FC236}">
                  <a16:creationId xmlns:a16="http://schemas.microsoft.com/office/drawing/2014/main" id="{C71351B4-DFCA-9B94-2BB5-AC01B122AED2}"/>
                </a:ext>
              </a:extLst>
            </p:cNvPr>
            <p:cNvSpPr/>
            <p:nvPr/>
          </p:nvSpPr>
          <p:spPr>
            <a:xfrm>
              <a:off x="8013344" y="449414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Tw Cen MT" panose="020B0602020104020603" pitchFamily="34" charset="77"/>
                </a:rPr>
                <a:t>G</a:t>
              </a:r>
              <a:endParaRPr lang="en-US" sz="1100" baseline="-250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772" name="Straight Arrow Connector 771">
              <a:extLst>
                <a:ext uri="{FF2B5EF4-FFF2-40B4-BE49-F238E27FC236}">
                  <a16:creationId xmlns:a16="http://schemas.microsoft.com/office/drawing/2014/main" id="{C573F257-F758-1D57-9202-4BDBC6C2B90E}"/>
                </a:ext>
              </a:extLst>
            </p:cNvPr>
            <p:cNvCxnSpPr>
              <a:cxnSpLocks/>
              <a:stCxn id="767" idx="7"/>
              <a:endCxn id="769" idx="3"/>
            </p:cNvCxnSpPr>
            <p:nvPr/>
          </p:nvCxnSpPr>
          <p:spPr>
            <a:xfrm flipV="1">
              <a:off x="7406344" y="4093217"/>
              <a:ext cx="642926" cy="436594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3" name="Straight Arrow Connector 772">
              <a:extLst>
                <a:ext uri="{FF2B5EF4-FFF2-40B4-BE49-F238E27FC236}">
                  <a16:creationId xmlns:a16="http://schemas.microsoft.com/office/drawing/2014/main" id="{CC810D25-D081-573E-0321-35919C261856}"/>
                </a:ext>
              </a:extLst>
            </p:cNvPr>
            <p:cNvCxnSpPr>
              <a:cxnSpLocks/>
              <a:stCxn id="769" idx="4"/>
              <a:endCxn id="771" idx="0"/>
            </p:cNvCxnSpPr>
            <p:nvPr/>
          </p:nvCxnSpPr>
          <p:spPr>
            <a:xfrm>
              <a:off x="8146257" y="4133390"/>
              <a:ext cx="4247" cy="360756"/>
            </a:xfrm>
            <a:prstGeom prst="straightConnector1">
              <a:avLst/>
            </a:prstGeom>
            <a:ln w="15875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252655B9-11CC-31D8-B88A-4B8D47DC16EA}"/>
                </a:ext>
              </a:extLst>
            </p:cNvPr>
            <p:cNvSpPr/>
            <p:nvPr/>
          </p:nvSpPr>
          <p:spPr>
            <a:xfrm>
              <a:off x="7465139" y="3191393"/>
              <a:ext cx="368303" cy="124177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36AB6AEE-B038-720F-C85A-9405F37F68AD}"/>
                </a:ext>
              </a:extLst>
            </p:cNvPr>
            <p:cNvSpPr/>
            <p:nvPr/>
          </p:nvSpPr>
          <p:spPr>
            <a:xfrm>
              <a:off x="6513471" y="3912103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039AC3CF-1645-0E8C-8090-A831383E0C56}"/>
                </a:ext>
              </a:extLst>
            </p:cNvPr>
            <p:cNvSpPr/>
            <p:nvPr/>
          </p:nvSpPr>
          <p:spPr>
            <a:xfrm>
              <a:off x="6512261" y="4565538"/>
              <a:ext cx="157236" cy="135230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809CCC07-8224-4F74-C2BA-F8FA6EEDA762}"/>
                </a:ext>
              </a:extLst>
            </p:cNvPr>
            <p:cNvSpPr/>
            <p:nvPr/>
          </p:nvSpPr>
          <p:spPr>
            <a:xfrm>
              <a:off x="7862498" y="2971942"/>
              <a:ext cx="410752" cy="125366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NCP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3129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EF48B4-CD0A-3062-6D1F-55CABF87856F}"/>
              </a:ext>
            </a:extLst>
          </p:cNvPr>
          <p:cNvSpPr txBox="1"/>
          <p:nvPr/>
        </p:nvSpPr>
        <p:spPr>
          <a:xfrm>
            <a:off x="3056648" y="168478"/>
            <a:ext cx="1812926" cy="2152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Tw Cen MT" panose="020B0602020104020603" pitchFamily="34" charset="77"/>
              </a:rPr>
              <a:t>NP(p)=2xNP(n</a:t>
            </a:r>
            <a:r>
              <a:rPr lang="en-US" sz="800" baseline="-25000" dirty="0">
                <a:solidFill>
                  <a:schemeClr val="bg1"/>
                </a:solidFill>
                <a:latin typeface="Tw Cen MT" panose="020B0602020104020603" pitchFamily="34" charset="77"/>
              </a:rPr>
              <a:t>1</a:t>
            </a:r>
            <a:r>
              <a:rPr lang="en-US" sz="800" dirty="0">
                <a:solidFill>
                  <a:schemeClr val="bg1"/>
                </a:solidFill>
                <a:latin typeface="Tw Cen MT" panose="020B0602020104020603" pitchFamily="34" charset="77"/>
              </a:rPr>
              <a:t>)+NP(n</a:t>
            </a:r>
            <a:r>
              <a:rPr lang="en-US" sz="800" baseline="-25000" dirty="0">
                <a:solidFill>
                  <a:schemeClr val="bg1"/>
                </a:solidFill>
                <a:latin typeface="Tw Cen MT" panose="020B0602020104020603" pitchFamily="34" charset="77"/>
              </a:rPr>
              <a:t>2</a:t>
            </a:r>
            <a:r>
              <a:rPr lang="en-US" sz="800" dirty="0">
                <a:solidFill>
                  <a:schemeClr val="bg1"/>
                </a:solidFill>
                <a:latin typeface="Tw Cen MT" panose="020B0602020104020603" pitchFamily="34" charset="77"/>
              </a:rPr>
              <a:t>)+3</a:t>
            </a:r>
            <a:r>
              <a:rPr lang="en-US" sz="800" b="1" dirty="0">
                <a:solidFill>
                  <a:schemeClr val="bg1"/>
                </a:solidFill>
                <a:latin typeface="Tw Cen MT" panose="020B0602020104020603" pitchFamily="34" charset="77"/>
              </a:rPr>
              <a:t>+NP(n</a:t>
            </a:r>
            <a:r>
              <a:rPr lang="en-US" sz="800" b="1" baseline="-25000" dirty="0">
                <a:solidFill>
                  <a:schemeClr val="bg1"/>
                </a:solidFill>
                <a:latin typeface="Tw Cen MT" panose="020B0602020104020603" pitchFamily="34" charset="77"/>
              </a:rPr>
              <a:t>3</a:t>
            </a:r>
            <a:r>
              <a:rPr lang="en-US" sz="800" b="1" dirty="0">
                <a:solidFill>
                  <a:schemeClr val="bg1"/>
                </a:solidFill>
                <a:latin typeface="Tw Cen MT" panose="020B0602020104020603" pitchFamily="34" charset="77"/>
              </a:rPr>
              <a:t>)+1</a:t>
            </a:r>
            <a:endParaRPr lang="en-US" sz="800" b="1" baseline="-25000" dirty="0"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81306C-EA64-D7C6-8588-53556DE74F17}"/>
              </a:ext>
            </a:extLst>
          </p:cNvPr>
          <p:cNvGrpSpPr/>
          <p:nvPr/>
        </p:nvGrpSpPr>
        <p:grpSpPr>
          <a:xfrm>
            <a:off x="2486153" y="336128"/>
            <a:ext cx="2600118" cy="1615430"/>
            <a:chOff x="3920186" y="3086481"/>
            <a:chExt cx="2604297" cy="16166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A1FB20-6F5B-B39C-FA9B-54021ED27C74}"/>
                </a:ext>
              </a:extLst>
            </p:cNvPr>
            <p:cNvSpPr txBox="1"/>
            <p:nvPr/>
          </p:nvSpPr>
          <p:spPr>
            <a:xfrm>
              <a:off x="3976611" y="3699534"/>
              <a:ext cx="34015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/>
                <a:t>n</a:t>
              </a:r>
              <a:r>
                <a:rPr lang="en-US" sz="1300" baseline="-25000" dirty="0"/>
                <a:t>1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20EF75A-3BD0-7C84-EA52-3EDEAF3C4A10}"/>
                </a:ext>
              </a:extLst>
            </p:cNvPr>
            <p:cNvCxnSpPr>
              <a:cxnSpLocks/>
              <a:stCxn id="18" idx="5"/>
              <a:endCxn id="30" idx="0"/>
            </p:cNvCxnSpPr>
            <p:nvPr/>
          </p:nvCxnSpPr>
          <p:spPr>
            <a:xfrm>
              <a:off x="5217923" y="3372363"/>
              <a:ext cx="834250" cy="37366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EF2054A-7ECC-81A7-FE08-53EF60C69CB2}"/>
                </a:ext>
              </a:extLst>
            </p:cNvPr>
            <p:cNvSpPr/>
            <p:nvPr/>
          </p:nvSpPr>
          <p:spPr>
            <a:xfrm>
              <a:off x="4983776" y="3138216"/>
              <a:ext cx="274320" cy="27432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  <a:latin typeface="Tw Cen MT" panose="020B0602020104020603" pitchFamily="34" charset="77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05AD4A1-F357-37BD-A2AA-C1938C851271}"/>
                </a:ext>
              </a:extLst>
            </p:cNvPr>
            <p:cNvCxnSpPr>
              <a:cxnSpLocks/>
              <a:stCxn id="18" idx="3"/>
              <a:endCxn id="41" idx="0"/>
            </p:cNvCxnSpPr>
            <p:nvPr/>
          </p:nvCxnSpPr>
          <p:spPr>
            <a:xfrm flipH="1">
              <a:off x="4125892" y="3372363"/>
              <a:ext cx="898057" cy="377095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0EB4320-3731-127E-3EA5-62AC4157940E}"/>
                </a:ext>
              </a:extLst>
            </p:cNvPr>
            <p:cNvGrpSpPr/>
            <p:nvPr/>
          </p:nvGrpSpPr>
          <p:grpSpPr>
            <a:xfrm>
              <a:off x="3920186" y="3749458"/>
              <a:ext cx="411412" cy="953655"/>
              <a:chOff x="6587549" y="3454673"/>
              <a:chExt cx="411412" cy="953655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1B6B5A03-268C-CD88-8DBF-82C804C260E7}"/>
                  </a:ext>
                </a:extLst>
              </p:cNvPr>
              <p:cNvSpPr/>
              <p:nvPr/>
            </p:nvSpPr>
            <p:spPr>
              <a:xfrm>
                <a:off x="6656095" y="345467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baseline="-250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43" name="Extract 42">
                <a:extLst>
                  <a:ext uri="{FF2B5EF4-FFF2-40B4-BE49-F238E27FC236}">
                    <a16:creationId xmlns:a16="http://schemas.microsoft.com/office/drawing/2014/main" id="{9796F894-D1B9-C800-365E-3C71B4BF1B6E}"/>
                  </a:ext>
                </a:extLst>
              </p:cNvPr>
              <p:cNvSpPr/>
              <p:nvPr/>
            </p:nvSpPr>
            <p:spPr>
              <a:xfrm>
                <a:off x="6587549" y="3728993"/>
                <a:ext cx="411412" cy="679335"/>
              </a:xfrm>
              <a:prstGeom prst="flowChartExtract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A4DC520-C46F-BF27-ED0F-7D5EF655FB63}"/>
                </a:ext>
              </a:extLst>
            </p:cNvPr>
            <p:cNvCxnSpPr>
              <a:cxnSpLocks/>
              <a:stCxn id="18" idx="4"/>
              <a:endCxn id="35" idx="0"/>
            </p:cNvCxnSpPr>
            <p:nvPr/>
          </p:nvCxnSpPr>
          <p:spPr>
            <a:xfrm>
              <a:off x="5120936" y="3412536"/>
              <a:ext cx="0" cy="333487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6F4FB7E-13C1-19D6-9E93-83F45360CB29}"/>
                </a:ext>
              </a:extLst>
            </p:cNvPr>
            <p:cNvGrpSpPr/>
            <p:nvPr/>
          </p:nvGrpSpPr>
          <p:grpSpPr>
            <a:xfrm>
              <a:off x="4904566" y="3746023"/>
              <a:ext cx="411412" cy="955661"/>
              <a:chOff x="7316750" y="3452824"/>
              <a:chExt cx="411412" cy="955661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35F5B0D-8FBD-1734-8ED6-D6387080D891}"/>
                  </a:ext>
                </a:extLst>
              </p:cNvPr>
              <p:cNvSpPr/>
              <p:nvPr/>
            </p:nvSpPr>
            <p:spPr>
              <a:xfrm>
                <a:off x="7395960" y="3452824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baseline="-250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40" name="Extract 39">
                <a:extLst>
                  <a:ext uri="{FF2B5EF4-FFF2-40B4-BE49-F238E27FC236}">
                    <a16:creationId xmlns:a16="http://schemas.microsoft.com/office/drawing/2014/main" id="{5C5E59B5-D9E0-441A-F61C-FC94C553F538}"/>
                  </a:ext>
                </a:extLst>
              </p:cNvPr>
              <p:cNvSpPr/>
              <p:nvPr/>
            </p:nvSpPr>
            <p:spPr>
              <a:xfrm>
                <a:off x="7316750" y="3729150"/>
                <a:ext cx="411412" cy="679335"/>
              </a:xfrm>
              <a:prstGeom prst="flowChartExtract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4D2221D-4083-9087-C6AA-A76AC023B6C7}"/>
                </a:ext>
              </a:extLst>
            </p:cNvPr>
            <p:cNvSpPr txBox="1"/>
            <p:nvPr/>
          </p:nvSpPr>
          <p:spPr>
            <a:xfrm>
              <a:off x="5397864" y="3677892"/>
              <a:ext cx="380313" cy="3080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/>
                  </a:solidFill>
                  <a:latin typeface="Tw Cen MT" panose="020B0602020104020603" pitchFamily="34" charset="77"/>
                </a:rPr>
                <a:t>…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1AB4CDD-5A31-8230-C010-35CC4C305CD4}"/>
                </a:ext>
              </a:extLst>
            </p:cNvPr>
            <p:cNvGrpSpPr/>
            <p:nvPr/>
          </p:nvGrpSpPr>
          <p:grpSpPr>
            <a:xfrm>
              <a:off x="5835803" y="3746023"/>
              <a:ext cx="411412" cy="955661"/>
              <a:chOff x="7999896" y="3448722"/>
              <a:chExt cx="411412" cy="955661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0241294-A640-0FA8-ADC3-A1D4E21B4B0C}"/>
                  </a:ext>
                </a:extLst>
              </p:cNvPr>
              <p:cNvSpPr/>
              <p:nvPr/>
            </p:nvSpPr>
            <p:spPr>
              <a:xfrm>
                <a:off x="8079106" y="344872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34" name="Extract 33">
                <a:extLst>
                  <a:ext uri="{FF2B5EF4-FFF2-40B4-BE49-F238E27FC236}">
                    <a16:creationId xmlns:a16="http://schemas.microsoft.com/office/drawing/2014/main" id="{2FABB6F2-C93D-48F3-5E27-23953E033C63}"/>
                  </a:ext>
                </a:extLst>
              </p:cNvPr>
              <p:cNvSpPr/>
              <p:nvPr/>
            </p:nvSpPr>
            <p:spPr>
              <a:xfrm>
                <a:off x="7999896" y="3725048"/>
                <a:ext cx="411412" cy="679335"/>
              </a:xfrm>
              <a:prstGeom prst="flowChartExtra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F788E33-3F2E-857B-3BEC-A40C8EAE620C}"/>
                </a:ext>
              </a:extLst>
            </p:cNvPr>
            <p:cNvSpPr txBox="1"/>
            <p:nvPr/>
          </p:nvSpPr>
          <p:spPr>
            <a:xfrm>
              <a:off x="4992367" y="3086481"/>
              <a:ext cx="27764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/>
                <a:t>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9C4ACC-2184-BDDC-3202-AEB2BDFC3ADA}"/>
                </a:ext>
              </a:extLst>
            </p:cNvPr>
            <p:cNvSpPr txBox="1"/>
            <p:nvPr/>
          </p:nvSpPr>
          <p:spPr>
            <a:xfrm>
              <a:off x="4969199" y="3694809"/>
              <a:ext cx="34015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/>
                <a:t>n</a:t>
              </a:r>
              <a:r>
                <a:rPr lang="en-US" sz="1300" baseline="-25000" dirty="0"/>
                <a:t>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BC1ECE2-751D-679F-AC0C-BF49D558BF04}"/>
                </a:ext>
              </a:extLst>
            </p:cNvPr>
            <p:cNvSpPr txBox="1"/>
            <p:nvPr/>
          </p:nvSpPr>
          <p:spPr>
            <a:xfrm>
              <a:off x="5906625" y="3679094"/>
              <a:ext cx="302171" cy="292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 err="1"/>
                <a:t>n</a:t>
              </a:r>
              <a:r>
                <a:rPr lang="en-US" sz="1300" baseline="-25000" dirty="0" err="1"/>
                <a:t>j</a:t>
              </a:r>
              <a:endParaRPr lang="en-US" sz="1300" baseline="-250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CED64F3-FB65-4B2A-5EA7-862B36C47001}"/>
                </a:ext>
              </a:extLst>
            </p:cNvPr>
            <p:cNvCxnSpPr>
              <a:cxnSpLocks/>
              <a:endCxn id="41" idx="6"/>
            </p:cNvCxnSpPr>
            <p:nvPr/>
          </p:nvCxnSpPr>
          <p:spPr>
            <a:xfrm flipH="1">
              <a:off x="4263052" y="3401109"/>
              <a:ext cx="747302" cy="485509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3C620EB-F380-AE6D-5232-10CBE9F14063}"/>
                    </a:ext>
                  </a:extLst>
                </p:cNvPr>
                <p:cNvSpPr txBox="1"/>
                <p:nvPr/>
              </p:nvSpPr>
              <p:spPr>
                <a:xfrm>
                  <a:off x="5217923" y="3259091"/>
                  <a:ext cx="1306560" cy="2464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𝐶𝐶𝑊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𝑛𝑖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1000" b="0" i="1" baseline="-250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000" b="0" i="1" baseline="-250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00" b="0" i="1" baseline="-250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000" b="0" i="1" baseline="-250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000" dirty="0">
                    <a:solidFill>
                      <a:schemeClr val="tx1"/>
                    </a:solidFill>
                    <a:latin typeface="Tw Cen MT" panose="020B0602020104020603" pitchFamily="34" charset="77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3C620EB-F380-AE6D-5232-10CBE9F14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7923" y="3259091"/>
                  <a:ext cx="1306560" cy="246404"/>
                </a:xfrm>
                <a:prstGeom prst="rect">
                  <a:avLst/>
                </a:prstGeom>
                <a:blipFill>
                  <a:blip r:embed="rId3"/>
                  <a:stretch>
                    <a:fillRect b="-476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7" name="Straight Arrow Connector 483">
            <a:extLst>
              <a:ext uri="{FF2B5EF4-FFF2-40B4-BE49-F238E27FC236}">
                <a16:creationId xmlns:a16="http://schemas.microsoft.com/office/drawing/2014/main" id="{615B369C-4166-BB32-142F-E36ECD6D6CE1}"/>
              </a:ext>
            </a:extLst>
          </p:cNvPr>
          <p:cNvCxnSpPr>
            <a:cxnSpLocks/>
            <a:stCxn id="475" idx="6"/>
            <a:endCxn id="921" idx="7"/>
          </p:cNvCxnSpPr>
          <p:nvPr/>
        </p:nvCxnSpPr>
        <p:spPr>
          <a:xfrm>
            <a:off x="3755842" y="2694280"/>
            <a:ext cx="895498" cy="517565"/>
          </a:xfrm>
          <a:prstGeom prst="curved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5" name="Oval 474">
            <a:extLst>
              <a:ext uri="{FF2B5EF4-FFF2-40B4-BE49-F238E27FC236}">
                <a16:creationId xmlns:a16="http://schemas.microsoft.com/office/drawing/2014/main" id="{F712BE30-7C4A-D6D6-63C4-1BB9BD0A8EE4}"/>
              </a:ext>
            </a:extLst>
          </p:cNvPr>
          <p:cNvSpPr/>
          <p:nvPr/>
        </p:nvSpPr>
        <p:spPr>
          <a:xfrm>
            <a:off x="3481522" y="2557120"/>
            <a:ext cx="274320" cy="27432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  <a:latin typeface="Tw Cen MT" panose="020B0602020104020603" pitchFamily="34" charset="77"/>
            </a:endParaRPr>
          </a:p>
        </p:txBody>
      </p:sp>
      <p:cxnSp>
        <p:nvCxnSpPr>
          <p:cNvPr id="478" name="Straight Arrow Connector 486">
            <a:extLst>
              <a:ext uri="{FF2B5EF4-FFF2-40B4-BE49-F238E27FC236}">
                <a16:creationId xmlns:a16="http://schemas.microsoft.com/office/drawing/2014/main" id="{169B7009-5945-2CD6-4D85-C636B66F1477}"/>
              </a:ext>
            </a:extLst>
          </p:cNvPr>
          <p:cNvCxnSpPr>
            <a:cxnSpLocks/>
            <a:stCxn id="475" idx="2"/>
            <a:endCxn id="520" idx="7"/>
          </p:cNvCxnSpPr>
          <p:nvPr/>
        </p:nvCxnSpPr>
        <p:spPr>
          <a:xfrm rot="10800000" flipV="1">
            <a:off x="2852686" y="2694280"/>
            <a:ext cx="628837" cy="512826"/>
          </a:xfrm>
          <a:prstGeom prst="curvedConnector2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8" name="Straight Arrow Connector 897">
            <a:extLst>
              <a:ext uri="{FF2B5EF4-FFF2-40B4-BE49-F238E27FC236}">
                <a16:creationId xmlns:a16="http://schemas.microsoft.com/office/drawing/2014/main" id="{080AF2BD-A54C-A726-DBF5-AE0629E5097E}"/>
              </a:ext>
            </a:extLst>
          </p:cNvPr>
          <p:cNvCxnSpPr>
            <a:cxnSpLocks/>
            <a:stCxn id="475" idx="5"/>
            <a:endCxn id="925" idx="7"/>
          </p:cNvCxnSpPr>
          <p:nvPr/>
        </p:nvCxnSpPr>
        <p:spPr>
          <a:xfrm>
            <a:off x="3715669" y="2791267"/>
            <a:ext cx="3143" cy="438132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9" name="Straight Arrow Connector 494">
            <a:extLst>
              <a:ext uri="{FF2B5EF4-FFF2-40B4-BE49-F238E27FC236}">
                <a16:creationId xmlns:a16="http://schemas.microsoft.com/office/drawing/2014/main" id="{F2C1B70E-8097-6A39-B3F0-16E598DF2B7A}"/>
              </a:ext>
            </a:extLst>
          </p:cNvPr>
          <p:cNvCxnSpPr>
            <a:cxnSpLocks/>
            <a:stCxn id="475" idx="6"/>
            <a:endCxn id="921" idx="2"/>
          </p:cNvCxnSpPr>
          <p:nvPr/>
        </p:nvCxnSpPr>
        <p:spPr>
          <a:xfrm>
            <a:off x="3755842" y="2694280"/>
            <a:ext cx="661351" cy="614552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1" name="TextBox 900">
            <a:extLst>
              <a:ext uri="{FF2B5EF4-FFF2-40B4-BE49-F238E27FC236}">
                <a16:creationId xmlns:a16="http://schemas.microsoft.com/office/drawing/2014/main" id="{96691068-A485-3CB7-9B73-59DE3C7E271F}"/>
              </a:ext>
            </a:extLst>
          </p:cNvPr>
          <p:cNvSpPr txBox="1"/>
          <p:nvPr/>
        </p:nvSpPr>
        <p:spPr>
          <a:xfrm>
            <a:off x="3474564" y="2477486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</a:rPr>
              <a:t>p</a:t>
            </a:r>
          </a:p>
        </p:txBody>
      </p:sp>
      <p:grpSp>
        <p:nvGrpSpPr>
          <p:cNvPr id="902" name="Group 901">
            <a:extLst>
              <a:ext uri="{FF2B5EF4-FFF2-40B4-BE49-F238E27FC236}">
                <a16:creationId xmlns:a16="http://schemas.microsoft.com/office/drawing/2014/main" id="{6034E6F2-BD8B-9D65-5E6B-5ABB9BB84B24}"/>
              </a:ext>
            </a:extLst>
          </p:cNvPr>
          <p:cNvGrpSpPr/>
          <p:nvPr/>
        </p:nvGrpSpPr>
        <p:grpSpPr>
          <a:xfrm>
            <a:off x="2549992" y="3108696"/>
            <a:ext cx="411412" cy="1011892"/>
            <a:chOff x="3465237" y="3276059"/>
            <a:chExt cx="411412" cy="1011892"/>
          </a:xfrm>
        </p:grpSpPr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B6555D1B-9824-BFBF-1C42-F7EDF564411B}"/>
                </a:ext>
              </a:extLst>
            </p:cNvPr>
            <p:cNvGrpSpPr/>
            <p:nvPr/>
          </p:nvGrpSpPr>
          <p:grpSpPr>
            <a:xfrm>
              <a:off x="3465237" y="3334296"/>
              <a:ext cx="411412" cy="953655"/>
              <a:chOff x="6587549" y="3454673"/>
              <a:chExt cx="411412" cy="953655"/>
            </a:xfrm>
          </p:grpSpPr>
          <p:sp>
            <p:nvSpPr>
              <p:cNvPr id="520" name="Oval 519">
                <a:extLst>
                  <a:ext uri="{FF2B5EF4-FFF2-40B4-BE49-F238E27FC236}">
                    <a16:creationId xmlns:a16="http://schemas.microsoft.com/office/drawing/2014/main" id="{B1F868B9-806E-9E1E-192D-1CF883F4B7C8}"/>
                  </a:ext>
                </a:extLst>
              </p:cNvPr>
              <p:cNvSpPr/>
              <p:nvPr/>
            </p:nvSpPr>
            <p:spPr>
              <a:xfrm>
                <a:off x="6656095" y="345467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baseline="-250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522" name="Extract 521">
                <a:extLst>
                  <a:ext uri="{FF2B5EF4-FFF2-40B4-BE49-F238E27FC236}">
                    <a16:creationId xmlns:a16="http://schemas.microsoft.com/office/drawing/2014/main" id="{1EB8FB71-3C30-81F7-6E88-35359D3A9DFF}"/>
                  </a:ext>
                </a:extLst>
              </p:cNvPr>
              <p:cNvSpPr/>
              <p:nvPr/>
            </p:nvSpPr>
            <p:spPr>
              <a:xfrm>
                <a:off x="6587549" y="3728993"/>
                <a:ext cx="411412" cy="679335"/>
              </a:xfrm>
              <a:prstGeom prst="flowChartExtract">
                <a:avLst/>
              </a:prstGeom>
              <a:noFill/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4FA11B1A-DA49-68ED-CD8C-02C49A175F1E}"/>
                </a:ext>
              </a:extLst>
            </p:cNvPr>
            <p:cNvSpPr txBox="1"/>
            <p:nvPr/>
          </p:nvSpPr>
          <p:spPr>
            <a:xfrm>
              <a:off x="3525271" y="3276059"/>
              <a:ext cx="31931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</a:rPr>
                <a:t>n</a:t>
              </a:r>
              <a:r>
                <a:rPr lang="en-US" sz="1300" baseline="-25000" dirty="0">
                  <a:latin typeface="Tw Cen MT" panose="020B0602020104020603" pitchFamily="34" charset="77"/>
                </a:rPr>
                <a:t>1</a:t>
              </a:r>
            </a:p>
          </p:txBody>
        </p:sp>
      </p:grpSp>
      <p:grpSp>
        <p:nvGrpSpPr>
          <p:cNvPr id="903" name="Group 902">
            <a:extLst>
              <a:ext uri="{FF2B5EF4-FFF2-40B4-BE49-F238E27FC236}">
                <a16:creationId xmlns:a16="http://schemas.microsoft.com/office/drawing/2014/main" id="{220799BA-A91D-2710-1ADD-9812F649F593}"/>
              </a:ext>
            </a:extLst>
          </p:cNvPr>
          <p:cNvGrpSpPr/>
          <p:nvPr/>
        </p:nvGrpSpPr>
        <p:grpSpPr>
          <a:xfrm>
            <a:off x="3405455" y="3130378"/>
            <a:ext cx="411412" cy="1014509"/>
            <a:chOff x="4010146" y="3272013"/>
            <a:chExt cx="411412" cy="1014509"/>
          </a:xfrm>
        </p:grpSpPr>
        <p:grpSp>
          <p:nvGrpSpPr>
            <p:cNvPr id="923" name="Group 922">
              <a:extLst>
                <a:ext uri="{FF2B5EF4-FFF2-40B4-BE49-F238E27FC236}">
                  <a16:creationId xmlns:a16="http://schemas.microsoft.com/office/drawing/2014/main" id="{A4D1FC2B-1863-B0AD-9F23-EA5326363E6F}"/>
                </a:ext>
              </a:extLst>
            </p:cNvPr>
            <p:cNvGrpSpPr/>
            <p:nvPr/>
          </p:nvGrpSpPr>
          <p:grpSpPr>
            <a:xfrm>
              <a:off x="4010146" y="3330861"/>
              <a:ext cx="411412" cy="955661"/>
              <a:chOff x="7316750" y="3452824"/>
              <a:chExt cx="411412" cy="955661"/>
            </a:xfrm>
          </p:grpSpPr>
          <p:sp>
            <p:nvSpPr>
              <p:cNvPr id="925" name="Oval 924">
                <a:extLst>
                  <a:ext uri="{FF2B5EF4-FFF2-40B4-BE49-F238E27FC236}">
                    <a16:creationId xmlns:a16="http://schemas.microsoft.com/office/drawing/2014/main" id="{DB687F26-FE91-6B89-57E3-4DD26A7CC0E3}"/>
                  </a:ext>
                </a:extLst>
              </p:cNvPr>
              <p:cNvSpPr/>
              <p:nvPr/>
            </p:nvSpPr>
            <p:spPr>
              <a:xfrm>
                <a:off x="7395960" y="3452824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baseline="-250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515" name="Extract 514">
                <a:extLst>
                  <a:ext uri="{FF2B5EF4-FFF2-40B4-BE49-F238E27FC236}">
                    <a16:creationId xmlns:a16="http://schemas.microsoft.com/office/drawing/2014/main" id="{9202CBF0-3826-6460-CE62-7A80FB013289}"/>
                  </a:ext>
                </a:extLst>
              </p:cNvPr>
              <p:cNvSpPr/>
              <p:nvPr/>
            </p:nvSpPr>
            <p:spPr>
              <a:xfrm>
                <a:off x="7316750" y="3729150"/>
                <a:ext cx="411412" cy="679335"/>
              </a:xfrm>
              <a:prstGeom prst="flowChartExtract">
                <a:avLst/>
              </a:prstGeom>
              <a:noFill/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24" name="TextBox 923">
              <a:extLst>
                <a:ext uri="{FF2B5EF4-FFF2-40B4-BE49-F238E27FC236}">
                  <a16:creationId xmlns:a16="http://schemas.microsoft.com/office/drawing/2014/main" id="{A13F37E8-C394-06BC-9635-ACB62969CFD8}"/>
                </a:ext>
              </a:extLst>
            </p:cNvPr>
            <p:cNvSpPr txBox="1"/>
            <p:nvPr/>
          </p:nvSpPr>
          <p:spPr>
            <a:xfrm>
              <a:off x="4079255" y="3272013"/>
              <a:ext cx="319318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latin typeface="Tw Cen MT" panose="020B0602020104020603" pitchFamily="34" charset="77"/>
                </a:rPr>
                <a:t>n</a:t>
              </a:r>
              <a:r>
                <a:rPr lang="en-US" sz="1300" baseline="-25000" dirty="0">
                  <a:latin typeface="Tw Cen MT" panose="020B0602020104020603" pitchFamily="34" charset="77"/>
                </a:rPr>
                <a:t>2</a:t>
              </a:r>
            </a:p>
          </p:txBody>
        </p:sp>
      </p:grpSp>
      <p:grpSp>
        <p:nvGrpSpPr>
          <p:cNvPr id="904" name="Group 903">
            <a:extLst>
              <a:ext uri="{FF2B5EF4-FFF2-40B4-BE49-F238E27FC236}">
                <a16:creationId xmlns:a16="http://schemas.microsoft.com/office/drawing/2014/main" id="{57DEAF4B-E8FA-706A-9C68-FF9A81DED710}"/>
              </a:ext>
            </a:extLst>
          </p:cNvPr>
          <p:cNvGrpSpPr/>
          <p:nvPr/>
        </p:nvGrpSpPr>
        <p:grpSpPr>
          <a:xfrm>
            <a:off x="4337983" y="3155610"/>
            <a:ext cx="912530" cy="971723"/>
            <a:chOff x="4757082" y="3314799"/>
            <a:chExt cx="912530" cy="971723"/>
          </a:xfrm>
        </p:grpSpPr>
        <p:grpSp>
          <p:nvGrpSpPr>
            <p:cNvPr id="919" name="Group 918">
              <a:extLst>
                <a:ext uri="{FF2B5EF4-FFF2-40B4-BE49-F238E27FC236}">
                  <a16:creationId xmlns:a16="http://schemas.microsoft.com/office/drawing/2014/main" id="{8DF44761-FB2A-67A9-8468-24891BC97E3B}"/>
                </a:ext>
              </a:extLst>
            </p:cNvPr>
            <p:cNvGrpSpPr/>
            <p:nvPr/>
          </p:nvGrpSpPr>
          <p:grpSpPr>
            <a:xfrm>
              <a:off x="4757082" y="3330861"/>
              <a:ext cx="411412" cy="955661"/>
              <a:chOff x="7999896" y="3448722"/>
              <a:chExt cx="411412" cy="955661"/>
            </a:xfrm>
          </p:grpSpPr>
          <p:sp>
            <p:nvSpPr>
              <p:cNvPr id="921" name="Oval 920">
                <a:extLst>
                  <a:ext uri="{FF2B5EF4-FFF2-40B4-BE49-F238E27FC236}">
                    <a16:creationId xmlns:a16="http://schemas.microsoft.com/office/drawing/2014/main" id="{DAEB3917-13B4-1145-177A-69EA82C38B3D}"/>
                  </a:ext>
                </a:extLst>
              </p:cNvPr>
              <p:cNvSpPr/>
              <p:nvPr/>
            </p:nvSpPr>
            <p:spPr>
              <a:xfrm>
                <a:off x="8079106" y="3448722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sp>
            <p:nvSpPr>
              <p:cNvPr id="922" name="Extract 921">
                <a:extLst>
                  <a:ext uri="{FF2B5EF4-FFF2-40B4-BE49-F238E27FC236}">
                    <a16:creationId xmlns:a16="http://schemas.microsoft.com/office/drawing/2014/main" id="{B7A2D6B7-53E5-2BAB-9337-B4F0186589A1}"/>
                  </a:ext>
                </a:extLst>
              </p:cNvPr>
              <p:cNvSpPr/>
              <p:nvPr/>
            </p:nvSpPr>
            <p:spPr>
              <a:xfrm>
                <a:off x="7999896" y="3725048"/>
                <a:ext cx="411412" cy="679335"/>
              </a:xfrm>
              <a:prstGeom prst="flowChartExtra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20" name="TextBox 919">
              <a:extLst>
                <a:ext uri="{FF2B5EF4-FFF2-40B4-BE49-F238E27FC236}">
                  <a16:creationId xmlns:a16="http://schemas.microsoft.com/office/drawing/2014/main" id="{590DFF60-E60B-8428-CB95-065B2740A291}"/>
                </a:ext>
              </a:extLst>
            </p:cNvPr>
            <p:cNvSpPr txBox="1"/>
            <p:nvPr/>
          </p:nvSpPr>
          <p:spPr>
            <a:xfrm>
              <a:off x="5387162" y="3314799"/>
              <a:ext cx="282450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00" dirty="0" err="1">
                  <a:latin typeface="Tw Cen MT" panose="020B0602020104020603" pitchFamily="34" charset="77"/>
                </a:rPr>
                <a:t>n</a:t>
              </a:r>
              <a:r>
                <a:rPr lang="en-US" sz="1300" baseline="-25000" dirty="0" err="1">
                  <a:latin typeface="Tw Cen MT" panose="020B0602020104020603" pitchFamily="34" charset="77"/>
                </a:rPr>
                <a:t>i</a:t>
              </a:r>
              <a:endParaRPr lang="en-US" sz="1300" baseline="-25000" dirty="0">
                <a:latin typeface="Tw Cen MT" panose="020B0602020104020603" pitchFamily="34" charset="77"/>
              </a:endParaRPr>
            </a:p>
          </p:txBody>
        </p:sp>
      </p:grpSp>
      <p:cxnSp>
        <p:nvCxnSpPr>
          <p:cNvPr id="905" name="Straight Arrow Connector 511">
            <a:extLst>
              <a:ext uri="{FF2B5EF4-FFF2-40B4-BE49-F238E27FC236}">
                <a16:creationId xmlns:a16="http://schemas.microsoft.com/office/drawing/2014/main" id="{7F54D160-13F0-E2D5-5FAC-5B2D0A2460B7}"/>
              </a:ext>
            </a:extLst>
          </p:cNvPr>
          <p:cNvCxnSpPr>
            <a:cxnSpLocks/>
            <a:stCxn id="475" idx="2"/>
            <a:endCxn id="520" idx="1"/>
          </p:cNvCxnSpPr>
          <p:nvPr/>
        </p:nvCxnSpPr>
        <p:spPr>
          <a:xfrm rot="10800000" flipV="1">
            <a:off x="2658712" y="2694280"/>
            <a:ext cx="822811" cy="512826"/>
          </a:xfrm>
          <a:prstGeom prst="curvedConnector2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6" name="Straight Arrow Connector 905">
            <a:extLst>
              <a:ext uri="{FF2B5EF4-FFF2-40B4-BE49-F238E27FC236}">
                <a16:creationId xmlns:a16="http://schemas.microsoft.com/office/drawing/2014/main" id="{3C01FF40-64EE-E3C8-3D1E-C989C4422289}"/>
              </a:ext>
            </a:extLst>
          </p:cNvPr>
          <p:cNvCxnSpPr>
            <a:cxnSpLocks/>
            <a:stCxn id="475" idx="3"/>
            <a:endCxn id="925" idx="1"/>
          </p:cNvCxnSpPr>
          <p:nvPr/>
        </p:nvCxnSpPr>
        <p:spPr>
          <a:xfrm>
            <a:off x="3521695" y="2791267"/>
            <a:ext cx="3143" cy="438132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7" name="TextBox 906">
            <a:extLst>
              <a:ext uri="{FF2B5EF4-FFF2-40B4-BE49-F238E27FC236}">
                <a16:creationId xmlns:a16="http://schemas.microsoft.com/office/drawing/2014/main" id="{B4E928FA-5E98-2F9A-E886-897A96FBAE0C}"/>
              </a:ext>
            </a:extLst>
          </p:cNvPr>
          <p:cNvSpPr txBox="1"/>
          <p:nvPr/>
        </p:nvSpPr>
        <p:spPr>
          <a:xfrm>
            <a:off x="3456927" y="2802994"/>
            <a:ext cx="2804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Tw Cen MT" panose="020B0602020104020603" pitchFamily="34" charset="77"/>
              </a:rPr>
              <a:t>…</a:t>
            </a:r>
            <a:endParaRPr lang="en-US" sz="1200" b="1" baseline="-25000" dirty="0">
              <a:solidFill>
                <a:srgbClr val="FF0000"/>
              </a:solidFill>
              <a:latin typeface="Tw Cen MT" panose="020B0602020104020603" pitchFamily="34" charset="77"/>
            </a:endParaRPr>
          </a:p>
        </p:txBody>
      </p:sp>
      <p:sp>
        <p:nvSpPr>
          <p:cNvPr id="908" name="TextBox 907">
            <a:extLst>
              <a:ext uri="{FF2B5EF4-FFF2-40B4-BE49-F238E27FC236}">
                <a16:creationId xmlns:a16="http://schemas.microsoft.com/office/drawing/2014/main" id="{E04954AA-C835-F690-A3D0-DF8EA10D4B93}"/>
              </a:ext>
            </a:extLst>
          </p:cNvPr>
          <p:cNvSpPr txBox="1"/>
          <p:nvPr/>
        </p:nvSpPr>
        <p:spPr>
          <a:xfrm>
            <a:off x="2709344" y="2802994"/>
            <a:ext cx="2804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Tw Cen MT" panose="020B0602020104020603" pitchFamily="34" charset="77"/>
              </a:rPr>
              <a:t>…</a:t>
            </a:r>
            <a:endParaRPr lang="en-US" sz="1200" b="1" baseline="-25000" dirty="0">
              <a:solidFill>
                <a:srgbClr val="FF0000"/>
              </a:solidFill>
              <a:latin typeface="Tw Cen MT" panose="020B0602020104020603" pitchFamily="34" charset="77"/>
            </a:endParaRPr>
          </a:p>
        </p:txBody>
      </p:sp>
      <p:sp>
        <p:nvSpPr>
          <p:cNvPr id="910" name="TextBox 909">
            <a:extLst>
              <a:ext uri="{FF2B5EF4-FFF2-40B4-BE49-F238E27FC236}">
                <a16:creationId xmlns:a16="http://schemas.microsoft.com/office/drawing/2014/main" id="{C267EBAE-6F78-A078-72B6-9356CAE17CB6}"/>
              </a:ext>
            </a:extLst>
          </p:cNvPr>
          <p:cNvSpPr txBox="1"/>
          <p:nvPr/>
        </p:nvSpPr>
        <p:spPr>
          <a:xfrm>
            <a:off x="5261568" y="2480473"/>
            <a:ext cx="2804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Tw Cen MT" panose="020B0602020104020603" pitchFamily="34" charset="77"/>
              </a:rPr>
              <a:t>…</a:t>
            </a:r>
            <a:endParaRPr lang="en-US" sz="1200" b="1" baseline="-25000" dirty="0">
              <a:solidFill>
                <a:srgbClr val="FF0000"/>
              </a:solidFill>
              <a:latin typeface="Tw Cen MT" panose="020B0602020104020603" pitchFamily="34" charset="77"/>
            </a:endParaRPr>
          </a:p>
        </p:txBody>
      </p:sp>
      <p:sp>
        <p:nvSpPr>
          <p:cNvPr id="911" name="TextBox 910">
            <a:extLst>
              <a:ext uri="{FF2B5EF4-FFF2-40B4-BE49-F238E27FC236}">
                <a16:creationId xmlns:a16="http://schemas.microsoft.com/office/drawing/2014/main" id="{B99085EA-8014-7FE6-59B2-95498D139A58}"/>
              </a:ext>
            </a:extLst>
          </p:cNvPr>
          <p:cNvSpPr txBox="1"/>
          <p:nvPr/>
        </p:nvSpPr>
        <p:spPr>
          <a:xfrm>
            <a:off x="3937453" y="3151833"/>
            <a:ext cx="2804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Tw Cen MT" panose="020B0602020104020603" pitchFamily="34" charset="77"/>
              </a:rPr>
              <a:t>…</a:t>
            </a:r>
            <a:endParaRPr lang="en-US" sz="1200" b="1" baseline="-25000" dirty="0">
              <a:solidFill>
                <a:srgbClr val="FF0000"/>
              </a:solidFill>
              <a:latin typeface="Tw Cen MT" panose="020B0602020104020603" pitchFamily="34" charset="77"/>
            </a:endParaRPr>
          </a:p>
        </p:txBody>
      </p:sp>
      <p:sp>
        <p:nvSpPr>
          <p:cNvPr id="912" name="TextBox 911">
            <a:extLst>
              <a:ext uri="{FF2B5EF4-FFF2-40B4-BE49-F238E27FC236}">
                <a16:creationId xmlns:a16="http://schemas.microsoft.com/office/drawing/2014/main" id="{E403BA3D-6677-CB6E-89CE-5E8BE9F939EB}"/>
              </a:ext>
            </a:extLst>
          </p:cNvPr>
          <p:cNvSpPr txBox="1"/>
          <p:nvPr/>
        </p:nvSpPr>
        <p:spPr>
          <a:xfrm>
            <a:off x="2349136" y="2757472"/>
            <a:ext cx="4283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  <a:cs typeface="Consolas" panose="020B0609020204030204" pitchFamily="49" charset="0"/>
              </a:rPr>
              <a:t>l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(1,1)</a:t>
            </a:r>
          </a:p>
        </p:txBody>
      </p:sp>
      <p:sp>
        <p:nvSpPr>
          <p:cNvPr id="913" name="TextBox 912">
            <a:extLst>
              <a:ext uri="{FF2B5EF4-FFF2-40B4-BE49-F238E27FC236}">
                <a16:creationId xmlns:a16="http://schemas.microsoft.com/office/drawing/2014/main" id="{5F1A2CE7-739F-F021-16D3-33968B04A95C}"/>
              </a:ext>
            </a:extLst>
          </p:cNvPr>
          <p:cNvSpPr txBox="1"/>
          <p:nvPr/>
        </p:nvSpPr>
        <p:spPr>
          <a:xfrm>
            <a:off x="2856029" y="2941493"/>
            <a:ext cx="4283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  <a:cs typeface="Consolas" panose="020B0609020204030204" pitchFamily="49" charset="0"/>
              </a:rPr>
              <a:t>l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(1,a)</a:t>
            </a:r>
          </a:p>
        </p:txBody>
      </p:sp>
      <p:sp>
        <p:nvSpPr>
          <p:cNvPr id="914" name="TextBox 913">
            <a:extLst>
              <a:ext uri="{FF2B5EF4-FFF2-40B4-BE49-F238E27FC236}">
                <a16:creationId xmlns:a16="http://schemas.microsoft.com/office/drawing/2014/main" id="{800B50E6-9919-DF41-71B0-FB29D07F52DB}"/>
              </a:ext>
            </a:extLst>
          </p:cNvPr>
          <p:cNvSpPr txBox="1"/>
          <p:nvPr/>
        </p:nvSpPr>
        <p:spPr>
          <a:xfrm>
            <a:off x="3180575" y="2757472"/>
            <a:ext cx="4283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  <a:cs typeface="Consolas" panose="020B0609020204030204" pitchFamily="49" charset="0"/>
              </a:rPr>
              <a:t>l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(2,1)</a:t>
            </a:r>
          </a:p>
        </p:txBody>
      </p:sp>
      <p:sp>
        <p:nvSpPr>
          <p:cNvPr id="915" name="TextBox 914">
            <a:extLst>
              <a:ext uri="{FF2B5EF4-FFF2-40B4-BE49-F238E27FC236}">
                <a16:creationId xmlns:a16="http://schemas.microsoft.com/office/drawing/2014/main" id="{7BC2F7F3-D481-D5AF-AEDD-16222352B1CA}"/>
              </a:ext>
            </a:extLst>
          </p:cNvPr>
          <p:cNvSpPr txBox="1"/>
          <p:nvPr/>
        </p:nvSpPr>
        <p:spPr>
          <a:xfrm>
            <a:off x="3682916" y="2941493"/>
            <a:ext cx="4283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  <a:cs typeface="Consolas" panose="020B0609020204030204" pitchFamily="49" charset="0"/>
              </a:rPr>
              <a:t>l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(2,b)</a:t>
            </a:r>
          </a:p>
        </p:txBody>
      </p:sp>
      <p:sp>
        <p:nvSpPr>
          <p:cNvPr id="916" name="TextBox 915">
            <a:extLst>
              <a:ext uri="{FF2B5EF4-FFF2-40B4-BE49-F238E27FC236}">
                <a16:creationId xmlns:a16="http://schemas.microsoft.com/office/drawing/2014/main" id="{68B7285A-6ACD-75F6-9843-4A69C7BED9F2}"/>
              </a:ext>
            </a:extLst>
          </p:cNvPr>
          <p:cNvSpPr txBox="1"/>
          <p:nvPr/>
        </p:nvSpPr>
        <p:spPr>
          <a:xfrm>
            <a:off x="4035582" y="2868831"/>
            <a:ext cx="4154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  <a:cs typeface="Consolas" panose="020B0609020204030204" pitchFamily="49" charset="0"/>
              </a:rPr>
              <a:t>l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(n,1)</a:t>
            </a:r>
          </a:p>
        </p:txBody>
      </p:sp>
      <p:sp>
        <p:nvSpPr>
          <p:cNvPr id="917" name="TextBox 916">
            <a:extLst>
              <a:ext uri="{FF2B5EF4-FFF2-40B4-BE49-F238E27FC236}">
                <a16:creationId xmlns:a16="http://schemas.microsoft.com/office/drawing/2014/main" id="{E4C57583-5969-99ED-619C-323E2006867D}"/>
              </a:ext>
            </a:extLst>
          </p:cNvPr>
          <p:cNvSpPr txBox="1"/>
          <p:nvPr/>
        </p:nvSpPr>
        <p:spPr>
          <a:xfrm>
            <a:off x="4388509" y="2692274"/>
            <a:ext cx="3786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Tw Cen MT" panose="020B0602020104020603" pitchFamily="34" charset="77"/>
                <a:cs typeface="Consolas" panose="020B0609020204030204" pitchFamily="49" charset="0"/>
              </a:rPr>
              <a:t>l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(</a:t>
            </a:r>
            <a:r>
              <a:rPr lang="en-US" sz="1300" baseline="-25000" dirty="0" err="1">
                <a:latin typeface="Tw Cen MT" panose="020B0602020104020603" pitchFamily="34" charset="77"/>
                <a:cs typeface="Consolas" panose="020B0609020204030204" pitchFamily="49" charset="0"/>
              </a:rPr>
              <a:t>n,i</a:t>
            </a:r>
            <a:r>
              <a:rPr lang="en-US" sz="1300" baseline="-25000" dirty="0">
                <a:latin typeface="Tw Cen MT" panose="020B0602020104020603" pitchFamily="34" charset="77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6646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DDA2280-A787-59D1-A2ED-5BC76CBC6C97}"/>
              </a:ext>
            </a:extLst>
          </p:cNvPr>
          <p:cNvGrpSpPr/>
          <p:nvPr/>
        </p:nvGrpSpPr>
        <p:grpSpPr>
          <a:xfrm>
            <a:off x="1754374" y="703770"/>
            <a:ext cx="5716601" cy="2397756"/>
            <a:chOff x="1754374" y="703770"/>
            <a:chExt cx="5716601" cy="239775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823BDAC-ABDB-2C25-74F6-FB5FD361364F}"/>
                </a:ext>
              </a:extLst>
            </p:cNvPr>
            <p:cNvGrpSpPr/>
            <p:nvPr/>
          </p:nvGrpSpPr>
          <p:grpSpPr>
            <a:xfrm>
              <a:off x="1754374" y="703770"/>
              <a:ext cx="5716601" cy="2397756"/>
              <a:chOff x="1754374" y="703770"/>
              <a:chExt cx="5716601" cy="2397756"/>
            </a:xfrm>
          </p:grpSpPr>
          <p:sp>
            <p:nvSpPr>
              <p:cNvPr id="471" name="Oval 470">
                <a:extLst>
                  <a:ext uri="{FF2B5EF4-FFF2-40B4-BE49-F238E27FC236}">
                    <a16:creationId xmlns:a16="http://schemas.microsoft.com/office/drawing/2014/main" id="{40B2F529-98B2-89AF-8FDA-DAE9F628EDE6}"/>
                  </a:ext>
                </a:extLst>
              </p:cNvPr>
              <p:cNvSpPr/>
              <p:nvPr/>
            </p:nvSpPr>
            <p:spPr>
              <a:xfrm>
                <a:off x="3947972" y="1714500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472" name="Oval 471">
                <a:extLst>
                  <a:ext uri="{FF2B5EF4-FFF2-40B4-BE49-F238E27FC236}">
                    <a16:creationId xmlns:a16="http://schemas.microsoft.com/office/drawing/2014/main" id="{0ACD307C-B1B0-B556-7342-0EE2B6EBA4D2}"/>
                  </a:ext>
                </a:extLst>
              </p:cNvPr>
              <p:cNvSpPr/>
              <p:nvPr/>
            </p:nvSpPr>
            <p:spPr>
              <a:xfrm>
                <a:off x="3526531" y="215323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CFFFA5AB-3407-DD00-8A3C-61CCCA67CC3C}"/>
                  </a:ext>
                </a:extLst>
              </p:cNvPr>
              <p:cNvSpPr/>
              <p:nvPr/>
            </p:nvSpPr>
            <p:spPr>
              <a:xfrm>
                <a:off x="4360982" y="213916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D</a:t>
                </a:r>
              </a:p>
            </p:txBody>
          </p:sp>
          <p:sp>
            <p:nvSpPr>
              <p:cNvPr id="474" name="Oval 473">
                <a:extLst>
                  <a:ext uri="{FF2B5EF4-FFF2-40B4-BE49-F238E27FC236}">
                    <a16:creationId xmlns:a16="http://schemas.microsoft.com/office/drawing/2014/main" id="{5B430476-26FA-7AB7-B7D5-B1280F52D09A}"/>
                  </a:ext>
                </a:extLst>
              </p:cNvPr>
              <p:cNvSpPr/>
              <p:nvPr/>
            </p:nvSpPr>
            <p:spPr>
              <a:xfrm>
                <a:off x="3947972" y="2546055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</a:p>
            </p:txBody>
          </p:sp>
          <p:cxnSp>
            <p:nvCxnSpPr>
              <p:cNvPr id="478" name="Straight Arrow Connector 477">
                <a:extLst>
                  <a:ext uri="{FF2B5EF4-FFF2-40B4-BE49-F238E27FC236}">
                    <a16:creationId xmlns:a16="http://schemas.microsoft.com/office/drawing/2014/main" id="{2C80C7F5-2A14-58D3-408A-07A3A865016F}"/>
                  </a:ext>
                </a:extLst>
              </p:cNvPr>
              <p:cNvCxnSpPr>
                <a:cxnSpLocks/>
                <a:stCxn id="471" idx="2"/>
                <a:endCxn id="472" idx="0"/>
              </p:cNvCxnSpPr>
              <p:nvPr/>
            </p:nvCxnSpPr>
            <p:spPr>
              <a:xfrm rot="10800000" flipV="1">
                <a:off x="3663692" y="1851659"/>
                <a:ext cx="284281" cy="301573"/>
              </a:xfrm>
              <a:prstGeom prst="curvedConnector2">
                <a:avLst/>
              </a:prstGeom>
              <a:ln w="158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9" name="Straight Arrow Connector 478">
                <a:extLst>
                  <a:ext uri="{FF2B5EF4-FFF2-40B4-BE49-F238E27FC236}">
                    <a16:creationId xmlns:a16="http://schemas.microsoft.com/office/drawing/2014/main" id="{A025EB9D-138F-1E27-55C9-2AC7117D55BF}"/>
                  </a:ext>
                </a:extLst>
              </p:cNvPr>
              <p:cNvCxnSpPr>
                <a:cxnSpLocks/>
                <a:stCxn id="473" idx="0"/>
                <a:endCxn id="471" idx="6"/>
              </p:cNvCxnSpPr>
              <p:nvPr/>
            </p:nvCxnSpPr>
            <p:spPr>
              <a:xfrm rot="16200000" flipV="1">
                <a:off x="4216464" y="1857488"/>
                <a:ext cx="287506" cy="275850"/>
              </a:xfrm>
              <a:prstGeom prst="curved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0" name="Straight Arrow Connector 479">
                <a:extLst>
                  <a:ext uri="{FF2B5EF4-FFF2-40B4-BE49-F238E27FC236}">
                    <a16:creationId xmlns:a16="http://schemas.microsoft.com/office/drawing/2014/main" id="{A2BD70AC-1927-88D5-FABB-326D269EC2DA}"/>
                  </a:ext>
                </a:extLst>
              </p:cNvPr>
              <p:cNvCxnSpPr>
                <a:cxnSpLocks/>
                <a:stCxn id="474" idx="6"/>
                <a:endCxn id="473" idx="4"/>
              </p:cNvCxnSpPr>
              <p:nvPr/>
            </p:nvCxnSpPr>
            <p:spPr>
              <a:xfrm flipV="1">
                <a:off x="4222292" y="2413486"/>
                <a:ext cx="275850" cy="269729"/>
              </a:xfrm>
              <a:prstGeom prst="curved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1" name="Straight Arrow Connector 480">
                <a:extLst>
                  <a:ext uri="{FF2B5EF4-FFF2-40B4-BE49-F238E27FC236}">
                    <a16:creationId xmlns:a16="http://schemas.microsoft.com/office/drawing/2014/main" id="{A6DFB902-DE18-F342-90DF-210EF0E093BB}"/>
                  </a:ext>
                </a:extLst>
              </p:cNvPr>
              <p:cNvCxnSpPr>
                <a:cxnSpLocks/>
                <a:stCxn id="472" idx="4"/>
                <a:endCxn id="474" idx="2"/>
              </p:cNvCxnSpPr>
              <p:nvPr/>
            </p:nvCxnSpPr>
            <p:spPr>
              <a:xfrm rot="16200000" flipH="1">
                <a:off x="3678000" y="2413243"/>
                <a:ext cx="255662" cy="284281"/>
              </a:xfrm>
              <a:prstGeom prst="curvedConnector2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7294383-ACB7-9940-3E77-3BAA81E67AD8}"/>
                  </a:ext>
                </a:extLst>
              </p:cNvPr>
              <p:cNvSpPr/>
              <p:nvPr/>
            </p:nvSpPr>
            <p:spPr>
              <a:xfrm>
                <a:off x="3086751" y="1238919"/>
                <a:ext cx="457200" cy="457200"/>
              </a:xfrm>
              <a:prstGeom prst="ellipse">
                <a:avLst/>
              </a:prstGeom>
              <a:noFill/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24" name="Straight Arrow Connector 477">
                <a:extLst>
                  <a:ext uri="{FF2B5EF4-FFF2-40B4-BE49-F238E27FC236}">
                    <a16:creationId xmlns:a16="http://schemas.microsoft.com/office/drawing/2014/main" id="{BE789882-760D-64FA-911D-7249A8C80735}"/>
                  </a:ext>
                </a:extLst>
              </p:cNvPr>
              <p:cNvCxnSpPr>
                <a:cxnSpLocks/>
                <a:stCxn id="23" idx="6"/>
                <a:endCxn id="471" idx="0"/>
              </p:cNvCxnSpPr>
              <p:nvPr/>
            </p:nvCxnSpPr>
            <p:spPr>
              <a:xfrm>
                <a:off x="3543951" y="1467519"/>
                <a:ext cx="541181" cy="246981"/>
              </a:xfrm>
              <a:prstGeom prst="curved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B72386-B988-FFB0-7011-67CDA518A644}"/>
                  </a:ext>
                </a:extLst>
              </p:cNvPr>
              <p:cNvSpPr txBox="1"/>
              <p:nvPr/>
            </p:nvSpPr>
            <p:spPr>
              <a:xfrm>
                <a:off x="4481336" y="1776114"/>
                <a:ext cx="98937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back edge (b)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389594-1737-A584-08AB-1417D82B08B2}"/>
                  </a:ext>
                </a:extLst>
              </p:cNvPr>
              <p:cNvSpPr txBox="1"/>
              <p:nvPr/>
            </p:nvSpPr>
            <p:spPr>
              <a:xfrm>
                <a:off x="3614567" y="1157919"/>
                <a:ext cx="99578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entry edge (e)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18D2E5-D452-C992-0555-5A3413269BB9}"/>
                  </a:ext>
                </a:extLst>
              </p:cNvPr>
              <p:cNvSpPr txBox="1"/>
              <p:nvPr/>
            </p:nvSpPr>
            <p:spPr>
              <a:xfrm>
                <a:off x="1754374" y="703770"/>
                <a:ext cx="1770036" cy="11079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CCID+=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ccw</a:t>
                </a:r>
                <a:endParaRPr lang="en-US" sz="1100" dirty="0">
                  <a:latin typeface="Tw Cen MT" panose="020B0602020104020603" pitchFamily="34" charset="77"/>
                </a:endParaRP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push (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CCID,b</a:t>
                </a:r>
                <a:r>
                  <a:rPr lang="en-US" sz="1100" dirty="0">
                    <a:latin typeface="Tw Cen MT" panose="020B0602020104020603" pitchFamily="34" charset="77"/>
                  </a:rPr>
                  <a:t>) to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endParaRPr lang="en-US" sz="1100" dirty="0">
                  <a:latin typeface="Tw Cen MT" panose="020B0602020104020603" pitchFamily="34" charset="77"/>
                </a:endParaRPr>
              </a:p>
              <a:p>
                <a:r>
                  <a: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call-site e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CCID -=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ccw</a:t>
                </a:r>
                <a:endParaRPr lang="en-US" sz="1100" dirty="0">
                  <a:latin typeface="Tw Cen MT" panose="020B0602020104020603" pitchFamily="34" charset="77"/>
                </a:endParaRP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pop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endParaRPr lang="en-US" sz="1100" dirty="0">
                  <a:latin typeface="Tw Cen MT" panose="020B0602020104020603" pitchFamily="34" charset="77"/>
                </a:endParaRPr>
              </a:p>
              <a:p>
                <a:endParaRPr lang="en-US" sz="11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2F4959-7AB8-2C25-47EC-D51F802B2326}"/>
                  </a:ext>
                </a:extLst>
              </p:cNvPr>
              <p:cNvSpPr txBox="1"/>
              <p:nvPr/>
            </p:nvSpPr>
            <p:spPr>
              <a:xfrm>
                <a:off x="5417208" y="940616"/>
                <a:ext cx="2053767" cy="212365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if (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r>
                  <a:rPr lang="en-US" sz="1100" dirty="0">
                    <a:latin typeface="Tw Cen MT" panose="020B0602020104020603" pitchFamily="34" charset="77"/>
                  </a:rPr>
                  <a:t>[top].b == b) {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  push CCID to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back_stack</a:t>
                </a:r>
                <a:r>
                  <a:rPr lang="en-US" sz="1100" dirty="0"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  CCID =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r>
                  <a:rPr lang="en-US" sz="1100" dirty="0">
                    <a:latin typeface="Tw Cen MT" panose="020B0602020104020603" pitchFamily="34" charset="77"/>
                  </a:rPr>
                  <a:t>[top].CCID;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 else {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  CCID+=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ccw</a:t>
                </a:r>
                <a:r>
                  <a:rPr lang="en-US" sz="1100" dirty="0"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</a:t>
                </a:r>
              </a:p>
              <a:p>
                <a:r>
                  <a: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call-site b;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if (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r>
                  <a:rPr lang="en-US" sz="1100" dirty="0">
                    <a:latin typeface="Tw Cen MT" panose="020B0602020104020603" pitchFamily="34" charset="77"/>
                  </a:rPr>
                  <a:t>[top].b == b) {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  CCID=pop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back_stack</a:t>
                </a:r>
                <a:r>
                  <a:rPr lang="en-US" sz="1100" dirty="0"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 else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  CCID-=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ccww</a:t>
                </a:r>
                <a:r>
                  <a:rPr lang="en-US" sz="1100" dirty="0"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</a:t>
                </a:r>
              </a:p>
            </p:txBody>
          </p:sp>
          <p:cxnSp>
            <p:nvCxnSpPr>
              <p:cNvPr id="2" name="Straight Arrow Connector 480">
                <a:extLst>
                  <a:ext uri="{FF2B5EF4-FFF2-40B4-BE49-F238E27FC236}">
                    <a16:creationId xmlns:a16="http://schemas.microsoft.com/office/drawing/2014/main" id="{6210B36B-89BA-7D0A-FA8D-468C5DB55F76}"/>
                  </a:ext>
                </a:extLst>
              </p:cNvPr>
              <p:cNvCxnSpPr>
                <a:cxnSpLocks/>
                <a:stCxn id="474" idx="3"/>
                <a:endCxn id="474" idx="5"/>
              </p:cNvCxnSpPr>
              <p:nvPr/>
            </p:nvCxnSpPr>
            <p:spPr>
              <a:xfrm rot="16200000" flipH="1">
                <a:off x="4085132" y="2683215"/>
                <a:ext cx="12700" cy="193974"/>
              </a:xfrm>
              <a:prstGeom prst="curvedConnector3">
                <a:avLst>
                  <a:gd name="adj1" fmla="val 2116323"/>
                </a:avLst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F3CDA5-E2AC-ACD2-9755-AA0B31618FAB}"/>
                  </a:ext>
                </a:extLst>
              </p:cNvPr>
              <p:cNvSpPr txBox="1"/>
              <p:nvPr/>
            </p:nvSpPr>
            <p:spPr>
              <a:xfrm>
                <a:off x="3693140" y="1855041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536D03-A25A-A680-7E68-4D37EFF25D66}"/>
                  </a:ext>
                </a:extLst>
              </p:cNvPr>
              <p:cNvSpPr txBox="1"/>
              <p:nvPr/>
            </p:nvSpPr>
            <p:spPr>
              <a:xfrm>
                <a:off x="3681286" y="2396865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1DB95C-5BAC-0519-783E-58015467C577}"/>
                  </a:ext>
                </a:extLst>
              </p:cNvPr>
              <p:cNvSpPr txBox="1"/>
              <p:nvPr/>
            </p:nvSpPr>
            <p:spPr>
              <a:xfrm>
                <a:off x="4112459" y="2839916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0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329443-142F-01F6-41D4-B0CAFCBA6C73}"/>
                  </a:ext>
                </a:extLst>
              </p:cNvPr>
              <p:cNvSpPr txBox="1"/>
              <p:nvPr/>
            </p:nvSpPr>
            <p:spPr>
              <a:xfrm>
                <a:off x="4217861" y="2405480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99EE4C-221A-35D7-DF42-2915BADB9673}"/>
                  </a:ext>
                </a:extLst>
              </p:cNvPr>
              <p:cNvSpPr txBox="1"/>
              <p:nvPr/>
            </p:nvSpPr>
            <p:spPr>
              <a:xfrm>
                <a:off x="4249250" y="1890314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</p:grpSp>
        <p:cxnSp>
          <p:nvCxnSpPr>
            <p:cNvPr id="19" name="Straight Arrow Connector 477">
              <a:extLst>
                <a:ext uri="{FF2B5EF4-FFF2-40B4-BE49-F238E27FC236}">
                  <a16:creationId xmlns:a16="http://schemas.microsoft.com/office/drawing/2014/main" id="{EFBA963C-6E0A-FD18-A550-979919D12F98}"/>
                </a:ext>
              </a:extLst>
            </p:cNvPr>
            <p:cNvCxnSpPr>
              <a:cxnSpLocks/>
              <a:endCxn id="472" idx="3"/>
            </p:cNvCxnSpPr>
            <p:nvPr/>
          </p:nvCxnSpPr>
          <p:spPr>
            <a:xfrm flipV="1">
              <a:off x="3200731" y="2387380"/>
              <a:ext cx="365973" cy="328568"/>
            </a:xfrm>
            <a:prstGeom prst="curvedConnector2">
              <a:avLst/>
            </a:prstGeom>
            <a:ln w="15875">
              <a:solidFill>
                <a:srgbClr val="00B05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AED9B7-B349-3B6B-C2DC-6E0D0481A209}"/>
                </a:ext>
              </a:extLst>
            </p:cNvPr>
            <p:cNvSpPr txBox="1"/>
            <p:nvPr/>
          </p:nvSpPr>
          <p:spPr>
            <a:xfrm>
              <a:off x="2528530" y="2344148"/>
              <a:ext cx="10230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entry edge (e’)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DFF263-AAF1-9E74-38D1-5BE2D238D3DD}"/>
                </a:ext>
              </a:extLst>
            </p:cNvPr>
            <p:cNvSpPr txBox="1"/>
            <p:nvPr/>
          </p:nvSpPr>
          <p:spPr>
            <a:xfrm>
              <a:off x="2825868" y="1760818"/>
              <a:ext cx="10198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back edge (b’)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6733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DDA2280-A787-59D1-A2ED-5BC76CBC6C97}"/>
              </a:ext>
            </a:extLst>
          </p:cNvPr>
          <p:cNvGrpSpPr/>
          <p:nvPr/>
        </p:nvGrpSpPr>
        <p:grpSpPr>
          <a:xfrm>
            <a:off x="1754374" y="703770"/>
            <a:ext cx="5844842" cy="2978288"/>
            <a:chOff x="1754374" y="703770"/>
            <a:chExt cx="5844842" cy="29782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823BDAC-ABDB-2C25-74F6-FB5FD361364F}"/>
                </a:ext>
              </a:extLst>
            </p:cNvPr>
            <p:cNvGrpSpPr/>
            <p:nvPr/>
          </p:nvGrpSpPr>
          <p:grpSpPr>
            <a:xfrm>
              <a:off x="1754374" y="703770"/>
              <a:ext cx="5844842" cy="2978288"/>
              <a:chOff x="1754374" y="703770"/>
              <a:chExt cx="5844842" cy="2978288"/>
            </a:xfrm>
          </p:grpSpPr>
          <p:sp>
            <p:nvSpPr>
              <p:cNvPr id="471" name="Oval 470">
                <a:extLst>
                  <a:ext uri="{FF2B5EF4-FFF2-40B4-BE49-F238E27FC236}">
                    <a16:creationId xmlns:a16="http://schemas.microsoft.com/office/drawing/2014/main" id="{40B2F529-98B2-89AF-8FDA-DAE9F628EDE6}"/>
                  </a:ext>
                </a:extLst>
              </p:cNvPr>
              <p:cNvSpPr/>
              <p:nvPr/>
            </p:nvSpPr>
            <p:spPr>
              <a:xfrm>
                <a:off x="3947972" y="1714500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A</a:t>
                </a:r>
              </a:p>
            </p:txBody>
          </p:sp>
          <p:sp>
            <p:nvSpPr>
              <p:cNvPr id="472" name="Oval 471">
                <a:extLst>
                  <a:ext uri="{FF2B5EF4-FFF2-40B4-BE49-F238E27FC236}">
                    <a16:creationId xmlns:a16="http://schemas.microsoft.com/office/drawing/2014/main" id="{0ACD307C-B1B0-B556-7342-0EE2B6EBA4D2}"/>
                  </a:ext>
                </a:extLst>
              </p:cNvPr>
              <p:cNvSpPr/>
              <p:nvPr/>
            </p:nvSpPr>
            <p:spPr>
              <a:xfrm>
                <a:off x="3526531" y="2153233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B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CFFFA5AB-3407-DD00-8A3C-61CCCA67CC3C}"/>
                  </a:ext>
                </a:extLst>
              </p:cNvPr>
              <p:cNvSpPr/>
              <p:nvPr/>
            </p:nvSpPr>
            <p:spPr>
              <a:xfrm>
                <a:off x="4360982" y="2139166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D</a:t>
                </a:r>
              </a:p>
            </p:txBody>
          </p:sp>
          <p:sp>
            <p:nvSpPr>
              <p:cNvPr id="474" name="Oval 473">
                <a:extLst>
                  <a:ext uri="{FF2B5EF4-FFF2-40B4-BE49-F238E27FC236}">
                    <a16:creationId xmlns:a16="http://schemas.microsoft.com/office/drawing/2014/main" id="{5B430476-26FA-7AB7-B7D5-B1280F52D09A}"/>
                  </a:ext>
                </a:extLst>
              </p:cNvPr>
              <p:cNvSpPr/>
              <p:nvPr/>
            </p:nvSpPr>
            <p:spPr>
              <a:xfrm>
                <a:off x="3947972" y="2546055"/>
                <a:ext cx="274320" cy="27432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</a:t>
                </a:r>
              </a:p>
            </p:txBody>
          </p:sp>
          <p:cxnSp>
            <p:nvCxnSpPr>
              <p:cNvPr id="478" name="Straight Arrow Connector 477">
                <a:extLst>
                  <a:ext uri="{FF2B5EF4-FFF2-40B4-BE49-F238E27FC236}">
                    <a16:creationId xmlns:a16="http://schemas.microsoft.com/office/drawing/2014/main" id="{2C80C7F5-2A14-58D3-408A-07A3A865016F}"/>
                  </a:ext>
                </a:extLst>
              </p:cNvPr>
              <p:cNvCxnSpPr>
                <a:cxnSpLocks/>
                <a:stCxn id="471" idx="2"/>
                <a:endCxn id="472" idx="0"/>
              </p:cNvCxnSpPr>
              <p:nvPr/>
            </p:nvCxnSpPr>
            <p:spPr>
              <a:xfrm rot="10800000" flipV="1">
                <a:off x="3663692" y="1851659"/>
                <a:ext cx="284281" cy="301573"/>
              </a:xfrm>
              <a:prstGeom prst="curvedConnector2">
                <a:avLst/>
              </a:prstGeom>
              <a:ln w="158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9" name="Straight Arrow Connector 478">
                <a:extLst>
                  <a:ext uri="{FF2B5EF4-FFF2-40B4-BE49-F238E27FC236}">
                    <a16:creationId xmlns:a16="http://schemas.microsoft.com/office/drawing/2014/main" id="{A025EB9D-138F-1E27-55C9-2AC7117D55BF}"/>
                  </a:ext>
                </a:extLst>
              </p:cNvPr>
              <p:cNvCxnSpPr>
                <a:cxnSpLocks/>
                <a:stCxn id="473" idx="0"/>
                <a:endCxn id="471" idx="6"/>
              </p:cNvCxnSpPr>
              <p:nvPr/>
            </p:nvCxnSpPr>
            <p:spPr>
              <a:xfrm rot="16200000" flipV="1">
                <a:off x="4216464" y="1857488"/>
                <a:ext cx="287506" cy="275850"/>
              </a:xfrm>
              <a:prstGeom prst="curved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0" name="Straight Arrow Connector 479">
                <a:extLst>
                  <a:ext uri="{FF2B5EF4-FFF2-40B4-BE49-F238E27FC236}">
                    <a16:creationId xmlns:a16="http://schemas.microsoft.com/office/drawing/2014/main" id="{A2BD70AC-1927-88D5-FABB-326D269EC2DA}"/>
                  </a:ext>
                </a:extLst>
              </p:cNvPr>
              <p:cNvCxnSpPr>
                <a:cxnSpLocks/>
                <a:stCxn id="474" idx="6"/>
                <a:endCxn id="473" idx="4"/>
              </p:cNvCxnSpPr>
              <p:nvPr/>
            </p:nvCxnSpPr>
            <p:spPr>
              <a:xfrm flipV="1">
                <a:off x="4222292" y="2413486"/>
                <a:ext cx="275850" cy="269729"/>
              </a:xfrm>
              <a:prstGeom prst="curvedConnector2">
                <a:avLst/>
              </a:prstGeom>
              <a:ln w="158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1" name="Straight Arrow Connector 480">
                <a:extLst>
                  <a:ext uri="{FF2B5EF4-FFF2-40B4-BE49-F238E27FC236}">
                    <a16:creationId xmlns:a16="http://schemas.microsoft.com/office/drawing/2014/main" id="{A6DFB902-DE18-F342-90DF-210EF0E093BB}"/>
                  </a:ext>
                </a:extLst>
              </p:cNvPr>
              <p:cNvCxnSpPr>
                <a:cxnSpLocks/>
                <a:stCxn id="472" idx="4"/>
                <a:endCxn id="474" idx="2"/>
              </p:cNvCxnSpPr>
              <p:nvPr/>
            </p:nvCxnSpPr>
            <p:spPr>
              <a:xfrm rot="16200000" flipH="1">
                <a:off x="3678000" y="2413243"/>
                <a:ext cx="255662" cy="284281"/>
              </a:xfrm>
              <a:prstGeom prst="curvedConnector2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7294383-ACB7-9940-3E77-3BAA81E67AD8}"/>
                  </a:ext>
                </a:extLst>
              </p:cNvPr>
              <p:cNvSpPr/>
              <p:nvPr/>
            </p:nvSpPr>
            <p:spPr>
              <a:xfrm>
                <a:off x="3086751" y="1238919"/>
                <a:ext cx="457200" cy="457200"/>
              </a:xfrm>
              <a:prstGeom prst="ellipse">
                <a:avLst/>
              </a:prstGeom>
              <a:noFill/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</p:txBody>
          </p:sp>
          <p:cxnSp>
            <p:nvCxnSpPr>
              <p:cNvPr id="24" name="Straight Arrow Connector 477">
                <a:extLst>
                  <a:ext uri="{FF2B5EF4-FFF2-40B4-BE49-F238E27FC236}">
                    <a16:creationId xmlns:a16="http://schemas.microsoft.com/office/drawing/2014/main" id="{BE789882-760D-64FA-911D-7249A8C80735}"/>
                  </a:ext>
                </a:extLst>
              </p:cNvPr>
              <p:cNvCxnSpPr>
                <a:cxnSpLocks/>
                <a:stCxn id="23" idx="6"/>
                <a:endCxn id="471" idx="0"/>
              </p:cNvCxnSpPr>
              <p:nvPr/>
            </p:nvCxnSpPr>
            <p:spPr>
              <a:xfrm>
                <a:off x="3543951" y="1467519"/>
                <a:ext cx="541181" cy="246981"/>
              </a:xfrm>
              <a:prstGeom prst="curvedConnector2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B72386-B988-FFB0-7011-67CDA518A644}"/>
                  </a:ext>
                </a:extLst>
              </p:cNvPr>
              <p:cNvSpPr txBox="1"/>
              <p:nvPr/>
            </p:nvSpPr>
            <p:spPr>
              <a:xfrm>
                <a:off x="4481336" y="1776114"/>
                <a:ext cx="98937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back edge (b)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389594-1737-A584-08AB-1417D82B08B2}"/>
                  </a:ext>
                </a:extLst>
              </p:cNvPr>
              <p:cNvSpPr txBox="1"/>
              <p:nvPr/>
            </p:nvSpPr>
            <p:spPr>
              <a:xfrm>
                <a:off x="3614567" y="1157919"/>
                <a:ext cx="99578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entry edge (e)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18D2E5-D452-C992-0555-5A3413269BB9}"/>
                  </a:ext>
                </a:extLst>
              </p:cNvPr>
              <p:cNvSpPr txBox="1"/>
              <p:nvPr/>
            </p:nvSpPr>
            <p:spPr>
              <a:xfrm>
                <a:off x="1754374" y="703770"/>
                <a:ext cx="1770036" cy="11079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CCID+=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ccw</a:t>
                </a:r>
                <a:endParaRPr lang="en-US" sz="1100" dirty="0">
                  <a:latin typeface="Tw Cen MT" panose="020B0602020104020603" pitchFamily="34" charset="77"/>
                </a:endParaRP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push (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CCID,b</a:t>
                </a:r>
                <a:r>
                  <a:rPr lang="en-US" sz="1100" dirty="0">
                    <a:latin typeface="Tw Cen MT" panose="020B0602020104020603" pitchFamily="34" charset="77"/>
                  </a:rPr>
                  <a:t>) to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endParaRPr lang="en-US" sz="1100" dirty="0">
                  <a:latin typeface="Tw Cen MT" panose="020B0602020104020603" pitchFamily="34" charset="77"/>
                </a:endParaRPr>
              </a:p>
              <a:p>
                <a:r>
                  <a: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call-site e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CCID -=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ccw</a:t>
                </a:r>
                <a:endParaRPr lang="en-US" sz="1100" dirty="0">
                  <a:latin typeface="Tw Cen MT" panose="020B0602020104020603" pitchFamily="34" charset="77"/>
                </a:endParaRP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pop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endParaRPr lang="en-US" sz="1100" dirty="0">
                  <a:latin typeface="Tw Cen MT" panose="020B0602020104020603" pitchFamily="34" charset="77"/>
                </a:endParaRPr>
              </a:p>
              <a:p>
                <a:endParaRPr lang="en-US" sz="11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B2F4959-7AB8-2C25-47EC-D51F802B2326}"/>
                  </a:ext>
                </a:extLst>
              </p:cNvPr>
              <p:cNvSpPr txBox="1"/>
              <p:nvPr/>
            </p:nvSpPr>
            <p:spPr>
              <a:xfrm>
                <a:off x="5417208" y="712014"/>
                <a:ext cx="2182008" cy="29700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If (b is in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r>
                  <a:rPr lang="en-US" sz="1100" dirty="0">
                    <a:latin typeface="Tw Cen MT" panose="020B0602020104020603" pitchFamily="34" charset="77"/>
                  </a:rPr>
                  <a:t>) {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while (b is not top of entry stack) {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  pop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r>
                  <a:rPr lang="en-US" sz="1100" dirty="0"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}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If (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r>
                  <a:rPr lang="en-US" sz="1100" dirty="0">
                    <a:latin typeface="Tw Cen MT" panose="020B0602020104020603" pitchFamily="34" charset="77"/>
                  </a:rPr>
                  <a:t>[top].b == b) {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push CCID to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back_stack</a:t>
                </a:r>
                <a:r>
                  <a:rPr lang="en-US" sz="1100" dirty="0"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CCID =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r>
                  <a:rPr lang="en-US" sz="1100" dirty="0">
                    <a:latin typeface="Tw Cen MT" panose="020B0602020104020603" pitchFamily="34" charset="77"/>
                  </a:rPr>
                  <a:t>[top].CCID;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 else {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CCID +=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ccw</a:t>
                </a:r>
                <a:r>
                  <a:rPr lang="en-US" sz="1100" dirty="0"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</a:t>
                </a:r>
              </a:p>
              <a:p>
                <a:r>
                  <a:rPr lang="en-US" sz="1100" dirty="0">
                    <a:solidFill>
                      <a:srgbClr val="FF0000"/>
                    </a:solidFill>
                    <a:latin typeface="Tw Cen MT" panose="020B0602020104020603" pitchFamily="34" charset="77"/>
                  </a:rPr>
                  <a:t>call-site b;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If (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entry_stack</a:t>
                </a:r>
                <a:r>
                  <a:rPr lang="en-US" sz="1100" dirty="0">
                    <a:latin typeface="Tw Cen MT" panose="020B0602020104020603" pitchFamily="34" charset="77"/>
                  </a:rPr>
                  <a:t>[top].b == b) {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CCID = pop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back_stack</a:t>
                </a:r>
                <a:r>
                  <a:rPr lang="en-US" sz="1100" dirty="0"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 else {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  CCID -= </a:t>
                </a:r>
                <a:r>
                  <a:rPr lang="en-US" sz="1100" dirty="0" err="1">
                    <a:latin typeface="Tw Cen MT" panose="020B0602020104020603" pitchFamily="34" charset="77"/>
                  </a:rPr>
                  <a:t>ccw</a:t>
                </a:r>
                <a:r>
                  <a:rPr lang="en-US" sz="1100" dirty="0">
                    <a:latin typeface="Tw Cen MT" panose="020B0602020104020603" pitchFamily="34" charset="77"/>
                  </a:rPr>
                  <a:t>;</a:t>
                </a:r>
              </a:p>
              <a:p>
                <a:r>
                  <a:rPr lang="en-US" sz="1100" dirty="0">
                    <a:latin typeface="Tw Cen MT" panose="020B0602020104020603" pitchFamily="34" charset="77"/>
                  </a:rPr>
                  <a:t>}</a:t>
                </a:r>
              </a:p>
            </p:txBody>
          </p:sp>
          <p:cxnSp>
            <p:nvCxnSpPr>
              <p:cNvPr id="2" name="Straight Arrow Connector 480">
                <a:extLst>
                  <a:ext uri="{FF2B5EF4-FFF2-40B4-BE49-F238E27FC236}">
                    <a16:creationId xmlns:a16="http://schemas.microsoft.com/office/drawing/2014/main" id="{6210B36B-89BA-7D0A-FA8D-468C5DB55F76}"/>
                  </a:ext>
                </a:extLst>
              </p:cNvPr>
              <p:cNvCxnSpPr>
                <a:cxnSpLocks/>
                <a:stCxn id="474" idx="3"/>
                <a:endCxn id="474" idx="5"/>
              </p:cNvCxnSpPr>
              <p:nvPr/>
            </p:nvCxnSpPr>
            <p:spPr>
              <a:xfrm rot="16200000" flipH="1">
                <a:off x="4085132" y="2683215"/>
                <a:ext cx="12700" cy="193974"/>
              </a:xfrm>
              <a:prstGeom prst="curvedConnector3">
                <a:avLst>
                  <a:gd name="adj1" fmla="val 2116323"/>
                </a:avLst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F3CDA5-E2AC-ACD2-9755-AA0B31618FAB}"/>
                  </a:ext>
                </a:extLst>
              </p:cNvPr>
              <p:cNvSpPr txBox="1"/>
              <p:nvPr/>
            </p:nvSpPr>
            <p:spPr>
              <a:xfrm>
                <a:off x="3693140" y="1855041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536D03-A25A-A680-7E68-4D37EFF25D66}"/>
                  </a:ext>
                </a:extLst>
              </p:cNvPr>
              <p:cNvSpPr txBox="1"/>
              <p:nvPr/>
            </p:nvSpPr>
            <p:spPr>
              <a:xfrm>
                <a:off x="3681286" y="2396865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1DB95C-5BAC-0519-783E-58015467C577}"/>
                  </a:ext>
                </a:extLst>
              </p:cNvPr>
              <p:cNvSpPr txBox="1"/>
              <p:nvPr/>
            </p:nvSpPr>
            <p:spPr>
              <a:xfrm>
                <a:off x="4112459" y="2839916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0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329443-142F-01F6-41D4-B0CAFCBA6C73}"/>
                  </a:ext>
                </a:extLst>
              </p:cNvPr>
              <p:cNvSpPr txBox="1"/>
              <p:nvPr/>
            </p:nvSpPr>
            <p:spPr>
              <a:xfrm>
                <a:off x="4217861" y="2405480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99EE4C-221A-35D7-DF42-2915BADB9673}"/>
                  </a:ext>
                </a:extLst>
              </p:cNvPr>
              <p:cNvSpPr txBox="1"/>
              <p:nvPr/>
            </p:nvSpPr>
            <p:spPr>
              <a:xfrm>
                <a:off x="4249250" y="1890314"/>
                <a:ext cx="2664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latin typeface="Tw Cen MT" panose="020B0602020104020603" pitchFamily="34" charset="77"/>
                  </a:rPr>
                  <a:t>1</a:t>
                </a:r>
                <a:endParaRPr lang="en-US" sz="1100" baseline="-25000" dirty="0">
                  <a:latin typeface="Tw Cen MT" panose="020B0602020104020603" pitchFamily="34" charset="77"/>
                </a:endParaRPr>
              </a:p>
            </p:txBody>
          </p:sp>
        </p:grpSp>
        <p:cxnSp>
          <p:nvCxnSpPr>
            <p:cNvPr id="19" name="Straight Arrow Connector 477">
              <a:extLst>
                <a:ext uri="{FF2B5EF4-FFF2-40B4-BE49-F238E27FC236}">
                  <a16:creationId xmlns:a16="http://schemas.microsoft.com/office/drawing/2014/main" id="{EFBA963C-6E0A-FD18-A550-979919D12F98}"/>
                </a:ext>
              </a:extLst>
            </p:cNvPr>
            <p:cNvCxnSpPr>
              <a:cxnSpLocks/>
              <a:endCxn id="472" idx="3"/>
            </p:cNvCxnSpPr>
            <p:nvPr/>
          </p:nvCxnSpPr>
          <p:spPr>
            <a:xfrm flipV="1">
              <a:off x="3200731" y="2387380"/>
              <a:ext cx="365973" cy="328568"/>
            </a:xfrm>
            <a:prstGeom prst="curvedConnector2">
              <a:avLst/>
            </a:prstGeom>
            <a:ln w="15875">
              <a:solidFill>
                <a:srgbClr val="00B05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AED9B7-B349-3B6B-C2DC-6E0D0481A209}"/>
                </a:ext>
              </a:extLst>
            </p:cNvPr>
            <p:cNvSpPr txBox="1"/>
            <p:nvPr/>
          </p:nvSpPr>
          <p:spPr>
            <a:xfrm>
              <a:off x="2528530" y="2344148"/>
              <a:ext cx="10230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entry edge (e’)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DFF263-AAF1-9E74-38D1-5BE2D238D3DD}"/>
                </a:ext>
              </a:extLst>
            </p:cNvPr>
            <p:cNvSpPr txBox="1"/>
            <p:nvPr/>
          </p:nvSpPr>
          <p:spPr>
            <a:xfrm>
              <a:off x="2825868" y="1760818"/>
              <a:ext cx="10198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Tw Cen MT" panose="020B0602020104020603" pitchFamily="34" charset="77"/>
                </a:rPr>
                <a:t>back edge (b’)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585761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30101</TotalTime>
  <Words>2689</Words>
  <Application>Microsoft Macintosh PowerPoint</Application>
  <PresentationFormat>On-screen Show (16:9)</PresentationFormat>
  <Paragraphs>923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Twentieth Century</vt:lpstr>
      <vt:lpstr>Arial</vt:lpstr>
      <vt:lpstr>Calibri</vt:lpstr>
      <vt:lpstr>Cambria Math</vt:lpstr>
      <vt:lpstr>Consolas</vt:lpstr>
      <vt:lpstr>Tw Cen MT</vt:lpstr>
      <vt:lpstr>Simple Light</vt:lpstr>
      <vt:lpstr>Office Theme</vt:lpstr>
      <vt:lpstr>Overall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Overall Design</dc:title>
  <cp:lastModifiedBy>Kim, Sungkeun</cp:lastModifiedBy>
  <cp:revision>32</cp:revision>
  <dcterms:modified xsi:type="dcterms:W3CDTF">2023-08-24T14:18:03Z</dcterms:modified>
</cp:coreProperties>
</file>