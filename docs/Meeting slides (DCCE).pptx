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6D741B-05F4-47F7-A36B-7D189AB3F37F}">
  <a:tblStyle styleId="{4F6D741B-05F4-47F7-A36B-7D189AB3F3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b686a69eba_0_15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b686a69eba_0_158: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gb686a69eba_0_158: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686a69eba_0_8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7" name="Google Shape;77;gb686a69eba_0_8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b686a69eba_0_8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b686a69eba_0_9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8" name="Google Shape;88;gb686a69eba_0_9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b686a69eba_0_9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b686a69eba_0_9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6" name="Google Shape;96;gb686a69eba_0_9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b686a69eba_0_9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b686a69eba_0_10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b686a69eba_0_10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b686a69eba_0_10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b686a69eba_0_11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b686a69eba_0_11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b686a69eba_0_11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686a69eba_0_1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686a69eba_0_12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b686a69eba_0_12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686a69eba_0_12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b686a69eba_0_12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b686a69eba_0_12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b686a69eba_0_13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b686a69eba_0_13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b686a69eba_0_13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b686a69eba_0_18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b686a69eba_0_182: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b686a69eba_0_182: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686a69eba_0_18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686a69eba_0_18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b686a69eba_0_18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b686a69eba_0_19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b686a69eba_0_19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b686a69eba_0_19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686a69eba_0_20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686a69eba_0_20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b686a69eba_0_20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b686a69eba_0_21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b686a69eba_0_21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b686a69eba_0_21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b686a69eba_0_21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b686a69eba_0_21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b686a69eba_0_21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b686a69eba_0_22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b686a69eba_0_22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b686a69eba_0_22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686a69eba_0_22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686a69eba_0_22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b686a69eba_0_22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686a69eba_0_23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686a69eba_0_23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b686a69eba_0_23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b686a69eba_0_24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b686a69eba_0_24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b686a69eba_0_24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686a69eba_0_25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686a69eba_0_25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b686a69eba_0_25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b686a69eba_0_42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b686a69eba_0_427: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b686a69eba_0_427: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686a69eba_0_43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686a69eba_0_43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b686a69eba_0_43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686a69eba_0_44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686a69eba_0_44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b686a69eba_0_44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b686a69eba_0_44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b686a69eba_0_44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b686a69eba_0_44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b686a69eba_0_45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b686a69eba_0_45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b686a69eba_0_45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686a69eba_0_46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b686a69eba_0_46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b686a69eba_0_46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686a69eba_0_46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686a69eba_0_46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b686a69eba_0_46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b686a69eba_0_47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b686a69eba_0_47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b686a69eba_0_47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b686a69eba_0_50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b686a69eba_0_500: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b686a69eba_0_500: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686a69eba_0_50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b686a69eba_0_50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b686a69eba_0_50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b686a69eba_0_51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b686a69eba_0_51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b686a69eba_0_51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b686a69eba_0_5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b686a69eba_0_52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b686a69eba_0_52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b686a69eba_0_53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b686a69eba_0_53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b686a69eba_0_53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b686a69eba_0_53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b686a69eba_0_53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b686a69eba_0_53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686a69eba_0_56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b686a69eba_0_563: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gb686a69eba_0_563: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b686a69eba_0_56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b686a69eba_0_56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b686a69eba_0_56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b686a69eba_0_57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b686a69eba_0_57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b686a69eba_0_57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b686a69eba_0_61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b686a69eba_0_61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b686a69eba_0_61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b686a69eba_0_6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b686a69eba_0_620: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b686a69eba_0_620: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b686a69eba_0_62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b686a69eba_0_62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b686a69eba_0_62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686a69eba_0_63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686a69eba_0_63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b686a69eba_0_63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686a69eba_0_67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686a69eba_0_67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b686a69eba_0_67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b686a69eba_0_68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b686a69eba_0_68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gb686a69eba_0_68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b686a69eba_0_69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b686a69eba_0_693: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gb686a69eba_0_693: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686a69eba_0_69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686a69eba_0_69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b686a69eba_0_69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b686a69eba_0_70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b686a69eba_0_70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b686a69eba_0_70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b686a69eba_0_76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b686a69eba_0_76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b686a69eba_0_76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b686a69eba_0_76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b686a69eba_0_76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b686a69eba_0_76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b686a69eba_0_77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b686a69eba_0_77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gb686a69eba_0_77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b686a69eba_0_78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b686a69eba_0_78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gb686a69eba_0_78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b686a69eba_0_79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b686a69eba_0_79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gb686a69eba_0_79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b686a69eba_0_81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b686a69eba_0_815: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gb686a69eba_0_815: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b686a69eba_0_82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b686a69eba_0_82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b686a69eba_0_82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b686a69eba_0_82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b686a69eba_0_82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b686a69eba_0_82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b686a69eba_0_83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b686a69eba_0_83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gb686a69eba_0_83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b686a69eba_0_84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b686a69eba_0_84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b686a69eba_0_84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b686a69eba_0_84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b686a69eba_0_84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b686a69eba_0_84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b686a69eba_0_86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b686a69eba_0_86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gb686a69eba_0_86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b686a69eba_0_87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b686a69eba_0_87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gb686a69eba_0_87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b686a69eba_0_88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b686a69eba_0_88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b686a69eba_0_88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b686a69eba_0_91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b686a69eba_0_910: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b686a69eba_0_910: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b686a69eba_0_91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b686a69eba_0_91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gb686a69eba_0_91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b686a69eba_0_92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b686a69eba_0_92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gb686a69eba_0_92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b686a69eba_0_92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b686a69eba_0_92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gb686a69eba_0_92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b686a69eba_0_93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b686a69eba_0_93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gb686a69eba_0_93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b686a69eba_0_94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b686a69eba_0_94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gb686a69eba_0_94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b686a69eba_0_95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b686a69eba_0_95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gb686a69eba_0_95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b686a69eba_0_96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b686a69eba_0_96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gb686a69eba_0_96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b686a69eba_0_96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b686a69eba_0_967: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gb686a69eba_0_967: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b686a69eba_0_97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b686a69eba_0_97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gb686a69eba_0_97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b686a69eba_0_98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b686a69eba_0_98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gb686a69eba_0_98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b686a69eba_0_98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b686a69eba_0_98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gb686a69eba_0_98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b686a69eba_0_99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b686a69eba_0_99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gb686a69eba_0_99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b686a69eba_0_100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b686a69eba_0_100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gb686a69eba_0_100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b686a69eba_0_101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b686a69eba_0_101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gb686a69eba_0_101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b686a69eba_0_102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b686a69eba_0_102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gb686a69eba_0_102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b686a69eba_0_103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b686a69eba_0_103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gb686a69eba_0_103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b686a69eba_0_104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b686a69eba_0_104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gb686a69eba_0_104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b686a69eba_0_105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b686a69eba_0_105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gb686a69eba_0_105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b686a69eba_0_105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b686a69eba_0_105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gb686a69eba_0_105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b686a69eba_0_108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gb686a69eba_0_1083: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b686a69eba_0_1083: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b686a69eba_0_108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b686a69eba_0_108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862" name="Google Shape;862;gb686a69eba_0_108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b686a69eba_0_109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b686a69eba_0_109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gb686a69eba_0_109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b686a69eba_0_110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b686a69eba_0_110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already knew three techniques, but did not study enough to compare each other qualitatively and quantitatively.</a:t>
            </a:r>
            <a:endParaRPr/>
          </a:p>
          <a:p>
            <a:pPr indent="0" lvl="0" marL="0" rtl="0" algn="l">
              <a:spcBef>
                <a:spcPts val="0"/>
              </a:spcBef>
              <a:spcAft>
                <a:spcPts val="0"/>
              </a:spcAft>
              <a:buNone/>
            </a:pPr>
            <a:r>
              <a:rPr lang="en"/>
              <a:t>So far, I summarized them in terms of overhead of time to manage calling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I found one more type of collection technique, stack shadowing, I'll introduce it and summarize with the same way</a:t>
            </a:r>
            <a:endParaRPr/>
          </a:p>
        </p:txBody>
      </p:sp>
      <p:sp>
        <p:nvSpPr>
          <p:cNvPr id="876" name="Google Shape;876;gb686a69eba_0_110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b686a69eba_0_110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b686a69eba_0_1107: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gb686a69eba_0_1107: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b686a69eba_0_111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b686a69eba_0_111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gb686a69eba_0_111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b686a69eba_0_111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b686a69eba_0_111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gb686a69eba_0_111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b686a69eba_0_112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b686a69eba_0_112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gb686a69eba_0_112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b686a69eba_0_113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b686a69eba_0_113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gb686a69eba_0_113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b686a69eba_0_113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b686a69eba_0_1137: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gb686a69eba_0_1137: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b686a69eba_0_114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b686a69eba_0_114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gb686a69eba_0_114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b686a69eba_0_114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b686a69eba_0_114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gb686a69eba_0_114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b686a69eba_0_115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b686a69eba_0_115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gb686a69eba_0_115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b686a69eba_0_116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b686a69eba_0_116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gb686a69eba_0_116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b686a69eba_0_116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b686a69eba_0_1167: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gb686a69eba_0_1167: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b686a69eba_0_117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gb686a69eba_0_1173: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b686a69eba_0_1173: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b686a69eba_0_117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b686a69eba_0_117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967" name="Google Shape;967;gb686a69eba_0_117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b686a69eba_0_118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b686a69eba_0_118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1300">
              <a:solidFill>
                <a:schemeClr val="dk1"/>
              </a:solidFill>
            </a:endParaRPr>
          </a:p>
          <a:p>
            <a:pPr indent="0" lvl="0" marL="0" rtl="0" algn="l">
              <a:spcBef>
                <a:spcPts val="1200"/>
              </a:spcBef>
              <a:spcAft>
                <a:spcPts val="0"/>
              </a:spcAft>
              <a:buNone/>
            </a:pPr>
            <a:r>
              <a:t/>
            </a:r>
            <a:endParaRPr/>
          </a:p>
        </p:txBody>
      </p:sp>
      <p:sp>
        <p:nvSpPr>
          <p:cNvPr id="974" name="Google Shape;974;gb686a69eba_0_118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b686a69eba_0_119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b686a69eba_0_119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900">
                <a:solidFill>
                  <a:schemeClr val="dk1"/>
                </a:solidFill>
              </a:rPr>
              <a:t>3.3.1 Processor’s pipeline stage. Many architectures integrate their hardware monitor into one or more of the processor’s instruction pipeline stages, as shown in Fig. </a:t>
            </a:r>
            <a:r>
              <a:rPr lang="en" sz="900">
                <a:solidFill>
                  <a:srgbClr val="FF1A24"/>
                </a:solidFill>
              </a:rPr>
              <a:t>1</a:t>
            </a:r>
            <a:r>
              <a:rPr lang="en" sz="900">
                <a:solidFill>
                  <a:schemeClr val="dk1"/>
                </a:solidFill>
              </a:rPr>
              <a:t>. This allows all the processor’s internal signals to be exploited for enforcing the CFI policy. For example, many CFI policies require runtime branch information such as the branch source address, target address, and branch type. To enforce CFI, the required signals can be forwarded from inside the appropriate pipeline stage to the hardware monitor, which uses this information to verify the validity of each branch.</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Another approach is to add special instructions to the ISA to enforce a CFI policy. This also requires modification of pipeline stage(s), such as the Instruction Decode (ID) stage. In order to make use of the special instructions, a software toolchain is often used to insert these special instruction into the compiled software.</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In Fig. </a:t>
            </a:r>
            <a:r>
              <a:rPr lang="en" sz="900">
                <a:solidFill>
                  <a:srgbClr val="FF1A24"/>
                </a:solidFill>
              </a:rPr>
              <a:t>1 </a:t>
            </a:r>
            <a:r>
              <a:rPr lang="en" sz="900">
                <a:solidFill>
                  <a:schemeClr val="dk1"/>
                </a:solidFill>
              </a:rPr>
              <a:t>the hardware monitor is integrated with the "ID" pipeline stage. However, the monitor can be integrated into multiple different pipeline stages. The decision on where to integrate the monitor depends on the availability of information at a given stage.</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See Section </a:t>
            </a:r>
            <a:r>
              <a:rPr lang="en" sz="900">
                <a:solidFill>
                  <a:srgbClr val="FF1A24"/>
                </a:solidFill>
              </a:rPr>
              <a:t>6 </a:t>
            </a:r>
            <a:r>
              <a:rPr lang="en" sz="900">
                <a:solidFill>
                  <a:schemeClr val="dk1"/>
                </a:solidFill>
              </a:rPr>
              <a:t>for a presentation on the state-of-the-art in CFI architectures that are integrated into the pipeline stages of the processor.</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The biggest disadvantage of integrating a monitor into the pipeline stages is that it does not follow the typical System-on-Chip (SoC) design flow, as it requires modification of existing Intellectual Property (IP), such as the processor.</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3.3.2 Debug interface. Some recent works exploit the processor hardware debug interface to monitor a program’s behavior without modifying the processor or other pre-existing IP, as shown in Fig. </a:t>
            </a:r>
            <a:r>
              <a:rPr lang="en" sz="900">
                <a:solidFill>
                  <a:srgbClr val="FF1A24"/>
                </a:solidFill>
              </a:rPr>
              <a:t>2</a:t>
            </a:r>
            <a:r>
              <a:rPr lang="en" sz="900">
                <a:solidFill>
                  <a:schemeClr val="dk1"/>
                </a:solidFill>
              </a:rPr>
              <a:t>. This is a major advantage, as it complies with the design rules of SoCs. Modifying IP is expensive, as it requires modification by the IP vendor (expensive), or requires the IP vendor to release its Hardware Description Language (HDL) to the client (even more expensive). Monitors which are realized by hardware-based standalone IP are practical, because they do not require the modification of the target processor, but simply communicate with the target processor via existing interfaces, such as the processor’s hardware debug port or the bus.</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A major challenge with enforcing CFI through the debug interface, is to obtain access to all the required runtime information. Since the hardware debugger is designed for debugging purposes, it usually does not provide all the necessary information to enforce a given protection mechanism. A common approach to solve this is to provide supplementary metadata inside main memory, or to communicate the missing information by instrumenting the binary to write the required information to memory-mapped addresses (MMIO).</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Some SoCs have an external debug interface, which facilitates the use of an external hardware monitor. In this case the monitor can be realized by an off-chip microprocessor or other dedicated hardware (FPGA or ASIC), which are connected to the external debug interface.</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See Section </a:t>
            </a:r>
            <a:r>
              <a:rPr lang="en" sz="900">
                <a:solidFill>
                  <a:srgbClr val="FF1A24"/>
                </a:solidFill>
              </a:rPr>
              <a:t>7 </a:t>
            </a:r>
            <a:r>
              <a:rPr lang="en" sz="900">
                <a:solidFill>
                  <a:schemeClr val="dk1"/>
                </a:solidFill>
              </a:rPr>
              <a:t>for a presentation on the state-of-the-art in CFI architectures which monitor the processor via the hardware debug interface.</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spcBef>
                <a:spcPts val="1200"/>
              </a:spcBef>
              <a:spcAft>
                <a:spcPts val="0"/>
              </a:spcAft>
              <a:buNone/>
            </a:pPr>
            <a:r>
              <a:t/>
            </a:r>
            <a:endParaRPr/>
          </a:p>
        </p:txBody>
      </p:sp>
      <p:sp>
        <p:nvSpPr>
          <p:cNvPr id="982" name="Google Shape;982;gb686a69eba_0_119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b686a69eba_0_120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b686a69eba_0_120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gb686a69eba_0_120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b686a69eba_0_120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b686a69eba_0_120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gb686a69eba_0_120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b686a69eba_0_121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b686a69eba_0_121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gb686a69eba_0_121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b686a69eba_0_122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b686a69eba_0_122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gb686a69eba_0_122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b686a69eba_0_123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b686a69eba_0_123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gb686a69eba_0_123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b686a69eba_0_124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b686a69eba_0_124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gb686a69eba_0_124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b686a69eba_0_124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b686a69eba_0_124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gb686a69eba_0_124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b686a69eba_0_125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b686a69eba_0_125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gb686a69eba_0_125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b686a69eba_0_126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b686a69eba_0_126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gb686a69eba_0_126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b686a69eba_0_127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b686a69eba_0_127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070" name="Google Shape;1070;gb686a69eba_0_127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b686a69eba_0_127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b686a69eba_0_127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077" name="Google Shape;1077;gb686a69eba_0_127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b686a69eba_0_128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b686a69eba_0_128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084" name="Google Shape;1084;gb686a69eba_0_128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b686a69eba_0_128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b686a69eba_0_128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091" name="Google Shape;1091;gb686a69eba_0_128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b686a69eba_0_129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b686a69eba_0_129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098" name="Google Shape;1098;gb686a69eba_0_129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b686a69eba_0_130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b686a69eba_0_130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107" name="Google Shape;1107;gb686a69eba_0_130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b686a69eba_0_130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b686a69eba_0_1308: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114" name="Google Shape;1114;gb686a69eba_0_1308: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b686a69eba_0_131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b686a69eba_0_131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indent="0" lvl="0" marL="0" rtl="0" algn="l">
              <a:spcBef>
                <a:spcPts val="1200"/>
              </a:spcBef>
              <a:spcAft>
                <a:spcPts val="0"/>
              </a:spcAft>
              <a:buNone/>
            </a:pPr>
            <a:r>
              <a:t/>
            </a:r>
            <a:endParaRPr/>
          </a:p>
        </p:txBody>
      </p:sp>
      <p:sp>
        <p:nvSpPr>
          <p:cNvPr id="1121" name="Google Shape;1121;gb686a69eba_0_131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b686a69eba_0_13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b686a69eba_0_132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gb686a69eba_0_132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b686a69eba_0_132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b686a69eba_0_1327: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gb686a69eba_0_1327: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b686a69eba_0_133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b686a69eba_0_133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gb686a69eba_0_133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b686a69eba_0_133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b686a69eba_0_133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gb686a69eba_0_133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b686a69eba_0_134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b686a69eba_0_134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gb686a69eba_0_134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b686a69eba_0_135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b686a69eba_0_135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gb686a69eba_0_135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10efd76ca6a_0_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g10efd76ca6a_0_0: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10efd76ca6a_0_0: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10efd76ca6a_0_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10efd76ca6a_0_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1181" name="Google Shape;1181;g10efd76ca6a_0_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1229ab23f8b_0_12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1229ab23f8b_0_12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g1229ab23f8b_0_12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1229ab23f8b_0_15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1229ab23f8b_0_15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g1229ab23f8b_0_15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1229ab23f8b_0_16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1229ab23f8b_0_16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g1229ab23f8b_0_16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1229ab23f8b_0_16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1229ab23f8b_0_16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g1229ab23f8b_0_16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1229ab23f8b_0_17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1229ab23f8b_0_17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g1229ab23f8b_0_17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1229ab23f8b_0_20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1229ab23f8b_0_20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g1229ab23f8b_0_20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1229ab23f8b_0_18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1229ab23f8b_0_18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g1229ab23f8b_0_18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1229ab23f8b_0_25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1229ab23f8b_0_25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g1229ab23f8b_0_25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1229ab23f8b_0_21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1229ab23f8b_0_21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g1229ab23f8b_0_21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1229ab23f8b_0_30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1229ab23f8b_0_309: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g1229ab23f8b_0_309: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1229ab23f8b_0_22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1229ab23f8b_0_223: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g1229ab23f8b_0_223: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1229ab23f8b_0_26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1229ab23f8b_0_267: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g1229ab23f8b_0_267: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1229ab23f8b_0_27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1229ab23f8b_0_274: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g1229ab23f8b_0_274: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1229ab23f8b_0_19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1229ab23f8b_0_19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g1229ab23f8b_0_19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1229ab23f8b_0_19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1229ab23f8b_0_19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g1229ab23f8b_0_19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1229ab23f8b_0_6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1229ab23f8b_0_6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g1229ab23f8b_0_6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127f1f0c548_0_5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127f1f0c548_0_55: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g127f1f0c548_0_55: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11b8ea3aa97_0_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11b8ea3aa97_0_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g11b8ea3aa97_0_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131245ab667_1_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g131245ab667_1_0: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1" name="Google Shape;1401;g131245ab667_1_0:notes"/>
          <p:cNvSpPr txBox="1"/>
          <p:nvPr>
            <p:ph idx="12" type="sldNum"/>
          </p:nvPr>
        </p:nvSpPr>
        <p:spPr>
          <a:xfrm>
            <a:off x="3884613" y="8685214"/>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131245ab667_1_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131245ab667_1_6: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1408" name="Google Shape;1408;g131245ab667_1_6: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131245ab667_1_1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131245ab667_1_12: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1415" name="Google Shape;1415;g131245ab667_1_12: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131245ab667_1_3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131245ab667_1_31: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1423" name="Google Shape;1423;g131245ab667_1_31: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131245ab667_1_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131245ab667_1_20:notes"/>
          <p:cNvSpPr txBox="1"/>
          <p:nvPr>
            <p:ph idx="1" type="body"/>
          </p:nvPr>
        </p:nvSpPr>
        <p:spPr>
          <a:xfrm>
            <a:off x="685800" y="4400549"/>
            <a:ext cx="5486400" cy="3600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indent="-298450" lvl="0" marL="457200" rtl="0" algn="l">
              <a:spcBef>
                <a:spcPts val="0"/>
              </a:spcBef>
              <a:spcAft>
                <a:spcPts val="0"/>
              </a:spcAft>
              <a:buSzPts val="1100"/>
              <a:buChar char="-"/>
            </a:pPr>
            <a:r>
              <a:rPr lang="en"/>
              <a:t>During work, I had a doubt</a:t>
            </a:r>
            <a:endParaRPr/>
          </a:p>
          <a:p>
            <a:pPr indent="-298450" lvl="1" marL="914400" rtl="0" algn="l">
              <a:spcBef>
                <a:spcPts val="0"/>
              </a:spcBef>
              <a:spcAft>
                <a:spcPts val="0"/>
              </a:spcAft>
              <a:buSzPts val="1100"/>
              <a:buChar char="-"/>
            </a:pPr>
            <a:r>
              <a:rPr lang="en"/>
              <a:t>What application can use DCCE instead of existing tech.</a:t>
            </a:r>
            <a:endParaRPr/>
          </a:p>
          <a:p>
            <a:pPr indent="-298450" lvl="1" marL="914400" rtl="0" algn="l">
              <a:spcBef>
                <a:spcPts val="0"/>
              </a:spcBef>
              <a:spcAft>
                <a:spcPts val="0"/>
              </a:spcAft>
              <a:buSzPts val="1100"/>
              <a:buChar char="-"/>
            </a:pPr>
            <a:r>
              <a:rPr lang="en"/>
              <a:t>Can DCCE performance better in terms of at least time overhead? (Is there other techniques rather than CC encoding?)</a:t>
            </a:r>
            <a:endParaRPr/>
          </a:p>
          <a:p>
            <a:pPr indent="-298450" lvl="1" marL="914400" rtl="0" algn="l">
              <a:spcBef>
                <a:spcPts val="0"/>
              </a:spcBef>
              <a:spcAft>
                <a:spcPts val="0"/>
              </a:spcAft>
              <a:buSzPts val="1100"/>
              <a:buChar char="-"/>
            </a:pPr>
            <a:r>
              <a:rPr lang="en"/>
              <a:t>What aspect I should consider to be complete work?</a:t>
            </a:r>
            <a:endParaRPr/>
          </a:p>
          <a:p>
            <a:pPr indent="-298450" lvl="0" marL="457200" rtl="0" algn="l">
              <a:spcBef>
                <a:spcPts val="0"/>
              </a:spcBef>
              <a:spcAft>
                <a:spcPts val="0"/>
              </a:spcAft>
              <a:buSzPts val="1100"/>
              <a:buChar char="-"/>
            </a:pPr>
            <a:r>
              <a:rPr lang="en"/>
              <a:t>Stop doing current action items, survey and study,</a:t>
            </a:r>
            <a:endParaRPr/>
          </a:p>
          <a:p>
            <a:pPr indent="-298450" lvl="1" marL="914400" rtl="0" algn="l">
              <a:spcBef>
                <a:spcPts val="0"/>
              </a:spcBef>
              <a:spcAft>
                <a:spcPts val="0"/>
              </a:spcAft>
              <a:buSzPts val="1100"/>
              <a:buChar char="-"/>
            </a:pPr>
            <a:r>
              <a:rPr lang="en">
                <a:solidFill>
                  <a:schemeClr val="dk1"/>
                </a:solidFill>
              </a:rPr>
              <a:t>Find real apps that are using CC</a:t>
            </a:r>
            <a:endParaRPr>
              <a:solidFill>
                <a:schemeClr val="dk1"/>
              </a:solidFill>
            </a:endParaRPr>
          </a:p>
          <a:p>
            <a:pPr indent="-298450" lvl="1" marL="914400" rtl="0" algn="l">
              <a:spcBef>
                <a:spcPts val="0"/>
              </a:spcBef>
              <a:spcAft>
                <a:spcPts val="0"/>
              </a:spcAft>
              <a:buSzPts val="1100"/>
              <a:buChar char="-"/>
            </a:pPr>
            <a:r>
              <a:rPr lang="en"/>
              <a:t>Study CC used those real apps</a:t>
            </a:r>
            <a:endParaRPr/>
          </a:p>
          <a:p>
            <a:pPr indent="-298450" lvl="1" marL="914400" rtl="0" algn="l">
              <a:spcBef>
                <a:spcPts val="0"/>
              </a:spcBef>
              <a:spcAft>
                <a:spcPts val="0"/>
              </a:spcAft>
              <a:buSzPts val="1100"/>
              <a:buChar char="-"/>
            </a:pPr>
            <a:r>
              <a:rPr lang="en"/>
              <a:t>Evalue DCCE if real apps can use DCCE</a:t>
            </a:r>
            <a:endParaRPr/>
          </a:p>
          <a:p>
            <a:pPr indent="-298450" lvl="1" marL="914400" rtl="0" algn="l">
              <a:spcBef>
                <a:spcPts val="0"/>
              </a:spcBef>
              <a:spcAft>
                <a:spcPts val="0"/>
              </a:spcAft>
              <a:buSzPts val="1100"/>
              <a:buChar char="-"/>
            </a:pPr>
            <a:r>
              <a:rPr lang="en"/>
              <a:t>Find aspects, considerations that I should know for DCCE to be complete work</a:t>
            </a:r>
            <a:endParaRPr/>
          </a:p>
          <a:p>
            <a:pPr indent="-298450" lvl="0" marL="457200" rtl="0" algn="l">
              <a:spcBef>
                <a:spcPts val="0"/>
              </a:spcBef>
              <a:spcAft>
                <a:spcPts val="0"/>
              </a:spcAft>
              <a:buSzPts val="1100"/>
              <a:buChar char="-"/>
            </a:pPr>
            <a:r>
              <a:rPr lang="en"/>
              <a:t>Finally, my conclusion is </a:t>
            </a:r>
            <a:endParaRPr/>
          </a:p>
          <a:p>
            <a:pPr indent="-298450" lvl="1" marL="914400" rtl="0" algn="l">
              <a:spcBef>
                <a:spcPts val="0"/>
              </a:spcBef>
              <a:spcAft>
                <a:spcPts val="0"/>
              </a:spcAft>
              <a:buSzPts val="1100"/>
              <a:buChar char="-"/>
            </a:pPr>
            <a:r>
              <a:rPr lang="en"/>
              <a:t>I need more survey and study on CC collection and its use cases to clearly see the opportunity.</a:t>
            </a:r>
            <a:endParaRPr/>
          </a:p>
          <a:p>
            <a:pPr indent="-298450" lvl="1" marL="914400" rtl="0" algn="l">
              <a:spcBef>
                <a:spcPts val="0"/>
              </a:spcBef>
              <a:spcAft>
                <a:spcPts val="0"/>
              </a:spcAft>
              <a:buSzPts val="1100"/>
              <a:buChar char="-"/>
            </a:pPr>
            <a:r>
              <a:rPr lang="en"/>
              <a:t>After complete the survey, we could see the opportunity or not</a:t>
            </a:r>
            <a:endParaRPr/>
          </a:p>
          <a:p>
            <a:pPr indent="-298450" lvl="2" marL="1371600" rtl="0" algn="l">
              <a:spcBef>
                <a:spcPts val="0"/>
              </a:spcBef>
              <a:spcAft>
                <a:spcPts val="0"/>
              </a:spcAft>
              <a:buSzPts val="1100"/>
              <a:buChar char="-"/>
            </a:pPr>
            <a:r>
              <a:rPr lang="en"/>
              <a:t>If we see that, go for it.</a:t>
            </a:r>
            <a:endParaRPr/>
          </a:p>
          <a:p>
            <a:pPr indent="-298450" lvl="2" marL="1371600" rtl="0" algn="l">
              <a:spcBef>
                <a:spcPts val="0"/>
              </a:spcBef>
              <a:spcAft>
                <a:spcPts val="0"/>
              </a:spcAft>
              <a:buSzPts val="1100"/>
              <a:buChar char="-"/>
            </a:pPr>
            <a:r>
              <a:rPr lang="en"/>
              <a:t>Otherwise, write a summary paper.</a:t>
            </a:r>
            <a:endParaRPr/>
          </a:p>
          <a:p>
            <a:pPr indent="-298450" lvl="0" marL="457200" rtl="0" algn="l">
              <a:spcBef>
                <a:spcPts val="0"/>
              </a:spcBef>
              <a:spcAft>
                <a:spcPts val="0"/>
              </a:spcAft>
              <a:buSzPts val="1100"/>
              <a:buChar char="-"/>
            </a:pPr>
            <a:r>
              <a:rPr lang="en"/>
              <a:t>Regarding scheduling with WHISTLE,</a:t>
            </a:r>
            <a:endParaRPr/>
          </a:p>
          <a:p>
            <a:pPr indent="-298450" lvl="1" marL="914400" rtl="0" algn="l">
              <a:spcBef>
                <a:spcPts val="0"/>
              </a:spcBef>
              <a:spcAft>
                <a:spcPts val="0"/>
              </a:spcAft>
              <a:buSzPts val="1100"/>
              <a:buChar char="-"/>
            </a:pPr>
            <a:r>
              <a:rPr lang="en"/>
              <a:t>Pause DCCE and Work on WHISTLE for MICRO submission</a:t>
            </a:r>
            <a:endParaRPr/>
          </a:p>
          <a:p>
            <a:pPr indent="-298450" lvl="1" marL="914400" rtl="0" algn="l">
              <a:spcBef>
                <a:spcPts val="0"/>
              </a:spcBef>
              <a:spcAft>
                <a:spcPts val="0"/>
              </a:spcAft>
              <a:buSzPts val="1100"/>
              <a:buChar char="-"/>
            </a:pPr>
            <a:r>
              <a:rPr lang="en"/>
              <a:t>Resume after micro</a:t>
            </a:r>
            <a:endParaRPr/>
          </a:p>
        </p:txBody>
      </p:sp>
      <p:sp>
        <p:nvSpPr>
          <p:cNvPr id="1430" name="Google Shape;1430;g131245ab667_1_20:notes"/>
          <p:cNvSpPr txBox="1"/>
          <p:nvPr>
            <p:ph idx="12" type="sldNum"/>
          </p:nvPr>
        </p:nvSpPr>
        <p:spPr>
          <a:xfrm>
            <a:off x="3884613" y="8685214"/>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27.png"/><Relationship Id="rId4" Type="http://schemas.openxmlformats.org/officeDocument/2006/relationships/image" Target="../media/image19.png"/><Relationship Id="rId10" Type="http://schemas.openxmlformats.org/officeDocument/2006/relationships/image" Target="../media/image23.png"/><Relationship Id="rId9" Type="http://schemas.openxmlformats.org/officeDocument/2006/relationships/image" Target="../media/image28.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2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4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 Id="rId3" Type="http://schemas.openxmlformats.org/officeDocument/2006/relationships/image" Target="../media/image3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3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 Id="rId3" Type="http://schemas.openxmlformats.org/officeDocument/2006/relationships/image" Target="../media/image3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 Id="rId3" Type="http://schemas.openxmlformats.org/officeDocument/2006/relationships/image" Target="../media/image4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image" Target="../media/image3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 Id="rId3" Type="http://schemas.openxmlformats.org/officeDocument/2006/relationships/image" Target="../media/image37.png"/><Relationship Id="rId4" Type="http://schemas.openxmlformats.org/officeDocument/2006/relationships/image" Target="../media/image33.png"/><Relationship Id="rId5" Type="http://schemas.openxmlformats.org/officeDocument/2006/relationships/image" Target="../media/image5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 Id="rId3" Type="http://schemas.openxmlformats.org/officeDocument/2006/relationships/image" Target="../media/image4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 Id="rId3" Type="http://schemas.openxmlformats.org/officeDocument/2006/relationships/image" Target="../media/image4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 Id="rId3" Type="http://schemas.openxmlformats.org/officeDocument/2006/relationships/image" Target="../media/image4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 Id="rId3" Type="http://schemas.openxmlformats.org/officeDocument/2006/relationships/image" Target="../media/image5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 Id="rId3" Type="http://schemas.openxmlformats.org/officeDocument/2006/relationships/image" Target="../media/image56.png"/><Relationship Id="rId4" Type="http://schemas.openxmlformats.org/officeDocument/2006/relationships/image" Target="../media/image5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 Id="rId3" Type="http://schemas.openxmlformats.org/officeDocument/2006/relationships/hyperlink" Target="https://doi.org/10.1145/2810103.2813671"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Relationship Id="rId3" Type="http://schemas.openxmlformats.org/officeDocument/2006/relationships/image" Target="../media/image43.png"/><Relationship Id="rId4" Type="http://schemas.openxmlformats.org/officeDocument/2006/relationships/image" Target="../media/image5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 Id="rId3" Type="http://schemas.openxmlformats.org/officeDocument/2006/relationships/image" Target="../media/image4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1.xml"/><Relationship Id="rId3" Type="http://schemas.openxmlformats.org/officeDocument/2006/relationships/hyperlink" Target="https://doi.org/10.1145/3035965" TargetMode="External"/><Relationship Id="rId4" Type="http://schemas.openxmlformats.org/officeDocument/2006/relationships/hyperlink" Target="https://doi.org/10.1109/TC.2006.166" TargetMode="External"/><Relationship Id="rId5" Type="http://schemas.openxmlformats.org/officeDocument/2006/relationships/image" Target="../media/image5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2.xml"/><Relationship Id="rId3" Type="http://schemas.openxmlformats.org/officeDocument/2006/relationships/image" Target="../media/image49.png"/><Relationship Id="rId4" Type="http://schemas.openxmlformats.org/officeDocument/2006/relationships/image" Target="../media/image45.png"/><Relationship Id="rId5" Type="http://schemas.openxmlformats.org/officeDocument/2006/relationships/image" Target="../media/image4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Relationship Id="rId3" Type="http://schemas.openxmlformats.org/officeDocument/2006/relationships/hyperlink" Target="https://doi.org/10.1109/TVLSI.2006.887799" TargetMode="External"/><Relationship Id="rId4" Type="http://schemas.openxmlformats.org/officeDocument/2006/relationships/hyperlink" Target="https://doi.org/10.1109/LES.2012.2218630"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4.xml"/><Relationship Id="rId3" Type="http://schemas.openxmlformats.org/officeDocument/2006/relationships/image" Target="../media/image5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5.xml"/><Relationship Id="rId3" Type="http://schemas.openxmlformats.org/officeDocument/2006/relationships/image" Target="../media/image52.png"/><Relationship Id="rId4" Type="http://schemas.openxmlformats.org/officeDocument/2006/relationships/image" Target="../media/image5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6.xml"/><Relationship Id="rId3" Type="http://schemas.openxmlformats.org/officeDocument/2006/relationships/hyperlink" Target="https://doi.org/10.1016/j.cose.2017.03.013" TargetMode="External"/><Relationship Id="rId4" Type="http://schemas.openxmlformats.org/officeDocument/2006/relationships/hyperlink" Target="https://doi.org/10.1109/TEST.1988.207880" TargetMode="External"/><Relationship Id="rId5" Type="http://schemas.openxmlformats.org/officeDocument/2006/relationships/hyperlink" Target="https://doi.org/10.1109/12.2145" TargetMode="External"/><Relationship Id="rId6" Type="http://schemas.openxmlformats.org/officeDocument/2006/relationships/image" Target="../media/image52.png"/><Relationship Id="rId7" Type="http://schemas.openxmlformats.org/officeDocument/2006/relationships/image" Target="../media/image5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9.xml"/><Relationship Id="rId3" Type="http://schemas.openxmlformats.org/officeDocument/2006/relationships/image" Target="../media/image6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0.xml"/><Relationship Id="rId3" Type="http://schemas.openxmlformats.org/officeDocument/2006/relationships/image" Target="../media/image5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 Id="rId3" Type="http://schemas.openxmlformats.org/officeDocument/2006/relationships/image" Target="../media/image7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 Id="rId3" Type="http://schemas.openxmlformats.org/officeDocument/2006/relationships/image" Target="../media/image5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3.xml"/><Relationship Id="rId3" Type="http://schemas.openxmlformats.org/officeDocument/2006/relationships/hyperlink" Target="https://elinux.org/images/b/b3/Hardware_Assisted_Tracing_on_ARM.pdf" TargetMode="External"/><Relationship Id="rId4" Type="http://schemas.openxmlformats.org/officeDocument/2006/relationships/hyperlink" Target="https://www.youtube.com/watch?v=Gm2ZXIB18PQ" TargetMode="External"/><Relationship Id="rId5" Type="http://schemas.openxmlformats.org/officeDocument/2006/relationships/image" Target="../media/image71.png"/><Relationship Id="rId6" Type="http://schemas.openxmlformats.org/officeDocument/2006/relationships/image" Target="../media/image7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4.xml"/><Relationship Id="rId3" Type="http://schemas.openxmlformats.org/officeDocument/2006/relationships/image" Target="../media/image7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5.xml"/><Relationship Id="rId3" Type="http://schemas.openxmlformats.org/officeDocument/2006/relationships/hyperlink" Target="https://www.youtube.com/watch?v=pDF09K3753k" TargetMode="External"/><Relationship Id="rId4" Type="http://schemas.openxmlformats.org/officeDocument/2006/relationships/image" Target="../media/image6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6.xml"/><Relationship Id="rId3" Type="http://schemas.openxmlformats.org/officeDocument/2006/relationships/image" Target="../media/image7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Relationship Id="rId3" Type="http://schemas.openxmlformats.org/officeDocument/2006/relationships/image" Target="../media/image6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9.xml"/><Relationship Id="rId3" Type="http://schemas.openxmlformats.org/officeDocument/2006/relationships/hyperlink" Target="https://github.com/CCTLib/cctlib/blob/master/clients/loadspy_client.cpp"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0.xml"/><Relationship Id="rId3" Type="http://schemas.openxmlformats.org/officeDocument/2006/relationships/image" Target="../media/image6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1.xml"/><Relationship Id="rId3" Type="http://schemas.openxmlformats.org/officeDocument/2006/relationships/image" Target="../media/image7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0.xml"/><Relationship Id="rId3" Type="http://schemas.openxmlformats.org/officeDocument/2006/relationships/image" Target="../media/image64.png"/><Relationship Id="rId4" Type="http://schemas.openxmlformats.org/officeDocument/2006/relationships/image" Target="../media/image6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1.xml"/><Relationship Id="rId3" Type="http://schemas.openxmlformats.org/officeDocument/2006/relationships/image" Target="../media/image6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2.xml"/><Relationship Id="rId3" Type="http://schemas.openxmlformats.org/officeDocument/2006/relationships/image" Target="../media/image6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3.xml"/><Relationship Id="rId3" Type="http://schemas.openxmlformats.org/officeDocument/2006/relationships/image" Target="../media/image72.png"/><Relationship Id="rId4" Type="http://schemas.openxmlformats.org/officeDocument/2006/relationships/image" Target="../media/image6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7.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2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1.xml"/><Relationship Id="rId3" Type="http://schemas.openxmlformats.org/officeDocument/2006/relationships/image" Target="../media/image65.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5.xml"/><Relationship Id="rId3" Type="http://schemas.openxmlformats.org/officeDocument/2006/relationships/image" Target="../media/image7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74" name="Google Shape;74;p16"/>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2020 Aug 27</a:t>
            </a:r>
            <a:endParaRPr/>
          </a:p>
          <a:p>
            <a:pPr indent="0" lvl="0" marL="0" rtl="0" algn="l">
              <a:lnSpc>
                <a:spcPct val="90000"/>
              </a:lnSpc>
              <a:spcBef>
                <a:spcPts val="0"/>
              </a:spcBef>
              <a:spcAft>
                <a:spcPts val="0"/>
              </a:spcAft>
              <a:buClr>
                <a:schemeClr val="dk1"/>
              </a:buClr>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Challenges to encode Call-chain</a:t>
            </a:r>
            <a:endParaRPr/>
          </a:p>
        </p:txBody>
      </p:sp>
      <p:sp>
        <p:nvSpPr>
          <p:cNvPr id="81" name="Google Shape;81;p17"/>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16KB for encoding table.</a:t>
            </a:r>
            <a:endParaRPr/>
          </a:p>
          <a:p>
            <a:pPr indent="-254000" lvl="1" marL="685800" rtl="0" algn="l">
              <a:spcBef>
                <a:spcPts val="0"/>
              </a:spcBef>
              <a:spcAft>
                <a:spcPts val="0"/>
              </a:spcAft>
              <a:buSzPts val="1400"/>
              <a:buChar char="❏"/>
            </a:pPr>
            <a:r>
              <a:rPr lang="en"/>
              <a:t>Can remove it?</a:t>
            </a:r>
            <a:endParaRPr/>
          </a:p>
          <a:p>
            <a:pPr indent="-254000" lvl="0" marL="342900" rtl="0" algn="l">
              <a:spcBef>
                <a:spcPts val="0"/>
              </a:spcBef>
              <a:spcAft>
                <a:spcPts val="0"/>
              </a:spcAft>
              <a:buSzPts val="1400"/>
              <a:buChar char="❏"/>
            </a:pPr>
            <a:r>
              <a:rPr lang="en"/>
              <a:t>14x4 bits for Call-chain ID</a:t>
            </a:r>
            <a:endParaRPr/>
          </a:p>
          <a:p>
            <a:pPr indent="-254000" lvl="1" marL="685800" rtl="0" algn="l">
              <a:spcBef>
                <a:spcPts val="0"/>
              </a:spcBef>
              <a:spcAft>
                <a:spcPts val="0"/>
              </a:spcAft>
              <a:buSzPts val="1400"/>
              <a:buChar char="❏"/>
            </a:pPr>
            <a:r>
              <a:rPr lang="en"/>
              <a:t>Can reduce it?</a:t>
            </a:r>
            <a:endParaRPr/>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pic>
        <p:nvPicPr>
          <p:cNvPr id="82" name="Google Shape;82;p17"/>
          <p:cNvPicPr preferRelativeResize="0"/>
          <p:nvPr/>
        </p:nvPicPr>
        <p:blipFill>
          <a:blip r:embed="rId3">
            <a:alphaModFix/>
          </a:blip>
          <a:stretch>
            <a:fillRect/>
          </a:stretch>
        </p:blipFill>
        <p:spPr>
          <a:xfrm>
            <a:off x="4480650" y="835700"/>
            <a:ext cx="4630199" cy="2364000"/>
          </a:xfrm>
          <a:prstGeom prst="rect">
            <a:avLst/>
          </a:prstGeom>
          <a:noFill/>
          <a:ln>
            <a:noFill/>
          </a:ln>
        </p:spPr>
      </p:pic>
      <p:pic>
        <p:nvPicPr>
          <p:cNvPr id="83" name="Google Shape;83;p17"/>
          <p:cNvPicPr preferRelativeResize="0"/>
          <p:nvPr/>
        </p:nvPicPr>
        <p:blipFill>
          <a:blip r:embed="rId4">
            <a:alphaModFix/>
          </a:blip>
          <a:stretch>
            <a:fillRect/>
          </a:stretch>
        </p:blipFill>
        <p:spPr>
          <a:xfrm>
            <a:off x="13524" y="2829975"/>
            <a:ext cx="4100774" cy="2313524"/>
          </a:xfrm>
          <a:prstGeom prst="rect">
            <a:avLst/>
          </a:prstGeom>
          <a:noFill/>
          <a:ln>
            <a:noFill/>
          </a:ln>
        </p:spPr>
      </p:pic>
      <p:sp>
        <p:nvSpPr>
          <p:cNvPr id="84" name="Google Shape;84;p17"/>
          <p:cNvSpPr/>
          <p:nvPr/>
        </p:nvSpPr>
        <p:spPr>
          <a:xfrm>
            <a:off x="834850" y="3781850"/>
            <a:ext cx="2936100" cy="134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p:nvPr/>
        </p:nvSpPr>
        <p:spPr>
          <a:xfrm>
            <a:off x="4627025" y="1560325"/>
            <a:ext cx="845700" cy="18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Efficient Path Profile - Ball-Larus(BL) Algorithm</a:t>
            </a:r>
            <a:endParaRPr/>
          </a:p>
          <a:p>
            <a:pPr indent="0" lvl="0" marL="0" rtl="0" algn="l">
              <a:spcBef>
                <a:spcPts val="0"/>
              </a:spcBef>
              <a:spcAft>
                <a:spcPts val="0"/>
              </a:spcAft>
              <a:buNone/>
            </a:pPr>
            <a:r>
              <a:rPr lang="en" sz="1050">
                <a:highlight>
                  <a:srgbClr val="FFFFFF"/>
                </a:highlight>
                <a:latin typeface="Arial"/>
                <a:ea typeface="Arial"/>
                <a:cs typeface="Arial"/>
                <a:sym typeface="Arial"/>
              </a:rPr>
              <a:t>MICRO 29: Proceedings of the 29th annual ACM/IEEE international symposium on Microarchitecture</a:t>
            </a:r>
            <a:r>
              <a:rPr lang="en" sz="1050">
                <a:solidFill>
                  <a:srgbClr val="757575"/>
                </a:solidFill>
                <a:highlight>
                  <a:srgbClr val="FFFFFF"/>
                </a:highlight>
                <a:latin typeface="Arial"/>
                <a:ea typeface="Arial"/>
                <a:cs typeface="Arial"/>
                <a:sym typeface="Arial"/>
              </a:rPr>
              <a:t> December 1996 Pages 46–57</a:t>
            </a:r>
            <a:endParaRPr/>
          </a:p>
        </p:txBody>
      </p:sp>
      <p:sp>
        <p:nvSpPr>
          <p:cNvPr id="92" name="Google Shape;92;p18"/>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Label edges in DAG with integer numbers such that each path from entry to exit produce unique sum of edge values along the path.</a:t>
            </a:r>
            <a:endParaRPr/>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pic>
        <p:nvPicPr>
          <p:cNvPr id="93" name="Google Shape;93;p18"/>
          <p:cNvPicPr preferRelativeResize="0"/>
          <p:nvPr/>
        </p:nvPicPr>
        <p:blipFill>
          <a:blip r:embed="rId3">
            <a:alphaModFix/>
          </a:blip>
          <a:stretch>
            <a:fillRect/>
          </a:stretch>
        </p:blipFill>
        <p:spPr>
          <a:xfrm>
            <a:off x="2887257" y="1924395"/>
            <a:ext cx="3483776" cy="2904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Efficient Path Profile - Applicable for WHISTLE?</a:t>
            </a:r>
            <a:endParaRPr/>
          </a:p>
        </p:txBody>
      </p:sp>
      <p:sp>
        <p:nvSpPr>
          <p:cNvPr id="100" name="Google Shape;100;p19"/>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It is designed to encode paths of a basic block </a:t>
            </a:r>
            <a:endParaRPr/>
          </a:p>
          <a:p>
            <a:pPr indent="-254000" lvl="1" marL="685800" rtl="0" algn="l">
              <a:spcBef>
                <a:spcPts val="0"/>
              </a:spcBef>
              <a:spcAft>
                <a:spcPts val="0"/>
              </a:spcAft>
              <a:buSzPts val="1400"/>
              <a:buChar char="❏"/>
            </a:pPr>
            <a:r>
              <a:rPr lang="en"/>
              <a:t>One entry and multiple designated exits.</a:t>
            </a:r>
            <a:endParaRPr/>
          </a:p>
          <a:p>
            <a:pPr indent="-254000" lvl="0" marL="342900" rtl="0" algn="l">
              <a:spcBef>
                <a:spcPts val="0"/>
              </a:spcBef>
              <a:spcAft>
                <a:spcPts val="0"/>
              </a:spcAft>
              <a:buSzPts val="1400"/>
              <a:buChar char="❏"/>
            </a:pPr>
            <a:r>
              <a:rPr lang="en"/>
              <a:t>WHISTLE needs calling-context</a:t>
            </a:r>
            <a:endParaRPr/>
          </a:p>
          <a:p>
            <a:pPr indent="-254000" lvl="1" marL="685800" rtl="0" algn="l">
              <a:spcBef>
                <a:spcPts val="0"/>
              </a:spcBef>
              <a:spcAft>
                <a:spcPts val="0"/>
              </a:spcAft>
              <a:buSzPts val="1400"/>
              <a:buChar char="❏"/>
            </a:pPr>
            <a:r>
              <a:rPr lang="en"/>
              <a:t>One root and every node can be exit node.</a:t>
            </a:r>
            <a:endParaRPr/>
          </a:p>
          <a:p>
            <a:pPr indent="-254000" lvl="1" marL="685800" rtl="0" algn="l">
              <a:spcBef>
                <a:spcPts val="0"/>
              </a:spcBef>
              <a:spcAft>
                <a:spcPts val="0"/>
              </a:spcAft>
              <a:buSzPts val="1400"/>
              <a:buChar char="❏"/>
            </a:pPr>
            <a:r>
              <a:rPr lang="en"/>
              <a:t>(Main → F1 → F2 → F3 → … → Fx) → ID</a:t>
            </a:r>
            <a:endParaRPr/>
          </a:p>
          <a:p>
            <a:pPr indent="-254000" lvl="1" marL="685800" rtl="0" algn="l">
              <a:spcBef>
                <a:spcPts val="0"/>
              </a:spcBef>
              <a:spcAft>
                <a:spcPts val="0"/>
              </a:spcAft>
              <a:buSzPts val="1400"/>
              <a:buChar char="❏"/>
            </a:pPr>
            <a:r>
              <a:rPr lang="en"/>
              <a:t>(A→ B) → 0      (A→ C) → 0</a:t>
            </a:r>
            <a:endParaRPr/>
          </a:p>
          <a:p>
            <a:pPr indent="-254000" lvl="0" marL="342900" rtl="0" algn="l">
              <a:spcBef>
                <a:spcPts val="0"/>
              </a:spcBef>
              <a:spcAft>
                <a:spcPts val="0"/>
              </a:spcAft>
              <a:buSzPts val="1400"/>
              <a:buChar char="❏"/>
            </a:pPr>
            <a:r>
              <a:rPr lang="en"/>
              <a:t>“Precise Calling Context Encoding” addresses same problem with WHISTLE.</a:t>
            </a:r>
            <a:endParaRPr/>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pic>
        <p:nvPicPr>
          <p:cNvPr id="101" name="Google Shape;101;p19"/>
          <p:cNvPicPr preferRelativeResize="0"/>
          <p:nvPr/>
        </p:nvPicPr>
        <p:blipFill>
          <a:blip r:embed="rId3">
            <a:alphaModFix/>
          </a:blip>
          <a:stretch>
            <a:fillRect/>
          </a:stretch>
        </p:blipFill>
        <p:spPr>
          <a:xfrm>
            <a:off x="6104176" y="3083124"/>
            <a:ext cx="2883075" cy="2403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Precise Calling Context Encoding</a:t>
            </a:r>
            <a:endParaRPr/>
          </a:p>
          <a:p>
            <a:pPr indent="0" lvl="0" marL="0" rtl="0" algn="l">
              <a:spcBef>
                <a:spcPts val="0"/>
              </a:spcBef>
              <a:spcAft>
                <a:spcPts val="0"/>
              </a:spcAft>
              <a:buNone/>
            </a:pPr>
            <a:r>
              <a:rPr lang="en" sz="1000">
                <a:solidFill>
                  <a:srgbClr val="222222"/>
                </a:solidFill>
                <a:highlight>
                  <a:srgbClr val="FFFFFF"/>
                </a:highlight>
                <a:latin typeface="Arial"/>
                <a:ea typeface="Arial"/>
                <a:cs typeface="Arial"/>
                <a:sym typeface="Arial"/>
              </a:rPr>
              <a:t>Sumner, William N., et al. "Precise calling context encoding." </a:t>
            </a:r>
            <a:r>
              <a:rPr i="1" lang="en" sz="1000">
                <a:solidFill>
                  <a:srgbClr val="222222"/>
                </a:solidFill>
                <a:highlight>
                  <a:srgbClr val="FFFFFF"/>
                </a:highlight>
                <a:latin typeface="Arial"/>
                <a:ea typeface="Arial"/>
                <a:cs typeface="Arial"/>
                <a:sym typeface="Arial"/>
              </a:rPr>
              <a:t>IEEE Transactions on Software Engineering</a:t>
            </a:r>
            <a:r>
              <a:rPr lang="en" sz="1000">
                <a:solidFill>
                  <a:srgbClr val="222222"/>
                </a:solidFill>
                <a:highlight>
                  <a:srgbClr val="FFFFFF"/>
                </a:highlight>
                <a:latin typeface="Arial"/>
                <a:ea typeface="Arial"/>
                <a:cs typeface="Arial"/>
                <a:sym typeface="Arial"/>
              </a:rPr>
              <a:t> 38.5 (2011): 1160-1177.</a:t>
            </a:r>
            <a:endParaRPr/>
          </a:p>
        </p:txBody>
      </p:sp>
      <p:sp>
        <p:nvSpPr>
          <p:cNvPr id="108" name="Google Shape;108;p20"/>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i="1" lang="en"/>
              <a:t>All paths leading from the root to a specific node have unique encodings, because we only need to distinguish the different context with respect to that node(root).</a:t>
            </a:r>
            <a:endParaRPr i="1"/>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pic>
        <p:nvPicPr>
          <p:cNvPr id="109" name="Google Shape;109;p20"/>
          <p:cNvPicPr preferRelativeResize="0"/>
          <p:nvPr/>
        </p:nvPicPr>
        <p:blipFill>
          <a:blip r:embed="rId3">
            <a:alphaModFix/>
          </a:blip>
          <a:stretch>
            <a:fillRect/>
          </a:stretch>
        </p:blipFill>
        <p:spPr>
          <a:xfrm>
            <a:off x="580150" y="2272699"/>
            <a:ext cx="7221300" cy="2835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Precise Calling Context Encoding - Applicable for WHISTLE?</a:t>
            </a:r>
            <a:endParaRPr/>
          </a:p>
        </p:txBody>
      </p:sp>
      <p:sp>
        <p:nvSpPr>
          <p:cNvPr id="116" name="Google Shape;116;p21"/>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To restore calling context, need extra graph traversal.</a:t>
            </a:r>
            <a:endParaRPr/>
          </a:p>
          <a:p>
            <a:pPr indent="-254000" lvl="0" marL="342900" rtl="0" algn="l">
              <a:spcBef>
                <a:spcPts val="0"/>
              </a:spcBef>
              <a:spcAft>
                <a:spcPts val="0"/>
              </a:spcAft>
              <a:buSzPts val="1400"/>
              <a:buChar char="❏"/>
            </a:pPr>
            <a:r>
              <a:rPr lang="en"/>
              <a:t>Even worse, calling context is not encoded as we wish.</a:t>
            </a:r>
            <a:endParaRPr/>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pic>
        <p:nvPicPr>
          <p:cNvPr id="117" name="Google Shape;117;p21"/>
          <p:cNvPicPr preferRelativeResize="0"/>
          <p:nvPr/>
        </p:nvPicPr>
        <p:blipFill>
          <a:blip r:embed="rId3">
            <a:alphaModFix/>
          </a:blip>
          <a:stretch>
            <a:fillRect/>
          </a:stretch>
        </p:blipFill>
        <p:spPr>
          <a:xfrm>
            <a:off x="580150" y="2272699"/>
            <a:ext cx="7221300" cy="2835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New algorithm inspired by both</a:t>
            </a:r>
            <a:endParaRPr/>
          </a:p>
        </p:txBody>
      </p:sp>
      <p:sp>
        <p:nvSpPr>
          <p:cNvPr id="124" name="Google Shape;124;p22"/>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Want to distinguish calling text without decoding.</a:t>
            </a:r>
            <a:endParaRPr/>
          </a:p>
          <a:p>
            <a:pPr indent="-254000" lvl="0" marL="342900" rtl="0" algn="l">
              <a:spcBef>
                <a:spcPts val="0"/>
              </a:spcBef>
              <a:spcAft>
                <a:spcPts val="0"/>
              </a:spcAft>
              <a:buSzPts val="1400"/>
              <a:buChar char="❏"/>
            </a:pPr>
            <a:r>
              <a:rPr lang="en"/>
              <a:t>Definition</a:t>
            </a:r>
            <a:endParaRPr/>
          </a:p>
          <a:p>
            <a:pPr indent="-254000" lvl="1" marL="685800" rtl="0" algn="l">
              <a:spcBef>
                <a:spcPts val="0"/>
              </a:spcBef>
              <a:spcAft>
                <a:spcPts val="0"/>
              </a:spcAft>
              <a:buSzPts val="1400"/>
              <a:buChar char="❏"/>
            </a:pPr>
            <a:r>
              <a:rPr lang="en"/>
              <a:t>Calling Graph (CG) is a set of pairs &lt;N,E&gt;</a:t>
            </a:r>
            <a:endParaRPr/>
          </a:p>
          <a:p>
            <a:pPr indent="-254000" lvl="2" marL="1028700" rtl="0" algn="l">
              <a:spcBef>
                <a:spcPts val="0"/>
              </a:spcBef>
              <a:spcAft>
                <a:spcPts val="0"/>
              </a:spcAft>
              <a:buSzPts val="1400"/>
              <a:buChar char="❏"/>
            </a:pPr>
            <a:r>
              <a:rPr lang="en"/>
              <a:t>Where N is a set of nodes with each node representing a function</a:t>
            </a:r>
            <a:endParaRPr/>
          </a:p>
          <a:p>
            <a:pPr indent="-254000" lvl="2" marL="1028700" rtl="0" algn="l">
              <a:spcBef>
                <a:spcPts val="0"/>
              </a:spcBef>
              <a:spcAft>
                <a:spcPts val="0"/>
              </a:spcAft>
              <a:buSzPts val="1400"/>
              <a:buChar char="❏"/>
            </a:pPr>
            <a:r>
              <a:rPr lang="en"/>
              <a:t>Where E is a set of edges.  e ∈ E is a triple (n, m, ℓ), in which n, m ∈ N, represent a caller and callee, respectively, and ℓ represents a call site where n calls m.</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New algorithm inspired by both</a:t>
            </a:r>
            <a:endParaRPr/>
          </a:p>
        </p:txBody>
      </p:sp>
      <p:sp>
        <p:nvSpPr>
          <p:cNvPr id="131" name="Google Shape;131;p23"/>
          <p:cNvSpPr txBox="1"/>
          <p:nvPr>
            <p:ph idx="1" type="body"/>
          </p:nvPr>
        </p:nvSpPr>
        <p:spPr>
          <a:xfrm>
            <a:off x="76200" y="1083475"/>
            <a:ext cx="41253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a:t>DFS (p) {</a:t>
            </a:r>
            <a:endParaRPr/>
          </a:p>
          <a:p>
            <a:pPr indent="0" lvl="0" marL="0" rtl="0" algn="l">
              <a:spcBef>
                <a:spcPts val="800"/>
              </a:spcBef>
              <a:spcAft>
                <a:spcPts val="0"/>
              </a:spcAft>
              <a:buNone/>
            </a:pPr>
            <a:r>
              <a:rPr lang="en"/>
              <a:t>    p.MaxID = 0;</a:t>
            </a:r>
            <a:endParaRPr/>
          </a:p>
          <a:p>
            <a:pPr indent="0" lvl="0" marL="0" rtl="0" algn="l">
              <a:spcBef>
                <a:spcPts val="800"/>
              </a:spcBef>
              <a:spcAft>
                <a:spcPts val="0"/>
              </a:spcAft>
              <a:buNone/>
            </a:pPr>
            <a:r>
              <a:rPr lang="en"/>
              <a:t>    For each e = (p, n, l) in E</a:t>
            </a:r>
            <a:endParaRPr/>
          </a:p>
          <a:p>
            <a:pPr indent="0" lvl="0" marL="0" rtl="0" algn="l">
              <a:spcBef>
                <a:spcPts val="800"/>
              </a:spcBef>
              <a:spcAft>
                <a:spcPts val="0"/>
              </a:spcAft>
              <a:buNone/>
            </a:pPr>
            <a:r>
              <a:rPr lang="en"/>
              <a:t>        Insert ++(p.MaxID) before l;</a:t>
            </a:r>
            <a:endParaRPr/>
          </a:p>
          <a:p>
            <a:pPr indent="0" lvl="0" marL="0" rtl="0" algn="l">
              <a:spcBef>
                <a:spcPts val="800"/>
              </a:spcBef>
              <a:spcAft>
                <a:spcPts val="0"/>
              </a:spcAft>
              <a:buNone/>
            </a:pPr>
            <a:r>
              <a:rPr lang="en"/>
              <a:t>        If n is not visited</a:t>
            </a:r>
            <a:endParaRPr/>
          </a:p>
          <a:p>
            <a:pPr indent="0" lvl="0" marL="0" rtl="0" algn="l">
              <a:spcBef>
                <a:spcPts val="800"/>
              </a:spcBef>
              <a:spcAft>
                <a:spcPts val="0"/>
              </a:spcAft>
              <a:buNone/>
            </a:pPr>
            <a:r>
              <a:rPr lang="en"/>
              <a:t>            p.MaxID = DFS(n) + p.MaxID;</a:t>
            </a:r>
            <a:endParaRPr/>
          </a:p>
          <a:p>
            <a:pPr indent="0" lvl="0" marL="0" rtl="0" algn="l">
              <a:spcBef>
                <a:spcPts val="800"/>
              </a:spcBef>
              <a:spcAft>
                <a:spcPts val="0"/>
              </a:spcAft>
              <a:buNone/>
            </a:pPr>
            <a:r>
              <a:rPr lang="en"/>
              <a:t>        Else</a:t>
            </a:r>
            <a:endParaRPr/>
          </a:p>
          <a:p>
            <a:pPr indent="0" lvl="0" marL="0" rtl="0" algn="l">
              <a:spcBef>
                <a:spcPts val="800"/>
              </a:spcBef>
              <a:spcAft>
                <a:spcPts val="0"/>
              </a:spcAft>
              <a:buNone/>
            </a:pPr>
            <a:r>
              <a:rPr lang="en"/>
              <a:t>            p.MaxID +=  n.MaxID;</a:t>
            </a:r>
            <a:endParaRPr/>
          </a:p>
          <a:p>
            <a:pPr indent="0" lvl="0" marL="0" rtl="0" algn="l">
              <a:spcBef>
                <a:spcPts val="800"/>
              </a:spcBef>
              <a:spcAft>
                <a:spcPts val="0"/>
              </a:spcAft>
              <a:buNone/>
            </a:pPr>
            <a:r>
              <a:rPr lang="en"/>
              <a:t>    Return p.MaxID;</a:t>
            </a:r>
            <a:endParaRPr/>
          </a:p>
          <a:p>
            <a:pPr indent="0" lvl="0" marL="0" rtl="0" algn="l">
              <a:spcBef>
                <a:spcPts val="800"/>
              </a:spcBef>
              <a:spcAft>
                <a:spcPts val="0"/>
              </a:spcAft>
              <a:buNone/>
            </a:pPr>
            <a:r>
              <a:rPr lang="en"/>
              <a:t>}</a:t>
            </a:r>
            <a:endParaRPr/>
          </a:p>
          <a:p>
            <a:pPr indent="0" lvl="0" marL="0" rtl="0" algn="l">
              <a:spcBef>
                <a:spcPts val="800"/>
              </a:spcBef>
              <a:spcAft>
                <a:spcPts val="0"/>
              </a:spcAft>
              <a:buNone/>
            </a:pPr>
            <a:r>
              <a:rPr lang="en"/>
              <a:t> </a:t>
            </a:r>
            <a:endParaRPr/>
          </a:p>
        </p:txBody>
      </p:sp>
      <p:pic>
        <p:nvPicPr>
          <p:cNvPr id="132" name="Google Shape;132;p23"/>
          <p:cNvPicPr preferRelativeResize="0"/>
          <p:nvPr/>
        </p:nvPicPr>
        <p:blipFill>
          <a:blip r:embed="rId3">
            <a:alphaModFix/>
          </a:blip>
          <a:stretch>
            <a:fillRect/>
          </a:stretch>
        </p:blipFill>
        <p:spPr>
          <a:xfrm>
            <a:off x="4353900" y="1248019"/>
            <a:ext cx="3681341" cy="3743082"/>
          </a:xfrm>
          <a:prstGeom prst="rect">
            <a:avLst/>
          </a:prstGeom>
          <a:noFill/>
          <a:ln>
            <a:noFill/>
          </a:ln>
        </p:spPr>
      </p:pic>
      <p:pic>
        <p:nvPicPr>
          <p:cNvPr id="133" name="Google Shape;133;p23"/>
          <p:cNvPicPr preferRelativeResize="0"/>
          <p:nvPr/>
        </p:nvPicPr>
        <p:blipFill>
          <a:blip r:embed="rId4">
            <a:alphaModFix/>
          </a:blip>
          <a:stretch>
            <a:fillRect/>
          </a:stretch>
        </p:blipFill>
        <p:spPr>
          <a:xfrm>
            <a:off x="4094872" y="175875"/>
            <a:ext cx="3799550" cy="3217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How to design for extra computation to sum values on the edges</a:t>
            </a:r>
            <a:endParaRPr/>
          </a:p>
          <a:p>
            <a:pPr indent="-254000" lvl="1" marL="685800" rtl="0" algn="l">
              <a:spcBef>
                <a:spcPts val="0"/>
              </a:spcBef>
              <a:spcAft>
                <a:spcPts val="0"/>
              </a:spcAft>
              <a:buSzPts val="1400"/>
              <a:buChar char="❏"/>
            </a:pPr>
            <a:r>
              <a:rPr lang="en"/>
              <a:t>Insert extra instruction</a:t>
            </a:r>
            <a:endParaRPr/>
          </a:p>
          <a:p>
            <a:pPr indent="-254000" lvl="1" marL="685800" rtl="0" algn="l">
              <a:spcBef>
                <a:spcPts val="0"/>
              </a:spcBef>
              <a:spcAft>
                <a:spcPts val="0"/>
              </a:spcAft>
              <a:buSzPts val="1400"/>
              <a:buChar char="❏"/>
            </a:pPr>
            <a:r>
              <a:rPr lang="en"/>
              <a:t>Extends ISA to store the values.</a:t>
            </a:r>
            <a:endParaRPr/>
          </a:p>
          <a:p>
            <a:pPr indent="0" lvl="0" marL="0" rtl="0" algn="l">
              <a:spcBef>
                <a:spcPts val="800"/>
              </a:spcBef>
              <a:spcAft>
                <a:spcPts val="0"/>
              </a:spcAft>
              <a:buNone/>
            </a:pPr>
            <a:r>
              <a:rPr lang="en"/>
              <a:t> </a:t>
            </a:r>
            <a:endParaRPr/>
          </a:p>
        </p:txBody>
      </p:sp>
      <p:sp>
        <p:nvSpPr>
          <p:cNvPr id="140" name="Google Shape;140;p24"/>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New algorithm inspired by both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147" name="Google Shape;147;p25"/>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2020 Sep. 17</a:t>
            </a:r>
            <a:endParaRPr/>
          </a:p>
          <a:p>
            <a:pPr indent="0" lvl="0" marL="0" rtl="0" algn="l">
              <a:lnSpc>
                <a:spcPct val="90000"/>
              </a:lnSpc>
              <a:spcBef>
                <a:spcPts val="0"/>
              </a:spcBef>
              <a:spcAft>
                <a:spcPts val="0"/>
              </a:spcAft>
              <a:buClr>
                <a:schemeClr val="dk1"/>
              </a:buClr>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628650" y="1214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Progress</a:t>
            </a:r>
            <a:endParaRPr/>
          </a:p>
        </p:txBody>
      </p:sp>
      <p:sp>
        <p:nvSpPr>
          <p:cNvPr id="154" name="Google Shape;154;p26"/>
          <p:cNvSpPr txBox="1"/>
          <p:nvPr>
            <p:ph idx="1" type="body"/>
          </p:nvPr>
        </p:nvSpPr>
        <p:spPr>
          <a:xfrm>
            <a:off x="628650" y="1045369"/>
            <a:ext cx="7886700" cy="3263400"/>
          </a:xfrm>
          <a:prstGeom prst="rect">
            <a:avLst/>
          </a:prstGeom>
          <a:ln>
            <a:noFill/>
          </a:ln>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ReViCe</a:t>
            </a:r>
            <a:endParaRPr/>
          </a:p>
          <a:p>
            <a:pPr indent="-254000" lvl="1" marL="685800" rtl="0" algn="l">
              <a:spcBef>
                <a:spcPts val="0"/>
              </a:spcBef>
              <a:spcAft>
                <a:spcPts val="0"/>
              </a:spcAft>
              <a:buClr>
                <a:srgbClr val="000000"/>
              </a:buClr>
              <a:buSzPts val="1400"/>
              <a:buChar char="❏"/>
            </a:pPr>
            <a:r>
              <a:rPr lang="en" strike="sngStrike">
                <a:solidFill>
                  <a:srgbClr val="000000"/>
                </a:solidFill>
              </a:rPr>
              <a:t>Prepare Presentation September 28 - 30, 2020 - 15m + 5m Q&amp;A (live)</a:t>
            </a:r>
            <a:endParaRPr strike="sngStrike">
              <a:solidFill>
                <a:srgbClr val="000000"/>
              </a:solidFill>
            </a:endParaRPr>
          </a:p>
          <a:p>
            <a:pPr indent="-254000" lvl="2" marL="1028700" rtl="0" algn="l">
              <a:spcBef>
                <a:spcPts val="0"/>
              </a:spcBef>
              <a:spcAft>
                <a:spcPts val="0"/>
              </a:spcAft>
              <a:buClr>
                <a:srgbClr val="000000"/>
              </a:buClr>
              <a:buSzPts val="1400"/>
              <a:buChar char="❏"/>
            </a:pPr>
            <a:r>
              <a:rPr lang="en" strike="sngStrike">
                <a:solidFill>
                  <a:srgbClr val="000000"/>
                </a:solidFill>
              </a:rPr>
              <a:t>Required to submit the recorded presentation by Sep. 11</a:t>
            </a:r>
            <a:endParaRPr strike="sngStrike">
              <a:solidFill>
                <a:srgbClr val="000000"/>
              </a:solidFill>
            </a:endParaRPr>
          </a:p>
          <a:p>
            <a:pPr indent="-254000" lvl="1" marL="685800" rtl="0" algn="l">
              <a:spcBef>
                <a:spcPts val="0"/>
              </a:spcBef>
              <a:spcAft>
                <a:spcPts val="0"/>
              </a:spcAft>
              <a:buClr>
                <a:srgbClr val="000000"/>
              </a:buClr>
              <a:buSzPts val="1400"/>
              <a:buChar char="❏"/>
            </a:pPr>
            <a:r>
              <a:rPr lang="en">
                <a:solidFill>
                  <a:srgbClr val="000000"/>
                </a:solidFill>
              </a:rPr>
              <a:t>Preparation of journal version</a:t>
            </a:r>
            <a:endParaRPr>
              <a:solidFill>
                <a:srgbClr val="000000"/>
              </a:solidFill>
            </a:endParaRPr>
          </a:p>
          <a:p>
            <a:pPr indent="-254000" lvl="2" marL="1028700" rtl="0" algn="l">
              <a:spcBef>
                <a:spcPts val="0"/>
              </a:spcBef>
              <a:spcAft>
                <a:spcPts val="0"/>
              </a:spcAft>
              <a:buClr>
                <a:srgbClr val="000000"/>
              </a:buClr>
              <a:buSzPts val="1400"/>
              <a:buChar char="❏"/>
            </a:pPr>
            <a:r>
              <a:rPr lang="en">
                <a:solidFill>
                  <a:srgbClr val="000000"/>
                </a:solidFill>
              </a:rPr>
              <a:t>TBD, Check TACO journal</a:t>
            </a:r>
            <a:endParaRPr>
              <a:solidFill>
                <a:srgbClr val="000000"/>
              </a:solidFill>
            </a:endParaRPr>
          </a:p>
          <a:p>
            <a:pPr indent="-254000" lvl="0" marL="342900" rtl="0" algn="l">
              <a:spcBef>
                <a:spcPts val="0"/>
              </a:spcBef>
              <a:spcAft>
                <a:spcPts val="0"/>
              </a:spcAft>
              <a:buSzPts val="1400"/>
              <a:buChar char="❏"/>
            </a:pPr>
            <a:r>
              <a:rPr lang="en"/>
              <a:t>WHISTLE</a:t>
            </a:r>
            <a:endParaRPr/>
          </a:p>
          <a:p>
            <a:pPr indent="-254000" lvl="1" marL="685800" rtl="0" algn="l">
              <a:spcBef>
                <a:spcPts val="0"/>
              </a:spcBef>
              <a:spcAft>
                <a:spcPts val="0"/>
              </a:spcAft>
              <a:buClr>
                <a:srgbClr val="0000FF"/>
              </a:buClr>
              <a:buSzPts val="1400"/>
              <a:buChar char="❏"/>
            </a:pPr>
            <a:r>
              <a:rPr lang="en">
                <a:solidFill>
                  <a:srgbClr val="0000FF"/>
                </a:solidFill>
              </a:rPr>
              <a:t>Profile full stack+global memory and analysis (Ongoing)</a:t>
            </a:r>
            <a:endParaRPr>
              <a:solidFill>
                <a:srgbClr val="0000FF"/>
              </a:solidFill>
            </a:endParaRPr>
          </a:p>
          <a:p>
            <a:pPr indent="-254000" lvl="1" marL="685800" rtl="0" algn="l">
              <a:spcBef>
                <a:spcPts val="0"/>
              </a:spcBef>
              <a:spcAft>
                <a:spcPts val="0"/>
              </a:spcAft>
              <a:buSzPts val="1400"/>
              <a:buChar char="❏"/>
            </a:pPr>
            <a:r>
              <a:rPr lang="en"/>
              <a:t>[Deduplication] implementing unmerge</a:t>
            </a:r>
            <a:endParaRPr/>
          </a:p>
          <a:p>
            <a:pPr indent="-254000" lvl="2" marL="1028700" rtl="0" algn="l">
              <a:spcBef>
                <a:spcPts val="0"/>
              </a:spcBef>
              <a:spcAft>
                <a:spcPts val="0"/>
              </a:spcAft>
              <a:buClr>
                <a:srgbClr val="000000"/>
              </a:buClr>
              <a:buSzPts val="1400"/>
              <a:buChar char="❏"/>
            </a:pPr>
            <a:r>
              <a:rPr lang="en">
                <a:solidFill>
                  <a:srgbClr val="000000"/>
                </a:solidFill>
              </a:rPr>
              <a:t>In-progress, implemented basic functions,</a:t>
            </a:r>
            <a:endParaRPr>
              <a:solidFill>
                <a:srgbClr val="000000"/>
              </a:solidFill>
            </a:endParaRPr>
          </a:p>
          <a:p>
            <a:pPr indent="-254000" lvl="3" marL="1371600" rtl="0" algn="l">
              <a:spcBef>
                <a:spcPts val="0"/>
              </a:spcBef>
              <a:spcAft>
                <a:spcPts val="0"/>
              </a:spcAft>
              <a:buClr>
                <a:srgbClr val="000000"/>
              </a:buClr>
              <a:buSzPts val="1400"/>
              <a:buChar char="❏"/>
            </a:pPr>
            <a:r>
              <a:rPr lang="en">
                <a:solidFill>
                  <a:srgbClr val="000000"/>
                </a:solidFill>
              </a:rPr>
              <a:t>but need to handles exceptional cases such as Coherence protocol</a:t>
            </a:r>
            <a:endParaRPr>
              <a:solidFill>
                <a:srgbClr val="000000"/>
              </a:solidFill>
            </a:endParaRPr>
          </a:p>
          <a:p>
            <a:pPr indent="-254000" lvl="2" marL="1028700" rtl="0" algn="l">
              <a:spcBef>
                <a:spcPts val="0"/>
              </a:spcBef>
              <a:spcAft>
                <a:spcPts val="0"/>
              </a:spcAft>
              <a:buClr>
                <a:srgbClr val="000000"/>
              </a:buClr>
              <a:buSzPts val="1400"/>
              <a:buChar char="❏"/>
            </a:pPr>
            <a:r>
              <a:rPr lang="en">
                <a:solidFill>
                  <a:srgbClr val="000000"/>
                </a:solidFill>
              </a:rPr>
              <a:t>Deduplication rate using Invariant set of full stack-global memory</a:t>
            </a:r>
            <a:endParaRPr>
              <a:solidFill>
                <a:srgbClr val="000000"/>
              </a:solidFill>
            </a:endParaRPr>
          </a:p>
          <a:p>
            <a:pPr indent="-254000" lvl="0" marL="342900" rtl="0" algn="l">
              <a:spcBef>
                <a:spcPts val="0"/>
              </a:spcBef>
              <a:spcAft>
                <a:spcPts val="0"/>
              </a:spcAft>
              <a:buClr>
                <a:srgbClr val="FF0000"/>
              </a:buClr>
              <a:buSzPts val="1400"/>
              <a:buChar char="❏"/>
            </a:pPr>
            <a:r>
              <a:rPr lang="en" sz="1800">
                <a:solidFill>
                  <a:srgbClr val="FF0000"/>
                </a:solidFill>
              </a:rPr>
              <a:t>Calling-Context Encoding algorithm (Ongoing)</a:t>
            </a:r>
            <a:endParaRPr sz="1800">
              <a:solidFill>
                <a:srgbClr val="FF0000"/>
              </a:solidFill>
            </a:endParaRPr>
          </a:p>
          <a:p>
            <a:pPr indent="-254000" lvl="1" marL="685800" rtl="0" algn="l">
              <a:spcBef>
                <a:spcPts val="0"/>
              </a:spcBef>
              <a:spcAft>
                <a:spcPts val="0"/>
              </a:spcAft>
              <a:buClr>
                <a:srgbClr val="FF0000"/>
              </a:buClr>
              <a:buSzPts val="1400"/>
              <a:buChar char="❏"/>
            </a:pPr>
            <a:r>
              <a:rPr lang="en" sz="1500">
                <a:solidFill>
                  <a:srgbClr val="FF0000"/>
                </a:solidFill>
              </a:rPr>
              <a:t>Literature survey, Novelty Check, Motivating Applications</a:t>
            </a:r>
            <a:endParaRPr sz="1500">
              <a:solidFill>
                <a:srgbClr val="FF0000"/>
              </a:solidFill>
            </a:endParaRPr>
          </a:p>
          <a:p>
            <a:pPr indent="-260350" lvl="2" marL="1028700" rtl="0" algn="l">
              <a:spcBef>
                <a:spcPts val="0"/>
              </a:spcBef>
              <a:spcAft>
                <a:spcPts val="0"/>
              </a:spcAft>
              <a:buClr>
                <a:srgbClr val="FF0000"/>
              </a:buClr>
              <a:buSzPts val="1500"/>
              <a:buChar char="❏"/>
            </a:pPr>
            <a:r>
              <a:rPr lang="en">
                <a:solidFill>
                  <a:srgbClr val="FF0000"/>
                </a:solidFill>
              </a:rPr>
              <a:t>Two motivating applications</a:t>
            </a:r>
            <a:endParaRPr sz="1500">
              <a:solidFill>
                <a:srgbClr val="FF0000"/>
              </a:solidFill>
            </a:endParaRPr>
          </a:p>
          <a:p>
            <a:pPr indent="-254000" lvl="0" marL="342900" rtl="0" algn="l">
              <a:spcBef>
                <a:spcPts val="0"/>
              </a:spcBef>
              <a:spcAft>
                <a:spcPts val="0"/>
              </a:spcAft>
              <a:buSzPts val="1400"/>
              <a:buChar char="❏"/>
            </a:pPr>
            <a:r>
              <a:rPr lang="en"/>
              <a:t>NoC Security</a:t>
            </a:r>
            <a:endParaRPr>
              <a:solidFill>
                <a:srgbClr val="FF9900"/>
              </a:solidFill>
            </a:endParaRPr>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664025" y="1244850"/>
            <a:ext cx="8357100" cy="3772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Ball and Larus Algorithm (BL)</a:t>
            </a:r>
            <a:endParaRPr/>
          </a:p>
          <a:p>
            <a:pPr indent="-254000" lvl="1" marL="685800" rtl="0" algn="l">
              <a:spcBef>
                <a:spcPts val="0"/>
              </a:spcBef>
              <a:spcAft>
                <a:spcPts val="0"/>
              </a:spcAft>
              <a:buSzPts val="1400"/>
              <a:buChar char="❏"/>
            </a:pPr>
            <a:r>
              <a:rPr lang="en"/>
              <a:t>BL is designed to </a:t>
            </a:r>
            <a:r>
              <a:rPr b="1" lang="en" u="sng"/>
              <a:t>encode a path starting at ENTRY and ending at EXIT</a:t>
            </a:r>
            <a:r>
              <a:rPr lang="en"/>
              <a:t> in a DAG. </a:t>
            </a:r>
            <a:endParaRPr/>
          </a:p>
          <a:p>
            <a:pPr indent="-254000" lvl="1" marL="685800" rtl="0" algn="l">
              <a:spcBef>
                <a:spcPts val="0"/>
              </a:spcBef>
              <a:spcAft>
                <a:spcPts val="0"/>
              </a:spcAft>
              <a:buSzPts val="1400"/>
              <a:buChar char="❏"/>
            </a:pPr>
            <a:r>
              <a:rPr lang="en"/>
              <a:t>A Directed Acyclic Graph (DAG) is converted from a Control-flow Graph (CGF).</a:t>
            </a:r>
            <a:endParaRPr/>
          </a:p>
          <a:p>
            <a:pPr indent="-254000" lvl="0" marL="342900" rtl="0" algn="l">
              <a:spcBef>
                <a:spcPts val="0"/>
              </a:spcBef>
              <a:spcAft>
                <a:spcPts val="0"/>
              </a:spcAft>
              <a:buSzPts val="1400"/>
              <a:buChar char="❏"/>
            </a:pPr>
            <a:r>
              <a:rPr lang="en"/>
              <a:t>Precise Calling Context Encoding (PCCE)</a:t>
            </a:r>
            <a:endParaRPr/>
          </a:p>
          <a:p>
            <a:pPr indent="-254000" lvl="1" marL="685800" rtl="0" algn="l">
              <a:spcBef>
                <a:spcPts val="0"/>
              </a:spcBef>
              <a:spcAft>
                <a:spcPts val="0"/>
              </a:spcAft>
              <a:buSzPts val="1400"/>
              <a:buChar char="❏"/>
            </a:pPr>
            <a:r>
              <a:rPr lang="en"/>
              <a:t>PCCE is designed to encode Calling Context.</a:t>
            </a:r>
            <a:endParaRPr/>
          </a:p>
          <a:p>
            <a:pPr indent="-254000" lvl="1" marL="685800" rtl="0" algn="l">
              <a:spcBef>
                <a:spcPts val="0"/>
              </a:spcBef>
              <a:spcAft>
                <a:spcPts val="0"/>
              </a:spcAft>
              <a:buSzPts val="1400"/>
              <a:buChar char="❏"/>
            </a:pPr>
            <a:r>
              <a:rPr lang="en"/>
              <a:t>Calling Context (CC) of </a:t>
            </a:r>
            <a:r>
              <a:rPr b="1" lang="en" u="sng"/>
              <a:t>a given function invocat</a:t>
            </a:r>
            <a:r>
              <a:rPr b="1" lang="en" u="sng">
                <a:solidFill>
                  <a:srgbClr val="000000"/>
                </a:solidFill>
              </a:rPr>
              <a:t>ion m</a:t>
            </a:r>
            <a:r>
              <a:rPr lang="en">
                <a:solidFill>
                  <a:srgbClr val="000000"/>
                </a:solidFill>
              </a:rPr>
              <a:t> is a path in a Call Graph (CG) leading from the root node to the node m</a:t>
            </a:r>
            <a:r>
              <a:rPr lang="en"/>
              <a:t>.</a:t>
            </a:r>
            <a:endParaRPr/>
          </a:p>
          <a:p>
            <a:pPr indent="-254000" lvl="1" marL="685800" rtl="0" algn="l">
              <a:spcBef>
                <a:spcPts val="0"/>
              </a:spcBef>
              <a:spcAft>
                <a:spcPts val="0"/>
              </a:spcAft>
              <a:buSzPts val="1400"/>
              <a:buChar char="❏"/>
            </a:pPr>
            <a:r>
              <a:rPr lang="en"/>
              <a:t>IDs of a CC are distinguishable </a:t>
            </a:r>
            <a:r>
              <a:rPr b="1" lang="en" u="sng"/>
              <a:t>but not between IDs of different CCs</a:t>
            </a:r>
            <a:r>
              <a:rPr lang="en"/>
              <a:t>.</a:t>
            </a:r>
            <a:endParaRPr/>
          </a:p>
          <a:p>
            <a:pPr indent="-254000" lvl="0" marL="342900" rtl="0" algn="l">
              <a:spcBef>
                <a:spcPts val="0"/>
              </a:spcBef>
              <a:spcAft>
                <a:spcPts val="0"/>
              </a:spcAft>
              <a:buSzPts val="1400"/>
              <a:buChar char="❏"/>
            </a:pPr>
            <a:r>
              <a:rPr lang="en"/>
              <a:t>Distinguishable Calling Context Encoding (DCCE)</a:t>
            </a:r>
            <a:endParaRPr/>
          </a:p>
          <a:p>
            <a:pPr indent="-254000" lvl="1" marL="685800" rtl="0" algn="l">
              <a:spcBef>
                <a:spcPts val="0"/>
              </a:spcBef>
              <a:spcAft>
                <a:spcPts val="0"/>
              </a:spcAft>
              <a:buSzPts val="1400"/>
              <a:buChar char="❏"/>
            </a:pPr>
            <a:r>
              <a:rPr b="1" lang="en" u="sng"/>
              <a:t>DCCE can encode CC with unique ID across all the contexts.</a:t>
            </a:r>
            <a:endParaRPr b="1" u="sng"/>
          </a:p>
        </p:txBody>
      </p:sp>
      <p:sp>
        <p:nvSpPr>
          <p:cNvPr id="161" name="Google Shape;161;p27"/>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BL vs PCCE vs DCCE</a:t>
            </a:r>
            <a:endParaRPr/>
          </a:p>
          <a:p>
            <a:pPr indent="0" lvl="0" marL="0" rtl="0" algn="l">
              <a:spcBef>
                <a:spcPts val="0"/>
              </a:spcBef>
              <a:spcAft>
                <a:spcPts val="0"/>
              </a:spcAft>
              <a:buNone/>
            </a:pPr>
            <a:r>
              <a:rPr lang="en"/>
              <a:t>Design goal and Definitions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Effect filter="fade" transition="in">
                                      <p:cBhvr>
                                        <p:cTn dur="1000"/>
                                        <p:tgtEl>
                                          <p:spTgt spid="1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animEffect filter="fade" transition="in">
                                      <p:cBhvr>
                                        <p:cTn dur="1000"/>
                                        <p:tgtEl>
                                          <p:spTgt spid="1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animEffect filter="fade" transition="in">
                                      <p:cBhvr>
                                        <p:cTn dur="1000"/>
                                        <p:tgtEl>
                                          <p:spTgt spid="1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animEffect filter="fade" transition="in">
                                      <p:cBhvr>
                                        <p:cTn dur="1000"/>
                                        <p:tgtEl>
                                          <p:spTgt spid="1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animEffect filter="fade" transition="in">
                                      <p:cBhvr>
                                        <p:cTn dur="1000"/>
                                        <p:tgtEl>
                                          <p:spTgt spid="1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animEffect filter="fade" transition="in">
                                      <p:cBhvr>
                                        <p:cTn dur="1000"/>
                                        <p:tgtEl>
                                          <p:spTgt spid="1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6" st="6"/>
                                            </p:txEl>
                                          </p:spTgt>
                                        </p:tgtEl>
                                        <p:attrNameLst>
                                          <p:attrName>style.visibility</p:attrName>
                                        </p:attrNameLst>
                                      </p:cBhvr>
                                      <p:to>
                                        <p:strVal val="visible"/>
                                      </p:to>
                                    </p:set>
                                    <p:animEffect filter="fade" transition="in">
                                      <p:cBhvr>
                                        <p:cTn dur="1000"/>
                                        <p:tgtEl>
                                          <p:spTgt spid="16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7" st="7"/>
                                            </p:txEl>
                                          </p:spTgt>
                                        </p:tgtEl>
                                        <p:attrNameLst>
                                          <p:attrName>style.visibility</p:attrName>
                                        </p:attrNameLst>
                                      </p:cBhvr>
                                      <p:to>
                                        <p:strVal val="visible"/>
                                      </p:to>
                                    </p:set>
                                    <p:animEffect filter="fade" transition="in">
                                      <p:cBhvr>
                                        <p:cTn dur="1000"/>
                                        <p:tgtEl>
                                          <p:spTgt spid="16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8" st="8"/>
                                            </p:txEl>
                                          </p:spTgt>
                                        </p:tgtEl>
                                        <p:attrNameLst>
                                          <p:attrName>style.visibility</p:attrName>
                                        </p:attrNameLst>
                                      </p:cBhvr>
                                      <p:to>
                                        <p:strVal val="visible"/>
                                      </p:to>
                                    </p:set>
                                    <p:animEffect filter="fade" transition="in">
                                      <p:cBhvr>
                                        <p:cTn dur="1000"/>
                                        <p:tgtEl>
                                          <p:spTgt spid="16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BL vs PCCE vs DCCE - Example</a:t>
            </a:r>
            <a:endParaRPr/>
          </a:p>
        </p:txBody>
      </p:sp>
      <p:pic>
        <p:nvPicPr>
          <p:cNvPr id="168" name="Google Shape;168;p28"/>
          <p:cNvPicPr preferRelativeResize="0"/>
          <p:nvPr/>
        </p:nvPicPr>
        <p:blipFill>
          <a:blip r:embed="rId3">
            <a:alphaModFix/>
          </a:blip>
          <a:stretch>
            <a:fillRect/>
          </a:stretch>
        </p:blipFill>
        <p:spPr>
          <a:xfrm>
            <a:off x="3920625" y="1881548"/>
            <a:ext cx="1608125" cy="2194875"/>
          </a:xfrm>
          <a:prstGeom prst="rect">
            <a:avLst/>
          </a:prstGeom>
          <a:noFill/>
          <a:ln>
            <a:noFill/>
          </a:ln>
        </p:spPr>
      </p:pic>
      <p:pic>
        <p:nvPicPr>
          <p:cNvPr id="169" name="Google Shape;169;p28"/>
          <p:cNvPicPr preferRelativeResize="0"/>
          <p:nvPr/>
        </p:nvPicPr>
        <p:blipFill>
          <a:blip r:embed="rId4">
            <a:alphaModFix/>
          </a:blip>
          <a:stretch>
            <a:fillRect/>
          </a:stretch>
        </p:blipFill>
        <p:spPr>
          <a:xfrm>
            <a:off x="1979062" y="1881548"/>
            <a:ext cx="1773853" cy="2194876"/>
          </a:xfrm>
          <a:prstGeom prst="rect">
            <a:avLst/>
          </a:prstGeom>
          <a:noFill/>
          <a:ln>
            <a:noFill/>
          </a:ln>
        </p:spPr>
      </p:pic>
      <p:pic>
        <p:nvPicPr>
          <p:cNvPr id="170" name="Google Shape;170;p28"/>
          <p:cNvPicPr preferRelativeResize="0"/>
          <p:nvPr/>
        </p:nvPicPr>
        <p:blipFill>
          <a:blip r:embed="rId5">
            <a:alphaModFix/>
          </a:blip>
          <a:stretch>
            <a:fillRect/>
          </a:stretch>
        </p:blipFill>
        <p:spPr>
          <a:xfrm>
            <a:off x="165200" y="1850575"/>
            <a:ext cx="1646145" cy="2194874"/>
          </a:xfrm>
          <a:prstGeom prst="rect">
            <a:avLst/>
          </a:prstGeom>
          <a:noFill/>
          <a:ln>
            <a:noFill/>
          </a:ln>
        </p:spPr>
      </p:pic>
      <p:graphicFrame>
        <p:nvGraphicFramePr>
          <p:cNvPr id="171" name="Google Shape;171;p28"/>
          <p:cNvGraphicFramePr/>
          <p:nvPr/>
        </p:nvGraphicFramePr>
        <p:xfrm>
          <a:off x="5765200" y="466000"/>
          <a:ext cx="3000000" cy="3000000"/>
        </p:xfrm>
        <a:graphic>
          <a:graphicData uri="http://schemas.openxmlformats.org/drawingml/2006/table">
            <a:tbl>
              <a:tblPr>
                <a:noFill/>
                <a:tableStyleId>{4F6D741B-05F4-47F7-A36B-7D189AB3F37F}</a:tableStyleId>
              </a:tblPr>
              <a:tblGrid>
                <a:gridCol w="590850"/>
                <a:gridCol w="1017850"/>
                <a:gridCol w="804350"/>
                <a:gridCol w="804350"/>
              </a:tblGrid>
              <a:tr h="190500">
                <a:tc>
                  <a:txBody>
                    <a:bodyPr/>
                    <a:lstStyle/>
                    <a:p>
                      <a:pPr indent="0" lvl="0" marL="0" rtl="0" algn="ctr">
                        <a:spcBef>
                          <a:spcPts val="0"/>
                        </a:spcBef>
                        <a:spcAft>
                          <a:spcPts val="0"/>
                        </a:spcAft>
                        <a:buNone/>
                      </a:pPr>
                      <a:r>
                        <a:t/>
                      </a:r>
                      <a:endParaRPr b="1" sz="800"/>
                    </a:p>
                  </a:txBody>
                  <a:tcPr marT="91425" marB="91425" marR="91425" marL="91425" anchor="ctr"/>
                </a:tc>
                <a:tc>
                  <a:txBody>
                    <a:bodyPr/>
                    <a:lstStyle/>
                    <a:p>
                      <a:pPr indent="0" lvl="0" marL="0" rtl="0" algn="ctr">
                        <a:spcBef>
                          <a:spcPts val="0"/>
                        </a:spcBef>
                        <a:spcAft>
                          <a:spcPts val="0"/>
                        </a:spcAft>
                        <a:buNone/>
                      </a:pPr>
                      <a:r>
                        <a:rPr b="1" lang="en" sz="800"/>
                        <a:t>ID(BL)</a:t>
                      </a:r>
                      <a:endParaRPr b="1" sz="800"/>
                    </a:p>
                  </a:txBody>
                  <a:tcPr marT="91425" marB="91425" marR="91425" marL="91425" anchor="ctr"/>
                </a:tc>
                <a:tc>
                  <a:txBody>
                    <a:bodyPr/>
                    <a:lstStyle/>
                    <a:p>
                      <a:pPr indent="0" lvl="0" marL="0" rtl="0" algn="ctr">
                        <a:spcBef>
                          <a:spcPts val="0"/>
                        </a:spcBef>
                        <a:spcAft>
                          <a:spcPts val="0"/>
                        </a:spcAft>
                        <a:buNone/>
                      </a:pPr>
                      <a:r>
                        <a:rPr b="1" lang="en" sz="800"/>
                        <a:t>ID(PCCE)</a:t>
                      </a:r>
                      <a:endParaRPr b="1" sz="800"/>
                    </a:p>
                  </a:txBody>
                  <a:tcPr marT="91425" marB="91425" marR="91425" marL="91425" anchor="ctr"/>
                </a:tc>
                <a:tc>
                  <a:txBody>
                    <a:bodyPr/>
                    <a:lstStyle/>
                    <a:p>
                      <a:pPr indent="0" lvl="0" marL="0" rtl="0" algn="ctr">
                        <a:spcBef>
                          <a:spcPts val="0"/>
                        </a:spcBef>
                        <a:spcAft>
                          <a:spcPts val="0"/>
                        </a:spcAft>
                        <a:buNone/>
                      </a:pPr>
                      <a:r>
                        <a:rPr b="1" lang="en" sz="800"/>
                        <a:t>ID(DCCE)</a:t>
                      </a:r>
                      <a:endParaRPr b="1" sz="800"/>
                    </a:p>
                  </a:txBody>
                  <a:tcPr marT="91425" marB="91425" marR="91425" marL="91425" anchor="ctr"/>
                </a:tc>
              </a:tr>
              <a:tr h="190500">
                <a:tc>
                  <a:txBody>
                    <a:bodyPr/>
                    <a:lstStyle/>
                    <a:p>
                      <a:pPr indent="0" lvl="0" marL="0" rtl="0" algn="l">
                        <a:spcBef>
                          <a:spcPts val="0"/>
                        </a:spcBef>
                        <a:spcAft>
                          <a:spcPts val="0"/>
                        </a:spcAft>
                        <a:buNone/>
                      </a:pPr>
                      <a:r>
                        <a:rPr b="1" lang="en" sz="800"/>
                        <a:t>A</a:t>
                      </a:r>
                      <a:endParaRPr b="1" sz="800"/>
                    </a:p>
                  </a:txBody>
                  <a:tcPr marT="91425" marB="91425" marR="91425" marL="91425" anchor="ctr"/>
                </a:tc>
                <a:tc rowSpan="9">
                  <a:txBody>
                    <a:bodyPr/>
                    <a:lstStyle/>
                    <a:p>
                      <a:pPr indent="0" lvl="0" marL="0" rtl="0" algn="ctr">
                        <a:spcBef>
                          <a:spcPts val="0"/>
                        </a:spcBef>
                        <a:spcAft>
                          <a:spcPts val="0"/>
                        </a:spcAft>
                        <a:buNone/>
                      </a:pPr>
                      <a:r>
                        <a:rPr b="1" lang="en" sz="800"/>
                        <a:t>N/A</a:t>
                      </a:r>
                      <a:endParaRPr b="1" sz="800"/>
                    </a:p>
                  </a:txBody>
                  <a:tcPr marT="91425" marB="91425" marR="91425" marL="91425" anchor="ct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7</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2</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a:t>
                      </a:r>
                      <a:endParaRPr b="1" sz="800"/>
                    </a:p>
                  </a:txBody>
                  <a:tcPr marT="91425" marB="91425" marR="91425" marL="91425" anchor="ctr"/>
                </a:tc>
                <a:tc vMerge="1"/>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8</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ABDE</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3</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ACDE</a:t>
                      </a:r>
                      <a:endParaRPr b="1" sz="800"/>
                    </a:p>
                  </a:txBody>
                  <a:tcPr marT="91425" marB="91425" marR="91425" marL="91425" anchor="ctr"/>
                </a:tc>
                <a:tc vMerge="1"/>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9</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ABDF</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5</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ACDF</a:t>
                      </a:r>
                      <a:endParaRPr b="1" sz="800"/>
                    </a:p>
                  </a:txBody>
                  <a:tcPr marT="91425" marB="91425" marR="91425" marL="91425" anchor="ctr"/>
                </a:tc>
                <a:tc vMerge="1"/>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11</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ABDEG</a:t>
                      </a:r>
                      <a:endParaRPr b="1" sz="800"/>
                    </a:p>
                  </a:txBody>
                  <a:tcPr marT="91425" marB="91425" marR="91425" marL="91425" anchor="ct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4</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ACDEG</a:t>
                      </a:r>
                      <a:endParaRPr b="1" sz="800"/>
                    </a:p>
                  </a:txBody>
                  <a:tcPr marT="91425" marB="91425" marR="91425" marL="91425" anchor="ctr"/>
                </a:tc>
                <a:tc>
                  <a:txBody>
                    <a:bodyPr/>
                    <a:lstStyle/>
                    <a:p>
                      <a:pPr indent="0" lvl="0" marL="0" rtl="0" algn="ctr">
                        <a:spcBef>
                          <a:spcPts val="0"/>
                        </a:spcBef>
                        <a:spcAft>
                          <a:spcPts val="0"/>
                        </a:spcAft>
                        <a:buNone/>
                      </a:pPr>
                      <a:r>
                        <a:rPr b="1" lang="en" sz="800"/>
                        <a:t>2</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10</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ABDFG</a:t>
                      </a:r>
                      <a:endParaRPr b="1" sz="800"/>
                    </a:p>
                  </a:txBody>
                  <a:tcPr marT="91425" marB="91425" marR="91425" marL="91425" anchor="ctr"/>
                </a:tc>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2</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6</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ACDFG</a:t>
                      </a:r>
                      <a:endParaRPr b="1" sz="800"/>
                    </a:p>
                  </a:txBody>
                  <a:tcPr marT="91425" marB="91425" marR="91425" marL="91425" anchor="ctr"/>
                </a:tc>
                <a:tc>
                  <a:txBody>
                    <a:bodyPr/>
                    <a:lstStyle/>
                    <a:p>
                      <a:pPr indent="0" lvl="0" marL="0" rtl="0" algn="ctr">
                        <a:spcBef>
                          <a:spcPts val="0"/>
                        </a:spcBef>
                        <a:spcAft>
                          <a:spcPts val="0"/>
                        </a:spcAft>
                        <a:buNone/>
                      </a:pPr>
                      <a:r>
                        <a:rPr b="1" lang="en" sz="800"/>
                        <a:t>3</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3</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12</a:t>
                      </a:r>
                      <a:endParaRPr b="1" sz="800"/>
                    </a:p>
                  </a:txBody>
                  <a:tcPr marT="91425" marB="91425" marR="91425" marL="91425" anchor="ctr">
                    <a:solidFill>
                      <a:srgbClr val="D9EAD3"/>
                    </a:solidFill>
                  </a:tcPr>
                </a:tc>
              </a:tr>
            </a:tbl>
          </a:graphicData>
        </a:graphic>
      </p:graphicFrame>
      <p:sp>
        <p:nvSpPr>
          <p:cNvPr id="172" name="Google Shape;172;p28"/>
          <p:cNvSpPr txBox="1"/>
          <p:nvPr/>
        </p:nvSpPr>
        <p:spPr>
          <a:xfrm>
            <a:off x="576150" y="4169275"/>
            <a:ext cx="6033900" cy="7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BL                                            PCCE 			DCCE</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Motivation of DCCE</a:t>
            </a:r>
            <a:endParaRPr/>
          </a:p>
        </p:txBody>
      </p:sp>
      <p:sp>
        <p:nvSpPr>
          <p:cNvPr id="179" name="Google Shape;179;p29"/>
          <p:cNvSpPr txBox="1"/>
          <p:nvPr>
            <p:ph idx="1" type="body"/>
          </p:nvPr>
        </p:nvSpPr>
        <p:spPr>
          <a:xfrm>
            <a:off x="664025" y="1016250"/>
            <a:ext cx="8357100" cy="3772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PCCE + Function ID → DCCE ?</a:t>
            </a:r>
            <a:endParaRPr/>
          </a:p>
          <a:p>
            <a:pPr indent="-254000" lvl="1" marL="685800" rtl="0" algn="l">
              <a:spcBef>
                <a:spcPts val="0"/>
              </a:spcBef>
              <a:spcAft>
                <a:spcPts val="0"/>
              </a:spcAft>
              <a:buSzPts val="1400"/>
              <a:buChar char="❏"/>
            </a:pPr>
            <a:r>
              <a:rPr lang="en"/>
              <a:t>It’s reasonable with SW-based application.</a:t>
            </a:r>
            <a:endParaRPr/>
          </a:p>
          <a:p>
            <a:pPr indent="-254000" lvl="2" marL="1028700" rtl="0" algn="l">
              <a:spcBef>
                <a:spcPts val="0"/>
              </a:spcBef>
              <a:spcAft>
                <a:spcPts val="0"/>
              </a:spcAft>
              <a:buSzPts val="1400"/>
              <a:buChar char="❏"/>
            </a:pPr>
            <a:r>
              <a:rPr lang="en"/>
              <a:t>Easy to associate PCCE and Function ID.</a:t>
            </a:r>
            <a:endParaRPr/>
          </a:p>
          <a:p>
            <a:pPr indent="-254000" lvl="1" marL="685800" rtl="0" algn="l">
              <a:spcBef>
                <a:spcPts val="0"/>
              </a:spcBef>
              <a:spcAft>
                <a:spcPts val="0"/>
              </a:spcAft>
              <a:buSzPts val="1400"/>
              <a:buChar char="❏"/>
            </a:pPr>
            <a:r>
              <a:rPr lang="en"/>
              <a:t>However, for HW-base application (like WHISTLE) </a:t>
            </a:r>
            <a:endParaRPr/>
          </a:p>
          <a:p>
            <a:pPr indent="-254000" lvl="2" marL="1028700" rtl="0" algn="l">
              <a:spcBef>
                <a:spcPts val="0"/>
              </a:spcBef>
              <a:spcAft>
                <a:spcPts val="0"/>
              </a:spcAft>
              <a:buSzPts val="1400"/>
              <a:buChar char="❏"/>
            </a:pPr>
            <a:r>
              <a:rPr lang="en"/>
              <a:t>It is hard to keep track of a function ID.</a:t>
            </a:r>
            <a:endParaRPr/>
          </a:p>
          <a:p>
            <a:pPr indent="-254000" lvl="2" marL="1028700" rtl="0" algn="l">
              <a:spcBef>
                <a:spcPts val="0"/>
              </a:spcBef>
              <a:spcAft>
                <a:spcPts val="0"/>
              </a:spcAft>
              <a:buSzPts val="1400"/>
              <a:buChar char="❏"/>
            </a:pPr>
            <a:r>
              <a:rPr lang="en"/>
              <a:t>No notion of a function, just jump to another PC. → Inherently imprecise</a:t>
            </a:r>
            <a:endParaRPr/>
          </a:p>
          <a:p>
            <a:pPr indent="-254000" lvl="0" marL="342900" rtl="0" algn="l">
              <a:spcBef>
                <a:spcPts val="0"/>
              </a:spcBef>
              <a:spcAft>
                <a:spcPts val="0"/>
              </a:spcAft>
              <a:buSzPts val="1400"/>
              <a:buChar char="❏"/>
            </a:pPr>
            <a:r>
              <a:rPr lang="en"/>
              <a:t>Is the algorithm novel?</a:t>
            </a:r>
            <a:endParaRPr/>
          </a:p>
          <a:p>
            <a:pPr indent="-254000" lvl="1" marL="685800" rtl="0" algn="l">
              <a:spcBef>
                <a:spcPts val="0"/>
              </a:spcBef>
              <a:spcAft>
                <a:spcPts val="0"/>
              </a:spcAft>
              <a:buSzPts val="1400"/>
              <a:buChar char="❏"/>
            </a:pPr>
            <a:r>
              <a:rPr lang="en"/>
              <a:t>So far, yes it is.</a:t>
            </a:r>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10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1000"/>
                                        <p:tgtEl>
                                          <p:spTgt spid="1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1000"/>
                                        <p:tgtEl>
                                          <p:spTgt spid="1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Effect filter="fade" transition="in">
                                      <p:cBhvr>
                                        <p:cTn dur="1000"/>
                                        <p:tgtEl>
                                          <p:spTgt spid="1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4" st="4"/>
                                            </p:txEl>
                                          </p:spTgt>
                                        </p:tgtEl>
                                        <p:attrNameLst>
                                          <p:attrName>style.visibility</p:attrName>
                                        </p:attrNameLst>
                                      </p:cBhvr>
                                      <p:to>
                                        <p:strVal val="visible"/>
                                      </p:to>
                                    </p:set>
                                    <p:animEffect filter="fade" transition="in">
                                      <p:cBhvr>
                                        <p:cTn dur="1000"/>
                                        <p:tgtEl>
                                          <p:spTgt spid="1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5" st="5"/>
                                            </p:txEl>
                                          </p:spTgt>
                                        </p:tgtEl>
                                        <p:attrNameLst>
                                          <p:attrName>style.visibility</p:attrName>
                                        </p:attrNameLst>
                                      </p:cBhvr>
                                      <p:to>
                                        <p:strVal val="visible"/>
                                      </p:to>
                                    </p:set>
                                    <p:animEffect filter="fade" transition="in">
                                      <p:cBhvr>
                                        <p:cTn dur="1000"/>
                                        <p:tgtEl>
                                          <p:spTgt spid="1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6" st="6"/>
                                            </p:txEl>
                                          </p:spTgt>
                                        </p:tgtEl>
                                        <p:attrNameLst>
                                          <p:attrName>style.visibility</p:attrName>
                                        </p:attrNameLst>
                                      </p:cBhvr>
                                      <p:to>
                                        <p:strVal val="visible"/>
                                      </p:to>
                                    </p:set>
                                    <p:animEffect filter="fade" transition="in">
                                      <p:cBhvr>
                                        <p:cTn dur="1000"/>
                                        <p:tgtEl>
                                          <p:spTgt spid="1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7" st="7"/>
                                            </p:txEl>
                                          </p:spTgt>
                                        </p:tgtEl>
                                        <p:attrNameLst>
                                          <p:attrName>style.visibility</p:attrName>
                                        </p:attrNameLst>
                                      </p:cBhvr>
                                      <p:to>
                                        <p:strVal val="visible"/>
                                      </p:to>
                                    </p:set>
                                    <p:animEffect filter="fade" transition="in">
                                      <p:cBhvr>
                                        <p:cTn dur="1000"/>
                                        <p:tgtEl>
                                          <p:spTgt spid="1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8" st="8"/>
                                            </p:txEl>
                                          </p:spTgt>
                                        </p:tgtEl>
                                        <p:attrNameLst>
                                          <p:attrName>style.visibility</p:attrName>
                                        </p:attrNameLst>
                                      </p:cBhvr>
                                      <p:to>
                                        <p:strVal val="visible"/>
                                      </p:to>
                                    </p:set>
                                    <p:animEffect filter="fade" transition="in">
                                      <p:cBhvr>
                                        <p:cTn dur="1000"/>
                                        <p:tgtEl>
                                          <p:spTgt spid="17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Stronger Motivation of DCCE </a:t>
            </a:r>
            <a:r>
              <a:rPr lang="en" sz="2400"/>
              <a:t>(Appealing Use cases)</a:t>
            </a:r>
            <a:endParaRPr sz="2400"/>
          </a:p>
        </p:txBody>
      </p:sp>
      <p:sp>
        <p:nvSpPr>
          <p:cNvPr id="186" name="Google Shape;186;p30"/>
          <p:cNvSpPr txBox="1"/>
          <p:nvPr>
            <p:ph idx="1" type="body"/>
          </p:nvPr>
        </p:nvSpPr>
        <p:spPr>
          <a:xfrm>
            <a:off x="664025" y="940050"/>
            <a:ext cx="8357100" cy="3772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b="1" lang="en" u="sng"/>
              <a:t>Call-flow integrity?</a:t>
            </a:r>
            <a:endParaRPr b="1" u="sng"/>
          </a:p>
          <a:p>
            <a:pPr indent="-254000" lvl="1" marL="685800" rtl="0" algn="l">
              <a:spcBef>
                <a:spcPts val="0"/>
              </a:spcBef>
              <a:spcAft>
                <a:spcPts val="0"/>
              </a:spcAft>
              <a:buSzPts val="1400"/>
              <a:buChar char="❏"/>
            </a:pPr>
            <a:r>
              <a:rPr lang="en"/>
              <a:t>Each function stores IDs of CCs that can legally call a current function.</a:t>
            </a:r>
            <a:endParaRPr/>
          </a:p>
          <a:p>
            <a:pPr indent="-254000" lvl="1" marL="685800" rtl="0" algn="l">
              <a:spcBef>
                <a:spcPts val="0"/>
              </a:spcBef>
              <a:spcAft>
                <a:spcPts val="0"/>
              </a:spcAft>
              <a:buSzPts val="1400"/>
              <a:buChar char="❏"/>
            </a:pPr>
            <a:r>
              <a:rPr lang="en"/>
              <a:t>For a function call, check if ID of CC that calls the current function is in the list.</a:t>
            </a:r>
            <a:endParaRPr/>
          </a:p>
          <a:p>
            <a:pPr indent="-254000" lvl="1" marL="685800" rtl="0" algn="l">
              <a:spcBef>
                <a:spcPts val="0"/>
              </a:spcBef>
              <a:spcAft>
                <a:spcPts val="0"/>
              </a:spcAft>
              <a:buSzPts val="1400"/>
              <a:buChar char="❏"/>
            </a:pPr>
            <a:r>
              <a:rPr lang="en"/>
              <a:t>Similar approach for ROP.</a:t>
            </a:r>
            <a:endParaRPr/>
          </a:p>
          <a:p>
            <a:pPr indent="-254000" lvl="1" marL="685800" rtl="0" algn="l">
              <a:spcBef>
                <a:spcPts val="0"/>
              </a:spcBef>
              <a:spcAft>
                <a:spcPts val="0"/>
              </a:spcAft>
              <a:buSzPts val="1400"/>
              <a:buChar char="❏"/>
            </a:pPr>
            <a:r>
              <a:rPr lang="en"/>
              <a:t>Cannot use PCCE for this application.</a:t>
            </a:r>
            <a:endParaRPr/>
          </a:p>
          <a:p>
            <a:pPr indent="-254000" lvl="1" marL="685800" rtl="0" algn="l">
              <a:spcBef>
                <a:spcPts val="0"/>
              </a:spcBef>
              <a:spcAft>
                <a:spcPts val="0"/>
              </a:spcAft>
              <a:buSzPts val="1400"/>
              <a:buChar char="❏"/>
            </a:pPr>
            <a:r>
              <a:rPr lang="en"/>
              <a:t>Extended WHISTLE? Or Performance counter for SW-based?</a:t>
            </a:r>
            <a:endParaRPr/>
          </a:p>
          <a:p>
            <a:pPr indent="-254000" lvl="0" marL="342900" rtl="0" algn="l">
              <a:spcBef>
                <a:spcPts val="0"/>
              </a:spcBef>
              <a:spcAft>
                <a:spcPts val="0"/>
              </a:spcAft>
              <a:buSzPts val="1400"/>
              <a:buChar char="❏"/>
            </a:pPr>
            <a:r>
              <a:rPr b="1" lang="en" u="sng"/>
              <a:t>Provide IDs of CCs as a HW performance counter for some analysis</a:t>
            </a:r>
            <a:endParaRPr b="1" u="sng"/>
          </a:p>
          <a:p>
            <a:pPr indent="-254000" lvl="1" marL="685800" rtl="0" algn="l">
              <a:spcBef>
                <a:spcPts val="0"/>
              </a:spcBef>
              <a:spcAft>
                <a:spcPts val="0"/>
              </a:spcAft>
              <a:buSzPts val="1400"/>
              <a:buChar char="❏"/>
            </a:pPr>
            <a:r>
              <a:rPr lang="en"/>
              <a:t>Context Sensitive Points-to analysis (ex. Dynamic Pointer Disambiguation)</a:t>
            </a:r>
            <a:endParaRPr/>
          </a:p>
          <a:p>
            <a:pPr indent="-254000" lvl="0" marL="342900" rtl="0" algn="l">
              <a:spcBef>
                <a:spcPts val="0"/>
              </a:spcBef>
              <a:spcAft>
                <a:spcPts val="0"/>
              </a:spcAft>
              <a:buSzPts val="1400"/>
              <a:buChar char="❏"/>
            </a:pPr>
            <a:r>
              <a:rPr b="1" lang="en" u="sng"/>
              <a:t>DFS acts like following an order of program’s function calls.</a:t>
            </a:r>
            <a:endParaRPr b="1" u="sng"/>
          </a:p>
          <a:p>
            <a:pPr indent="-254000" lvl="1" marL="685800" rtl="0" algn="l">
              <a:spcBef>
                <a:spcPts val="0"/>
              </a:spcBef>
              <a:spcAft>
                <a:spcPts val="0"/>
              </a:spcAft>
              <a:buSzPts val="1400"/>
              <a:buChar char="❏"/>
            </a:pPr>
            <a:r>
              <a:rPr lang="en"/>
              <a:t>Current algorithm needs instrumentation with a complete CG.</a:t>
            </a:r>
            <a:endParaRPr/>
          </a:p>
          <a:p>
            <a:pPr indent="-254000" lvl="1" marL="685800" rtl="0" algn="l">
              <a:spcBef>
                <a:spcPts val="0"/>
              </a:spcBef>
              <a:spcAft>
                <a:spcPts val="0"/>
              </a:spcAft>
              <a:buSzPts val="1400"/>
              <a:buChar char="❏"/>
            </a:pPr>
            <a:r>
              <a:rPr lang="en"/>
              <a:t>Can DCCE be done at runtime without instrumentation and CG?</a:t>
            </a:r>
            <a:endParaRPr/>
          </a:p>
          <a:p>
            <a:pPr indent="-254000" lvl="2" marL="1028700" rtl="0" algn="l">
              <a:spcBef>
                <a:spcPts val="0"/>
              </a:spcBef>
              <a:spcAft>
                <a:spcPts val="0"/>
              </a:spcAft>
              <a:buSzPts val="1400"/>
              <a:buChar char="❏"/>
            </a:pPr>
            <a:r>
              <a:rPr lang="en"/>
              <a:t>No, Different run may take different paths in CG.</a:t>
            </a:r>
            <a:endParaRPr/>
          </a:p>
          <a:p>
            <a:pPr indent="-254000" lvl="2" marL="1028700" rtl="0" algn="l">
              <a:spcBef>
                <a:spcPts val="0"/>
              </a:spcBef>
              <a:spcAft>
                <a:spcPts val="0"/>
              </a:spcAft>
              <a:buSzPts val="1400"/>
              <a:buChar char="❏"/>
            </a:pPr>
            <a:r>
              <a:rPr lang="en"/>
              <a:t>Each run generate IDs but cannot use for other runs.</a:t>
            </a:r>
            <a:endParaRPr/>
          </a:p>
          <a:p>
            <a:pPr indent="-254000" lvl="1" marL="685800" rtl="0" algn="l">
              <a:spcBef>
                <a:spcPts val="0"/>
              </a:spcBef>
              <a:spcAft>
                <a:spcPts val="0"/>
              </a:spcAft>
              <a:buSzPts val="1400"/>
              <a:buChar char="❏"/>
            </a:pPr>
            <a:r>
              <a:rPr lang="en"/>
              <a:t>If it’s possible, above application will be much more appealing.</a:t>
            </a:r>
            <a:endParaRPr/>
          </a:p>
          <a:p>
            <a:pPr indent="-254000" lvl="2" marL="1028700" rtl="0" algn="l">
              <a:spcBef>
                <a:spcPts val="0"/>
              </a:spcBef>
              <a:spcAft>
                <a:spcPts val="0"/>
              </a:spcAft>
              <a:buSzPts val="1400"/>
              <a:buChar char="❏"/>
            </a:pPr>
            <a:r>
              <a:rPr lang="en"/>
              <a:t>Can reduce a phase to construct a CG</a:t>
            </a:r>
            <a:endParaRPr/>
          </a:p>
          <a:p>
            <a:pPr indent="-254000" lvl="2" marL="1028700" rtl="0" algn="l">
              <a:spcBef>
                <a:spcPts val="0"/>
              </a:spcBef>
              <a:spcAft>
                <a:spcPts val="0"/>
              </a:spcAft>
              <a:buSzPts val="1400"/>
              <a:buChar char="❏"/>
            </a:pPr>
            <a:r>
              <a:rPr lang="en"/>
              <a:t>No overhead of instrumentation (or generalized as a part of calling convention)</a:t>
            </a:r>
            <a:endParaRPr b="1"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animEffect filter="fade" transition="in">
                                      <p:cBhvr>
                                        <p:cTn dur="1000"/>
                                        <p:tgtEl>
                                          <p:spTgt spid="1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animEffect filter="fade" transition="in">
                                      <p:cBhvr>
                                        <p:cTn dur="1000"/>
                                        <p:tgtEl>
                                          <p:spTgt spid="1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2" st="2"/>
                                            </p:txEl>
                                          </p:spTgt>
                                        </p:tgtEl>
                                        <p:attrNameLst>
                                          <p:attrName>style.visibility</p:attrName>
                                        </p:attrNameLst>
                                      </p:cBhvr>
                                      <p:to>
                                        <p:strVal val="visible"/>
                                      </p:to>
                                    </p:set>
                                    <p:animEffect filter="fade" transition="in">
                                      <p:cBhvr>
                                        <p:cTn dur="1000"/>
                                        <p:tgtEl>
                                          <p:spTgt spid="1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3" st="3"/>
                                            </p:txEl>
                                          </p:spTgt>
                                        </p:tgtEl>
                                        <p:attrNameLst>
                                          <p:attrName>style.visibility</p:attrName>
                                        </p:attrNameLst>
                                      </p:cBhvr>
                                      <p:to>
                                        <p:strVal val="visible"/>
                                      </p:to>
                                    </p:set>
                                    <p:animEffect filter="fade" transition="in">
                                      <p:cBhvr>
                                        <p:cTn dur="1000"/>
                                        <p:tgtEl>
                                          <p:spTgt spid="1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4" st="4"/>
                                            </p:txEl>
                                          </p:spTgt>
                                        </p:tgtEl>
                                        <p:attrNameLst>
                                          <p:attrName>style.visibility</p:attrName>
                                        </p:attrNameLst>
                                      </p:cBhvr>
                                      <p:to>
                                        <p:strVal val="visible"/>
                                      </p:to>
                                    </p:set>
                                    <p:animEffect filter="fade" transition="in">
                                      <p:cBhvr>
                                        <p:cTn dur="1000"/>
                                        <p:tgtEl>
                                          <p:spTgt spid="1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5" st="5"/>
                                            </p:txEl>
                                          </p:spTgt>
                                        </p:tgtEl>
                                        <p:attrNameLst>
                                          <p:attrName>style.visibility</p:attrName>
                                        </p:attrNameLst>
                                      </p:cBhvr>
                                      <p:to>
                                        <p:strVal val="visible"/>
                                      </p:to>
                                    </p:set>
                                    <p:animEffect filter="fade" transition="in">
                                      <p:cBhvr>
                                        <p:cTn dur="1000"/>
                                        <p:tgtEl>
                                          <p:spTgt spid="18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6" st="6"/>
                                            </p:txEl>
                                          </p:spTgt>
                                        </p:tgtEl>
                                        <p:attrNameLst>
                                          <p:attrName>style.visibility</p:attrName>
                                        </p:attrNameLst>
                                      </p:cBhvr>
                                      <p:to>
                                        <p:strVal val="visible"/>
                                      </p:to>
                                    </p:set>
                                    <p:animEffect filter="fade" transition="in">
                                      <p:cBhvr>
                                        <p:cTn dur="1000"/>
                                        <p:tgtEl>
                                          <p:spTgt spid="18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7" st="7"/>
                                            </p:txEl>
                                          </p:spTgt>
                                        </p:tgtEl>
                                        <p:attrNameLst>
                                          <p:attrName>style.visibility</p:attrName>
                                        </p:attrNameLst>
                                      </p:cBhvr>
                                      <p:to>
                                        <p:strVal val="visible"/>
                                      </p:to>
                                    </p:set>
                                    <p:animEffect filter="fade" transition="in">
                                      <p:cBhvr>
                                        <p:cTn dur="1000"/>
                                        <p:tgtEl>
                                          <p:spTgt spid="18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8" st="8"/>
                                            </p:txEl>
                                          </p:spTgt>
                                        </p:tgtEl>
                                        <p:attrNameLst>
                                          <p:attrName>style.visibility</p:attrName>
                                        </p:attrNameLst>
                                      </p:cBhvr>
                                      <p:to>
                                        <p:strVal val="visible"/>
                                      </p:to>
                                    </p:set>
                                    <p:animEffect filter="fade" transition="in">
                                      <p:cBhvr>
                                        <p:cTn dur="1000"/>
                                        <p:tgtEl>
                                          <p:spTgt spid="18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9" st="9"/>
                                            </p:txEl>
                                          </p:spTgt>
                                        </p:tgtEl>
                                        <p:attrNameLst>
                                          <p:attrName>style.visibility</p:attrName>
                                        </p:attrNameLst>
                                      </p:cBhvr>
                                      <p:to>
                                        <p:strVal val="visible"/>
                                      </p:to>
                                    </p:set>
                                    <p:animEffect filter="fade" transition="in">
                                      <p:cBhvr>
                                        <p:cTn dur="1000"/>
                                        <p:tgtEl>
                                          <p:spTgt spid="18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0" st="10"/>
                                            </p:txEl>
                                          </p:spTgt>
                                        </p:tgtEl>
                                        <p:attrNameLst>
                                          <p:attrName>style.visibility</p:attrName>
                                        </p:attrNameLst>
                                      </p:cBhvr>
                                      <p:to>
                                        <p:strVal val="visible"/>
                                      </p:to>
                                    </p:set>
                                    <p:animEffect filter="fade" transition="in">
                                      <p:cBhvr>
                                        <p:cTn dur="1000"/>
                                        <p:tgtEl>
                                          <p:spTgt spid="18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1" st="11"/>
                                            </p:txEl>
                                          </p:spTgt>
                                        </p:tgtEl>
                                        <p:attrNameLst>
                                          <p:attrName>style.visibility</p:attrName>
                                        </p:attrNameLst>
                                      </p:cBhvr>
                                      <p:to>
                                        <p:strVal val="visible"/>
                                      </p:to>
                                    </p:set>
                                    <p:animEffect filter="fade" transition="in">
                                      <p:cBhvr>
                                        <p:cTn dur="1000"/>
                                        <p:tgtEl>
                                          <p:spTgt spid="18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2" st="12"/>
                                            </p:txEl>
                                          </p:spTgt>
                                        </p:tgtEl>
                                        <p:attrNameLst>
                                          <p:attrName>style.visibility</p:attrName>
                                        </p:attrNameLst>
                                      </p:cBhvr>
                                      <p:to>
                                        <p:strVal val="visible"/>
                                      </p:to>
                                    </p:set>
                                    <p:animEffect filter="fade" transition="in">
                                      <p:cBhvr>
                                        <p:cTn dur="1000"/>
                                        <p:tgtEl>
                                          <p:spTgt spid="18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3" st="13"/>
                                            </p:txEl>
                                          </p:spTgt>
                                        </p:tgtEl>
                                        <p:attrNameLst>
                                          <p:attrName>style.visibility</p:attrName>
                                        </p:attrNameLst>
                                      </p:cBhvr>
                                      <p:to>
                                        <p:strVal val="visible"/>
                                      </p:to>
                                    </p:set>
                                    <p:animEffect filter="fade" transition="in">
                                      <p:cBhvr>
                                        <p:cTn dur="1000"/>
                                        <p:tgtEl>
                                          <p:spTgt spid="18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4" st="14"/>
                                            </p:txEl>
                                          </p:spTgt>
                                        </p:tgtEl>
                                        <p:attrNameLst>
                                          <p:attrName>style.visibility</p:attrName>
                                        </p:attrNameLst>
                                      </p:cBhvr>
                                      <p:to>
                                        <p:strVal val="visible"/>
                                      </p:to>
                                    </p:set>
                                    <p:animEffect filter="fade" transition="in">
                                      <p:cBhvr>
                                        <p:cTn dur="1000"/>
                                        <p:tgtEl>
                                          <p:spTgt spid="18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5" st="15"/>
                                            </p:txEl>
                                          </p:spTgt>
                                        </p:tgtEl>
                                        <p:attrNameLst>
                                          <p:attrName>style.visibility</p:attrName>
                                        </p:attrNameLst>
                                      </p:cBhvr>
                                      <p:to>
                                        <p:strVal val="visible"/>
                                      </p:to>
                                    </p:set>
                                    <p:animEffect filter="fade" transition="in">
                                      <p:cBhvr>
                                        <p:cTn dur="1000"/>
                                        <p:tgtEl>
                                          <p:spTgt spid="186">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idx="1" type="body"/>
          </p:nvPr>
        </p:nvSpPr>
        <p:spPr>
          <a:xfrm>
            <a:off x="250900" y="1321050"/>
            <a:ext cx="48360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Compilers cannot optimize array_sum_1 to array_sum_2</a:t>
            </a:r>
            <a:endParaRPr/>
          </a:p>
          <a:p>
            <a:pPr indent="-254000" lvl="0" marL="342900" rtl="0" algn="l">
              <a:spcBef>
                <a:spcPts val="0"/>
              </a:spcBef>
              <a:spcAft>
                <a:spcPts val="0"/>
              </a:spcAft>
              <a:buSzPts val="1400"/>
              <a:buChar char="❏"/>
            </a:pPr>
            <a:r>
              <a:rPr lang="en"/>
              <a:t>Pointer Aliasing hinders optimizations.</a:t>
            </a:r>
            <a:endParaRPr/>
          </a:p>
          <a:p>
            <a:pPr indent="-254000" lvl="1" marL="685800" rtl="0" algn="l">
              <a:spcBef>
                <a:spcPts val="0"/>
              </a:spcBef>
              <a:spcAft>
                <a:spcPts val="0"/>
              </a:spcAft>
              <a:buSzPts val="1400"/>
              <a:buChar char="❏"/>
            </a:pPr>
            <a:r>
              <a:rPr lang="en"/>
              <a:t>Loop invariant code motions</a:t>
            </a:r>
            <a:endParaRPr/>
          </a:p>
          <a:p>
            <a:pPr indent="-254000" lvl="1" marL="685800" rtl="0" algn="l">
              <a:spcBef>
                <a:spcPts val="0"/>
              </a:spcBef>
              <a:spcAft>
                <a:spcPts val="0"/>
              </a:spcAft>
              <a:buSzPts val="1400"/>
              <a:buChar char="❏"/>
            </a:pPr>
            <a:r>
              <a:rPr lang="en"/>
              <a:t>Code parallelization/vectorization.</a:t>
            </a:r>
            <a:endParaRPr/>
          </a:p>
          <a:p>
            <a:pPr indent="-254000" lvl="0" marL="342900" rtl="0" algn="l">
              <a:spcBef>
                <a:spcPts val="0"/>
              </a:spcBef>
              <a:spcAft>
                <a:spcPts val="0"/>
              </a:spcAft>
              <a:buSzPts val="1400"/>
              <a:buChar char="❏"/>
            </a:pPr>
            <a:r>
              <a:rPr lang="en"/>
              <a:t>This paper propose to solve it through dynamic pointer disambiguation.</a:t>
            </a:r>
            <a:endParaRPr/>
          </a:p>
        </p:txBody>
      </p:sp>
      <p:sp>
        <p:nvSpPr>
          <p:cNvPr id="193" name="Google Shape;193;p31"/>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Runtime Pointer Disambiguation</a:t>
            </a:r>
            <a:endParaRPr/>
          </a:p>
        </p:txBody>
      </p:sp>
      <p:pic>
        <p:nvPicPr>
          <p:cNvPr id="194" name="Google Shape;194;p31"/>
          <p:cNvPicPr preferRelativeResize="0"/>
          <p:nvPr/>
        </p:nvPicPr>
        <p:blipFill>
          <a:blip r:embed="rId3">
            <a:alphaModFix/>
          </a:blip>
          <a:stretch>
            <a:fillRect/>
          </a:stretch>
        </p:blipFill>
        <p:spPr>
          <a:xfrm>
            <a:off x="5239325" y="1420444"/>
            <a:ext cx="3752276" cy="25805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32"/>
          <p:cNvPicPr preferRelativeResize="0"/>
          <p:nvPr/>
        </p:nvPicPr>
        <p:blipFill>
          <a:blip r:embed="rId3">
            <a:alphaModFix/>
          </a:blip>
          <a:stretch>
            <a:fillRect/>
          </a:stretch>
        </p:blipFill>
        <p:spPr>
          <a:xfrm>
            <a:off x="5518475" y="1016700"/>
            <a:ext cx="3219075" cy="3588775"/>
          </a:xfrm>
          <a:prstGeom prst="rect">
            <a:avLst/>
          </a:prstGeom>
          <a:noFill/>
          <a:ln>
            <a:noFill/>
          </a:ln>
        </p:spPr>
      </p:pic>
      <p:sp>
        <p:nvSpPr>
          <p:cNvPr id="201" name="Google Shape;201;p32"/>
          <p:cNvSpPr txBox="1"/>
          <p:nvPr>
            <p:ph idx="1" type="body"/>
          </p:nvPr>
        </p:nvSpPr>
        <p:spPr>
          <a:xfrm>
            <a:off x="664025" y="1321050"/>
            <a:ext cx="44229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Modify memory allocator</a:t>
            </a:r>
            <a:endParaRPr/>
          </a:p>
          <a:p>
            <a:pPr indent="-254000" lvl="0" marL="342900" rtl="0" algn="l">
              <a:spcBef>
                <a:spcPts val="0"/>
              </a:spcBef>
              <a:spcAft>
                <a:spcPts val="0"/>
              </a:spcAft>
              <a:buSzPts val="1400"/>
              <a:buChar char="❏"/>
            </a:pPr>
            <a:r>
              <a:rPr lang="en"/>
              <a:t>Bind meta-info to pointers (func. T)</a:t>
            </a:r>
            <a:endParaRPr/>
          </a:p>
          <a:p>
            <a:pPr indent="-254000" lvl="1" marL="685800" rtl="0" algn="l">
              <a:spcBef>
                <a:spcPts val="0"/>
              </a:spcBef>
              <a:spcAft>
                <a:spcPts val="0"/>
              </a:spcAft>
              <a:buSzPts val="1400"/>
              <a:buChar char="❏"/>
            </a:pPr>
            <a:r>
              <a:rPr lang="en"/>
              <a:t>Base, size, unique id</a:t>
            </a:r>
            <a:endParaRPr/>
          </a:p>
          <a:p>
            <a:pPr indent="-254000" lvl="0" marL="342900" rtl="0" algn="l">
              <a:spcBef>
                <a:spcPts val="0"/>
              </a:spcBef>
              <a:spcAft>
                <a:spcPts val="0"/>
              </a:spcAft>
              <a:buSzPts val="1400"/>
              <a:buChar char="❏"/>
            </a:pPr>
            <a:r>
              <a:rPr lang="en"/>
              <a:t>Insert check and maintain different versions.</a:t>
            </a:r>
            <a:endParaRPr/>
          </a:p>
          <a:p>
            <a:pPr indent="-254000" lvl="0" marL="342900" rtl="0" algn="l">
              <a:spcBef>
                <a:spcPts val="0"/>
              </a:spcBef>
              <a:spcAft>
                <a:spcPts val="0"/>
              </a:spcAft>
              <a:buSzPts val="1400"/>
              <a:buChar char="❏"/>
            </a:pPr>
            <a:r>
              <a:rPr lang="en"/>
              <a:t>O(N</a:t>
            </a:r>
            <a:r>
              <a:rPr baseline="30000" lang="en"/>
              <a:t>2</a:t>
            </a:r>
            <a:r>
              <a:rPr lang="en"/>
              <a:t>) where N is number of pointers in a region. (Expensive)</a:t>
            </a:r>
            <a:endParaRPr/>
          </a:p>
          <a:p>
            <a:pPr indent="-254000" lvl="0" marL="342900" rtl="0" algn="l">
              <a:spcBef>
                <a:spcPts val="0"/>
              </a:spcBef>
              <a:spcAft>
                <a:spcPts val="0"/>
              </a:spcAft>
              <a:buSzPts val="1400"/>
              <a:buChar char="❏"/>
            </a:pPr>
            <a:r>
              <a:rPr lang="en"/>
              <a:t>T is logarithmic on the number of currently alive memory allocations</a:t>
            </a:r>
            <a:endParaRPr/>
          </a:p>
        </p:txBody>
      </p:sp>
      <p:sp>
        <p:nvSpPr>
          <p:cNvPr id="202" name="Google Shape;202;p32"/>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Runtime Pointer Disambiguation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3"/>
          <p:cNvPicPr preferRelativeResize="0"/>
          <p:nvPr/>
        </p:nvPicPr>
        <p:blipFill>
          <a:blip r:embed="rId3">
            <a:alphaModFix/>
          </a:blip>
          <a:stretch>
            <a:fillRect/>
          </a:stretch>
        </p:blipFill>
        <p:spPr>
          <a:xfrm>
            <a:off x="4883175" y="1413973"/>
            <a:ext cx="4064275" cy="2806125"/>
          </a:xfrm>
          <a:prstGeom prst="rect">
            <a:avLst/>
          </a:prstGeom>
          <a:noFill/>
          <a:ln>
            <a:noFill/>
          </a:ln>
        </p:spPr>
      </p:pic>
      <p:sp>
        <p:nvSpPr>
          <p:cNvPr id="209" name="Google Shape;209;p33"/>
          <p:cNvSpPr txBox="1"/>
          <p:nvPr>
            <p:ph idx="1" type="body"/>
          </p:nvPr>
        </p:nvSpPr>
        <p:spPr>
          <a:xfrm>
            <a:off x="664025" y="1244850"/>
            <a:ext cx="44229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To reduce the overhead of runtime checks</a:t>
            </a:r>
            <a:endParaRPr/>
          </a:p>
          <a:p>
            <a:pPr indent="-254000" lvl="0" marL="342900" rtl="0" algn="l">
              <a:spcBef>
                <a:spcPts val="0"/>
              </a:spcBef>
              <a:spcAft>
                <a:spcPts val="0"/>
              </a:spcAft>
              <a:buSzPts val="1400"/>
              <a:buChar char="❏"/>
            </a:pPr>
            <a:r>
              <a:rPr lang="en"/>
              <a:t>Prune some of checks with profiler.</a:t>
            </a:r>
            <a:endParaRPr/>
          </a:p>
          <a:p>
            <a:pPr indent="-254000" lvl="0" marL="342900" rtl="0" algn="l">
              <a:spcBef>
                <a:spcPts val="0"/>
              </a:spcBef>
              <a:spcAft>
                <a:spcPts val="0"/>
              </a:spcAft>
              <a:buSzPts val="1400"/>
              <a:buChar char="❏"/>
            </a:pPr>
            <a:r>
              <a:rPr lang="en"/>
              <a:t>If a pair of pointers is found to alias with some probability, do not check disambiguate dynamically</a:t>
            </a:r>
            <a:endParaRPr/>
          </a:p>
        </p:txBody>
      </p:sp>
      <p:sp>
        <p:nvSpPr>
          <p:cNvPr id="210" name="Google Shape;210;p33"/>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Runtime Pointer Disambiguation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idx="1" type="body"/>
          </p:nvPr>
        </p:nvSpPr>
        <p:spPr>
          <a:xfrm>
            <a:off x="664025" y="1244850"/>
            <a:ext cx="44229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Construct a CG and instrument source code to encode CCs. </a:t>
            </a:r>
            <a:endParaRPr/>
          </a:p>
          <a:p>
            <a:pPr indent="-254000" lvl="0" marL="342900" rtl="0" algn="l">
              <a:spcBef>
                <a:spcPts val="0"/>
              </a:spcBef>
              <a:spcAft>
                <a:spcPts val="0"/>
              </a:spcAft>
              <a:buSzPts val="1400"/>
              <a:buChar char="❏"/>
            </a:pPr>
            <a:r>
              <a:rPr lang="en"/>
              <a:t>Run the instrumented program and  analyze pointer alias and remember IDs that does not have aliases. (IDx)</a:t>
            </a:r>
            <a:endParaRPr/>
          </a:p>
          <a:p>
            <a:pPr indent="-254000" lvl="0" marL="342900" rtl="0" algn="l">
              <a:spcBef>
                <a:spcPts val="0"/>
              </a:spcBef>
              <a:spcAft>
                <a:spcPts val="0"/>
              </a:spcAft>
              <a:buSzPts val="1400"/>
              <a:buChar char="❏"/>
            </a:pPr>
            <a:r>
              <a:rPr lang="en"/>
              <a:t>Instrument source code to take an optimized code if runtime ID (IDy) equals to IDx. </a:t>
            </a:r>
            <a:endParaRPr/>
          </a:p>
          <a:p>
            <a:pPr indent="-254000" lvl="0" marL="342900" rtl="0" algn="l">
              <a:spcBef>
                <a:spcPts val="0"/>
              </a:spcBef>
              <a:spcAft>
                <a:spcPts val="0"/>
              </a:spcAft>
              <a:buSzPts val="1400"/>
              <a:buChar char="❏"/>
            </a:pPr>
            <a:r>
              <a:rPr lang="en"/>
              <a:t>get_ccid() takes constant time.</a:t>
            </a:r>
            <a:endParaRPr/>
          </a:p>
          <a:p>
            <a:pPr indent="-254000" lvl="0" marL="342900" rtl="0" algn="l">
              <a:spcBef>
                <a:spcPts val="0"/>
              </a:spcBef>
              <a:spcAft>
                <a:spcPts val="0"/>
              </a:spcAft>
              <a:buSzPts val="1400"/>
              <a:buChar char="❏"/>
            </a:pPr>
            <a:r>
              <a:rPr lang="en"/>
              <a:t>No need for changes of memory allocator.</a:t>
            </a:r>
            <a:endParaRPr/>
          </a:p>
        </p:txBody>
      </p:sp>
      <p:sp>
        <p:nvSpPr>
          <p:cNvPr id="217" name="Google Shape;217;p34"/>
          <p:cNvSpPr txBox="1"/>
          <p:nvPr>
            <p:ph idx="1" type="body"/>
          </p:nvPr>
        </p:nvSpPr>
        <p:spPr>
          <a:xfrm>
            <a:off x="5258725" y="1376300"/>
            <a:ext cx="38853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700"/>
              <a:t>void array_sum_5(int* src, int* s, int* acc) {</a:t>
            </a:r>
            <a:endParaRPr sz="1700"/>
          </a:p>
          <a:p>
            <a:pPr indent="0" lvl="0" marL="0" rtl="0" algn="l">
              <a:spcBef>
                <a:spcPts val="800"/>
              </a:spcBef>
              <a:spcAft>
                <a:spcPts val="0"/>
              </a:spcAft>
              <a:buNone/>
            </a:pPr>
            <a:r>
              <a:rPr lang="en" sz="1700"/>
              <a:t>        int id =  get_ccid();</a:t>
            </a:r>
            <a:endParaRPr sz="1700"/>
          </a:p>
          <a:p>
            <a:pPr indent="0" lvl="0" marL="0" rtl="0" algn="l">
              <a:spcBef>
                <a:spcPts val="800"/>
              </a:spcBef>
              <a:spcAft>
                <a:spcPts val="0"/>
              </a:spcAft>
              <a:buNone/>
            </a:pPr>
            <a:r>
              <a:rPr lang="en" sz="1700"/>
              <a:t>        </a:t>
            </a:r>
            <a:r>
              <a:rPr lang="en" sz="1700">
                <a:solidFill>
                  <a:srgbClr val="FF0000"/>
                </a:solidFill>
              </a:rPr>
              <a:t>if (id == 3 || id == 4) { // instrumented</a:t>
            </a:r>
            <a:endParaRPr sz="1700">
              <a:solidFill>
                <a:srgbClr val="FF0000"/>
              </a:solidFill>
            </a:endParaRPr>
          </a:p>
          <a:p>
            <a:pPr indent="0" lvl="0" marL="0" rtl="0" algn="l">
              <a:spcBef>
                <a:spcPts val="800"/>
              </a:spcBef>
              <a:spcAft>
                <a:spcPts val="0"/>
              </a:spcAft>
              <a:buNone/>
            </a:pPr>
            <a:r>
              <a:rPr lang="en" sz="1700"/>
              <a:t>		// optimized code</a:t>
            </a:r>
            <a:endParaRPr sz="1700"/>
          </a:p>
          <a:p>
            <a:pPr indent="0" lvl="0" marL="0" rtl="0" algn="l">
              <a:spcBef>
                <a:spcPts val="800"/>
              </a:spcBef>
              <a:spcAft>
                <a:spcPts val="0"/>
              </a:spcAft>
              <a:buNone/>
            </a:pPr>
            <a:r>
              <a:rPr lang="en" sz="1700"/>
              <a:t>        } else {</a:t>
            </a:r>
            <a:endParaRPr sz="1700"/>
          </a:p>
          <a:p>
            <a:pPr indent="0" lvl="0" marL="0" rtl="0" algn="l">
              <a:spcBef>
                <a:spcPts val="800"/>
              </a:spcBef>
              <a:spcAft>
                <a:spcPts val="0"/>
              </a:spcAft>
              <a:buNone/>
            </a:pPr>
            <a:r>
              <a:rPr lang="en" sz="1700"/>
              <a:t>		// not optimized code</a:t>
            </a:r>
            <a:endParaRPr sz="1700"/>
          </a:p>
          <a:p>
            <a:pPr indent="0" lvl="0" marL="0" rtl="0" algn="l">
              <a:spcBef>
                <a:spcPts val="800"/>
              </a:spcBef>
              <a:spcAft>
                <a:spcPts val="0"/>
              </a:spcAft>
              <a:buNone/>
            </a:pPr>
            <a:r>
              <a:rPr lang="en" sz="1700"/>
              <a:t>        }</a:t>
            </a:r>
            <a:endParaRPr sz="1700"/>
          </a:p>
          <a:p>
            <a:pPr indent="0" lvl="0" marL="0" rtl="0" algn="l">
              <a:spcBef>
                <a:spcPts val="800"/>
              </a:spcBef>
              <a:spcAft>
                <a:spcPts val="0"/>
              </a:spcAft>
              <a:buNone/>
            </a:pPr>
            <a:r>
              <a:rPr lang="en" sz="1700"/>
              <a:t>}</a:t>
            </a:r>
            <a:endParaRPr sz="1700"/>
          </a:p>
        </p:txBody>
      </p:sp>
      <p:sp>
        <p:nvSpPr>
          <p:cNvPr id="218" name="Google Shape;218;p34"/>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Runtime Pointer Disambiguation with DCCE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628650" y="1214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Next Plan</a:t>
            </a:r>
            <a:endParaRPr/>
          </a:p>
        </p:txBody>
      </p:sp>
      <p:sp>
        <p:nvSpPr>
          <p:cNvPr id="225" name="Google Shape;225;p35"/>
          <p:cNvSpPr txBox="1"/>
          <p:nvPr>
            <p:ph idx="1" type="body"/>
          </p:nvPr>
        </p:nvSpPr>
        <p:spPr>
          <a:xfrm>
            <a:off x="628650" y="1045369"/>
            <a:ext cx="7886700" cy="3263400"/>
          </a:xfrm>
          <a:prstGeom prst="rect">
            <a:avLst/>
          </a:prstGeom>
          <a:ln>
            <a:noFill/>
          </a:ln>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ReViCe</a:t>
            </a:r>
            <a:endParaRPr/>
          </a:p>
          <a:p>
            <a:pPr indent="-254000" lvl="1" marL="685800" rtl="0" algn="l">
              <a:spcBef>
                <a:spcPts val="0"/>
              </a:spcBef>
              <a:spcAft>
                <a:spcPts val="0"/>
              </a:spcAft>
              <a:buClr>
                <a:srgbClr val="000000"/>
              </a:buClr>
              <a:buSzPts val="1400"/>
              <a:buChar char="❏"/>
            </a:pPr>
            <a:r>
              <a:rPr lang="en" strike="sngStrike">
                <a:solidFill>
                  <a:srgbClr val="000000"/>
                </a:solidFill>
              </a:rPr>
              <a:t>Prepare Presentation September 28 - 30, 2020 - 15m + 5m Q&amp;A (live)</a:t>
            </a:r>
            <a:endParaRPr strike="sngStrike">
              <a:solidFill>
                <a:srgbClr val="000000"/>
              </a:solidFill>
            </a:endParaRPr>
          </a:p>
          <a:p>
            <a:pPr indent="-254000" lvl="2" marL="1028700" rtl="0" algn="l">
              <a:spcBef>
                <a:spcPts val="0"/>
              </a:spcBef>
              <a:spcAft>
                <a:spcPts val="0"/>
              </a:spcAft>
              <a:buClr>
                <a:srgbClr val="000000"/>
              </a:buClr>
              <a:buSzPts val="1400"/>
              <a:buChar char="❏"/>
            </a:pPr>
            <a:r>
              <a:rPr lang="en" strike="sngStrike">
                <a:solidFill>
                  <a:srgbClr val="000000"/>
                </a:solidFill>
              </a:rPr>
              <a:t>Required to submit the recorded presentation by Sep. 11</a:t>
            </a:r>
            <a:endParaRPr strike="sngStrike">
              <a:solidFill>
                <a:srgbClr val="000000"/>
              </a:solidFill>
            </a:endParaRPr>
          </a:p>
          <a:p>
            <a:pPr indent="-254000" lvl="1" marL="685800" rtl="0" algn="l">
              <a:spcBef>
                <a:spcPts val="0"/>
              </a:spcBef>
              <a:spcAft>
                <a:spcPts val="0"/>
              </a:spcAft>
              <a:buClr>
                <a:srgbClr val="000000"/>
              </a:buClr>
              <a:buSzPts val="1400"/>
              <a:buChar char="❏"/>
            </a:pPr>
            <a:r>
              <a:rPr lang="en">
                <a:solidFill>
                  <a:srgbClr val="000000"/>
                </a:solidFill>
              </a:rPr>
              <a:t>Preparation of journal version</a:t>
            </a:r>
            <a:endParaRPr>
              <a:solidFill>
                <a:srgbClr val="000000"/>
              </a:solidFill>
            </a:endParaRPr>
          </a:p>
          <a:p>
            <a:pPr indent="-254000" lvl="2" marL="1028700" rtl="0" algn="l">
              <a:spcBef>
                <a:spcPts val="0"/>
              </a:spcBef>
              <a:spcAft>
                <a:spcPts val="0"/>
              </a:spcAft>
              <a:buClr>
                <a:srgbClr val="000000"/>
              </a:buClr>
              <a:buSzPts val="1400"/>
              <a:buChar char="❏"/>
            </a:pPr>
            <a:r>
              <a:rPr lang="en">
                <a:solidFill>
                  <a:srgbClr val="000000"/>
                </a:solidFill>
              </a:rPr>
              <a:t>TBD, Check TACO journal</a:t>
            </a:r>
            <a:endParaRPr>
              <a:solidFill>
                <a:srgbClr val="000000"/>
              </a:solidFill>
            </a:endParaRPr>
          </a:p>
          <a:p>
            <a:pPr indent="-254000" lvl="0" marL="342900" rtl="0" algn="l">
              <a:spcBef>
                <a:spcPts val="0"/>
              </a:spcBef>
              <a:spcAft>
                <a:spcPts val="0"/>
              </a:spcAft>
              <a:buSzPts val="1400"/>
              <a:buChar char="❏"/>
            </a:pPr>
            <a:r>
              <a:rPr lang="en"/>
              <a:t>WHISTLE</a:t>
            </a:r>
            <a:endParaRPr/>
          </a:p>
          <a:p>
            <a:pPr indent="-254000" lvl="1" marL="685800" rtl="0" algn="l">
              <a:spcBef>
                <a:spcPts val="0"/>
              </a:spcBef>
              <a:spcAft>
                <a:spcPts val="0"/>
              </a:spcAft>
              <a:buClr>
                <a:srgbClr val="0000FF"/>
              </a:buClr>
              <a:buSzPts val="1400"/>
              <a:buChar char="❏"/>
            </a:pPr>
            <a:r>
              <a:rPr lang="en">
                <a:solidFill>
                  <a:srgbClr val="0000FF"/>
                </a:solidFill>
              </a:rPr>
              <a:t>Profile full stack+global memory and analysis (Ongoing)</a:t>
            </a:r>
            <a:endParaRPr>
              <a:solidFill>
                <a:srgbClr val="0000FF"/>
              </a:solidFill>
            </a:endParaRPr>
          </a:p>
          <a:p>
            <a:pPr indent="-254000" lvl="1" marL="685800" rtl="0" algn="l">
              <a:spcBef>
                <a:spcPts val="0"/>
              </a:spcBef>
              <a:spcAft>
                <a:spcPts val="0"/>
              </a:spcAft>
              <a:buSzPts val="1400"/>
              <a:buChar char="❏"/>
            </a:pPr>
            <a:r>
              <a:rPr lang="en"/>
              <a:t>[Deduplication] implementing unmerge</a:t>
            </a:r>
            <a:endParaRPr/>
          </a:p>
          <a:p>
            <a:pPr indent="-254000" lvl="2" marL="1028700" rtl="0" algn="l">
              <a:spcBef>
                <a:spcPts val="0"/>
              </a:spcBef>
              <a:spcAft>
                <a:spcPts val="0"/>
              </a:spcAft>
              <a:buClr>
                <a:srgbClr val="000000"/>
              </a:buClr>
              <a:buSzPts val="1400"/>
              <a:buChar char="❏"/>
            </a:pPr>
            <a:r>
              <a:rPr lang="en">
                <a:solidFill>
                  <a:srgbClr val="000000"/>
                </a:solidFill>
              </a:rPr>
              <a:t>In-progress, implemented basic functions,</a:t>
            </a:r>
            <a:endParaRPr>
              <a:solidFill>
                <a:srgbClr val="000000"/>
              </a:solidFill>
            </a:endParaRPr>
          </a:p>
          <a:p>
            <a:pPr indent="-254000" lvl="3" marL="1371600" rtl="0" algn="l">
              <a:spcBef>
                <a:spcPts val="0"/>
              </a:spcBef>
              <a:spcAft>
                <a:spcPts val="0"/>
              </a:spcAft>
              <a:buClr>
                <a:srgbClr val="000000"/>
              </a:buClr>
              <a:buSzPts val="1400"/>
              <a:buChar char="❏"/>
            </a:pPr>
            <a:r>
              <a:rPr lang="en">
                <a:solidFill>
                  <a:srgbClr val="000000"/>
                </a:solidFill>
              </a:rPr>
              <a:t>but need to handles exceptional cases such as Coherence protocol</a:t>
            </a:r>
            <a:endParaRPr>
              <a:solidFill>
                <a:srgbClr val="000000"/>
              </a:solidFill>
            </a:endParaRPr>
          </a:p>
          <a:p>
            <a:pPr indent="-254000" lvl="2" marL="1028700" rtl="0" algn="l">
              <a:spcBef>
                <a:spcPts val="0"/>
              </a:spcBef>
              <a:spcAft>
                <a:spcPts val="0"/>
              </a:spcAft>
              <a:buClr>
                <a:srgbClr val="000000"/>
              </a:buClr>
              <a:buSzPts val="1400"/>
              <a:buChar char="❏"/>
            </a:pPr>
            <a:r>
              <a:rPr lang="en">
                <a:solidFill>
                  <a:srgbClr val="000000"/>
                </a:solidFill>
              </a:rPr>
              <a:t>Deduplication rate using Invariant set of full stack-global memory</a:t>
            </a:r>
            <a:endParaRPr>
              <a:solidFill>
                <a:srgbClr val="000000"/>
              </a:solidFill>
            </a:endParaRPr>
          </a:p>
          <a:p>
            <a:pPr indent="-254000" lvl="0" marL="342900" rtl="0" algn="l">
              <a:spcBef>
                <a:spcPts val="0"/>
              </a:spcBef>
              <a:spcAft>
                <a:spcPts val="0"/>
              </a:spcAft>
              <a:buClr>
                <a:srgbClr val="FF0000"/>
              </a:buClr>
              <a:buSzPts val="1400"/>
              <a:buChar char="❏"/>
            </a:pPr>
            <a:r>
              <a:rPr lang="en" sz="1800">
                <a:solidFill>
                  <a:srgbClr val="FF0000"/>
                </a:solidFill>
              </a:rPr>
              <a:t>Calling-Context Encoding algorithm (Ongoing)</a:t>
            </a:r>
            <a:endParaRPr sz="1800">
              <a:solidFill>
                <a:srgbClr val="FF0000"/>
              </a:solidFill>
            </a:endParaRPr>
          </a:p>
          <a:p>
            <a:pPr indent="-254000" lvl="1" marL="685800" rtl="0" algn="l">
              <a:spcBef>
                <a:spcPts val="0"/>
              </a:spcBef>
              <a:spcAft>
                <a:spcPts val="0"/>
              </a:spcAft>
              <a:buClr>
                <a:srgbClr val="FF0000"/>
              </a:buClr>
              <a:buSzPts val="1400"/>
              <a:buChar char="❏"/>
            </a:pPr>
            <a:r>
              <a:rPr lang="en" sz="1500">
                <a:solidFill>
                  <a:srgbClr val="FF0000"/>
                </a:solidFill>
              </a:rPr>
              <a:t>Literature survey, Novelty Check, Application(motivation)</a:t>
            </a:r>
            <a:endParaRPr sz="1500">
              <a:solidFill>
                <a:srgbClr val="FF0000"/>
              </a:solidFill>
            </a:endParaRPr>
          </a:p>
          <a:p>
            <a:pPr indent="-260350" lvl="1" marL="685800" rtl="0" algn="l">
              <a:spcBef>
                <a:spcPts val="0"/>
              </a:spcBef>
              <a:spcAft>
                <a:spcPts val="0"/>
              </a:spcAft>
              <a:buClr>
                <a:srgbClr val="FF0000"/>
              </a:buClr>
              <a:buSzPts val="1500"/>
              <a:buChar char="❏"/>
            </a:pPr>
            <a:r>
              <a:rPr lang="en" sz="1500">
                <a:solidFill>
                  <a:srgbClr val="FF0000"/>
                </a:solidFill>
              </a:rPr>
              <a:t>Consider practical issues (Encoding space, Function pointers, recursion, etc.)</a:t>
            </a:r>
            <a:endParaRPr sz="1500">
              <a:solidFill>
                <a:srgbClr val="FF0000"/>
              </a:solidFill>
            </a:endParaRPr>
          </a:p>
          <a:p>
            <a:pPr indent="-260350" lvl="1" marL="685800" rtl="0" algn="l">
              <a:spcBef>
                <a:spcPts val="0"/>
              </a:spcBef>
              <a:spcAft>
                <a:spcPts val="0"/>
              </a:spcAft>
              <a:buClr>
                <a:srgbClr val="FF0000"/>
              </a:buClr>
              <a:buSzPts val="1500"/>
              <a:buChar char="❏"/>
            </a:pPr>
            <a:r>
              <a:rPr lang="en" sz="1500">
                <a:solidFill>
                  <a:srgbClr val="FF0000"/>
                </a:solidFill>
              </a:rPr>
              <a:t>Evaluation methodologies - benchmarks, tools, types of statistics</a:t>
            </a:r>
            <a:endParaRPr sz="1500">
              <a:solidFill>
                <a:srgbClr val="FF0000"/>
              </a:solidFill>
            </a:endParaRPr>
          </a:p>
          <a:p>
            <a:pPr indent="-254000" lvl="0" marL="342900" rtl="0" algn="l">
              <a:spcBef>
                <a:spcPts val="0"/>
              </a:spcBef>
              <a:spcAft>
                <a:spcPts val="0"/>
              </a:spcAft>
              <a:buSzPts val="1400"/>
              <a:buChar char="❏"/>
            </a:pPr>
            <a:r>
              <a:rPr lang="en"/>
              <a:t>NoC Security</a:t>
            </a:r>
            <a:endParaRPr>
              <a:solidFill>
                <a:srgbClr val="FF9900"/>
              </a:solidFill>
            </a:endParaRPr>
          </a:p>
          <a:p>
            <a:pPr indent="0" lvl="0" marL="1028700" rtl="0" algn="l">
              <a:spcBef>
                <a:spcPts val="800"/>
              </a:spcBef>
              <a:spcAft>
                <a:spcPts val="0"/>
              </a:spcAft>
              <a:buNone/>
            </a:pPr>
            <a:r>
              <a:t/>
            </a:r>
            <a:endParaRPr/>
          </a:p>
          <a:p>
            <a:pPr indent="0" lvl="0" marL="0" rtl="0" algn="l">
              <a:spcBef>
                <a:spcPts val="800"/>
              </a:spcBef>
              <a:spcAft>
                <a:spcPts val="0"/>
              </a:spcAft>
              <a:buNone/>
            </a:pPr>
            <a:r>
              <a:rPr lang="en"/>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232" name="Google Shape;232;p36"/>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2020 Dec. 17</a:t>
            </a:r>
            <a:endParaRPr/>
          </a:p>
          <a:p>
            <a:pPr indent="0" lvl="0" marL="0" rtl="0" algn="l">
              <a:lnSpc>
                <a:spcPct val="90000"/>
              </a:lnSpc>
              <a:spcBef>
                <a:spcPts val="0"/>
              </a:spcBef>
              <a:spcAft>
                <a:spcPts val="0"/>
              </a:spcAft>
              <a:buClr>
                <a:schemeClr val="dk1"/>
              </a:buClr>
              <a:buSzPts val="1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 (Calling Context Encoding)</a:t>
            </a:r>
            <a:endParaRPr>
              <a:latin typeface="Twentieth Century"/>
              <a:ea typeface="Twentieth Century"/>
              <a:cs typeface="Twentieth Century"/>
              <a:sym typeface="Twentieth Century"/>
            </a:endParaRPr>
          </a:p>
        </p:txBody>
      </p:sp>
      <p:sp>
        <p:nvSpPr>
          <p:cNvPr id="239" name="Google Shape;239;p37"/>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7"/>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Updated algorithm for a cycle with multiple entries.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Contributions and Challenges.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 methodology.</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1000"/>
                                        <p:tgtEl>
                                          <p:spTgt spid="2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animEffect filter="fade" transition="in">
                                      <p:cBhvr>
                                        <p:cTn dur="1000"/>
                                        <p:tgtEl>
                                          <p:spTgt spid="2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animEffect filter="fade" transition="in">
                                      <p:cBhvr>
                                        <p:cTn dur="1000"/>
                                        <p:tgtEl>
                                          <p:spTgt spid="2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animEffect filter="fade" transition="in">
                                      <p:cBhvr>
                                        <p:cTn dur="1000"/>
                                        <p:tgtEl>
                                          <p:spTgt spid="2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animEffect filter="fade" transition="in">
                                      <p:cBhvr>
                                        <p:cTn dur="1000"/>
                                        <p:tgtEl>
                                          <p:spTgt spid="2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5" st="5"/>
                                            </p:txEl>
                                          </p:spTgt>
                                        </p:tgtEl>
                                        <p:attrNameLst>
                                          <p:attrName>style.visibility</p:attrName>
                                        </p:attrNameLst>
                                      </p:cBhvr>
                                      <p:to>
                                        <p:strVal val="visible"/>
                                      </p:to>
                                    </p:set>
                                    <p:animEffect filter="fade" transition="in">
                                      <p:cBhvr>
                                        <p:cTn dur="1000"/>
                                        <p:tgtEl>
                                          <p:spTgt spid="24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Updated algorithm for a cycle with multiple entries</a:t>
            </a:r>
            <a:endParaRPr/>
          </a:p>
        </p:txBody>
      </p:sp>
      <p:pic>
        <p:nvPicPr>
          <p:cNvPr descr="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 id="247" name="Google Shape;247;p38"/>
          <p:cNvPicPr preferRelativeResize="0"/>
          <p:nvPr/>
        </p:nvPicPr>
        <p:blipFill>
          <a:blip r:embed="rId3">
            <a:alphaModFix/>
          </a:blip>
          <a:stretch>
            <a:fillRect/>
          </a:stretch>
        </p:blipFill>
        <p:spPr>
          <a:xfrm>
            <a:off x="3430425" y="1416894"/>
            <a:ext cx="2181225" cy="2933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Updated algorithm for a cycle with multiple entrise</a:t>
            </a:r>
            <a:endParaRPr/>
          </a:p>
        </p:txBody>
      </p:sp>
      <p:sp>
        <p:nvSpPr>
          <p:cNvPr id="254" name="Google Shape;254;p39"/>
          <p:cNvSpPr txBox="1"/>
          <p:nvPr>
            <p:ph idx="1" type="body"/>
          </p:nvPr>
        </p:nvSpPr>
        <p:spPr>
          <a:xfrm>
            <a:off x="311825" y="963250"/>
            <a:ext cx="8203500" cy="5799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Instrument backedge.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descr="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 id="255" name="Google Shape;255;p39"/>
          <p:cNvPicPr preferRelativeResize="0"/>
          <p:nvPr/>
        </p:nvPicPr>
        <p:blipFill>
          <a:blip r:embed="rId3">
            <a:alphaModFix/>
          </a:blip>
          <a:stretch>
            <a:fillRect/>
          </a:stretch>
        </p:blipFill>
        <p:spPr>
          <a:xfrm>
            <a:off x="3741150" y="1657150"/>
            <a:ext cx="2133600" cy="2933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Updated algorithm for a cycle with multiple entries</a:t>
            </a:r>
            <a:endParaRPr/>
          </a:p>
        </p:txBody>
      </p:sp>
      <p:sp>
        <p:nvSpPr>
          <p:cNvPr id="262" name="Google Shape;262;p40"/>
          <p:cNvSpPr txBox="1"/>
          <p:nvPr>
            <p:ph idx="1" type="body"/>
          </p:nvPr>
        </p:nvSpPr>
        <p:spPr>
          <a:xfrm>
            <a:off x="311825" y="963250"/>
            <a:ext cx="8203500" cy="5799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At callsite that enters a cycle: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Push (id, backedge) to stack.</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At callsite that forms a cycle.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Replace id with id at the top of stack</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descr="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 id="263" name="Google Shape;263;p40"/>
          <p:cNvPicPr preferRelativeResize="0"/>
          <p:nvPr/>
        </p:nvPicPr>
        <p:blipFill>
          <a:blip r:embed="rId3">
            <a:alphaModFix/>
          </a:blip>
          <a:stretch>
            <a:fillRect/>
          </a:stretch>
        </p:blipFill>
        <p:spPr>
          <a:xfrm>
            <a:off x="4763850" y="1403825"/>
            <a:ext cx="4380162" cy="3295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1"/>
          <p:cNvSpPr txBox="1"/>
          <p:nvPr>
            <p:ph idx="1" type="body"/>
          </p:nvPr>
        </p:nvSpPr>
        <p:spPr>
          <a:xfrm>
            <a:off x="0" y="1119000"/>
            <a:ext cx="4572000" cy="2756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600"/>
              <a:t>Instrument1 (n) {</a:t>
            </a:r>
            <a:endParaRPr sz="1600"/>
          </a:p>
          <a:p>
            <a:pPr indent="0" lvl="0" marL="0" rtl="0" algn="l">
              <a:spcBef>
                <a:spcPts val="800"/>
              </a:spcBef>
              <a:spcAft>
                <a:spcPts val="0"/>
              </a:spcAft>
              <a:buNone/>
            </a:pPr>
            <a:r>
              <a:rPr lang="en" sz="1600"/>
              <a:t>    n.MaxID = 0;</a:t>
            </a:r>
            <a:endParaRPr sz="1600"/>
          </a:p>
          <a:p>
            <a:pPr indent="0" lvl="0" marL="0" rtl="0" algn="l">
              <a:spcBef>
                <a:spcPts val="800"/>
              </a:spcBef>
              <a:spcAft>
                <a:spcPts val="0"/>
              </a:spcAft>
              <a:buNone/>
            </a:pPr>
            <a:r>
              <a:rPr lang="en" sz="1600"/>
              <a:t>    For each e = (n, m, l) in E</a:t>
            </a:r>
            <a:endParaRPr sz="1600"/>
          </a:p>
          <a:p>
            <a:pPr indent="0" lvl="0" marL="0" rtl="0" algn="l">
              <a:spcBef>
                <a:spcPts val="800"/>
              </a:spcBef>
              <a:spcAft>
                <a:spcPts val="0"/>
              </a:spcAft>
              <a:buNone/>
            </a:pPr>
            <a:r>
              <a:rPr lang="en" sz="1600"/>
              <a:t>        Insert ++(n.MaxID) before l;</a:t>
            </a:r>
            <a:endParaRPr sz="1600"/>
          </a:p>
          <a:p>
            <a:pPr indent="0" lvl="0" marL="0" rtl="0" algn="l">
              <a:spcBef>
                <a:spcPts val="800"/>
              </a:spcBef>
              <a:spcAft>
                <a:spcPts val="0"/>
              </a:spcAft>
              <a:buNone/>
            </a:pPr>
            <a:r>
              <a:rPr lang="en" sz="1600"/>
              <a:t>        If m is not visited</a:t>
            </a:r>
            <a:endParaRPr sz="1600"/>
          </a:p>
          <a:p>
            <a:pPr indent="0" lvl="0" marL="0" rtl="0" algn="l">
              <a:spcBef>
                <a:spcPts val="800"/>
              </a:spcBef>
              <a:spcAft>
                <a:spcPts val="0"/>
              </a:spcAft>
              <a:buNone/>
            </a:pPr>
            <a:r>
              <a:rPr lang="en" sz="1600"/>
              <a:t>            n.MaxID = Instrument1(m) + n.MaxID;</a:t>
            </a:r>
            <a:endParaRPr sz="1600"/>
          </a:p>
          <a:p>
            <a:pPr indent="0" lvl="0" marL="0" rtl="0" algn="l">
              <a:spcBef>
                <a:spcPts val="800"/>
              </a:spcBef>
              <a:spcAft>
                <a:spcPts val="0"/>
              </a:spcAft>
              <a:buNone/>
            </a:pPr>
            <a:r>
              <a:rPr lang="en" sz="1600">
                <a:solidFill>
                  <a:srgbClr val="FF0000"/>
                </a:solidFill>
              </a:rPr>
              <a:t>        Else if e creates cycle</a:t>
            </a:r>
            <a:endParaRPr sz="1600">
              <a:solidFill>
                <a:srgbClr val="FF0000"/>
              </a:solidFill>
            </a:endParaRPr>
          </a:p>
          <a:p>
            <a:pPr indent="0" lvl="0" marL="0" rtl="0" algn="l">
              <a:spcBef>
                <a:spcPts val="800"/>
              </a:spcBef>
              <a:spcAft>
                <a:spcPts val="0"/>
              </a:spcAft>
              <a:buNone/>
            </a:pPr>
            <a:r>
              <a:rPr lang="en" sz="1600">
                <a:solidFill>
                  <a:srgbClr val="FF0000"/>
                </a:solidFill>
              </a:rPr>
              <a:t>            --(n.MaxID);</a:t>
            </a:r>
            <a:endParaRPr sz="1600">
              <a:solidFill>
                <a:srgbClr val="FF0000"/>
              </a:solidFill>
            </a:endParaRPr>
          </a:p>
          <a:p>
            <a:pPr indent="0" lvl="0" marL="0" rtl="0" algn="l">
              <a:spcBef>
                <a:spcPts val="800"/>
              </a:spcBef>
              <a:spcAft>
                <a:spcPts val="0"/>
              </a:spcAft>
              <a:buNone/>
            </a:pPr>
            <a:r>
              <a:rPr lang="en" sz="1600"/>
              <a:t>        Else</a:t>
            </a:r>
            <a:endParaRPr sz="1600"/>
          </a:p>
          <a:p>
            <a:pPr indent="0" lvl="0" marL="0" rtl="0" algn="l">
              <a:spcBef>
                <a:spcPts val="800"/>
              </a:spcBef>
              <a:spcAft>
                <a:spcPts val="0"/>
              </a:spcAft>
              <a:buNone/>
            </a:pPr>
            <a:r>
              <a:rPr lang="en" sz="1600"/>
              <a:t>            n.MaxID +=  m.MaxID;</a:t>
            </a:r>
            <a:endParaRPr sz="1600"/>
          </a:p>
          <a:p>
            <a:pPr indent="0" lvl="0" marL="0" rtl="0" algn="l">
              <a:spcBef>
                <a:spcPts val="800"/>
              </a:spcBef>
              <a:spcAft>
                <a:spcPts val="0"/>
              </a:spcAft>
              <a:buNone/>
            </a:pPr>
            <a:r>
              <a:rPr lang="en" sz="1600"/>
              <a:t>    Return n.MaxID;</a:t>
            </a:r>
            <a:endParaRPr sz="1600"/>
          </a:p>
          <a:p>
            <a:pPr indent="0" lvl="0" marL="0" rtl="0" algn="l">
              <a:spcBef>
                <a:spcPts val="800"/>
              </a:spcBef>
              <a:spcAft>
                <a:spcPts val="0"/>
              </a:spcAft>
              <a:buNone/>
            </a:pPr>
            <a:r>
              <a:rPr lang="en" sz="1600"/>
              <a:t>}</a:t>
            </a:r>
            <a:endParaRPr sz="1600"/>
          </a:p>
          <a:p>
            <a:pPr indent="0" lvl="0" marL="0" rtl="0" algn="l">
              <a:spcBef>
                <a:spcPts val="800"/>
              </a:spcBef>
              <a:spcAft>
                <a:spcPts val="0"/>
              </a:spcAft>
              <a:buNone/>
            </a:pPr>
            <a:r>
              <a:rPr lang="en" sz="1600"/>
              <a:t> </a:t>
            </a:r>
            <a:endParaRPr sz="1600"/>
          </a:p>
        </p:txBody>
      </p:sp>
      <p:sp>
        <p:nvSpPr>
          <p:cNvPr id="270" name="Google Shape;270;p41"/>
          <p:cNvSpPr txBox="1"/>
          <p:nvPr/>
        </p:nvSpPr>
        <p:spPr>
          <a:xfrm>
            <a:off x="0" y="0"/>
            <a:ext cx="4365600" cy="1119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400"/>
              </a:spcBef>
              <a:spcAft>
                <a:spcPts val="0"/>
              </a:spcAft>
              <a:buNone/>
            </a:pPr>
            <a:r>
              <a:rPr lang="en" sz="1500">
                <a:solidFill>
                  <a:schemeClr val="dk1"/>
                </a:solidFill>
                <a:latin typeface="Calibri"/>
                <a:ea typeface="Calibri"/>
                <a:cs typeface="Calibri"/>
                <a:sym typeface="Calibri"/>
              </a:rPr>
              <a:t>Calling Graph (CG) is a set of pairs &lt;N,E&gt; </a:t>
            </a:r>
            <a:endParaRPr sz="1500">
              <a:solidFill>
                <a:schemeClr val="dk1"/>
              </a:solidFill>
              <a:latin typeface="Calibri"/>
              <a:ea typeface="Calibri"/>
              <a:cs typeface="Calibri"/>
              <a:sym typeface="Calibri"/>
            </a:endParaRPr>
          </a:p>
          <a:p>
            <a:pPr indent="0" lvl="0" marL="0" rtl="0" algn="l">
              <a:lnSpc>
                <a:spcPct val="90000"/>
              </a:lnSpc>
              <a:spcBef>
                <a:spcPts val="400"/>
              </a:spcBef>
              <a:spcAft>
                <a:spcPts val="0"/>
              </a:spcAft>
              <a:buNone/>
            </a:pPr>
            <a:r>
              <a:rPr lang="en" sz="1200">
                <a:solidFill>
                  <a:schemeClr val="dk1"/>
                </a:solidFill>
                <a:latin typeface="Calibri"/>
                <a:ea typeface="Calibri"/>
                <a:cs typeface="Calibri"/>
                <a:sym typeface="Calibri"/>
              </a:rPr>
              <a:t>Where N is a set of nodes with each node representing a function</a:t>
            </a:r>
            <a:endParaRPr sz="1200">
              <a:solidFill>
                <a:schemeClr val="dk1"/>
              </a:solidFill>
              <a:latin typeface="Calibri"/>
              <a:ea typeface="Calibri"/>
              <a:cs typeface="Calibri"/>
              <a:sym typeface="Calibri"/>
            </a:endParaRPr>
          </a:p>
          <a:p>
            <a:pPr indent="0" lvl="0" marL="0" rtl="0" algn="l">
              <a:lnSpc>
                <a:spcPct val="90000"/>
              </a:lnSpc>
              <a:spcBef>
                <a:spcPts val="400"/>
              </a:spcBef>
              <a:spcAft>
                <a:spcPts val="0"/>
              </a:spcAft>
              <a:buNone/>
            </a:pPr>
            <a:r>
              <a:rPr lang="en" sz="1200">
                <a:solidFill>
                  <a:schemeClr val="dk1"/>
                </a:solidFill>
                <a:latin typeface="Calibri"/>
                <a:ea typeface="Calibri"/>
                <a:cs typeface="Calibri"/>
                <a:sym typeface="Calibri"/>
              </a:rPr>
              <a:t>Where E is a set of edges.  e ∈ E is a triple (n, m, ℓ), in which n, m ∈ N, represent a caller and callee, respectively, and ℓ represents a call site where n calls m.</a:t>
            </a:r>
            <a:endParaRPr sz="1200">
              <a:solidFill>
                <a:schemeClr val="dk1"/>
              </a:solidFill>
              <a:latin typeface="Calibri"/>
              <a:ea typeface="Calibri"/>
              <a:cs typeface="Calibri"/>
              <a:sym typeface="Calibri"/>
            </a:endParaRPr>
          </a:p>
        </p:txBody>
      </p:sp>
      <p:sp>
        <p:nvSpPr>
          <p:cNvPr id="271" name="Google Shape;271;p41"/>
          <p:cNvSpPr txBox="1"/>
          <p:nvPr>
            <p:ph idx="1" type="body"/>
          </p:nvPr>
        </p:nvSpPr>
        <p:spPr>
          <a:xfrm>
            <a:off x="4572000" y="1248375"/>
            <a:ext cx="4572000" cy="2756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600"/>
              <a:t>Instrument2 (S) {</a:t>
            </a:r>
            <a:endParaRPr sz="1600"/>
          </a:p>
          <a:p>
            <a:pPr indent="0" lvl="0" marL="0" rtl="0" algn="l">
              <a:spcBef>
                <a:spcPts val="800"/>
              </a:spcBef>
              <a:spcAft>
                <a:spcPts val="0"/>
              </a:spcAft>
              <a:buNone/>
            </a:pPr>
            <a:r>
              <a:rPr lang="en" sz="1600"/>
              <a:t>    For each (ee, be) in S</a:t>
            </a:r>
            <a:endParaRPr sz="1600"/>
          </a:p>
          <a:p>
            <a:pPr indent="0" lvl="0" marL="0" rtl="0" algn="l">
              <a:spcBef>
                <a:spcPts val="800"/>
              </a:spcBef>
              <a:spcAft>
                <a:spcPts val="0"/>
              </a:spcAft>
              <a:buNone/>
            </a:pPr>
            <a:r>
              <a:rPr lang="en" sz="1600"/>
              <a:t>        Insert “push (id, be)” before ee</a:t>
            </a:r>
            <a:endParaRPr sz="1600"/>
          </a:p>
          <a:p>
            <a:pPr indent="0" lvl="0" marL="0" rtl="0" algn="l">
              <a:spcBef>
                <a:spcPts val="800"/>
              </a:spcBef>
              <a:spcAft>
                <a:spcPts val="0"/>
              </a:spcAft>
              <a:buNone/>
            </a:pPr>
            <a:r>
              <a:rPr lang="en" sz="1600"/>
              <a:t>        Replace “id += w” with</a:t>
            </a:r>
            <a:endParaRPr sz="1600"/>
          </a:p>
          <a:p>
            <a:pPr indent="0" lvl="0" marL="0" rtl="0" algn="l">
              <a:spcBef>
                <a:spcPts val="800"/>
              </a:spcBef>
              <a:spcAft>
                <a:spcPts val="0"/>
              </a:spcAft>
              <a:buNone/>
            </a:pPr>
            <a:r>
              <a:rPr lang="en" sz="1600"/>
              <a:t>            “</a:t>
            </a:r>
            <a:endParaRPr sz="1600"/>
          </a:p>
          <a:p>
            <a:pPr indent="0" lvl="0" marL="0" rtl="0" algn="l">
              <a:spcBef>
                <a:spcPts val="800"/>
              </a:spcBef>
              <a:spcAft>
                <a:spcPts val="0"/>
              </a:spcAft>
              <a:buNone/>
            </a:pPr>
            <a:r>
              <a:rPr lang="en" sz="1600"/>
              <a:t>              If stack[top].e == be</a:t>
            </a:r>
            <a:endParaRPr sz="1600"/>
          </a:p>
          <a:p>
            <a:pPr indent="0" lvl="0" marL="0" rtl="0" algn="l">
              <a:spcBef>
                <a:spcPts val="800"/>
              </a:spcBef>
              <a:spcAft>
                <a:spcPts val="0"/>
              </a:spcAft>
              <a:buNone/>
            </a:pPr>
            <a:r>
              <a:rPr lang="en" sz="1600"/>
              <a:t>                   Id = stack[top].id</a:t>
            </a:r>
            <a:endParaRPr sz="1600"/>
          </a:p>
          <a:p>
            <a:pPr indent="0" lvl="0" marL="0" rtl="0" algn="l">
              <a:spcBef>
                <a:spcPts val="800"/>
              </a:spcBef>
              <a:spcAft>
                <a:spcPts val="0"/>
              </a:spcAft>
              <a:buNone/>
            </a:pPr>
            <a:r>
              <a:rPr lang="en" sz="1600"/>
              <a:t>              Else</a:t>
            </a:r>
            <a:endParaRPr sz="1600"/>
          </a:p>
          <a:p>
            <a:pPr indent="0" lvl="0" marL="0" rtl="0" algn="l">
              <a:spcBef>
                <a:spcPts val="800"/>
              </a:spcBef>
              <a:spcAft>
                <a:spcPts val="0"/>
              </a:spcAft>
              <a:buNone/>
            </a:pPr>
            <a:r>
              <a:rPr lang="en" sz="1600"/>
              <a:t>	         Id += w</a:t>
            </a:r>
            <a:endParaRPr sz="1600"/>
          </a:p>
          <a:p>
            <a:pPr indent="0" lvl="0" marL="0" rtl="0" algn="l">
              <a:spcBef>
                <a:spcPts val="800"/>
              </a:spcBef>
              <a:spcAft>
                <a:spcPts val="0"/>
              </a:spcAft>
              <a:buNone/>
            </a:pPr>
            <a:r>
              <a:rPr lang="en" sz="1600"/>
              <a:t>             “</a:t>
            </a:r>
            <a:endParaRPr sz="1600"/>
          </a:p>
          <a:p>
            <a:pPr indent="0" lvl="0" marL="0" rtl="0" algn="l">
              <a:spcBef>
                <a:spcPts val="800"/>
              </a:spcBef>
              <a:spcAft>
                <a:spcPts val="0"/>
              </a:spcAft>
              <a:buNone/>
            </a:pPr>
            <a:r>
              <a:rPr lang="en" sz="1600"/>
              <a:t>}</a:t>
            </a:r>
            <a:endParaRPr sz="1600"/>
          </a:p>
        </p:txBody>
      </p:sp>
      <p:sp>
        <p:nvSpPr>
          <p:cNvPr id="272" name="Google Shape;272;p41"/>
          <p:cNvSpPr txBox="1"/>
          <p:nvPr/>
        </p:nvSpPr>
        <p:spPr>
          <a:xfrm>
            <a:off x="4778400" y="0"/>
            <a:ext cx="4365600" cy="729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800"/>
              </a:spcBef>
              <a:spcAft>
                <a:spcPts val="0"/>
              </a:spcAft>
              <a:buClr>
                <a:schemeClr val="dk1"/>
              </a:buClr>
              <a:buSzPts val="1100"/>
              <a:buFont typeface="Arial"/>
              <a:buNone/>
            </a:pPr>
            <a:r>
              <a:rPr lang="en" sz="1200">
                <a:solidFill>
                  <a:schemeClr val="dk1"/>
                </a:solidFill>
                <a:latin typeface="Calibri"/>
                <a:ea typeface="Calibri"/>
                <a:cs typeface="Calibri"/>
                <a:sym typeface="Calibri"/>
              </a:rPr>
              <a:t>S is a set of pairs of two callsites (ee, be) where “ee” is a callsite that is an entry edge of a cycle and “be” is a callsite that is backedge of the cycle.</a:t>
            </a:r>
            <a:endParaRPr sz="1200">
              <a:solidFill>
                <a:schemeClr val="dk1"/>
              </a:solidFill>
              <a:latin typeface="Calibri"/>
              <a:ea typeface="Calibri"/>
              <a:cs typeface="Calibri"/>
              <a:sym typeface="Calibri"/>
            </a:endParaRPr>
          </a:p>
          <a:p>
            <a:pPr indent="0" lvl="0" marL="0" rtl="0" algn="l">
              <a:lnSpc>
                <a:spcPct val="90000"/>
              </a:lnSpc>
              <a:spcBef>
                <a:spcPts val="8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lnSpc>
                <a:spcPct val="90000"/>
              </a:lnSpc>
              <a:spcBef>
                <a:spcPts val="40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Contributions and Challenges</a:t>
            </a:r>
            <a:endParaRPr>
              <a:latin typeface="Twentieth Century"/>
              <a:ea typeface="Twentieth Century"/>
              <a:cs typeface="Twentieth Century"/>
              <a:sym typeface="Twentieth Century"/>
            </a:endParaRPr>
          </a:p>
        </p:txBody>
      </p:sp>
      <p:sp>
        <p:nvSpPr>
          <p:cNvPr id="279" name="Google Shape;279;p42"/>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2"/>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Differentiate CCID across functions.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 supported encoding?</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Need some hybrid approach to resolve limitations?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Related works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PCCE (`10 ICSE)</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Reuses BL algorithm for CC encoding.</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Handle Recursive Call</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Using stack offset to reduce instrumentation.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Delta Path (`14 CGO)</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Support large and more complex call graphs (</a:t>
            </a:r>
            <a:r>
              <a:rPr b="1" lang="en" u="sng">
                <a:latin typeface="Twentieth Century"/>
                <a:ea typeface="Twentieth Century"/>
                <a:cs typeface="Twentieth Century"/>
                <a:sym typeface="Twentieth Century"/>
              </a:rPr>
              <a:t>integer overflow</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Handles dynamic libraries and dynamic dispatch (</a:t>
            </a:r>
            <a:r>
              <a:rPr b="1" lang="en" u="sng">
                <a:latin typeface="Twentieth Century"/>
                <a:ea typeface="Twentieth Century"/>
                <a:cs typeface="Twentieth Century"/>
                <a:sym typeface="Twentieth Century"/>
              </a:rPr>
              <a:t>handling dynamic characteristics).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DACCE (`14 CGO)</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Handles dynamic libraries and indirect calls </a:t>
            </a:r>
            <a:r>
              <a:rPr b="1" lang="en" u="sng">
                <a:latin typeface="Twentieth Century"/>
                <a:ea typeface="Twentieth Century"/>
                <a:cs typeface="Twentieth Century"/>
                <a:sym typeface="Twentieth Century"/>
              </a:rPr>
              <a:t>(handling dynamic characteristics)</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Update encoding at runtime.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Valence (`19 CC)</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Support more scalable encodings using variable length CC encoding (</a:t>
            </a:r>
            <a:r>
              <a:rPr b="1" lang="en" u="sng">
                <a:latin typeface="Twentieth Century"/>
                <a:ea typeface="Twentieth Century"/>
                <a:cs typeface="Twentieth Century"/>
                <a:sym typeface="Twentieth Century"/>
              </a:rPr>
              <a:t>integer overflow</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Effect filter="fade" transition="in">
                                      <p:cBhvr>
                                        <p:cTn dur="1000"/>
                                        <p:tgtEl>
                                          <p:spTgt spid="2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Effect filter="fade" transition="in">
                                      <p:cBhvr>
                                        <p:cTn dur="1000"/>
                                        <p:tgtEl>
                                          <p:spTgt spid="2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animEffect filter="fade" transition="in">
                                      <p:cBhvr>
                                        <p:cTn dur="1000"/>
                                        <p:tgtEl>
                                          <p:spTgt spid="2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3" st="3"/>
                                            </p:txEl>
                                          </p:spTgt>
                                        </p:tgtEl>
                                        <p:attrNameLst>
                                          <p:attrName>style.visibility</p:attrName>
                                        </p:attrNameLst>
                                      </p:cBhvr>
                                      <p:to>
                                        <p:strVal val="visible"/>
                                      </p:to>
                                    </p:set>
                                    <p:animEffect filter="fade" transition="in">
                                      <p:cBhvr>
                                        <p:cTn dur="1000"/>
                                        <p:tgtEl>
                                          <p:spTgt spid="2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4" st="4"/>
                                            </p:txEl>
                                          </p:spTgt>
                                        </p:tgtEl>
                                        <p:attrNameLst>
                                          <p:attrName>style.visibility</p:attrName>
                                        </p:attrNameLst>
                                      </p:cBhvr>
                                      <p:to>
                                        <p:strVal val="visible"/>
                                      </p:to>
                                    </p:set>
                                    <p:animEffect filter="fade" transition="in">
                                      <p:cBhvr>
                                        <p:cTn dur="1000"/>
                                        <p:tgtEl>
                                          <p:spTgt spid="2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5" st="5"/>
                                            </p:txEl>
                                          </p:spTgt>
                                        </p:tgtEl>
                                        <p:attrNameLst>
                                          <p:attrName>style.visibility</p:attrName>
                                        </p:attrNameLst>
                                      </p:cBhvr>
                                      <p:to>
                                        <p:strVal val="visible"/>
                                      </p:to>
                                    </p:set>
                                    <p:animEffect filter="fade" transition="in">
                                      <p:cBhvr>
                                        <p:cTn dur="1000"/>
                                        <p:tgtEl>
                                          <p:spTgt spid="2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6" st="6"/>
                                            </p:txEl>
                                          </p:spTgt>
                                        </p:tgtEl>
                                        <p:attrNameLst>
                                          <p:attrName>style.visibility</p:attrName>
                                        </p:attrNameLst>
                                      </p:cBhvr>
                                      <p:to>
                                        <p:strVal val="visible"/>
                                      </p:to>
                                    </p:set>
                                    <p:animEffect filter="fade" transition="in">
                                      <p:cBhvr>
                                        <p:cTn dur="1000"/>
                                        <p:tgtEl>
                                          <p:spTgt spid="2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7" st="7"/>
                                            </p:txEl>
                                          </p:spTgt>
                                        </p:tgtEl>
                                        <p:attrNameLst>
                                          <p:attrName>style.visibility</p:attrName>
                                        </p:attrNameLst>
                                      </p:cBhvr>
                                      <p:to>
                                        <p:strVal val="visible"/>
                                      </p:to>
                                    </p:set>
                                    <p:animEffect filter="fade" transition="in">
                                      <p:cBhvr>
                                        <p:cTn dur="1000"/>
                                        <p:tgtEl>
                                          <p:spTgt spid="2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8" st="8"/>
                                            </p:txEl>
                                          </p:spTgt>
                                        </p:tgtEl>
                                        <p:attrNameLst>
                                          <p:attrName>style.visibility</p:attrName>
                                        </p:attrNameLst>
                                      </p:cBhvr>
                                      <p:to>
                                        <p:strVal val="visible"/>
                                      </p:to>
                                    </p:set>
                                    <p:animEffect filter="fade" transition="in">
                                      <p:cBhvr>
                                        <p:cTn dur="1000"/>
                                        <p:tgtEl>
                                          <p:spTgt spid="2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9" st="9"/>
                                            </p:txEl>
                                          </p:spTgt>
                                        </p:tgtEl>
                                        <p:attrNameLst>
                                          <p:attrName>style.visibility</p:attrName>
                                        </p:attrNameLst>
                                      </p:cBhvr>
                                      <p:to>
                                        <p:strVal val="visible"/>
                                      </p:to>
                                    </p:set>
                                    <p:animEffect filter="fade" transition="in">
                                      <p:cBhvr>
                                        <p:cTn dur="1000"/>
                                        <p:tgtEl>
                                          <p:spTgt spid="28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0" st="10"/>
                                            </p:txEl>
                                          </p:spTgt>
                                        </p:tgtEl>
                                        <p:attrNameLst>
                                          <p:attrName>style.visibility</p:attrName>
                                        </p:attrNameLst>
                                      </p:cBhvr>
                                      <p:to>
                                        <p:strVal val="visible"/>
                                      </p:to>
                                    </p:set>
                                    <p:animEffect filter="fade" transition="in">
                                      <p:cBhvr>
                                        <p:cTn dur="1000"/>
                                        <p:tgtEl>
                                          <p:spTgt spid="28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1" st="11"/>
                                            </p:txEl>
                                          </p:spTgt>
                                        </p:tgtEl>
                                        <p:attrNameLst>
                                          <p:attrName>style.visibility</p:attrName>
                                        </p:attrNameLst>
                                      </p:cBhvr>
                                      <p:to>
                                        <p:strVal val="visible"/>
                                      </p:to>
                                    </p:set>
                                    <p:animEffect filter="fade" transition="in">
                                      <p:cBhvr>
                                        <p:cTn dur="1000"/>
                                        <p:tgtEl>
                                          <p:spTgt spid="28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2" st="12"/>
                                            </p:txEl>
                                          </p:spTgt>
                                        </p:tgtEl>
                                        <p:attrNameLst>
                                          <p:attrName>style.visibility</p:attrName>
                                        </p:attrNameLst>
                                      </p:cBhvr>
                                      <p:to>
                                        <p:strVal val="visible"/>
                                      </p:to>
                                    </p:set>
                                    <p:animEffect filter="fade" transition="in">
                                      <p:cBhvr>
                                        <p:cTn dur="1000"/>
                                        <p:tgtEl>
                                          <p:spTgt spid="28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3" st="13"/>
                                            </p:txEl>
                                          </p:spTgt>
                                        </p:tgtEl>
                                        <p:attrNameLst>
                                          <p:attrName>style.visibility</p:attrName>
                                        </p:attrNameLst>
                                      </p:cBhvr>
                                      <p:to>
                                        <p:strVal val="visible"/>
                                      </p:to>
                                    </p:set>
                                    <p:animEffect filter="fade" transition="in">
                                      <p:cBhvr>
                                        <p:cTn dur="1000"/>
                                        <p:tgtEl>
                                          <p:spTgt spid="28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4" st="14"/>
                                            </p:txEl>
                                          </p:spTgt>
                                        </p:tgtEl>
                                        <p:attrNameLst>
                                          <p:attrName>style.visibility</p:attrName>
                                        </p:attrNameLst>
                                      </p:cBhvr>
                                      <p:to>
                                        <p:strVal val="visible"/>
                                      </p:to>
                                    </p:set>
                                    <p:animEffect filter="fade" transition="in">
                                      <p:cBhvr>
                                        <p:cTn dur="1000"/>
                                        <p:tgtEl>
                                          <p:spTgt spid="280">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5" st="15"/>
                                            </p:txEl>
                                          </p:spTgt>
                                        </p:tgtEl>
                                        <p:attrNameLst>
                                          <p:attrName>style.visibility</p:attrName>
                                        </p:attrNameLst>
                                      </p:cBhvr>
                                      <p:to>
                                        <p:strVal val="visible"/>
                                      </p:to>
                                    </p:set>
                                    <p:animEffect filter="fade" transition="in">
                                      <p:cBhvr>
                                        <p:cTn dur="1000"/>
                                        <p:tgtEl>
                                          <p:spTgt spid="280">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6" st="16"/>
                                            </p:txEl>
                                          </p:spTgt>
                                        </p:tgtEl>
                                        <p:attrNameLst>
                                          <p:attrName>style.visibility</p:attrName>
                                        </p:attrNameLst>
                                      </p:cBhvr>
                                      <p:to>
                                        <p:strVal val="visible"/>
                                      </p:to>
                                    </p:set>
                                    <p:animEffect filter="fade" transition="in">
                                      <p:cBhvr>
                                        <p:cTn dur="1000"/>
                                        <p:tgtEl>
                                          <p:spTgt spid="280">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7" st="17"/>
                                            </p:txEl>
                                          </p:spTgt>
                                        </p:tgtEl>
                                        <p:attrNameLst>
                                          <p:attrName>style.visibility</p:attrName>
                                        </p:attrNameLst>
                                      </p:cBhvr>
                                      <p:to>
                                        <p:strVal val="visible"/>
                                      </p:to>
                                    </p:set>
                                    <p:animEffect filter="fade" transition="in">
                                      <p:cBhvr>
                                        <p:cTn dur="1000"/>
                                        <p:tgtEl>
                                          <p:spTgt spid="280">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8" st="18"/>
                                            </p:txEl>
                                          </p:spTgt>
                                        </p:tgtEl>
                                        <p:attrNameLst>
                                          <p:attrName>style.visibility</p:attrName>
                                        </p:attrNameLst>
                                      </p:cBhvr>
                                      <p:to>
                                        <p:strVal val="visible"/>
                                      </p:to>
                                    </p:set>
                                    <p:animEffect filter="fade" transition="in">
                                      <p:cBhvr>
                                        <p:cTn dur="1000"/>
                                        <p:tgtEl>
                                          <p:spTgt spid="280">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9" st="19"/>
                                            </p:txEl>
                                          </p:spTgt>
                                        </p:tgtEl>
                                        <p:attrNameLst>
                                          <p:attrName>style.visibility</p:attrName>
                                        </p:attrNameLst>
                                      </p:cBhvr>
                                      <p:to>
                                        <p:strVal val="visible"/>
                                      </p:to>
                                    </p:set>
                                    <p:animEffect filter="fade" transition="in">
                                      <p:cBhvr>
                                        <p:cTn dur="1000"/>
                                        <p:tgtEl>
                                          <p:spTgt spid="280">
                                            <p:txEl>
                                              <p:pRg end="19" st="1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Evaluation methodology</a:t>
            </a:r>
            <a:endParaRPr>
              <a:latin typeface="Twentieth Century"/>
              <a:ea typeface="Twentieth Century"/>
              <a:cs typeface="Twentieth Century"/>
              <a:sym typeface="Twentieth Century"/>
            </a:endParaRPr>
          </a:p>
        </p:txBody>
      </p:sp>
      <p:sp>
        <p:nvSpPr>
          <p:cNvPr id="287" name="Google Shape;287;p43"/>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3"/>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Experiments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Target benchmarks: SPEC, Parsec, others apps (cmp, diff, sdiff, find, locate, grep, tar, make alpine, vim)</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Static context characteristics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LOC, CG nodes, CG edges, recursions, func pointers, MaxID + paper specific stats.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 if necessary</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Performance overhead</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Tools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SW based: Compiler (Valence-LLVM), Source to source instrumentation (PCCE - CLI).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 based: static analysis + simulation with proposed HW using gem5.</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animEffect filter="fade" transition="in">
                                      <p:cBhvr>
                                        <p:cTn dur="1000"/>
                                        <p:tgtEl>
                                          <p:spTgt spid="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animEffect filter="fade" transition="in">
                                      <p:cBhvr>
                                        <p:cTn dur="1000"/>
                                        <p:tgtEl>
                                          <p:spTgt spid="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animEffect filter="fade" transition="in">
                                      <p:cBhvr>
                                        <p:cTn dur="1000"/>
                                        <p:tgtEl>
                                          <p:spTgt spid="2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3" st="3"/>
                                            </p:txEl>
                                          </p:spTgt>
                                        </p:tgtEl>
                                        <p:attrNameLst>
                                          <p:attrName>style.visibility</p:attrName>
                                        </p:attrNameLst>
                                      </p:cBhvr>
                                      <p:to>
                                        <p:strVal val="visible"/>
                                      </p:to>
                                    </p:set>
                                    <p:animEffect filter="fade" transition="in">
                                      <p:cBhvr>
                                        <p:cTn dur="1000"/>
                                        <p:tgtEl>
                                          <p:spTgt spid="2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4" st="4"/>
                                            </p:txEl>
                                          </p:spTgt>
                                        </p:tgtEl>
                                        <p:attrNameLst>
                                          <p:attrName>style.visibility</p:attrName>
                                        </p:attrNameLst>
                                      </p:cBhvr>
                                      <p:to>
                                        <p:strVal val="visible"/>
                                      </p:to>
                                    </p:set>
                                    <p:animEffect filter="fade" transition="in">
                                      <p:cBhvr>
                                        <p:cTn dur="1000"/>
                                        <p:tgtEl>
                                          <p:spTgt spid="2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5" st="5"/>
                                            </p:txEl>
                                          </p:spTgt>
                                        </p:tgtEl>
                                        <p:attrNameLst>
                                          <p:attrName>style.visibility</p:attrName>
                                        </p:attrNameLst>
                                      </p:cBhvr>
                                      <p:to>
                                        <p:strVal val="visible"/>
                                      </p:to>
                                    </p:set>
                                    <p:animEffect filter="fade" transition="in">
                                      <p:cBhvr>
                                        <p:cTn dur="1000"/>
                                        <p:tgtEl>
                                          <p:spTgt spid="2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6" st="6"/>
                                            </p:txEl>
                                          </p:spTgt>
                                        </p:tgtEl>
                                        <p:attrNameLst>
                                          <p:attrName>style.visibility</p:attrName>
                                        </p:attrNameLst>
                                      </p:cBhvr>
                                      <p:to>
                                        <p:strVal val="visible"/>
                                      </p:to>
                                    </p:set>
                                    <p:animEffect filter="fade" transition="in">
                                      <p:cBhvr>
                                        <p:cTn dur="1000"/>
                                        <p:tgtEl>
                                          <p:spTgt spid="2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7" st="7"/>
                                            </p:txEl>
                                          </p:spTgt>
                                        </p:tgtEl>
                                        <p:attrNameLst>
                                          <p:attrName>style.visibility</p:attrName>
                                        </p:attrNameLst>
                                      </p:cBhvr>
                                      <p:to>
                                        <p:strVal val="visible"/>
                                      </p:to>
                                    </p:set>
                                    <p:animEffect filter="fade" transition="in">
                                      <p:cBhvr>
                                        <p:cTn dur="1000"/>
                                        <p:tgtEl>
                                          <p:spTgt spid="2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8" st="8"/>
                                            </p:txEl>
                                          </p:spTgt>
                                        </p:tgtEl>
                                        <p:attrNameLst>
                                          <p:attrName>style.visibility</p:attrName>
                                        </p:attrNameLst>
                                      </p:cBhvr>
                                      <p:to>
                                        <p:strVal val="visible"/>
                                      </p:to>
                                    </p:set>
                                    <p:animEffect filter="fade" transition="in">
                                      <p:cBhvr>
                                        <p:cTn dur="1000"/>
                                        <p:tgtEl>
                                          <p:spTgt spid="2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9" st="9"/>
                                            </p:txEl>
                                          </p:spTgt>
                                        </p:tgtEl>
                                        <p:attrNameLst>
                                          <p:attrName>style.visibility</p:attrName>
                                        </p:attrNameLst>
                                      </p:cBhvr>
                                      <p:to>
                                        <p:strVal val="visible"/>
                                      </p:to>
                                    </p:set>
                                    <p:animEffect filter="fade" transition="in">
                                      <p:cBhvr>
                                        <p:cTn dur="1000"/>
                                        <p:tgtEl>
                                          <p:spTgt spid="28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0" st="10"/>
                                            </p:txEl>
                                          </p:spTgt>
                                        </p:tgtEl>
                                        <p:attrNameLst>
                                          <p:attrName>style.visibility</p:attrName>
                                        </p:attrNameLst>
                                      </p:cBhvr>
                                      <p:to>
                                        <p:strVal val="visible"/>
                                      </p:to>
                                    </p:set>
                                    <p:animEffect filter="fade" transition="in">
                                      <p:cBhvr>
                                        <p:cTn dur="1000"/>
                                        <p:tgtEl>
                                          <p:spTgt spid="28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1" st="11"/>
                                            </p:txEl>
                                          </p:spTgt>
                                        </p:tgtEl>
                                        <p:attrNameLst>
                                          <p:attrName>style.visibility</p:attrName>
                                        </p:attrNameLst>
                                      </p:cBhvr>
                                      <p:to>
                                        <p:strVal val="visible"/>
                                      </p:to>
                                    </p:set>
                                    <p:animEffect filter="fade" transition="in">
                                      <p:cBhvr>
                                        <p:cTn dur="1000"/>
                                        <p:tgtEl>
                                          <p:spTgt spid="28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2" st="12"/>
                                            </p:txEl>
                                          </p:spTgt>
                                        </p:tgtEl>
                                        <p:attrNameLst>
                                          <p:attrName>style.visibility</p:attrName>
                                        </p:attrNameLst>
                                      </p:cBhvr>
                                      <p:to>
                                        <p:strVal val="visible"/>
                                      </p:to>
                                    </p:set>
                                    <p:animEffect filter="fade" transition="in">
                                      <p:cBhvr>
                                        <p:cTn dur="1000"/>
                                        <p:tgtEl>
                                          <p:spTgt spid="288">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295" name="Google Shape;295;p4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Jan. 7</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5"/>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 (Calling Context Encoding)</a:t>
            </a:r>
            <a:endParaRPr>
              <a:latin typeface="Twentieth Century"/>
              <a:ea typeface="Twentieth Century"/>
              <a:cs typeface="Twentieth Century"/>
              <a:sym typeface="Twentieth Century"/>
            </a:endParaRPr>
          </a:p>
        </p:txBody>
      </p:sp>
      <p:sp>
        <p:nvSpPr>
          <p:cNvPr id="302" name="Google Shape;302;p45"/>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5"/>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Wrote Abstract (including motivation, basic idea, and evaluation)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 Method</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1000"/>
                                        <p:tgtEl>
                                          <p:spTgt spid="3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animEffect filter="fade" transition="in">
                                      <p:cBhvr>
                                        <p:cTn dur="1000"/>
                                        <p:tgtEl>
                                          <p:spTgt spid="3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animEffect filter="fade" transition="in">
                                      <p:cBhvr>
                                        <p:cTn dur="1000"/>
                                        <p:tgtEl>
                                          <p:spTgt spid="3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animEffect filter="fade" transition="in">
                                      <p:cBhvr>
                                        <p:cTn dur="1000"/>
                                        <p:tgtEl>
                                          <p:spTgt spid="3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4" st="4"/>
                                            </p:txEl>
                                          </p:spTgt>
                                        </p:tgtEl>
                                        <p:attrNameLst>
                                          <p:attrName>style.visibility</p:attrName>
                                        </p:attrNameLst>
                                      </p:cBhvr>
                                      <p:to>
                                        <p:strVal val="visible"/>
                                      </p:to>
                                    </p:set>
                                    <p:animEffect filter="fade" transition="in">
                                      <p:cBhvr>
                                        <p:cTn dur="1000"/>
                                        <p:tgtEl>
                                          <p:spTgt spid="30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Abstract</a:t>
            </a:r>
            <a:endParaRPr>
              <a:latin typeface="Twentieth Century"/>
              <a:ea typeface="Twentieth Century"/>
              <a:cs typeface="Twentieth Century"/>
              <a:sym typeface="Twentieth Century"/>
            </a:endParaRPr>
          </a:p>
        </p:txBody>
      </p:sp>
      <p:sp>
        <p:nvSpPr>
          <p:cNvPr id="310" name="Google Shape;310;p46"/>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6"/>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600"/>
              <a:t>Many encoding schemes of a calling context are being studied to get a program's behavior. These schemes are used for many applications such as program analysis, debugging tools and security purpose. Some of these applications are offline work or some others are online. However, existing encoding schemes limit the application in that the context is encoded at runtime but the encoded  context (ID) cannot be directly used at runtime to distinguish the contexts ending with different functions. In addition, their decoding algorithms are not efficient to use at runtime because it incurs many extra instrumentations (or instructions). Its inefficiency is amplified as the runtime system uses the ID more frequently (or for every function call). In this paper, therefore, we propose a new category (?) of the calling context encoding scheme to generate a self-distinguishable context ID (without decoding). Our proposal is based on precise calling context encoding (PCCE) - assigns weights to some edges in a call graph and add/remove the weights when entering/leaving functions. However, our algorithm assigns the value differently to avoid duplicated IDs over the entire program execution. Our experiments show that the performance overhead is X% which is the minimum compared to the existing encoding schemes (PCCE, Valence) with Y%, Z% respectively.</a:t>
            </a:r>
            <a:r>
              <a:rPr lang="en" sz="1600">
                <a:highlight>
                  <a:srgbClr val="FFFFFF"/>
                </a:highlight>
              </a:rPr>
              <a:t> </a:t>
            </a:r>
            <a:endParaRPr sz="1600">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Effect filter="fade" transition="in">
                                      <p:cBhvr>
                                        <p:cTn dur="1000"/>
                                        <p:tgtEl>
                                          <p:spTgt spid="3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animEffect filter="fade" transition="in">
                                      <p:cBhvr>
                                        <p:cTn dur="1000"/>
                                        <p:tgtEl>
                                          <p:spTgt spid="3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animEffect filter="fade" transition="in">
                                      <p:cBhvr>
                                        <p:cTn dur="1000"/>
                                        <p:tgtEl>
                                          <p:spTgt spid="3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animEffect filter="fade" transition="in">
                                      <p:cBhvr>
                                        <p:cTn dur="1000"/>
                                        <p:tgtEl>
                                          <p:spTgt spid="31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Abstract</a:t>
            </a:r>
            <a:endParaRPr>
              <a:latin typeface="Twentieth Century"/>
              <a:ea typeface="Twentieth Century"/>
              <a:cs typeface="Twentieth Century"/>
              <a:sym typeface="Twentieth Century"/>
            </a:endParaRPr>
          </a:p>
        </p:txBody>
      </p:sp>
      <p:sp>
        <p:nvSpPr>
          <p:cNvPr id="318" name="Google Shape;318;p47"/>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7"/>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600"/>
              <a:t>Many encoding schemes of a calling context are being studied to get a program's behavior. These schemes are used for many applications such as </a:t>
            </a:r>
            <a:r>
              <a:rPr lang="en" sz="1600" u="sng">
                <a:solidFill>
                  <a:srgbClr val="0000FF"/>
                </a:solidFill>
              </a:rPr>
              <a:t>program analysis, debugging tools and security purpose</a:t>
            </a:r>
            <a:r>
              <a:rPr lang="en" sz="1600"/>
              <a:t>. Some of these applications are offline work or some others are online. </a:t>
            </a:r>
            <a:r>
              <a:rPr lang="en" sz="1600" u="sng">
                <a:solidFill>
                  <a:srgbClr val="0000FF"/>
                </a:solidFill>
              </a:rPr>
              <a:t>However, existing encoding schemes limit the application in that the context is encoded at runtime but encoded ID cannot be directly used at runtime to distinguish the contexts ending with different functions.</a:t>
            </a:r>
            <a:r>
              <a:rPr lang="en" sz="1600"/>
              <a:t> In addition, their decoding algorithms are not efficient to use at runtime because it incurs many extra instrumentations (or instructions). Its inefficiency is amplified as </a:t>
            </a:r>
            <a:r>
              <a:rPr lang="en" sz="1600" u="sng">
                <a:solidFill>
                  <a:srgbClr val="0000FF"/>
                </a:solidFill>
              </a:rPr>
              <a:t>the runtime system uses the encoded ID more frequently</a:t>
            </a:r>
            <a:r>
              <a:rPr lang="en" sz="1600"/>
              <a:t> (or for every function call). </a:t>
            </a:r>
            <a:r>
              <a:rPr lang="en" sz="1600" u="sng">
                <a:solidFill>
                  <a:srgbClr val="0000FF"/>
                </a:solidFill>
              </a:rPr>
              <a:t>In this paper, therefore, we propose a new category (?) of the calling context encoding scheme to generate a self-distinguishable context ID (without decoding).</a:t>
            </a:r>
            <a:r>
              <a:rPr lang="en" sz="1600"/>
              <a:t> Our proposal is based on precise calling context encoding (PCCE) - assigns weights to some edges in a call graph and add/remove the weights when entering/leaving functions. However, our algorithm assigns the value differently to avoid duplicated IDs over the entire program execution. </a:t>
            </a:r>
            <a:r>
              <a:rPr lang="en" sz="1600" u="sng">
                <a:solidFill>
                  <a:srgbClr val="0000FF"/>
                </a:solidFill>
              </a:rPr>
              <a:t>Our experiments show that the performance overhead is X% which is the minimum compared to the existing encoding schemes (PCCE, Valence) with Y%, Z% respectively.</a:t>
            </a:r>
            <a:r>
              <a:rPr lang="en" sz="1600">
                <a:highlight>
                  <a:srgbClr val="FFFFFF"/>
                </a:highlight>
              </a:rPr>
              <a:t> </a:t>
            </a:r>
            <a:endParaRPr sz="1600">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320" name="Google Shape;320;p47"/>
          <p:cNvSpPr/>
          <p:nvPr/>
        </p:nvSpPr>
        <p:spPr>
          <a:xfrm>
            <a:off x="2384275" y="28300"/>
            <a:ext cx="5985300" cy="737100"/>
          </a:xfrm>
          <a:prstGeom prst="wedgeRectCallout">
            <a:avLst>
              <a:gd fmla="val -45745" name="adj1"/>
              <a:gd fmla="val 13525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Need to find enough previous work that need the self-distinguishable context ID? (Accmon, WHISTLE, …)</a:t>
            </a:r>
            <a:endParaRPr/>
          </a:p>
          <a:p>
            <a:pPr indent="0" lvl="0" marL="0" rtl="0" algn="l">
              <a:spcBef>
                <a:spcPts val="0"/>
              </a:spcBef>
              <a:spcAft>
                <a:spcPts val="0"/>
              </a:spcAft>
              <a:buNone/>
            </a:pPr>
            <a:r>
              <a:rPr lang="en"/>
              <a:t>Or we argue that the proposal is good for a new work like WHISTLE</a:t>
            </a:r>
            <a:endParaRPr/>
          </a:p>
        </p:txBody>
      </p:sp>
      <p:sp>
        <p:nvSpPr>
          <p:cNvPr id="321" name="Google Shape;321;p47"/>
          <p:cNvSpPr/>
          <p:nvPr/>
        </p:nvSpPr>
        <p:spPr>
          <a:xfrm>
            <a:off x="5864375" y="134500"/>
            <a:ext cx="1058100" cy="524700"/>
          </a:xfrm>
          <a:prstGeom prst="wedgeRectCallout">
            <a:avLst>
              <a:gd fmla="val -79347" name="adj1"/>
              <a:gd fmla="val 223709"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Motivation</a:t>
            </a:r>
            <a:endParaRPr/>
          </a:p>
        </p:txBody>
      </p:sp>
      <p:sp>
        <p:nvSpPr>
          <p:cNvPr id="322" name="Google Shape;322;p47"/>
          <p:cNvSpPr/>
          <p:nvPr/>
        </p:nvSpPr>
        <p:spPr>
          <a:xfrm>
            <a:off x="8085900" y="1107600"/>
            <a:ext cx="1058100" cy="524700"/>
          </a:xfrm>
          <a:prstGeom prst="wedgeRectCallout">
            <a:avLst>
              <a:gd fmla="val -74667" name="adj1"/>
              <a:gd fmla="val 190618"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Idea</a:t>
            </a:r>
            <a:endParaRPr/>
          </a:p>
        </p:txBody>
      </p:sp>
      <p:sp>
        <p:nvSpPr>
          <p:cNvPr id="323" name="Google Shape;323;p47"/>
          <p:cNvSpPr/>
          <p:nvPr/>
        </p:nvSpPr>
        <p:spPr>
          <a:xfrm>
            <a:off x="8118050" y="3743300"/>
            <a:ext cx="1058100" cy="524700"/>
          </a:xfrm>
          <a:prstGeom prst="wedgeRectCallout">
            <a:avLst>
              <a:gd fmla="val -72356" name="adj1"/>
              <a:gd fmla="val -21808"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Evaluation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Effect filter="fade" transition="in">
                                      <p:cBhvr>
                                        <p:cTn dur="1000"/>
                                        <p:tgtEl>
                                          <p:spTgt spid="3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Effect filter="fade" transition="in">
                                      <p:cBhvr>
                                        <p:cTn dur="1000"/>
                                        <p:tgtEl>
                                          <p:spTgt spid="3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Effect filter="fade" transition="in">
                                      <p:cBhvr>
                                        <p:cTn dur="1000"/>
                                        <p:tgtEl>
                                          <p:spTgt spid="3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Effect filter="fade" transition="in">
                                      <p:cBhvr>
                                        <p:cTn dur="1000"/>
                                        <p:tgtEl>
                                          <p:spTgt spid="3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Evaluation methodology</a:t>
            </a:r>
            <a:endParaRPr>
              <a:latin typeface="Twentieth Century"/>
              <a:ea typeface="Twentieth Century"/>
              <a:cs typeface="Twentieth Century"/>
              <a:sym typeface="Twentieth Century"/>
            </a:endParaRPr>
          </a:p>
        </p:txBody>
      </p:sp>
      <p:sp>
        <p:nvSpPr>
          <p:cNvPr id="330" name="Google Shape;330;p48"/>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8"/>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DeltaPath (`14 CGO)</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Jikes RVM</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Compared with PCCE and PCC.</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SPECjvm2008</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Valence (`19 CC)</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LLVM</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Compared with PCCE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SPEC2017</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Our scheme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LLVM</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 with PCCE and Valence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SPEC2017</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animEffect filter="fade" transition="in">
                                      <p:cBhvr>
                                        <p:cTn dur="1000"/>
                                        <p:tgtEl>
                                          <p:spTgt spid="3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 st="1"/>
                                            </p:txEl>
                                          </p:spTgt>
                                        </p:tgtEl>
                                        <p:attrNameLst>
                                          <p:attrName>style.visibility</p:attrName>
                                        </p:attrNameLst>
                                      </p:cBhvr>
                                      <p:to>
                                        <p:strVal val="visible"/>
                                      </p:to>
                                    </p:set>
                                    <p:animEffect filter="fade" transition="in">
                                      <p:cBhvr>
                                        <p:cTn dur="1000"/>
                                        <p:tgtEl>
                                          <p:spTgt spid="3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2" st="2"/>
                                            </p:txEl>
                                          </p:spTgt>
                                        </p:tgtEl>
                                        <p:attrNameLst>
                                          <p:attrName>style.visibility</p:attrName>
                                        </p:attrNameLst>
                                      </p:cBhvr>
                                      <p:to>
                                        <p:strVal val="visible"/>
                                      </p:to>
                                    </p:set>
                                    <p:animEffect filter="fade" transition="in">
                                      <p:cBhvr>
                                        <p:cTn dur="1000"/>
                                        <p:tgtEl>
                                          <p:spTgt spid="3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3" st="3"/>
                                            </p:txEl>
                                          </p:spTgt>
                                        </p:tgtEl>
                                        <p:attrNameLst>
                                          <p:attrName>style.visibility</p:attrName>
                                        </p:attrNameLst>
                                      </p:cBhvr>
                                      <p:to>
                                        <p:strVal val="visible"/>
                                      </p:to>
                                    </p:set>
                                    <p:animEffect filter="fade" transition="in">
                                      <p:cBhvr>
                                        <p:cTn dur="1000"/>
                                        <p:tgtEl>
                                          <p:spTgt spid="3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4" st="4"/>
                                            </p:txEl>
                                          </p:spTgt>
                                        </p:tgtEl>
                                        <p:attrNameLst>
                                          <p:attrName>style.visibility</p:attrName>
                                        </p:attrNameLst>
                                      </p:cBhvr>
                                      <p:to>
                                        <p:strVal val="visible"/>
                                      </p:to>
                                    </p:set>
                                    <p:animEffect filter="fade" transition="in">
                                      <p:cBhvr>
                                        <p:cTn dur="1000"/>
                                        <p:tgtEl>
                                          <p:spTgt spid="3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5" st="5"/>
                                            </p:txEl>
                                          </p:spTgt>
                                        </p:tgtEl>
                                        <p:attrNameLst>
                                          <p:attrName>style.visibility</p:attrName>
                                        </p:attrNameLst>
                                      </p:cBhvr>
                                      <p:to>
                                        <p:strVal val="visible"/>
                                      </p:to>
                                    </p:set>
                                    <p:animEffect filter="fade" transition="in">
                                      <p:cBhvr>
                                        <p:cTn dur="1000"/>
                                        <p:tgtEl>
                                          <p:spTgt spid="3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6" st="6"/>
                                            </p:txEl>
                                          </p:spTgt>
                                        </p:tgtEl>
                                        <p:attrNameLst>
                                          <p:attrName>style.visibility</p:attrName>
                                        </p:attrNameLst>
                                      </p:cBhvr>
                                      <p:to>
                                        <p:strVal val="visible"/>
                                      </p:to>
                                    </p:set>
                                    <p:animEffect filter="fade" transition="in">
                                      <p:cBhvr>
                                        <p:cTn dur="1000"/>
                                        <p:tgtEl>
                                          <p:spTgt spid="3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7" st="7"/>
                                            </p:txEl>
                                          </p:spTgt>
                                        </p:tgtEl>
                                        <p:attrNameLst>
                                          <p:attrName>style.visibility</p:attrName>
                                        </p:attrNameLst>
                                      </p:cBhvr>
                                      <p:to>
                                        <p:strVal val="visible"/>
                                      </p:to>
                                    </p:set>
                                    <p:animEffect filter="fade" transition="in">
                                      <p:cBhvr>
                                        <p:cTn dur="1000"/>
                                        <p:tgtEl>
                                          <p:spTgt spid="3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8" st="8"/>
                                            </p:txEl>
                                          </p:spTgt>
                                        </p:tgtEl>
                                        <p:attrNameLst>
                                          <p:attrName>style.visibility</p:attrName>
                                        </p:attrNameLst>
                                      </p:cBhvr>
                                      <p:to>
                                        <p:strVal val="visible"/>
                                      </p:to>
                                    </p:set>
                                    <p:animEffect filter="fade" transition="in">
                                      <p:cBhvr>
                                        <p:cTn dur="1000"/>
                                        <p:tgtEl>
                                          <p:spTgt spid="3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9" st="9"/>
                                            </p:txEl>
                                          </p:spTgt>
                                        </p:tgtEl>
                                        <p:attrNameLst>
                                          <p:attrName>style.visibility</p:attrName>
                                        </p:attrNameLst>
                                      </p:cBhvr>
                                      <p:to>
                                        <p:strVal val="visible"/>
                                      </p:to>
                                    </p:set>
                                    <p:animEffect filter="fade" transition="in">
                                      <p:cBhvr>
                                        <p:cTn dur="1000"/>
                                        <p:tgtEl>
                                          <p:spTgt spid="33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0" st="10"/>
                                            </p:txEl>
                                          </p:spTgt>
                                        </p:tgtEl>
                                        <p:attrNameLst>
                                          <p:attrName>style.visibility</p:attrName>
                                        </p:attrNameLst>
                                      </p:cBhvr>
                                      <p:to>
                                        <p:strVal val="visible"/>
                                      </p:to>
                                    </p:set>
                                    <p:animEffect filter="fade" transition="in">
                                      <p:cBhvr>
                                        <p:cTn dur="1000"/>
                                        <p:tgtEl>
                                          <p:spTgt spid="33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1" st="11"/>
                                            </p:txEl>
                                          </p:spTgt>
                                        </p:tgtEl>
                                        <p:attrNameLst>
                                          <p:attrName>style.visibility</p:attrName>
                                        </p:attrNameLst>
                                      </p:cBhvr>
                                      <p:to>
                                        <p:strVal val="visible"/>
                                      </p:to>
                                    </p:set>
                                    <p:animEffect filter="fade" transition="in">
                                      <p:cBhvr>
                                        <p:cTn dur="1000"/>
                                        <p:tgtEl>
                                          <p:spTgt spid="33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2" st="12"/>
                                            </p:txEl>
                                          </p:spTgt>
                                        </p:tgtEl>
                                        <p:attrNameLst>
                                          <p:attrName>style.visibility</p:attrName>
                                        </p:attrNameLst>
                                      </p:cBhvr>
                                      <p:to>
                                        <p:strVal val="visible"/>
                                      </p:to>
                                    </p:set>
                                    <p:animEffect filter="fade" transition="in">
                                      <p:cBhvr>
                                        <p:cTn dur="1000"/>
                                        <p:tgtEl>
                                          <p:spTgt spid="33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3" st="13"/>
                                            </p:txEl>
                                          </p:spTgt>
                                        </p:tgtEl>
                                        <p:attrNameLst>
                                          <p:attrName>style.visibility</p:attrName>
                                        </p:attrNameLst>
                                      </p:cBhvr>
                                      <p:to>
                                        <p:strVal val="visible"/>
                                      </p:to>
                                    </p:set>
                                    <p:animEffect filter="fade" transition="in">
                                      <p:cBhvr>
                                        <p:cTn dur="1000"/>
                                        <p:tgtEl>
                                          <p:spTgt spid="33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4" st="14"/>
                                            </p:txEl>
                                          </p:spTgt>
                                        </p:tgtEl>
                                        <p:attrNameLst>
                                          <p:attrName>style.visibility</p:attrName>
                                        </p:attrNameLst>
                                      </p:cBhvr>
                                      <p:to>
                                        <p:strVal val="visible"/>
                                      </p:to>
                                    </p:set>
                                    <p:animEffect filter="fade" transition="in">
                                      <p:cBhvr>
                                        <p:cTn dur="1000"/>
                                        <p:tgtEl>
                                          <p:spTgt spid="33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5" st="15"/>
                                            </p:txEl>
                                          </p:spTgt>
                                        </p:tgtEl>
                                        <p:attrNameLst>
                                          <p:attrName>style.visibility</p:attrName>
                                        </p:attrNameLst>
                                      </p:cBhvr>
                                      <p:to>
                                        <p:strVal val="visible"/>
                                      </p:to>
                                    </p:set>
                                    <p:animEffect filter="fade" transition="in">
                                      <p:cBhvr>
                                        <p:cTn dur="1000"/>
                                        <p:tgtEl>
                                          <p:spTgt spid="33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Plan</a:t>
            </a:r>
            <a:endParaRPr>
              <a:latin typeface="Twentieth Century"/>
              <a:ea typeface="Twentieth Century"/>
              <a:cs typeface="Twentieth Century"/>
              <a:sym typeface="Twentieth Century"/>
            </a:endParaRPr>
          </a:p>
        </p:txBody>
      </p:sp>
      <p:sp>
        <p:nvSpPr>
          <p:cNvPr id="338" name="Google Shape;338;p49"/>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9"/>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Finding good use cases of our algorithm.</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Keep studying prior works to</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Make our idea strong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Find some hints to solve integer overflow problems.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our algorithm to LLVM.</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Implement PCCE, Valence and integrate to LLVM.</a:t>
            </a:r>
            <a:endParaRPr>
              <a:latin typeface="Twentieth Century"/>
              <a:ea typeface="Twentieth Century"/>
              <a:cs typeface="Twentieth Century"/>
              <a:sym typeface="Twentieth Century"/>
            </a:endParaRPr>
          </a:p>
          <a:p>
            <a:pPr indent="0" lvl="0" marL="34290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animEffect filter="fade" transition="in">
                                      <p:cBhvr>
                                        <p:cTn dur="1000"/>
                                        <p:tgtEl>
                                          <p:spTgt spid="3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animEffect filter="fade" transition="in">
                                      <p:cBhvr>
                                        <p:cTn dur="1000"/>
                                        <p:tgtEl>
                                          <p:spTgt spid="3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animEffect filter="fade" transition="in">
                                      <p:cBhvr>
                                        <p:cTn dur="1000"/>
                                        <p:tgtEl>
                                          <p:spTgt spid="3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3" st="3"/>
                                            </p:txEl>
                                          </p:spTgt>
                                        </p:tgtEl>
                                        <p:attrNameLst>
                                          <p:attrName>style.visibility</p:attrName>
                                        </p:attrNameLst>
                                      </p:cBhvr>
                                      <p:to>
                                        <p:strVal val="visible"/>
                                      </p:to>
                                    </p:set>
                                    <p:animEffect filter="fade" transition="in">
                                      <p:cBhvr>
                                        <p:cTn dur="1000"/>
                                        <p:tgtEl>
                                          <p:spTgt spid="3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4" st="4"/>
                                            </p:txEl>
                                          </p:spTgt>
                                        </p:tgtEl>
                                        <p:attrNameLst>
                                          <p:attrName>style.visibility</p:attrName>
                                        </p:attrNameLst>
                                      </p:cBhvr>
                                      <p:to>
                                        <p:strVal val="visible"/>
                                      </p:to>
                                    </p:set>
                                    <p:animEffect filter="fade" transition="in">
                                      <p:cBhvr>
                                        <p:cTn dur="1000"/>
                                        <p:tgtEl>
                                          <p:spTgt spid="3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5" st="5"/>
                                            </p:txEl>
                                          </p:spTgt>
                                        </p:tgtEl>
                                        <p:attrNameLst>
                                          <p:attrName>style.visibility</p:attrName>
                                        </p:attrNameLst>
                                      </p:cBhvr>
                                      <p:to>
                                        <p:strVal val="visible"/>
                                      </p:to>
                                    </p:set>
                                    <p:animEffect filter="fade" transition="in">
                                      <p:cBhvr>
                                        <p:cTn dur="1000"/>
                                        <p:tgtEl>
                                          <p:spTgt spid="3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6" st="6"/>
                                            </p:txEl>
                                          </p:spTgt>
                                        </p:tgtEl>
                                        <p:attrNameLst>
                                          <p:attrName>style.visibility</p:attrName>
                                        </p:attrNameLst>
                                      </p:cBhvr>
                                      <p:to>
                                        <p:strVal val="visible"/>
                                      </p:to>
                                    </p:set>
                                    <p:animEffect filter="fade" transition="in">
                                      <p:cBhvr>
                                        <p:cTn dur="1000"/>
                                        <p:tgtEl>
                                          <p:spTgt spid="3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7" st="7"/>
                                            </p:txEl>
                                          </p:spTgt>
                                        </p:tgtEl>
                                        <p:attrNameLst>
                                          <p:attrName>style.visibility</p:attrName>
                                        </p:attrNameLst>
                                      </p:cBhvr>
                                      <p:to>
                                        <p:strVal val="visible"/>
                                      </p:to>
                                    </p:set>
                                    <p:animEffect filter="fade" transition="in">
                                      <p:cBhvr>
                                        <p:cTn dur="1000"/>
                                        <p:tgtEl>
                                          <p:spTgt spid="33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8" st="8"/>
                                            </p:txEl>
                                          </p:spTgt>
                                        </p:tgtEl>
                                        <p:attrNameLst>
                                          <p:attrName>style.visibility</p:attrName>
                                        </p:attrNameLst>
                                      </p:cBhvr>
                                      <p:to>
                                        <p:strVal val="visible"/>
                                      </p:to>
                                    </p:set>
                                    <p:animEffect filter="fade" transition="in">
                                      <p:cBhvr>
                                        <p:cTn dur="1000"/>
                                        <p:tgtEl>
                                          <p:spTgt spid="33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9" st="9"/>
                                            </p:txEl>
                                          </p:spTgt>
                                        </p:tgtEl>
                                        <p:attrNameLst>
                                          <p:attrName>style.visibility</p:attrName>
                                        </p:attrNameLst>
                                      </p:cBhvr>
                                      <p:to>
                                        <p:strVal val="visible"/>
                                      </p:to>
                                    </p:set>
                                    <p:animEffect filter="fade" transition="in">
                                      <p:cBhvr>
                                        <p:cTn dur="1000"/>
                                        <p:tgtEl>
                                          <p:spTgt spid="33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0" st="10"/>
                                            </p:txEl>
                                          </p:spTgt>
                                        </p:tgtEl>
                                        <p:attrNameLst>
                                          <p:attrName>style.visibility</p:attrName>
                                        </p:attrNameLst>
                                      </p:cBhvr>
                                      <p:to>
                                        <p:strVal val="visible"/>
                                      </p:to>
                                    </p:set>
                                    <p:animEffect filter="fade" transition="in">
                                      <p:cBhvr>
                                        <p:cTn dur="1000"/>
                                        <p:tgtEl>
                                          <p:spTgt spid="33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1" st="11"/>
                                            </p:txEl>
                                          </p:spTgt>
                                        </p:tgtEl>
                                        <p:attrNameLst>
                                          <p:attrName>style.visibility</p:attrName>
                                        </p:attrNameLst>
                                      </p:cBhvr>
                                      <p:to>
                                        <p:strVal val="visible"/>
                                      </p:to>
                                    </p:set>
                                    <p:animEffect filter="fade" transition="in">
                                      <p:cBhvr>
                                        <p:cTn dur="1000"/>
                                        <p:tgtEl>
                                          <p:spTgt spid="33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346" name="Google Shape;346;p50"/>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Jan. 14</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Progress</a:t>
            </a:r>
            <a:endParaRPr>
              <a:latin typeface="Twentieth Century"/>
              <a:ea typeface="Twentieth Century"/>
              <a:cs typeface="Twentieth Century"/>
              <a:sym typeface="Twentieth Century"/>
            </a:endParaRPr>
          </a:p>
        </p:txBody>
      </p:sp>
      <p:sp>
        <p:nvSpPr>
          <p:cNvPr id="353" name="Google Shape;353;p51"/>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1"/>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Writing a llvm pass to insert IRs to update IDs.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Need to check if it is efficient enough (related with execution time).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Build configuration of SPEC2017 for clang compilation with the generated pass.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Double checking the pass works with benchmarks. (ignoring intrinsic calls or indirect calls) </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Interface between Encoder and the Pass.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Need to change format of .cc file.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Next week.</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0" st="0"/>
                                            </p:txEl>
                                          </p:spTgt>
                                        </p:tgtEl>
                                        <p:attrNameLst>
                                          <p:attrName>style.visibility</p:attrName>
                                        </p:attrNameLst>
                                      </p:cBhvr>
                                      <p:to>
                                        <p:strVal val="visible"/>
                                      </p:to>
                                    </p:set>
                                    <p:animEffect filter="fade" transition="in">
                                      <p:cBhvr>
                                        <p:cTn dur="1000"/>
                                        <p:tgtEl>
                                          <p:spTgt spid="3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1" st="1"/>
                                            </p:txEl>
                                          </p:spTgt>
                                        </p:tgtEl>
                                        <p:attrNameLst>
                                          <p:attrName>style.visibility</p:attrName>
                                        </p:attrNameLst>
                                      </p:cBhvr>
                                      <p:to>
                                        <p:strVal val="visible"/>
                                      </p:to>
                                    </p:set>
                                    <p:animEffect filter="fade" transition="in">
                                      <p:cBhvr>
                                        <p:cTn dur="1000"/>
                                        <p:tgtEl>
                                          <p:spTgt spid="3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2" st="2"/>
                                            </p:txEl>
                                          </p:spTgt>
                                        </p:tgtEl>
                                        <p:attrNameLst>
                                          <p:attrName>style.visibility</p:attrName>
                                        </p:attrNameLst>
                                      </p:cBhvr>
                                      <p:to>
                                        <p:strVal val="visible"/>
                                      </p:to>
                                    </p:set>
                                    <p:animEffect filter="fade" transition="in">
                                      <p:cBhvr>
                                        <p:cTn dur="1000"/>
                                        <p:tgtEl>
                                          <p:spTgt spid="3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3" st="3"/>
                                            </p:txEl>
                                          </p:spTgt>
                                        </p:tgtEl>
                                        <p:attrNameLst>
                                          <p:attrName>style.visibility</p:attrName>
                                        </p:attrNameLst>
                                      </p:cBhvr>
                                      <p:to>
                                        <p:strVal val="visible"/>
                                      </p:to>
                                    </p:set>
                                    <p:animEffect filter="fade" transition="in">
                                      <p:cBhvr>
                                        <p:cTn dur="1000"/>
                                        <p:tgtEl>
                                          <p:spTgt spid="3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4" st="4"/>
                                            </p:txEl>
                                          </p:spTgt>
                                        </p:tgtEl>
                                        <p:attrNameLst>
                                          <p:attrName>style.visibility</p:attrName>
                                        </p:attrNameLst>
                                      </p:cBhvr>
                                      <p:to>
                                        <p:strVal val="visible"/>
                                      </p:to>
                                    </p:set>
                                    <p:animEffect filter="fade" transition="in">
                                      <p:cBhvr>
                                        <p:cTn dur="1000"/>
                                        <p:tgtEl>
                                          <p:spTgt spid="3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5" st="5"/>
                                            </p:txEl>
                                          </p:spTgt>
                                        </p:tgtEl>
                                        <p:attrNameLst>
                                          <p:attrName>style.visibility</p:attrName>
                                        </p:attrNameLst>
                                      </p:cBhvr>
                                      <p:to>
                                        <p:strVal val="visible"/>
                                      </p:to>
                                    </p:set>
                                    <p:animEffect filter="fade" transition="in">
                                      <p:cBhvr>
                                        <p:cTn dur="1000"/>
                                        <p:tgtEl>
                                          <p:spTgt spid="3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6" st="6"/>
                                            </p:txEl>
                                          </p:spTgt>
                                        </p:tgtEl>
                                        <p:attrNameLst>
                                          <p:attrName>style.visibility</p:attrName>
                                        </p:attrNameLst>
                                      </p:cBhvr>
                                      <p:to>
                                        <p:strVal val="visible"/>
                                      </p:to>
                                    </p:set>
                                    <p:animEffect filter="fade" transition="in">
                                      <p:cBhvr>
                                        <p:cTn dur="1000"/>
                                        <p:tgtEl>
                                          <p:spTgt spid="3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7" st="7"/>
                                            </p:txEl>
                                          </p:spTgt>
                                        </p:tgtEl>
                                        <p:attrNameLst>
                                          <p:attrName>style.visibility</p:attrName>
                                        </p:attrNameLst>
                                      </p:cBhvr>
                                      <p:to>
                                        <p:strVal val="visible"/>
                                      </p:to>
                                    </p:set>
                                    <p:animEffect filter="fade" transition="in">
                                      <p:cBhvr>
                                        <p:cTn dur="1000"/>
                                        <p:tgtEl>
                                          <p:spTgt spid="35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8" st="8"/>
                                            </p:txEl>
                                          </p:spTgt>
                                        </p:tgtEl>
                                        <p:attrNameLst>
                                          <p:attrName>style.visibility</p:attrName>
                                        </p:attrNameLst>
                                      </p:cBhvr>
                                      <p:to>
                                        <p:strVal val="visible"/>
                                      </p:to>
                                    </p:set>
                                    <p:animEffect filter="fade" transition="in">
                                      <p:cBhvr>
                                        <p:cTn dur="1000"/>
                                        <p:tgtEl>
                                          <p:spTgt spid="35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9" st="9"/>
                                            </p:txEl>
                                          </p:spTgt>
                                        </p:tgtEl>
                                        <p:attrNameLst>
                                          <p:attrName>style.visibility</p:attrName>
                                        </p:attrNameLst>
                                      </p:cBhvr>
                                      <p:to>
                                        <p:strVal val="visible"/>
                                      </p:to>
                                    </p:set>
                                    <p:animEffect filter="fade" transition="in">
                                      <p:cBhvr>
                                        <p:cTn dur="1000"/>
                                        <p:tgtEl>
                                          <p:spTgt spid="35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10" st="10"/>
                                            </p:txEl>
                                          </p:spTgt>
                                        </p:tgtEl>
                                        <p:attrNameLst>
                                          <p:attrName>style.visibility</p:attrName>
                                        </p:attrNameLst>
                                      </p:cBhvr>
                                      <p:to>
                                        <p:strVal val="visible"/>
                                      </p:to>
                                    </p:set>
                                    <p:animEffect filter="fade" transition="in">
                                      <p:cBhvr>
                                        <p:cTn dur="1000"/>
                                        <p:tgtEl>
                                          <p:spTgt spid="35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361" name="Google Shape;361;p52"/>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2"/>
          <p:cNvSpPr/>
          <p:nvPr/>
        </p:nvSpPr>
        <p:spPr>
          <a:xfrm>
            <a:off x="1109725" y="1521125"/>
            <a:ext cx="9906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363" name="Google Shape;363;p52"/>
          <p:cNvSpPr/>
          <p:nvPr/>
        </p:nvSpPr>
        <p:spPr>
          <a:xfrm>
            <a:off x="3130000" y="1521125"/>
            <a:ext cx="5763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364" name="Google Shape;364;p52"/>
          <p:cNvSpPr/>
          <p:nvPr/>
        </p:nvSpPr>
        <p:spPr>
          <a:xfrm>
            <a:off x="4631875" y="1521125"/>
            <a:ext cx="680400" cy="1400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365" name="Google Shape;365;p52"/>
          <p:cNvSpPr/>
          <p:nvPr/>
        </p:nvSpPr>
        <p:spPr>
          <a:xfrm>
            <a:off x="6341950" y="1521125"/>
            <a:ext cx="5763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366" name="Google Shape;366;p52"/>
          <p:cNvSpPr/>
          <p:nvPr/>
        </p:nvSpPr>
        <p:spPr>
          <a:xfrm>
            <a:off x="7947925" y="1521125"/>
            <a:ext cx="9906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indent="0" lvl="0" marL="0" rtl="0" algn="l">
              <a:spcBef>
                <a:spcPts val="0"/>
              </a:spcBef>
              <a:spcAft>
                <a:spcPts val="0"/>
              </a:spcAft>
              <a:buNone/>
            </a:pPr>
            <a:r>
              <a:t/>
            </a:r>
            <a:endParaRPr>
              <a:latin typeface="Twentieth Century"/>
              <a:ea typeface="Twentieth Century"/>
              <a:cs typeface="Twentieth Century"/>
              <a:sym typeface="Twentieth Century"/>
            </a:endParaRPr>
          </a:p>
        </p:txBody>
      </p:sp>
      <p:sp>
        <p:nvSpPr>
          <p:cNvPr id="367" name="Google Shape;367;p52"/>
          <p:cNvSpPr txBox="1"/>
          <p:nvPr/>
        </p:nvSpPr>
        <p:spPr>
          <a:xfrm>
            <a:off x="2427663" y="1983725"/>
            <a:ext cx="3750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368" name="Google Shape;368;p52"/>
          <p:cNvCxnSpPr>
            <a:endCxn id="367" idx="1"/>
          </p:cNvCxnSpPr>
          <p:nvPr/>
        </p:nvCxnSpPr>
        <p:spPr>
          <a:xfrm>
            <a:off x="2100363" y="2221475"/>
            <a:ext cx="327300" cy="0"/>
          </a:xfrm>
          <a:prstGeom prst="straightConnector1">
            <a:avLst/>
          </a:prstGeom>
          <a:noFill/>
          <a:ln cap="flat" cmpd="sng" w="9525">
            <a:solidFill>
              <a:schemeClr val="dk2"/>
            </a:solidFill>
            <a:prstDash val="solid"/>
            <a:round/>
            <a:headEnd len="med" w="med" type="none"/>
            <a:tailEnd len="med" w="med" type="triangle"/>
          </a:ln>
        </p:spPr>
      </p:cxnSp>
      <p:cxnSp>
        <p:nvCxnSpPr>
          <p:cNvPr id="369" name="Google Shape;369;p52"/>
          <p:cNvCxnSpPr>
            <a:stCxn id="367" idx="3"/>
            <a:endCxn id="363" idx="1"/>
          </p:cNvCxnSpPr>
          <p:nvPr/>
        </p:nvCxnSpPr>
        <p:spPr>
          <a:xfrm>
            <a:off x="2802663" y="2221475"/>
            <a:ext cx="327300" cy="0"/>
          </a:xfrm>
          <a:prstGeom prst="straightConnector1">
            <a:avLst/>
          </a:prstGeom>
          <a:noFill/>
          <a:ln cap="flat" cmpd="sng" w="9525">
            <a:solidFill>
              <a:schemeClr val="dk2"/>
            </a:solidFill>
            <a:prstDash val="solid"/>
            <a:round/>
            <a:headEnd len="med" w="med" type="none"/>
            <a:tailEnd len="med" w="med" type="triangle"/>
          </a:ln>
        </p:spPr>
      </p:cxnSp>
      <p:sp>
        <p:nvSpPr>
          <p:cNvPr id="370" name="Google Shape;370;p52"/>
          <p:cNvSpPr txBox="1"/>
          <p:nvPr/>
        </p:nvSpPr>
        <p:spPr>
          <a:xfrm>
            <a:off x="4072863" y="1983725"/>
            <a:ext cx="3750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371" name="Google Shape;371;p52"/>
          <p:cNvSpPr txBox="1"/>
          <p:nvPr/>
        </p:nvSpPr>
        <p:spPr>
          <a:xfrm>
            <a:off x="5659213" y="1983725"/>
            <a:ext cx="3750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372" name="Google Shape;372;p52"/>
          <p:cNvSpPr txBox="1"/>
          <p:nvPr/>
        </p:nvSpPr>
        <p:spPr>
          <a:xfrm>
            <a:off x="7245575" y="1983725"/>
            <a:ext cx="3750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373" name="Google Shape;373;p52"/>
          <p:cNvCxnSpPr>
            <a:stCxn id="363" idx="3"/>
            <a:endCxn id="370" idx="1"/>
          </p:cNvCxnSpPr>
          <p:nvPr/>
        </p:nvCxnSpPr>
        <p:spPr>
          <a:xfrm>
            <a:off x="3706300" y="2221475"/>
            <a:ext cx="366600" cy="0"/>
          </a:xfrm>
          <a:prstGeom prst="straightConnector1">
            <a:avLst/>
          </a:prstGeom>
          <a:noFill/>
          <a:ln cap="flat" cmpd="sng" w="9525">
            <a:solidFill>
              <a:schemeClr val="dk2"/>
            </a:solidFill>
            <a:prstDash val="solid"/>
            <a:round/>
            <a:headEnd len="med" w="med" type="none"/>
            <a:tailEnd len="med" w="med" type="triangle"/>
          </a:ln>
        </p:spPr>
      </p:cxnSp>
      <p:cxnSp>
        <p:nvCxnSpPr>
          <p:cNvPr id="374" name="Google Shape;374;p52"/>
          <p:cNvCxnSpPr>
            <a:stCxn id="370" idx="3"/>
            <a:endCxn id="364" idx="1"/>
          </p:cNvCxnSpPr>
          <p:nvPr/>
        </p:nvCxnSpPr>
        <p:spPr>
          <a:xfrm>
            <a:off x="4447863" y="2221475"/>
            <a:ext cx="183900" cy="0"/>
          </a:xfrm>
          <a:prstGeom prst="straightConnector1">
            <a:avLst/>
          </a:prstGeom>
          <a:noFill/>
          <a:ln cap="flat" cmpd="sng" w="9525">
            <a:solidFill>
              <a:schemeClr val="dk2"/>
            </a:solidFill>
            <a:prstDash val="solid"/>
            <a:round/>
            <a:headEnd len="med" w="med" type="none"/>
            <a:tailEnd len="med" w="med" type="triangle"/>
          </a:ln>
        </p:spPr>
      </p:cxnSp>
      <p:cxnSp>
        <p:nvCxnSpPr>
          <p:cNvPr id="375" name="Google Shape;375;p52"/>
          <p:cNvCxnSpPr>
            <a:stCxn id="364" idx="3"/>
            <a:endCxn id="371" idx="1"/>
          </p:cNvCxnSpPr>
          <p:nvPr/>
        </p:nvCxnSpPr>
        <p:spPr>
          <a:xfrm>
            <a:off x="5312275" y="2221475"/>
            <a:ext cx="346800" cy="0"/>
          </a:xfrm>
          <a:prstGeom prst="straightConnector1">
            <a:avLst/>
          </a:prstGeom>
          <a:noFill/>
          <a:ln cap="flat" cmpd="sng" w="9525">
            <a:solidFill>
              <a:schemeClr val="dk2"/>
            </a:solidFill>
            <a:prstDash val="solid"/>
            <a:round/>
            <a:headEnd len="med" w="med" type="none"/>
            <a:tailEnd len="med" w="med" type="triangle"/>
          </a:ln>
        </p:spPr>
      </p:cxnSp>
      <p:cxnSp>
        <p:nvCxnSpPr>
          <p:cNvPr id="376" name="Google Shape;376;p52"/>
          <p:cNvCxnSpPr>
            <a:stCxn id="371" idx="3"/>
            <a:endCxn id="365" idx="1"/>
          </p:cNvCxnSpPr>
          <p:nvPr/>
        </p:nvCxnSpPr>
        <p:spPr>
          <a:xfrm>
            <a:off x="6034213" y="2221475"/>
            <a:ext cx="307800" cy="0"/>
          </a:xfrm>
          <a:prstGeom prst="straightConnector1">
            <a:avLst/>
          </a:prstGeom>
          <a:noFill/>
          <a:ln cap="flat" cmpd="sng" w="9525">
            <a:solidFill>
              <a:schemeClr val="dk2"/>
            </a:solidFill>
            <a:prstDash val="solid"/>
            <a:round/>
            <a:headEnd len="med" w="med" type="none"/>
            <a:tailEnd len="med" w="med" type="triangle"/>
          </a:ln>
        </p:spPr>
      </p:cxnSp>
      <p:cxnSp>
        <p:nvCxnSpPr>
          <p:cNvPr id="377" name="Google Shape;377;p52"/>
          <p:cNvCxnSpPr>
            <a:stCxn id="365" idx="3"/>
            <a:endCxn id="372" idx="1"/>
          </p:cNvCxnSpPr>
          <p:nvPr/>
        </p:nvCxnSpPr>
        <p:spPr>
          <a:xfrm>
            <a:off x="6918250" y="2221475"/>
            <a:ext cx="327300" cy="0"/>
          </a:xfrm>
          <a:prstGeom prst="straightConnector1">
            <a:avLst/>
          </a:prstGeom>
          <a:noFill/>
          <a:ln cap="flat" cmpd="sng" w="9525">
            <a:solidFill>
              <a:schemeClr val="dk2"/>
            </a:solidFill>
            <a:prstDash val="solid"/>
            <a:round/>
            <a:headEnd len="med" w="med" type="none"/>
            <a:tailEnd len="med" w="med" type="triangle"/>
          </a:ln>
        </p:spPr>
      </p:cxnSp>
      <p:cxnSp>
        <p:nvCxnSpPr>
          <p:cNvPr id="378" name="Google Shape;378;p52"/>
          <p:cNvCxnSpPr>
            <a:stCxn id="372" idx="3"/>
            <a:endCxn id="366" idx="1"/>
          </p:cNvCxnSpPr>
          <p:nvPr/>
        </p:nvCxnSpPr>
        <p:spPr>
          <a:xfrm>
            <a:off x="7620575" y="2221475"/>
            <a:ext cx="327300" cy="0"/>
          </a:xfrm>
          <a:prstGeom prst="straightConnector1">
            <a:avLst/>
          </a:prstGeom>
          <a:noFill/>
          <a:ln cap="flat" cmpd="sng" w="9525">
            <a:solidFill>
              <a:schemeClr val="dk2"/>
            </a:solidFill>
            <a:prstDash val="solid"/>
            <a:round/>
            <a:headEnd len="med" w="med" type="none"/>
            <a:tailEnd len="med" w="med" type="triangle"/>
          </a:ln>
        </p:spPr>
      </p:cxnSp>
      <p:cxnSp>
        <p:nvCxnSpPr>
          <p:cNvPr id="379" name="Google Shape;379;p52"/>
          <p:cNvCxnSpPr>
            <a:stCxn id="380" idx="0"/>
            <a:endCxn id="362" idx="1"/>
          </p:cNvCxnSpPr>
          <p:nvPr/>
        </p:nvCxnSpPr>
        <p:spPr>
          <a:xfrm rot="-5400000">
            <a:off x="416375" y="2234525"/>
            <a:ext cx="706500" cy="680400"/>
          </a:xfrm>
          <a:prstGeom prst="bentConnector2">
            <a:avLst/>
          </a:prstGeom>
          <a:noFill/>
          <a:ln cap="flat" cmpd="sng" w="9525">
            <a:solidFill>
              <a:schemeClr val="dk2"/>
            </a:solidFill>
            <a:prstDash val="solid"/>
            <a:round/>
            <a:headEnd len="med" w="med" type="none"/>
            <a:tailEnd len="med" w="med" type="triangle"/>
          </a:ln>
        </p:spPr>
      </p:cxnSp>
      <p:sp>
        <p:nvSpPr>
          <p:cNvPr id="380" name="Google Shape;380;p52"/>
          <p:cNvSpPr txBox="1"/>
          <p:nvPr/>
        </p:nvSpPr>
        <p:spPr>
          <a:xfrm>
            <a:off x="-108325" y="2927975"/>
            <a:ext cx="10755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381" name="Google Shape;381;p52"/>
          <p:cNvSpPr txBox="1"/>
          <p:nvPr/>
        </p:nvSpPr>
        <p:spPr>
          <a:xfrm>
            <a:off x="8024075" y="714575"/>
            <a:ext cx="837000" cy="5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382" name="Google Shape;382;p52"/>
          <p:cNvCxnSpPr>
            <a:stCxn id="366" idx="0"/>
            <a:endCxn id="381" idx="2"/>
          </p:cNvCxnSpPr>
          <p:nvPr/>
        </p:nvCxnSpPr>
        <p:spPr>
          <a:xfrm rot="10800000">
            <a:off x="8442625" y="1284125"/>
            <a:ext cx="600" cy="237000"/>
          </a:xfrm>
          <a:prstGeom prst="straightConnector1">
            <a:avLst/>
          </a:prstGeom>
          <a:noFill/>
          <a:ln cap="flat" cmpd="sng" w="9525">
            <a:solidFill>
              <a:schemeClr val="dk2"/>
            </a:solidFill>
            <a:prstDash val="solid"/>
            <a:round/>
            <a:headEnd len="med" w="med" type="none"/>
            <a:tailEnd len="med" w="med" type="triangle"/>
          </a:ln>
        </p:spPr>
      </p:cxnSp>
      <p:sp>
        <p:nvSpPr>
          <p:cNvPr id="383" name="Google Shape;383;p52"/>
          <p:cNvSpPr/>
          <p:nvPr/>
        </p:nvSpPr>
        <p:spPr>
          <a:xfrm>
            <a:off x="2996625" y="3348975"/>
            <a:ext cx="1413900" cy="1400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384" name="Google Shape;384;p52"/>
          <p:cNvSpPr/>
          <p:nvPr/>
        </p:nvSpPr>
        <p:spPr>
          <a:xfrm>
            <a:off x="1114025" y="3348675"/>
            <a:ext cx="990600" cy="1400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Call Graph Generator</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(SVF)</a:t>
            </a:r>
            <a:endParaRPr>
              <a:latin typeface="Twentieth Century"/>
              <a:ea typeface="Twentieth Century"/>
              <a:cs typeface="Twentieth Century"/>
              <a:sym typeface="Twentieth Century"/>
            </a:endParaRPr>
          </a:p>
        </p:txBody>
      </p:sp>
      <p:cxnSp>
        <p:nvCxnSpPr>
          <p:cNvPr id="385" name="Google Shape;385;p52"/>
          <p:cNvCxnSpPr>
            <a:stCxn id="380" idx="2"/>
            <a:endCxn id="384" idx="1"/>
          </p:cNvCxnSpPr>
          <p:nvPr/>
        </p:nvCxnSpPr>
        <p:spPr>
          <a:xfrm flipH="1" rot="-5400000">
            <a:off x="448925" y="3383975"/>
            <a:ext cx="645600" cy="684600"/>
          </a:xfrm>
          <a:prstGeom prst="bentConnector2">
            <a:avLst/>
          </a:prstGeom>
          <a:noFill/>
          <a:ln cap="flat" cmpd="sng" w="9525">
            <a:solidFill>
              <a:schemeClr val="dk2"/>
            </a:solidFill>
            <a:prstDash val="solid"/>
            <a:round/>
            <a:headEnd len="med" w="med" type="none"/>
            <a:tailEnd len="med" w="med" type="triangle"/>
          </a:ln>
        </p:spPr>
      </p:cxnSp>
      <p:cxnSp>
        <p:nvCxnSpPr>
          <p:cNvPr id="386" name="Google Shape;386;p52"/>
          <p:cNvCxnSpPr>
            <a:stCxn id="384" idx="3"/>
            <a:endCxn id="387" idx="1"/>
          </p:cNvCxnSpPr>
          <p:nvPr/>
        </p:nvCxnSpPr>
        <p:spPr>
          <a:xfrm>
            <a:off x="2104625" y="4049025"/>
            <a:ext cx="1647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387" name="Google Shape;387;p52"/>
          <p:cNvSpPr txBox="1"/>
          <p:nvPr/>
        </p:nvSpPr>
        <p:spPr>
          <a:xfrm>
            <a:off x="2269325" y="3811275"/>
            <a:ext cx="5154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.dot</a:t>
            </a:r>
            <a:endParaRPr>
              <a:latin typeface="Calibri"/>
              <a:ea typeface="Calibri"/>
              <a:cs typeface="Calibri"/>
              <a:sym typeface="Calibri"/>
            </a:endParaRPr>
          </a:p>
        </p:txBody>
      </p:sp>
      <p:cxnSp>
        <p:nvCxnSpPr>
          <p:cNvPr id="388" name="Google Shape;388;p52"/>
          <p:cNvCxnSpPr>
            <a:stCxn id="387" idx="3"/>
            <a:endCxn id="383" idx="1"/>
          </p:cNvCxnSpPr>
          <p:nvPr/>
        </p:nvCxnSpPr>
        <p:spPr>
          <a:xfrm>
            <a:off x="2784725" y="4049025"/>
            <a:ext cx="211800" cy="600"/>
          </a:xfrm>
          <a:prstGeom prst="bentConnector3">
            <a:avLst>
              <a:gd fmla="val 50024" name="adj1"/>
            </a:avLst>
          </a:prstGeom>
          <a:noFill/>
          <a:ln cap="flat" cmpd="sng" w="9525">
            <a:solidFill>
              <a:schemeClr val="dk2"/>
            </a:solidFill>
            <a:prstDash val="solid"/>
            <a:round/>
            <a:headEnd len="med" w="med" type="none"/>
            <a:tailEnd len="med" w="med" type="triangle"/>
          </a:ln>
        </p:spPr>
      </p:cxnSp>
      <p:sp>
        <p:nvSpPr>
          <p:cNvPr id="389" name="Google Shape;389;p52"/>
          <p:cNvSpPr txBox="1"/>
          <p:nvPr/>
        </p:nvSpPr>
        <p:spPr>
          <a:xfrm>
            <a:off x="4725025" y="388417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cxnSp>
        <p:nvCxnSpPr>
          <p:cNvPr id="390" name="Google Shape;390;p52"/>
          <p:cNvCxnSpPr>
            <a:stCxn id="383" idx="3"/>
            <a:endCxn id="389" idx="1"/>
          </p:cNvCxnSpPr>
          <p:nvPr/>
        </p:nvCxnSpPr>
        <p:spPr>
          <a:xfrm>
            <a:off x="4410525" y="4049325"/>
            <a:ext cx="314400" cy="600"/>
          </a:xfrm>
          <a:prstGeom prst="bentConnector3">
            <a:avLst>
              <a:gd fmla="val 50016" name="adj1"/>
            </a:avLst>
          </a:prstGeom>
          <a:noFill/>
          <a:ln cap="flat" cmpd="sng" w="9525">
            <a:solidFill>
              <a:schemeClr val="dk2"/>
            </a:solidFill>
            <a:prstDash val="solid"/>
            <a:round/>
            <a:headEnd len="med" w="med" type="none"/>
            <a:tailEnd len="med" w="med" type="triangle"/>
          </a:ln>
        </p:spPr>
      </p:cxnSp>
      <p:cxnSp>
        <p:nvCxnSpPr>
          <p:cNvPr id="391" name="Google Shape;391;p52"/>
          <p:cNvCxnSpPr>
            <a:stCxn id="389" idx="0"/>
            <a:endCxn id="364" idx="2"/>
          </p:cNvCxnSpPr>
          <p:nvPr/>
        </p:nvCxnSpPr>
        <p:spPr>
          <a:xfrm rot="-5400000">
            <a:off x="4478875" y="3390825"/>
            <a:ext cx="962400" cy="24300"/>
          </a:xfrm>
          <a:prstGeom prst="bentConnector3">
            <a:avLst>
              <a:gd fmla="val 49997" name="adj1"/>
            </a:avLst>
          </a:prstGeom>
          <a:noFill/>
          <a:ln cap="flat" cmpd="sng" w="9525">
            <a:solidFill>
              <a:schemeClr val="dk2"/>
            </a:solidFill>
            <a:prstDash val="solid"/>
            <a:round/>
            <a:headEnd len="med" w="med" type="none"/>
            <a:tailEnd len="med" w="med" type="triangle"/>
          </a:ln>
        </p:spPr>
      </p:cxnSp>
      <p:pic>
        <p:nvPicPr>
          <p:cNvPr id="392" name="Google Shape;392;p52"/>
          <p:cNvPicPr preferRelativeResize="0"/>
          <p:nvPr/>
        </p:nvPicPr>
        <p:blipFill>
          <a:blip r:embed="rId3">
            <a:alphaModFix/>
          </a:blip>
          <a:stretch>
            <a:fillRect/>
          </a:stretch>
        </p:blipFill>
        <p:spPr>
          <a:xfrm>
            <a:off x="262513" y="67200"/>
            <a:ext cx="3443781" cy="1967875"/>
          </a:xfrm>
          <a:prstGeom prst="rect">
            <a:avLst/>
          </a:prstGeom>
          <a:noFill/>
          <a:ln>
            <a:noFill/>
          </a:ln>
        </p:spPr>
      </p:pic>
      <p:pic>
        <p:nvPicPr>
          <p:cNvPr id="393" name="Google Shape;393;p52"/>
          <p:cNvPicPr preferRelativeResize="0"/>
          <p:nvPr/>
        </p:nvPicPr>
        <p:blipFill>
          <a:blip r:embed="rId4">
            <a:alphaModFix/>
          </a:blip>
          <a:stretch>
            <a:fillRect/>
          </a:stretch>
        </p:blipFill>
        <p:spPr>
          <a:xfrm>
            <a:off x="5902815" y="542592"/>
            <a:ext cx="3535213" cy="2772722"/>
          </a:xfrm>
          <a:prstGeom prst="rect">
            <a:avLst/>
          </a:prstGeom>
          <a:noFill/>
          <a:ln>
            <a:noFill/>
          </a:ln>
        </p:spPr>
      </p:pic>
      <p:pic>
        <p:nvPicPr>
          <p:cNvPr id="394" name="Google Shape;394;p52"/>
          <p:cNvPicPr preferRelativeResize="0"/>
          <p:nvPr/>
        </p:nvPicPr>
        <p:blipFill>
          <a:blip r:embed="rId5">
            <a:alphaModFix/>
          </a:blip>
          <a:stretch>
            <a:fillRect/>
          </a:stretch>
        </p:blipFill>
        <p:spPr>
          <a:xfrm>
            <a:off x="5726737" y="1447966"/>
            <a:ext cx="2301437" cy="35737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92"/>
                                        </p:tgtEl>
                                      </p:cBhvr>
                                    </p:animEffect>
                                    <p:set>
                                      <p:cBhvr>
                                        <p:cTn dur="1" fill="hold">
                                          <p:stCondLst>
                                            <p:cond delay="1000"/>
                                          </p:stCondLst>
                                        </p:cTn>
                                        <p:tgtEl>
                                          <p:spTgt spid="39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53"/>
          <p:cNvPicPr preferRelativeResize="0"/>
          <p:nvPr/>
        </p:nvPicPr>
        <p:blipFill>
          <a:blip r:embed="rId3">
            <a:alphaModFix/>
          </a:blip>
          <a:stretch>
            <a:fillRect/>
          </a:stretch>
        </p:blipFill>
        <p:spPr>
          <a:xfrm>
            <a:off x="2075589" y="0"/>
            <a:ext cx="4584671" cy="51434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407" name="Google Shape;407;p5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Jan. 21</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414" name="Google Shape;414;p55"/>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5"/>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Progress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Modify SVF to dump call graph with IDs and symbols of caller/callee/callsite.</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IDs of them in .dot are generated by llvm-lib cannot be used directly in LLVM pass.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animEffect filter="fade" transition="in">
                                      <p:cBhvr>
                                        <p:cTn dur="1000"/>
                                        <p:tgtEl>
                                          <p:spTgt spid="4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animEffect filter="fade" transition="in">
                                      <p:cBhvr>
                                        <p:cTn dur="1000"/>
                                        <p:tgtEl>
                                          <p:spTgt spid="4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animEffect filter="fade" transition="in">
                                      <p:cBhvr>
                                        <p:cTn dur="1000"/>
                                        <p:tgtEl>
                                          <p:spTgt spid="4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animEffect filter="fade" transition="in">
                                      <p:cBhvr>
                                        <p:cTn dur="1000"/>
                                        <p:tgtEl>
                                          <p:spTgt spid="4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animEffect filter="fade" transition="in">
                                      <p:cBhvr>
                                        <p:cTn dur="1000"/>
                                        <p:tgtEl>
                                          <p:spTgt spid="4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animEffect filter="fade" transition="in">
                                      <p:cBhvr>
                                        <p:cTn dur="1000"/>
                                        <p:tgtEl>
                                          <p:spTgt spid="4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animEffect filter="fade" transition="in">
                                      <p:cBhvr>
                                        <p:cTn dur="1000"/>
                                        <p:tgtEl>
                                          <p:spTgt spid="4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xEl>
                                              <p:pRg end="7" st="7"/>
                                            </p:txEl>
                                          </p:spTgt>
                                        </p:tgtEl>
                                        <p:attrNameLst>
                                          <p:attrName>style.visibility</p:attrName>
                                        </p:attrNameLst>
                                      </p:cBhvr>
                                      <p:to>
                                        <p:strVal val="visible"/>
                                      </p:to>
                                    </p:set>
                                    <p:animEffect filter="fade" transition="in">
                                      <p:cBhvr>
                                        <p:cTn dur="1000"/>
                                        <p:tgtEl>
                                          <p:spTgt spid="41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6"/>
          <p:cNvSpPr/>
          <p:nvPr/>
        </p:nvSpPr>
        <p:spPr>
          <a:xfrm>
            <a:off x="7517125" y="1052850"/>
            <a:ext cx="1023000" cy="20160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422" name="Google Shape;422;p56"/>
          <p:cNvSpPr/>
          <p:nvPr/>
        </p:nvSpPr>
        <p:spPr>
          <a:xfrm>
            <a:off x="4078600" y="1068000"/>
            <a:ext cx="3105000" cy="37830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423" name="Google Shape;423;p56"/>
          <p:cNvSpPr/>
          <p:nvPr/>
        </p:nvSpPr>
        <p:spPr>
          <a:xfrm>
            <a:off x="372575" y="1052850"/>
            <a:ext cx="3105000" cy="20160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424" name="Google Shape;424;p56"/>
          <p:cNvSpPr txBox="1"/>
          <p:nvPr>
            <p:ph type="title"/>
          </p:nvPr>
        </p:nvSpPr>
        <p:spPr>
          <a:xfrm>
            <a:off x="5524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425" name="Google Shape;425;p56"/>
          <p:cNvSpPr/>
          <p:nvPr/>
        </p:nvSpPr>
        <p:spPr>
          <a:xfrm>
            <a:off x="500125" y="1521125"/>
            <a:ext cx="8370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426" name="Google Shape;426;p56"/>
          <p:cNvSpPr/>
          <p:nvPr/>
        </p:nvSpPr>
        <p:spPr>
          <a:xfrm>
            <a:off x="1987000" y="1521125"/>
            <a:ext cx="2601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427" name="Google Shape;427;p56"/>
          <p:cNvSpPr/>
          <p:nvPr/>
        </p:nvSpPr>
        <p:spPr>
          <a:xfrm>
            <a:off x="2879275" y="1521125"/>
            <a:ext cx="2601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428" name="Google Shape;428;p56"/>
          <p:cNvSpPr/>
          <p:nvPr/>
        </p:nvSpPr>
        <p:spPr>
          <a:xfrm>
            <a:off x="4289026" y="1521125"/>
            <a:ext cx="986700" cy="1400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CG</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GEN</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(SVF-WPA)</a:t>
            </a:r>
            <a:endParaRPr>
              <a:latin typeface="Twentieth Century"/>
              <a:ea typeface="Twentieth Century"/>
              <a:cs typeface="Twentieth Century"/>
              <a:sym typeface="Twentieth Century"/>
            </a:endParaRPr>
          </a:p>
        </p:txBody>
      </p:sp>
      <p:sp>
        <p:nvSpPr>
          <p:cNvPr id="429" name="Google Shape;429;p56"/>
          <p:cNvSpPr/>
          <p:nvPr/>
        </p:nvSpPr>
        <p:spPr>
          <a:xfrm>
            <a:off x="7719325" y="1521125"/>
            <a:ext cx="601200" cy="1400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Back End</a:t>
            </a:r>
            <a:endParaRPr>
              <a:latin typeface="Twentieth Century"/>
              <a:ea typeface="Twentieth Century"/>
              <a:cs typeface="Twentieth Century"/>
              <a:sym typeface="Twentieth Century"/>
            </a:endParaRPr>
          </a:p>
          <a:p>
            <a:pPr indent="0" lvl="0" marL="0" rtl="0" algn="l">
              <a:spcBef>
                <a:spcPts val="0"/>
              </a:spcBef>
              <a:spcAft>
                <a:spcPts val="0"/>
              </a:spcAft>
              <a:buNone/>
            </a:pPr>
            <a:r>
              <a:t/>
            </a:r>
            <a:endParaRPr>
              <a:latin typeface="Twentieth Century"/>
              <a:ea typeface="Twentieth Century"/>
              <a:cs typeface="Twentieth Century"/>
              <a:sym typeface="Twentieth Century"/>
            </a:endParaRPr>
          </a:p>
        </p:txBody>
      </p:sp>
      <p:sp>
        <p:nvSpPr>
          <p:cNvPr id="430" name="Google Shape;430;p56"/>
          <p:cNvSpPr txBox="1"/>
          <p:nvPr/>
        </p:nvSpPr>
        <p:spPr>
          <a:xfrm>
            <a:off x="1437074" y="198372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431" name="Google Shape;431;p56"/>
          <p:cNvCxnSpPr>
            <a:stCxn id="425" idx="3"/>
            <a:endCxn id="430" idx="1"/>
          </p:cNvCxnSpPr>
          <p:nvPr/>
        </p:nvCxnSpPr>
        <p:spPr>
          <a:xfrm>
            <a:off x="1337125" y="2221475"/>
            <a:ext cx="99900" cy="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56"/>
          <p:cNvCxnSpPr>
            <a:stCxn id="430" idx="3"/>
            <a:endCxn id="426" idx="1"/>
          </p:cNvCxnSpPr>
          <p:nvPr/>
        </p:nvCxnSpPr>
        <p:spPr>
          <a:xfrm>
            <a:off x="1764374" y="2221475"/>
            <a:ext cx="222600" cy="0"/>
          </a:xfrm>
          <a:prstGeom prst="straightConnector1">
            <a:avLst/>
          </a:prstGeom>
          <a:noFill/>
          <a:ln cap="flat" cmpd="sng" w="9525">
            <a:solidFill>
              <a:schemeClr val="dk2"/>
            </a:solidFill>
            <a:prstDash val="solid"/>
            <a:round/>
            <a:headEnd len="med" w="med" type="none"/>
            <a:tailEnd len="med" w="med" type="triangle"/>
          </a:ln>
        </p:spPr>
      </p:cxnSp>
      <p:sp>
        <p:nvSpPr>
          <p:cNvPr id="433" name="Google Shape;433;p56"/>
          <p:cNvSpPr txBox="1"/>
          <p:nvPr/>
        </p:nvSpPr>
        <p:spPr>
          <a:xfrm>
            <a:off x="2320275" y="198372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434" name="Google Shape;434;p56"/>
          <p:cNvSpPr txBox="1"/>
          <p:nvPr/>
        </p:nvSpPr>
        <p:spPr>
          <a:xfrm>
            <a:off x="3601826" y="198372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435" name="Google Shape;435;p56"/>
          <p:cNvSpPr txBox="1"/>
          <p:nvPr/>
        </p:nvSpPr>
        <p:spPr>
          <a:xfrm>
            <a:off x="7225850" y="2029775"/>
            <a:ext cx="3750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436" name="Google Shape;436;p56"/>
          <p:cNvCxnSpPr>
            <a:stCxn id="426" idx="3"/>
            <a:endCxn id="433" idx="1"/>
          </p:cNvCxnSpPr>
          <p:nvPr/>
        </p:nvCxnSpPr>
        <p:spPr>
          <a:xfrm>
            <a:off x="2247100" y="2221475"/>
            <a:ext cx="73200" cy="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56"/>
          <p:cNvCxnSpPr>
            <a:stCxn id="433" idx="3"/>
            <a:endCxn id="427" idx="1"/>
          </p:cNvCxnSpPr>
          <p:nvPr/>
        </p:nvCxnSpPr>
        <p:spPr>
          <a:xfrm>
            <a:off x="2647575" y="2221475"/>
            <a:ext cx="231600" cy="0"/>
          </a:xfrm>
          <a:prstGeom prst="straightConnector1">
            <a:avLst/>
          </a:prstGeom>
          <a:noFill/>
          <a:ln cap="flat" cmpd="sng" w="9525">
            <a:solidFill>
              <a:schemeClr val="dk2"/>
            </a:solidFill>
            <a:prstDash val="solid"/>
            <a:round/>
            <a:headEnd len="med" w="med" type="none"/>
            <a:tailEnd len="med" w="med" type="triangle"/>
          </a:ln>
        </p:spPr>
      </p:cxnSp>
      <p:cxnSp>
        <p:nvCxnSpPr>
          <p:cNvPr id="438" name="Google Shape;438;p56"/>
          <p:cNvCxnSpPr>
            <a:stCxn id="427" idx="3"/>
            <a:endCxn id="434" idx="1"/>
          </p:cNvCxnSpPr>
          <p:nvPr/>
        </p:nvCxnSpPr>
        <p:spPr>
          <a:xfrm>
            <a:off x="3139375" y="2221475"/>
            <a:ext cx="462600" cy="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56"/>
          <p:cNvCxnSpPr>
            <a:stCxn id="434" idx="3"/>
            <a:endCxn id="428" idx="1"/>
          </p:cNvCxnSpPr>
          <p:nvPr/>
        </p:nvCxnSpPr>
        <p:spPr>
          <a:xfrm>
            <a:off x="3929126" y="2221475"/>
            <a:ext cx="360000" cy="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56"/>
          <p:cNvCxnSpPr>
            <a:stCxn id="441" idx="3"/>
            <a:endCxn id="435" idx="1"/>
          </p:cNvCxnSpPr>
          <p:nvPr/>
        </p:nvCxnSpPr>
        <p:spPr>
          <a:xfrm>
            <a:off x="7093200" y="2221475"/>
            <a:ext cx="132600" cy="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56"/>
          <p:cNvCxnSpPr>
            <a:stCxn id="435" idx="3"/>
            <a:endCxn id="429" idx="1"/>
          </p:cNvCxnSpPr>
          <p:nvPr/>
        </p:nvCxnSpPr>
        <p:spPr>
          <a:xfrm>
            <a:off x="7600850" y="2221475"/>
            <a:ext cx="118500" cy="0"/>
          </a:xfrm>
          <a:prstGeom prst="straightConnector1">
            <a:avLst/>
          </a:prstGeom>
          <a:noFill/>
          <a:ln cap="flat" cmpd="sng" w="9525">
            <a:solidFill>
              <a:schemeClr val="dk2"/>
            </a:solidFill>
            <a:prstDash val="solid"/>
            <a:round/>
            <a:headEnd len="med" w="med" type="none"/>
            <a:tailEnd len="med" w="med" type="triangle"/>
          </a:ln>
        </p:spPr>
      </p:cxnSp>
      <p:cxnSp>
        <p:nvCxnSpPr>
          <p:cNvPr id="443" name="Google Shape;443;p56"/>
          <p:cNvCxnSpPr>
            <a:stCxn id="444" idx="2"/>
            <a:endCxn id="425" idx="1"/>
          </p:cNvCxnSpPr>
          <p:nvPr/>
        </p:nvCxnSpPr>
        <p:spPr>
          <a:xfrm>
            <a:off x="256675" y="2204700"/>
            <a:ext cx="243600" cy="16800"/>
          </a:xfrm>
          <a:prstGeom prst="straightConnector1">
            <a:avLst/>
          </a:prstGeom>
          <a:noFill/>
          <a:ln cap="flat" cmpd="sng" w="9525">
            <a:solidFill>
              <a:schemeClr val="dk2"/>
            </a:solidFill>
            <a:prstDash val="solid"/>
            <a:round/>
            <a:headEnd len="med" w="med" type="none"/>
            <a:tailEnd len="med" w="med" type="triangle"/>
          </a:ln>
        </p:spPr>
      </p:cxnSp>
      <p:sp>
        <p:nvSpPr>
          <p:cNvPr id="444" name="Google Shape;444;p56"/>
          <p:cNvSpPr txBox="1"/>
          <p:nvPr/>
        </p:nvSpPr>
        <p:spPr>
          <a:xfrm rot="-5400000">
            <a:off x="-441875" y="2039250"/>
            <a:ext cx="10662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445" name="Google Shape;445;p56"/>
          <p:cNvSpPr txBox="1"/>
          <p:nvPr/>
        </p:nvSpPr>
        <p:spPr>
          <a:xfrm rot="5400000">
            <a:off x="8190875" y="2013000"/>
            <a:ext cx="14220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446" name="Google Shape;446;p56"/>
          <p:cNvCxnSpPr>
            <a:stCxn id="429" idx="3"/>
            <a:endCxn id="445" idx="2"/>
          </p:cNvCxnSpPr>
          <p:nvPr/>
        </p:nvCxnSpPr>
        <p:spPr>
          <a:xfrm flipH="1" rot="10800000">
            <a:off x="8320525" y="2204675"/>
            <a:ext cx="389700" cy="16800"/>
          </a:xfrm>
          <a:prstGeom prst="straightConnector1">
            <a:avLst/>
          </a:prstGeom>
          <a:noFill/>
          <a:ln cap="flat" cmpd="sng" w="9525">
            <a:solidFill>
              <a:schemeClr val="dk2"/>
            </a:solidFill>
            <a:prstDash val="solid"/>
            <a:round/>
            <a:headEnd len="med" w="med" type="none"/>
            <a:tailEnd len="med" w="med" type="triangle"/>
          </a:ln>
        </p:spPr>
      </p:cxnSp>
      <p:sp>
        <p:nvSpPr>
          <p:cNvPr id="447" name="Google Shape;447;p56"/>
          <p:cNvSpPr/>
          <p:nvPr/>
        </p:nvSpPr>
        <p:spPr>
          <a:xfrm>
            <a:off x="5157675" y="3233275"/>
            <a:ext cx="879600" cy="99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448" name="Google Shape;448;p56"/>
          <p:cNvSpPr txBox="1"/>
          <p:nvPr/>
        </p:nvSpPr>
        <p:spPr>
          <a:xfrm>
            <a:off x="4545275" y="356082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.cg</a:t>
            </a:r>
            <a:endParaRPr>
              <a:latin typeface="Calibri"/>
              <a:ea typeface="Calibri"/>
              <a:cs typeface="Calibri"/>
              <a:sym typeface="Calibri"/>
            </a:endParaRPr>
          </a:p>
        </p:txBody>
      </p:sp>
      <p:cxnSp>
        <p:nvCxnSpPr>
          <p:cNvPr id="449" name="Google Shape;449;p56"/>
          <p:cNvCxnSpPr>
            <a:stCxn id="448" idx="3"/>
            <a:endCxn id="447" idx="1"/>
          </p:cNvCxnSpPr>
          <p:nvPr/>
        </p:nvCxnSpPr>
        <p:spPr>
          <a:xfrm>
            <a:off x="4991075" y="3726275"/>
            <a:ext cx="166500" cy="4200"/>
          </a:xfrm>
          <a:prstGeom prst="bentConnector3">
            <a:avLst>
              <a:gd fmla="val 50030" name="adj1"/>
            </a:avLst>
          </a:prstGeom>
          <a:noFill/>
          <a:ln cap="flat" cmpd="sng" w="9525">
            <a:solidFill>
              <a:schemeClr val="dk2"/>
            </a:solidFill>
            <a:prstDash val="solid"/>
            <a:round/>
            <a:headEnd len="med" w="med" type="none"/>
            <a:tailEnd len="med" w="med" type="triangle"/>
          </a:ln>
        </p:spPr>
      </p:cxnSp>
      <p:cxnSp>
        <p:nvCxnSpPr>
          <p:cNvPr id="450" name="Google Shape;450;p56"/>
          <p:cNvCxnSpPr>
            <a:stCxn id="428" idx="2"/>
            <a:endCxn id="448" idx="0"/>
          </p:cNvCxnSpPr>
          <p:nvPr/>
        </p:nvCxnSpPr>
        <p:spPr>
          <a:xfrm flipH="1">
            <a:off x="4768276" y="2921825"/>
            <a:ext cx="14100" cy="639000"/>
          </a:xfrm>
          <a:prstGeom prst="straightConnector1">
            <a:avLst/>
          </a:prstGeom>
          <a:noFill/>
          <a:ln cap="flat" cmpd="sng" w="9525">
            <a:solidFill>
              <a:schemeClr val="dk2"/>
            </a:solidFill>
            <a:prstDash val="solid"/>
            <a:round/>
            <a:headEnd len="med" w="med" type="none"/>
            <a:tailEnd len="med" w="med" type="none"/>
          </a:ln>
        </p:spPr>
      </p:cxnSp>
      <p:sp>
        <p:nvSpPr>
          <p:cNvPr id="451" name="Google Shape;451;p56"/>
          <p:cNvSpPr txBox="1"/>
          <p:nvPr/>
        </p:nvSpPr>
        <p:spPr>
          <a:xfrm>
            <a:off x="6223600" y="356082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sp>
        <p:nvSpPr>
          <p:cNvPr id="441" name="Google Shape;441;p56"/>
          <p:cNvSpPr/>
          <p:nvPr/>
        </p:nvSpPr>
        <p:spPr>
          <a:xfrm>
            <a:off x="5797500" y="1521125"/>
            <a:ext cx="1295700" cy="1400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Instrumentation</a:t>
            </a:r>
            <a:endParaRPr>
              <a:latin typeface="Twentieth Century"/>
              <a:ea typeface="Twentieth Century"/>
              <a:cs typeface="Twentieth Century"/>
              <a:sym typeface="Twentieth Century"/>
            </a:endParaRPr>
          </a:p>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cxnSp>
        <p:nvCxnSpPr>
          <p:cNvPr id="452" name="Google Shape;452;p56"/>
          <p:cNvCxnSpPr>
            <a:stCxn id="428" idx="3"/>
            <a:endCxn id="453" idx="1"/>
          </p:cNvCxnSpPr>
          <p:nvPr/>
        </p:nvCxnSpPr>
        <p:spPr>
          <a:xfrm>
            <a:off x="5275726" y="2221475"/>
            <a:ext cx="59400" cy="0"/>
          </a:xfrm>
          <a:prstGeom prst="straightConnector1">
            <a:avLst/>
          </a:prstGeom>
          <a:noFill/>
          <a:ln cap="flat" cmpd="sng" w="9525">
            <a:solidFill>
              <a:schemeClr val="dk2"/>
            </a:solidFill>
            <a:prstDash val="solid"/>
            <a:round/>
            <a:headEnd len="med" w="med" type="none"/>
            <a:tailEnd len="med" w="med" type="none"/>
          </a:ln>
        </p:spPr>
      </p:cxnSp>
      <p:sp>
        <p:nvSpPr>
          <p:cNvPr id="453" name="Google Shape;453;p56"/>
          <p:cNvSpPr txBox="1"/>
          <p:nvPr/>
        </p:nvSpPr>
        <p:spPr>
          <a:xfrm>
            <a:off x="5335049" y="198372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454" name="Google Shape;454;p56"/>
          <p:cNvCxnSpPr>
            <a:stCxn id="453" idx="3"/>
            <a:endCxn id="441" idx="1"/>
          </p:cNvCxnSpPr>
          <p:nvPr/>
        </p:nvCxnSpPr>
        <p:spPr>
          <a:xfrm>
            <a:off x="5662349" y="2221475"/>
            <a:ext cx="135300" cy="0"/>
          </a:xfrm>
          <a:prstGeom prst="straightConnector1">
            <a:avLst/>
          </a:prstGeom>
          <a:noFill/>
          <a:ln cap="flat" cmpd="sng" w="9525">
            <a:solidFill>
              <a:schemeClr val="dk2"/>
            </a:solidFill>
            <a:prstDash val="solid"/>
            <a:round/>
            <a:headEnd len="med" w="med" type="none"/>
            <a:tailEnd len="med" w="med" type="triangle"/>
          </a:ln>
        </p:spPr>
      </p:cxnSp>
      <p:cxnSp>
        <p:nvCxnSpPr>
          <p:cNvPr id="455" name="Google Shape;455;p56"/>
          <p:cNvCxnSpPr>
            <a:stCxn id="447" idx="3"/>
            <a:endCxn id="451" idx="1"/>
          </p:cNvCxnSpPr>
          <p:nvPr/>
        </p:nvCxnSpPr>
        <p:spPr>
          <a:xfrm flipH="1" rot="10800000">
            <a:off x="6037275" y="3726175"/>
            <a:ext cx="186300" cy="42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56"/>
          <p:cNvCxnSpPr>
            <a:stCxn id="451" idx="0"/>
            <a:endCxn id="441" idx="2"/>
          </p:cNvCxnSpPr>
          <p:nvPr/>
        </p:nvCxnSpPr>
        <p:spPr>
          <a:xfrm rot="10800000">
            <a:off x="6445300" y="2921825"/>
            <a:ext cx="1200" cy="639000"/>
          </a:xfrm>
          <a:prstGeom prst="straightConnector1">
            <a:avLst/>
          </a:prstGeom>
          <a:noFill/>
          <a:ln cap="flat" cmpd="sng" w="9525">
            <a:solidFill>
              <a:schemeClr val="dk2"/>
            </a:solidFill>
            <a:prstDash val="dash"/>
            <a:round/>
            <a:headEnd len="med" w="med" type="none"/>
            <a:tailEnd len="med" w="med" type="triangle"/>
          </a:ln>
        </p:spPr>
      </p:cxnSp>
      <p:sp>
        <p:nvSpPr>
          <p:cNvPr id="457" name="Google Shape;457;p56"/>
          <p:cNvSpPr txBox="1"/>
          <p:nvPr/>
        </p:nvSpPr>
        <p:spPr>
          <a:xfrm>
            <a:off x="6573550" y="3637025"/>
            <a:ext cx="2380800" cy="383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Calibri"/>
                <a:ea typeface="Calibri"/>
                <a:cs typeface="Calibri"/>
                <a:sym typeface="Calibri"/>
              </a:rPr>
              <a:t>CRSYM</a:t>
            </a:r>
            <a:r>
              <a:rPr b="1" lang="en" sz="1900">
                <a:latin typeface="Calibri"/>
                <a:ea typeface="Calibri"/>
                <a:cs typeface="Calibri"/>
                <a:sym typeface="Calibri"/>
              </a:rPr>
              <a:t>:</a:t>
            </a:r>
            <a:r>
              <a:rPr lang="en">
                <a:solidFill>
                  <a:schemeClr val="accent2"/>
                </a:solidFill>
                <a:latin typeface="Calibri"/>
                <a:ea typeface="Calibri"/>
                <a:cs typeface="Calibri"/>
                <a:sym typeface="Calibri"/>
              </a:rPr>
              <a:t>CSID</a:t>
            </a:r>
            <a:r>
              <a:rPr b="1" lang="en" sz="1900">
                <a:latin typeface="Calibri"/>
                <a:ea typeface="Calibri"/>
                <a:cs typeface="Calibri"/>
                <a:sym typeface="Calibri"/>
              </a:rPr>
              <a:t>:</a:t>
            </a:r>
            <a:r>
              <a:rPr lang="en">
                <a:solidFill>
                  <a:schemeClr val="accent6"/>
                </a:solidFill>
                <a:latin typeface="Calibri"/>
                <a:ea typeface="Calibri"/>
                <a:cs typeface="Calibri"/>
                <a:sym typeface="Calibri"/>
              </a:rPr>
              <a:t>CESYM</a:t>
            </a:r>
            <a:r>
              <a:rPr b="1" lang="en" sz="1900">
                <a:latin typeface="Calibri"/>
                <a:ea typeface="Calibri"/>
                <a:cs typeface="Calibri"/>
                <a:sym typeface="Calibri"/>
              </a:rPr>
              <a:t>:</a:t>
            </a:r>
            <a:r>
              <a:rPr lang="en">
                <a:solidFill>
                  <a:srgbClr val="FF0000"/>
                </a:solidFill>
                <a:latin typeface="Calibri"/>
                <a:ea typeface="Calibri"/>
                <a:cs typeface="Calibri"/>
                <a:sym typeface="Calibri"/>
              </a:rPr>
              <a:t>WEIGHT</a:t>
            </a:r>
            <a:endParaRPr>
              <a:solidFill>
                <a:srgbClr val="FF0000"/>
              </a:solidFill>
              <a:latin typeface="Calibri"/>
              <a:ea typeface="Calibri"/>
              <a:cs typeface="Calibri"/>
              <a:sym typeface="Calibri"/>
            </a:endParaRPr>
          </a:p>
        </p:txBody>
      </p:sp>
      <p:sp>
        <p:nvSpPr>
          <p:cNvPr id="458" name="Google Shape;458;p56"/>
          <p:cNvSpPr txBox="1"/>
          <p:nvPr/>
        </p:nvSpPr>
        <p:spPr>
          <a:xfrm>
            <a:off x="2647575" y="3637025"/>
            <a:ext cx="1679400" cy="383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Calibri"/>
                <a:ea typeface="Calibri"/>
                <a:cs typeface="Calibri"/>
                <a:sym typeface="Calibri"/>
              </a:rPr>
              <a:t>CRSYM</a:t>
            </a:r>
            <a:r>
              <a:rPr b="1" lang="en" sz="1900">
                <a:latin typeface="Calibri"/>
                <a:ea typeface="Calibri"/>
                <a:cs typeface="Calibri"/>
                <a:sym typeface="Calibri"/>
              </a:rPr>
              <a:t>:</a:t>
            </a:r>
            <a:r>
              <a:rPr lang="en">
                <a:solidFill>
                  <a:schemeClr val="accent2"/>
                </a:solidFill>
                <a:latin typeface="Calibri"/>
                <a:ea typeface="Calibri"/>
                <a:cs typeface="Calibri"/>
                <a:sym typeface="Calibri"/>
              </a:rPr>
              <a:t>CSID</a:t>
            </a:r>
            <a:r>
              <a:rPr b="1" lang="en" sz="1900">
                <a:latin typeface="Calibri"/>
                <a:ea typeface="Calibri"/>
                <a:cs typeface="Calibri"/>
                <a:sym typeface="Calibri"/>
              </a:rPr>
              <a:t>:</a:t>
            </a:r>
            <a:r>
              <a:rPr lang="en">
                <a:solidFill>
                  <a:schemeClr val="accent6"/>
                </a:solidFill>
                <a:latin typeface="Calibri"/>
                <a:ea typeface="Calibri"/>
                <a:cs typeface="Calibri"/>
                <a:sym typeface="Calibri"/>
              </a:rPr>
              <a:t>CESYM</a:t>
            </a:r>
            <a:endParaRPr>
              <a:solidFill>
                <a:schemeClr val="accent6"/>
              </a:solidFill>
              <a:latin typeface="Calibri"/>
              <a:ea typeface="Calibri"/>
              <a:cs typeface="Calibri"/>
              <a:sym typeface="Calibri"/>
            </a:endParaRPr>
          </a:p>
        </p:txBody>
      </p:sp>
      <p:sp>
        <p:nvSpPr>
          <p:cNvPr id="459" name="Google Shape;459;p56"/>
          <p:cNvSpPr txBox="1"/>
          <p:nvPr/>
        </p:nvSpPr>
        <p:spPr>
          <a:xfrm>
            <a:off x="6616300" y="3282225"/>
            <a:ext cx="6399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Twentieth Century"/>
                <a:ea typeface="Twentieth Century"/>
                <a:cs typeface="Twentieth Century"/>
                <a:sym typeface="Twentieth Century"/>
              </a:rPr>
              <a:t>CSID?</a:t>
            </a:r>
            <a:endParaRPr b="1">
              <a:solidFill>
                <a:srgbClr val="FF0000"/>
              </a:solidFill>
              <a:latin typeface="Twentieth Century"/>
              <a:ea typeface="Twentieth Century"/>
              <a:cs typeface="Twentieth Century"/>
              <a:sym typeface="Twentieth Century"/>
            </a:endParaRPr>
          </a:p>
        </p:txBody>
      </p:sp>
      <p:sp>
        <p:nvSpPr>
          <p:cNvPr id="460" name="Google Shape;460;p56"/>
          <p:cNvSpPr/>
          <p:nvPr/>
        </p:nvSpPr>
        <p:spPr>
          <a:xfrm>
            <a:off x="536100" y="1152650"/>
            <a:ext cx="2603400" cy="27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SPEC 2017 Build System</a:t>
            </a:r>
            <a:endParaRPr>
              <a:latin typeface="Twentieth Century"/>
              <a:ea typeface="Twentieth Century"/>
              <a:cs typeface="Twentieth Century"/>
              <a:sym typeface="Twentieth Century"/>
            </a:endParaRPr>
          </a:p>
        </p:txBody>
      </p:sp>
      <p:sp>
        <p:nvSpPr>
          <p:cNvPr id="461" name="Google Shape;461;p56"/>
          <p:cNvSpPr/>
          <p:nvPr/>
        </p:nvSpPr>
        <p:spPr>
          <a:xfrm>
            <a:off x="4289025" y="1152650"/>
            <a:ext cx="2785800" cy="27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p:txBody>
      </p:sp>
      <p:sp>
        <p:nvSpPr>
          <p:cNvPr id="462" name="Google Shape;462;p56"/>
          <p:cNvSpPr/>
          <p:nvPr/>
        </p:nvSpPr>
        <p:spPr>
          <a:xfrm>
            <a:off x="7722150" y="1152650"/>
            <a:ext cx="601200" cy="27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7"/>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Statistics of call graph and Its MaxID</a:t>
            </a:r>
            <a:endParaRPr>
              <a:latin typeface="Twentieth Century"/>
              <a:ea typeface="Twentieth Century"/>
              <a:cs typeface="Twentieth Century"/>
              <a:sym typeface="Twentieth Century"/>
            </a:endParaRPr>
          </a:p>
        </p:txBody>
      </p:sp>
      <p:sp>
        <p:nvSpPr>
          <p:cNvPr id="469" name="Google Shape;469;p57"/>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7"/>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See the excel sheet.</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animEffect filter="fade" transition="in">
                                      <p:cBhvr>
                                        <p:cTn dur="1000"/>
                                        <p:tgtEl>
                                          <p:spTgt spid="4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1" st="1"/>
                                            </p:txEl>
                                          </p:spTgt>
                                        </p:tgtEl>
                                        <p:attrNameLst>
                                          <p:attrName>style.visibility</p:attrName>
                                        </p:attrNameLst>
                                      </p:cBhvr>
                                      <p:to>
                                        <p:strVal val="visible"/>
                                      </p:to>
                                    </p:set>
                                    <p:animEffect filter="fade" transition="in">
                                      <p:cBhvr>
                                        <p:cTn dur="1000"/>
                                        <p:tgtEl>
                                          <p:spTgt spid="4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2" st="2"/>
                                            </p:txEl>
                                          </p:spTgt>
                                        </p:tgtEl>
                                        <p:attrNameLst>
                                          <p:attrName>style.visibility</p:attrName>
                                        </p:attrNameLst>
                                      </p:cBhvr>
                                      <p:to>
                                        <p:strVal val="visible"/>
                                      </p:to>
                                    </p:set>
                                    <p:animEffect filter="fade" transition="in">
                                      <p:cBhvr>
                                        <p:cTn dur="1000"/>
                                        <p:tgtEl>
                                          <p:spTgt spid="4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3" st="3"/>
                                            </p:txEl>
                                          </p:spTgt>
                                        </p:tgtEl>
                                        <p:attrNameLst>
                                          <p:attrName>style.visibility</p:attrName>
                                        </p:attrNameLst>
                                      </p:cBhvr>
                                      <p:to>
                                        <p:strVal val="visible"/>
                                      </p:to>
                                    </p:set>
                                    <p:animEffect filter="fade" transition="in">
                                      <p:cBhvr>
                                        <p:cTn dur="1000"/>
                                        <p:tgtEl>
                                          <p:spTgt spid="47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8"/>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Next Plan</a:t>
            </a:r>
            <a:endParaRPr>
              <a:latin typeface="Twentieth Century"/>
              <a:ea typeface="Twentieth Century"/>
              <a:cs typeface="Twentieth Century"/>
              <a:sym typeface="Twentieth Century"/>
            </a:endParaRPr>
          </a:p>
        </p:txBody>
      </p:sp>
      <p:sp>
        <p:nvSpPr>
          <p:cNvPr id="477" name="Google Shape;477;p58"/>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8"/>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SVF (WPA) to DCCE pass so as to match callsite during instrumentation.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backend</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Find out the reason of huge MaxID (600.perlbench)</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animEffect filter="fade" transition="in">
                                      <p:cBhvr>
                                        <p:cTn dur="1000"/>
                                        <p:tgtEl>
                                          <p:spTgt spid="4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1" st="1"/>
                                            </p:txEl>
                                          </p:spTgt>
                                        </p:tgtEl>
                                        <p:attrNameLst>
                                          <p:attrName>style.visibility</p:attrName>
                                        </p:attrNameLst>
                                      </p:cBhvr>
                                      <p:to>
                                        <p:strVal val="visible"/>
                                      </p:to>
                                    </p:set>
                                    <p:animEffect filter="fade" transition="in">
                                      <p:cBhvr>
                                        <p:cTn dur="1000"/>
                                        <p:tgtEl>
                                          <p:spTgt spid="4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2" st="2"/>
                                            </p:txEl>
                                          </p:spTgt>
                                        </p:tgtEl>
                                        <p:attrNameLst>
                                          <p:attrName>style.visibility</p:attrName>
                                        </p:attrNameLst>
                                      </p:cBhvr>
                                      <p:to>
                                        <p:strVal val="visible"/>
                                      </p:to>
                                    </p:set>
                                    <p:animEffect filter="fade" transition="in">
                                      <p:cBhvr>
                                        <p:cTn dur="1000"/>
                                        <p:tgtEl>
                                          <p:spTgt spid="4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3" st="3"/>
                                            </p:txEl>
                                          </p:spTgt>
                                        </p:tgtEl>
                                        <p:attrNameLst>
                                          <p:attrName>style.visibility</p:attrName>
                                        </p:attrNameLst>
                                      </p:cBhvr>
                                      <p:to>
                                        <p:strVal val="visible"/>
                                      </p:to>
                                    </p:set>
                                    <p:animEffect filter="fade" transition="in">
                                      <p:cBhvr>
                                        <p:cTn dur="1000"/>
                                        <p:tgtEl>
                                          <p:spTgt spid="4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4" st="4"/>
                                            </p:txEl>
                                          </p:spTgt>
                                        </p:tgtEl>
                                        <p:attrNameLst>
                                          <p:attrName>style.visibility</p:attrName>
                                        </p:attrNameLst>
                                      </p:cBhvr>
                                      <p:to>
                                        <p:strVal val="visible"/>
                                      </p:to>
                                    </p:set>
                                    <p:animEffect filter="fade" transition="in">
                                      <p:cBhvr>
                                        <p:cTn dur="1000"/>
                                        <p:tgtEl>
                                          <p:spTgt spid="4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5" st="5"/>
                                            </p:txEl>
                                          </p:spTgt>
                                        </p:tgtEl>
                                        <p:attrNameLst>
                                          <p:attrName>style.visibility</p:attrName>
                                        </p:attrNameLst>
                                      </p:cBhvr>
                                      <p:to>
                                        <p:strVal val="visible"/>
                                      </p:to>
                                    </p:set>
                                    <p:animEffect filter="fade" transition="in">
                                      <p:cBhvr>
                                        <p:cTn dur="1000"/>
                                        <p:tgtEl>
                                          <p:spTgt spid="4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xEl>
                                              <p:pRg end="6" st="6"/>
                                            </p:txEl>
                                          </p:spTgt>
                                        </p:tgtEl>
                                        <p:attrNameLst>
                                          <p:attrName>style.visibility</p:attrName>
                                        </p:attrNameLst>
                                      </p:cBhvr>
                                      <p:to>
                                        <p:strVal val="visible"/>
                                      </p:to>
                                    </p:set>
                                    <p:animEffect filter="fade" transition="in">
                                      <p:cBhvr>
                                        <p:cTn dur="1000"/>
                                        <p:tgtEl>
                                          <p:spTgt spid="47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485" name="Google Shape;485;p59"/>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Jan. 28</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492" name="Google Shape;492;p60"/>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0"/>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Progress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Experiment setup is almost done.</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LLVM pass for instrumentation is integrated to SVF.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 / Callgraph issue with some benchmarks.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Execution time - Baseline / DCCE </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Following footprint manually (so far no problem)</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0" st="0"/>
                                            </p:txEl>
                                          </p:spTgt>
                                        </p:tgtEl>
                                        <p:attrNameLst>
                                          <p:attrName>style.visibility</p:attrName>
                                        </p:attrNameLst>
                                      </p:cBhvr>
                                      <p:to>
                                        <p:strVal val="visible"/>
                                      </p:to>
                                    </p:set>
                                    <p:animEffect filter="fade" transition="in">
                                      <p:cBhvr>
                                        <p:cTn dur="1000"/>
                                        <p:tgtEl>
                                          <p:spTgt spid="4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1" st="1"/>
                                            </p:txEl>
                                          </p:spTgt>
                                        </p:tgtEl>
                                        <p:attrNameLst>
                                          <p:attrName>style.visibility</p:attrName>
                                        </p:attrNameLst>
                                      </p:cBhvr>
                                      <p:to>
                                        <p:strVal val="visible"/>
                                      </p:to>
                                    </p:set>
                                    <p:animEffect filter="fade" transition="in">
                                      <p:cBhvr>
                                        <p:cTn dur="1000"/>
                                        <p:tgtEl>
                                          <p:spTgt spid="4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2" st="2"/>
                                            </p:txEl>
                                          </p:spTgt>
                                        </p:tgtEl>
                                        <p:attrNameLst>
                                          <p:attrName>style.visibility</p:attrName>
                                        </p:attrNameLst>
                                      </p:cBhvr>
                                      <p:to>
                                        <p:strVal val="visible"/>
                                      </p:to>
                                    </p:set>
                                    <p:animEffect filter="fade" transition="in">
                                      <p:cBhvr>
                                        <p:cTn dur="1000"/>
                                        <p:tgtEl>
                                          <p:spTgt spid="4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3" st="3"/>
                                            </p:txEl>
                                          </p:spTgt>
                                        </p:tgtEl>
                                        <p:attrNameLst>
                                          <p:attrName>style.visibility</p:attrName>
                                        </p:attrNameLst>
                                      </p:cBhvr>
                                      <p:to>
                                        <p:strVal val="visible"/>
                                      </p:to>
                                    </p:set>
                                    <p:animEffect filter="fade" transition="in">
                                      <p:cBhvr>
                                        <p:cTn dur="1000"/>
                                        <p:tgtEl>
                                          <p:spTgt spid="4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4" st="4"/>
                                            </p:txEl>
                                          </p:spTgt>
                                        </p:tgtEl>
                                        <p:attrNameLst>
                                          <p:attrName>style.visibility</p:attrName>
                                        </p:attrNameLst>
                                      </p:cBhvr>
                                      <p:to>
                                        <p:strVal val="visible"/>
                                      </p:to>
                                    </p:set>
                                    <p:animEffect filter="fade" transition="in">
                                      <p:cBhvr>
                                        <p:cTn dur="1000"/>
                                        <p:tgtEl>
                                          <p:spTgt spid="4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5" st="5"/>
                                            </p:txEl>
                                          </p:spTgt>
                                        </p:tgtEl>
                                        <p:attrNameLst>
                                          <p:attrName>style.visibility</p:attrName>
                                        </p:attrNameLst>
                                      </p:cBhvr>
                                      <p:to>
                                        <p:strVal val="visible"/>
                                      </p:to>
                                    </p:set>
                                    <p:animEffect filter="fade" transition="in">
                                      <p:cBhvr>
                                        <p:cTn dur="1000"/>
                                        <p:tgtEl>
                                          <p:spTgt spid="4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6" st="6"/>
                                            </p:txEl>
                                          </p:spTgt>
                                        </p:tgtEl>
                                        <p:attrNameLst>
                                          <p:attrName>style.visibility</p:attrName>
                                        </p:attrNameLst>
                                      </p:cBhvr>
                                      <p:to>
                                        <p:strVal val="visible"/>
                                      </p:to>
                                    </p:set>
                                    <p:animEffect filter="fade" transition="in">
                                      <p:cBhvr>
                                        <p:cTn dur="1000"/>
                                        <p:tgtEl>
                                          <p:spTgt spid="4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7" st="7"/>
                                            </p:txEl>
                                          </p:spTgt>
                                        </p:tgtEl>
                                        <p:attrNameLst>
                                          <p:attrName>style.visibility</p:attrName>
                                        </p:attrNameLst>
                                      </p:cBhvr>
                                      <p:to>
                                        <p:strVal val="visible"/>
                                      </p:to>
                                    </p:set>
                                    <p:animEffect filter="fade" transition="in">
                                      <p:cBhvr>
                                        <p:cTn dur="1000"/>
                                        <p:tgtEl>
                                          <p:spTgt spid="4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8" st="8"/>
                                            </p:txEl>
                                          </p:spTgt>
                                        </p:tgtEl>
                                        <p:attrNameLst>
                                          <p:attrName>style.visibility</p:attrName>
                                        </p:attrNameLst>
                                      </p:cBhvr>
                                      <p:to>
                                        <p:strVal val="visible"/>
                                      </p:to>
                                    </p:set>
                                    <p:animEffect filter="fade" transition="in">
                                      <p:cBhvr>
                                        <p:cTn dur="1000"/>
                                        <p:tgtEl>
                                          <p:spTgt spid="49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9" st="9"/>
                                            </p:txEl>
                                          </p:spTgt>
                                        </p:tgtEl>
                                        <p:attrNameLst>
                                          <p:attrName>style.visibility</p:attrName>
                                        </p:attrNameLst>
                                      </p:cBhvr>
                                      <p:to>
                                        <p:strVal val="visible"/>
                                      </p:to>
                                    </p:set>
                                    <p:animEffect filter="fade" transition="in">
                                      <p:cBhvr>
                                        <p:cTn dur="1000"/>
                                        <p:tgtEl>
                                          <p:spTgt spid="49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1"/>
          <p:cNvSpPr/>
          <p:nvPr/>
        </p:nvSpPr>
        <p:spPr>
          <a:xfrm>
            <a:off x="372575" y="1068000"/>
            <a:ext cx="1788600" cy="20007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500" name="Google Shape;500;p61"/>
          <p:cNvSpPr/>
          <p:nvPr/>
        </p:nvSpPr>
        <p:spPr>
          <a:xfrm>
            <a:off x="5823475" y="1068000"/>
            <a:ext cx="2785800" cy="19161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501" name="Google Shape;501;p61"/>
          <p:cNvSpPr/>
          <p:nvPr/>
        </p:nvSpPr>
        <p:spPr>
          <a:xfrm>
            <a:off x="2326000" y="1068000"/>
            <a:ext cx="3105000" cy="39213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502" name="Google Shape;502;p61"/>
          <p:cNvSpPr txBox="1"/>
          <p:nvPr>
            <p:ph type="title"/>
          </p:nvPr>
        </p:nvSpPr>
        <p:spPr>
          <a:xfrm>
            <a:off x="5524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503" name="Google Shape;503;p61"/>
          <p:cNvSpPr/>
          <p:nvPr/>
        </p:nvSpPr>
        <p:spPr>
          <a:xfrm rot="-5400000">
            <a:off x="58600" y="1988075"/>
            <a:ext cx="1410600" cy="476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504" name="Google Shape;504;p61"/>
          <p:cNvSpPr/>
          <p:nvPr/>
        </p:nvSpPr>
        <p:spPr>
          <a:xfrm>
            <a:off x="2536424" y="1521125"/>
            <a:ext cx="2737800" cy="1400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SVF-WPA   </a:t>
            </a:r>
            <a:endParaRPr>
              <a:latin typeface="Twentieth Century"/>
              <a:ea typeface="Twentieth Century"/>
              <a:cs typeface="Twentieth Century"/>
              <a:sym typeface="Twentieth Century"/>
            </a:endParaRPr>
          </a:p>
        </p:txBody>
      </p:sp>
      <p:sp>
        <p:nvSpPr>
          <p:cNvPr id="505" name="Google Shape;505;p61"/>
          <p:cNvSpPr txBox="1"/>
          <p:nvPr/>
        </p:nvSpPr>
        <p:spPr>
          <a:xfrm>
            <a:off x="1064274" y="198867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506" name="Google Shape;506;p61"/>
          <p:cNvSpPr/>
          <p:nvPr/>
        </p:nvSpPr>
        <p:spPr>
          <a:xfrm rot="-5400000">
            <a:off x="5630575" y="1953150"/>
            <a:ext cx="1275300" cy="508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Back End</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cxnSp>
        <p:nvCxnSpPr>
          <p:cNvPr id="507" name="Google Shape;507;p61"/>
          <p:cNvCxnSpPr>
            <a:stCxn id="503" idx="2"/>
            <a:endCxn id="505" idx="1"/>
          </p:cNvCxnSpPr>
          <p:nvPr/>
        </p:nvCxnSpPr>
        <p:spPr>
          <a:xfrm>
            <a:off x="1002250" y="2226425"/>
            <a:ext cx="62100" cy="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61"/>
          <p:cNvCxnSpPr>
            <a:stCxn id="505" idx="3"/>
            <a:endCxn id="509" idx="1"/>
          </p:cNvCxnSpPr>
          <p:nvPr/>
        </p:nvCxnSpPr>
        <p:spPr>
          <a:xfrm flipH="1" rot="10800000">
            <a:off x="1391574" y="2221625"/>
            <a:ext cx="138300" cy="4800"/>
          </a:xfrm>
          <a:prstGeom prst="straightConnector1">
            <a:avLst/>
          </a:prstGeom>
          <a:noFill/>
          <a:ln cap="flat" cmpd="sng" w="9525">
            <a:solidFill>
              <a:schemeClr val="dk2"/>
            </a:solidFill>
            <a:prstDash val="solid"/>
            <a:round/>
            <a:headEnd len="med" w="med" type="none"/>
            <a:tailEnd len="med" w="med" type="triangle"/>
          </a:ln>
        </p:spPr>
      </p:cxnSp>
      <p:sp>
        <p:nvSpPr>
          <p:cNvPr id="510" name="Google Shape;510;p61"/>
          <p:cNvSpPr txBox="1"/>
          <p:nvPr/>
        </p:nvSpPr>
        <p:spPr>
          <a:xfrm>
            <a:off x="1925426" y="198372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511" name="Google Shape;511;p61"/>
          <p:cNvSpPr txBox="1"/>
          <p:nvPr/>
        </p:nvSpPr>
        <p:spPr>
          <a:xfrm>
            <a:off x="5473250" y="1953575"/>
            <a:ext cx="3273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512" name="Google Shape;512;p61"/>
          <p:cNvCxnSpPr>
            <a:stCxn id="510" idx="3"/>
            <a:endCxn id="504" idx="1"/>
          </p:cNvCxnSpPr>
          <p:nvPr/>
        </p:nvCxnSpPr>
        <p:spPr>
          <a:xfrm>
            <a:off x="2252726" y="2221475"/>
            <a:ext cx="283800" cy="0"/>
          </a:xfrm>
          <a:prstGeom prst="straightConnector1">
            <a:avLst/>
          </a:prstGeom>
          <a:noFill/>
          <a:ln cap="flat" cmpd="sng" w="9525">
            <a:solidFill>
              <a:schemeClr val="dk2"/>
            </a:solidFill>
            <a:prstDash val="solid"/>
            <a:round/>
            <a:headEnd len="med" w="med" type="none"/>
            <a:tailEnd len="med" w="med" type="triangle"/>
          </a:ln>
        </p:spPr>
      </p:cxnSp>
      <p:cxnSp>
        <p:nvCxnSpPr>
          <p:cNvPr id="513" name="Google Shape;513;p61"/>
          <p:cNvCxnSpPr>
            <a:stCxn id="511" idx="3"/>
            <a:endCxn id="506" idx="0"/>
          </p:cNvCxnSpPr>
          <p:nvPr/>
        </p:nvCxnSpPr>
        <p:spPr>
          <a:xfrm>
            <a:off x="5800550" y="2145275"/>
            <a:ext cx="213300" cy="62100"/>
          </a:xfrm>
          <a:prstGeom prst="straightConnector1">
            <a:avLst/>
          </a:prstGeom>
          <a:noFill/>
          <a:ln cap="flat" cmpd="sng" w="9525">
            <a:solidFill>
              <a:schemeClr val="dk2"/>
            </a:solidFill>
            <a:prstDash val="solid"/>
            <a:round/>
            <a:headEnd len="med" w="med" type="none"/>
            <a:tailEnd len="med" w="med" type="triangle"/>
          </a:ln>
        </p:spPr>
      </p:cxnSp>
      <p:cxnSp>
        <p:nvCxnSpPr>
          <p:cNvPr id="514" name="Google Shape;514;p61"/>
          <p:cNvCxnSpPr>
            <a:stCxn id="515" idx="2"/>
            <a:endCxn id="503" idx="0"/>
          </p:cNvCxnSpPr>
          <p:nvPr/>
        </p:nvCxnSpPr>
        <p:spPr>
          <a:xfrm>
            <a:off x="262925" y="2226425"/>
            <a:ext cx="262500" cy="0"/>
          </a:xfrm>
          <a:prstGeom prst="straightConnector1">
            <a:avLst/>
          </a:prstGeom>
          <a:noFill/>
          <a:ln cap="flat" cmpd="sng" w="9525">
            <a:solidFill>
              <a:schemeClr val="dk2"/>
            </a:solidFill>
            <a:prstDash val="solid"/>
            <a:round/>
            <a:headEnd len="med" w="med" type="none"/>
            <a:tailEnd len="med" w="med" type="triangle"/>
          </a:ln>
        </p:spPr>
      </p:cxnSp>
      <p:sp>
        <p:nvSpPr>
          <p:cNvPr id="515" name="Google Shape;515;p61"/>
          <p:cNvSpPr txBox="1"/>
          <p:nvPr/>
        </p:nvSpPr>
        <p:spPr>
          <a:xfrm rot="-5400000">
            <a:off x="-435625" y="2060975"/>
            <a:ext cx="10662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516" name="Google Shape;516;p61"/>
          <p:cNvSpPr txBox="1"/>
          <p:nvPr/>
        </p:nvSpPr>
        <p:spPr>
          <a:xfrm rot="-5400000">
            <a:off x="6649975" y="2015600"/>
            <a:ext cx="1303500" cy="38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517" name="Google Shape;517;p61"/>
          <p:cNvCxnSpPr>
            <a:stCxn id="506" idx="2"/>
            <a:endCxn id="516" idx="0"/>
          </p:cNvCxnSpPr>
          <p:nvPr/>
        </p:nvCxnSpPr>
        <p:spPr>
          <a:xfrm>
            <a:off x="6522475" y="2207400"/>
            <a:ext cx="587700" cy="0"/>
          </a:xfrm>
          <a:prstGeom prst="straightConnector1">
            <a:avLst/>
          </a:prstGeom>
          <a:noFill/>
          <a:ln cap="flat" cmpd="sng" w="9525">
            <a:solidFill>
              <a:schemeClr val="dk2"/>
            </a:solidFill>
            <a:prstDash val="solid"/>
            <a:round/>
            <a:headEnd len="med" w="med" type="none"/>
            <a:tailEnd len="med" w="med" type="triangle"/>
          </a:ln>
        </p:spPr>
      </p:cxnSp>
      <p:sp>
        <p:nvSpPr>
          <p:cNvPr id="518" name="Google Shape;518;p61"/>
          <p:cNvSpPr/>
          <p:nvPr/>
        </p:nvSpPr>
        <p:spPr>
          <a:xfrm>
            <a:off x="3405075" y="3233275"/>
            <a:ext cx="879600" cy="99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519" name="Google Shape;519;p61"/>
          <p:cNvSpPr txBox="1"/>
          <p:nvPr/>
        </p:nvSpPr>
        <p:spPr>
          <a:xfrm>
            <a:off x="2792675" y="356082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.cg</a:t>
            </a:r>
            <a:endParaRPr>
              <a:latin typeface="Calibri"/>
              <a:ea typeface="Calibri"/>
              <a:cs typeface="Calibri"/>
              <a:sym typeface="Calibri"/>
            </a:endParaRPr>
          </a:p>
        </p:txBody>
      </p:sp>
      <p:cxnSp>
        <p:nvCxnSpPr>
          <p:cNvPr id="520" name="Google Shape;520;p61"/>
          <p:cNvCxnSpPr>
            <a:stCxn id="519" idx="3"/>
            <a:endCxn id="518" idx="1"/>
          </p:cNvCxnSpPr>
          <p:nvPr/>
        </p:nvCxnSpPr>
        <p:spPr>
          <a:xfrm>
            <a:off x="3238475" y="3726275"/>
            <a:ext cx="166500" cy="4200"/>
          </a:xfrm>
          <a:prstGeom prst="bentConnector3">
            <a:avLst>
              <a:gd fmla="val 50030" name="adj1"/>
            </a:avLst>
          </a:prstGeom>
          <a:noFill/>
          <a:ln cap="flat" cmpd="sng" w="9525">
            <a:solidFill>
              <a:schemeClr val="dk2"/>
            </a:solidFill>
            <a:prstDash val="solid"/>
            <a:round/>
            <a:headEnd len="med" w="med" type="none"/>
            <a:tailEnd len="med" w="med" type="triangle"/>
          </a:ln>
        </p:spPr>
      </p:cxnSp>
      <p:cxnSp>
        <p:nvCxnSpPr>
          <p:cNvPr id="521" name="Google Shape;521;p61"/>
          <p:cNvCxnSpPr>
            <a:stCxn id="522" idx="1"/>
            <a:endCxn id="519" idx="0"/>
          </p:cNvCxnSpPr>
          <p:nvPr/>
        </p:nvCxnSpPr>
        <p:spPr>
          <a:xfrm rot="5400000">
            <a:off x="2725125" y="3128575"/>
            <a:ext cx="722700" cy="141900"/>
          </a:xfrm>
          <a:prstGeom prst="bentConnector3">
            <a:avLst>
              <a:gd fmla="val 49997" name="adj1"/>
            </a:avLst>
          </a:prstGeom>
          <a:noFill/>
          <a:ln cap="flat" cmpd="sng" w="9525">
            <a:solidFill>
              <a:schemeClr val="dk2"/>
            </a:solidFill>
            <a:prstDash val="solid"/>
            <a:round/>
            <a:headEnd len="med" w="med" type="none"/>
            <a:tailEnd len="med" w="med" type="none"/>
          </a:ln>
        </p:spPr>
      </p:cxnSp>
      <p:sp>
        <p:nvSpPr>
          <p:cNvPr id="523" name="Google Shape;523;p61"/>
          <p:cNvSpPr txBox="1"/>
          <p:nvPr/>
        </p:nvSpPr>
        <p:spPr>
          <a:xfrm>
            <a:off x="4394800" y="356082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cxnSp>
        <p:nvCxnSpPr>
          <p:cNvPr id="524" name="Google Shape;524;p61"/>
          <p:cNvCxnSpPr>
            <a:stCxn id="518" idx="3"/>
            <a:endCxn id="523" idx="1"/>
          </p:cNvCxnSpPr>
          <p:nvPr/>
        </p:nvCxnSpPr>
        <p:spPr>
          <a:xfrm flipH="1" rot="10800000">
            <a:off x="4284675" y="3726175"/>
            <a:ext cx="110100" cy="4200"/>
          </a:xfrm>
          <a:prstGeom prst="straightConnector1">
            <a:avLst/>
          </a:prstGeom>
          <a:noFill/>
          <a:ln cap="flat" cmpd="sng" w="9525">
            <a:solidFill>
              <a:schemeClr val="dk2"/>
            </a:solidFill>
            <a:prstDash val="solid"/>
            <a:round/>
            <a:headEnd len="med" w="med" type="none"/>
            <a:tailEnd len="med" w="med" type="none"/>
          </a:ln>
        </p:spPr>
      </p:cxnSp>
      <p:sp>
        <p:nvSpPr>
          <p:cNvPr id="525" name="Google Shape;525;p61"/>
          <p:cNvSpPr/>
          <p:nvPr/>
        </p:nvSpPr>
        <p:spPr>
          <a:xfrm>
            <a:off x="2536425" y="1152650"/>
            <a:ext cx="2785800" cy="277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p:txBody>
      </p:sp>
      <p:sp>
        <p:nvSpPr>
          <p:cNvPr id="522" name="Google Shape;522;p61"/>
          <p:cNvSpPr/>
          <p:nvPr/>
        </p:nvSpPr>
        <p:spPr>
          <a:xfrm rot="-5400000">
            <a:off x="2659875" y="1945375"/>
            <a:ext cx="995100" cy="790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Dump callgraph</a:t>
            </a:r>
            <a:endParaRPr>
              <a:latin typeface="Twentieth Century"/>
              <a:ea typeface="Twentieth Century"/>
              <a:cs typeface="Twentieth Century"/>
              <a:sym typeface="Twentieth Century"/>
            </a:endParaRPr>
          </a:p>
        </p:txBody>
      </p:sp>
      <p:sp>
        <p:nvSpPr>
          <p:cNvPr id="526" name="Google Shape;526;p61"/>
          <p:cNvSpPr/>
          <p:nvPr/>
        </p:nvSpPr>
        <p:spPr>
          <a:xfrm>
            <a:off x="3867438" y="1843075"/>
            <a:ext cx="1277700" cy="966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cxnSp>
        <p:nvCxnSpPr>
          <p:cNvPr id="527" name="Google Shape;527;p61"/>
          <p:cNvCxnSpPr>
            <a:stCxn id="523" idx="0"/>
            <a:endCxn id="526" idx="2"/>
          </p:cNvCxnSpPr>
          <p:nvPr/>
        </p:nvCxnSpPr>
        <p:spPr>
          <a:xfrm flipH="1" rot="5400000">
            <a:off x="4186600" y="3129725"/>
            <a:ext cx="750900" cy="111300"/>
          </a:xfrm>
          <a:prstGeom prst="bentConnector3">
            <a:avLst>
              <a:gd fmla="val 49997" name="adj1"/>
            </a:avLst>
          </a:prstGeom>
          <a:noFill/>
          <a:ln cap="flat" cmpd="sng" w="9525">
            <a:solidFill>
              <a:schemeClr val="dk2"/>
            </a:solidFill>
            <a:prstDash val="solid"/>
            <a:round/>
            <a:headEnd len="med" w="med" type="none"/>
            <a:tailEnd len="med" w="med" type="triangle"/>
          </a:ln>
        </p:spPr>
      </p:cxnSp>
      <p:cxnSp>
        <p:nvCxnSpPr>
          <p:cNvPr id="528" name="Google Shape;528;p61"/>
          <p:cNvCxnSpPr>
            <a:stCxn id="529" idx="3"/>
            <a:endCxn id="511" idx="1"/>
          </p:cNvCxnSpPr>
          <p:nvPr/>
        </p:nvCxnSpPr>
        <p:spPr>
          <a:xfrm>
            <a:off x="5076537" y="2120050"/>
            <a:ext cx="396600" cy="25200"/>
          </a:xfrm>
          <a:prstGeom prst="straightConnector1">
            <a:avLst/>
          </a:prstGeom>
          <a:noFill/>
          <a:ln cap="flat" cmpd="sng" w="9525">
            <a:solidFill>
              <a:schemeClr val="dk2"/>
            </a:solidFill>
            <a:prstDash val="solid"/>
            <a:round/>
            <a:headEnd len="med" w="med" type="none"/>
            <a:tailEnd len="med" w="med" type="none"/>
          </a:ln>
        </p:spPr>
      </p:cxnSp>
      <p:sp>
        <p:nvSpPr>
          <p:cNvPr id="530" name="Google Shape;530;p61"/>
          <p:cNvSpPr/>
          <p:nvPr/>
        </p:nvSpPr>
        <p:spPr>
          <a:xfrm>
            <a:off x="1627300" y="1583275"/>
            <a:ext cx="260100" cy="1400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509" name="Google Shape;509;p61"/>
          <p:cNvSpPr/>
          <p:nvPr/>
        </p:nvSpPr>
        <p:spPr>
          <a:xfrm>
            <a:off x="1529800" y="1521125"/>
            <a:ext cx="260100" cy="1400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cxnSp>
        <p:nvCxnSpPr>
          <p:cNvPr id="531" name="Google Shape;531;p61"/>
          <p:cNvCxnSpPr>
            <a:stCxn id="509" idx="3"/>
            <a:endCxn id="510" idx="1"/>
          </p:cNvCxnSpPr>
          <p:nvPr/>
        </p:nvCxnSpPr>
        <p:spPr>
          <a:xfrm>
            <a:off x="1789900" y="2221475"/>
            <a:ext cx="135600" cy="0"/>
          </a:xfrm>
          <a:prstGeom prst="straightConnector1">
            <a:avLst/>
          </a:prstGeom>
          <a:noFill/>
          <a:ln cap="flat" cmpd="sng" w="9525">
            <a:solidFill>
              <a:schemeClr val="dk2"/>
            </a:solidFill>
            <a:prstDash val="solid"/>
            <a:round/>
            <a:headEnd len="med" w="med" type="none"/>
            <a:tailEnd len="med" w="med" type="none"/>
          </a:ln>
        </p:spPr>
      </p:cxnSp>
      <p:sp>
        <p:nvSpPr>
          <p:cNvPr id="532" name="Google Shape;532;p61"/>
          <p:cNvSpPr/>
          <p:nvPr/>
        </p:nvSpPr>
        <p:spPr>
          <a:xfrm>
            <a:off x="5984400" y="1152650"/>
            <a:ext cx="2454600" cy="277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Real Machine Experiment</a:t>
            </a:r>
            <a:endParaRPr>
              <a:latin typeface="Twentieth Century"/>
              <a:ea typeface="Twentieth Century"/>
              <a:cs typeface="Twentieth Century"/>
              <a:sym typeface="Twentieth Century"/>
            </a:endParaRPr>
          </a:p>
        </p:txBody>
      </p:sp>
      <p:sp>
        <p:nvSpPr>
          <p:cNvPr id="533" name="Google Shape;533;p61"/>
          <p:cNvSpPr/>
          <p:nvPr/>
        </p:nvSpPr>
        <p:spPr>
          <a:xfrm>
            <a:off x="5823475" y="3035000"/>
            <a:ext cx="2785800" cy="19161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534" name="Google Shape;534;p61"/>
          <p:cNvSpPr/>
          <p:nvPr/>
        </p:nvSpPr>
        <p:spPr>
          <a:xfrm>
            <a:off x="6013975" y="3143425"/>
            <a:ext cx="2454600" cy="2775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Simulation</a:t>
            </a:r>
            <a:endParaRPr>
              <a:latin typeface="Twentieth Century"/>
              <a:ea typeface="Twentieth Century"/>
              <a:cs typeface="Twentieth Century"/>
              <a:sym typeface="Twentieth Century"/>
            </a:endParaRPr>
          </a:p>
        </p:txBody>
      </p:sp>
      <p:sp>
        <p:nvSpPr>
          <p:cNvPr id="535" name="Google Shape;535;p61"/>
          <p:cNvSpPr/>
          <p:nvPr/>
        </p:nvSpPr>
        <p:spPr>
          <a:xfrm rot="-5400000">
            <a:off x="7257025" y="3706650"/>
            <a:ext cx="1342800" cy="9333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Gem5</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(Extended ISA)</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(Extended Arch)</a:t>
            </a:r>
            <a:endParaRPr>
              <a:latin typeface="Twentieth Century"/>
              <a:ea typeface="Twentieth Century"/>
              <a:cs typeface="Twentieth Century"/>
              <a:sym typeface="Twentieth Century"/>
            </a:endParaRPr>
          </a:p>
        </p:txBody>
      </p:sp>
      <p:sp>
        <p:nvSpPr>
          <p:cNvPr id="536" name="Google Shape;536;p61"/>
          <p:cNvSpPr txBox="1"/>
          <p:nvPr/>
        </p:nvSpPr>
        <p:spPr>
          <a:xfrm>
            <a:off x="4110350" y="4288725"/>
            <a:ext cx="1614000" cy="383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Calibri"/>
                <a:ea typeface="Calibri"/>
                <a:cs typeface="Calibri"/>
                <a:sym typeface="Calibri"/>
              </a:rPr>
              <a:t>CRSYM</a:t>
            </a:r>
            <a:r>
              <a:rPr b="1" lang="en">
                <a:latin typeface="Calibri"/>
                <a:ea typeface="Calibri"/>
                <a:cs typeface="Calibri"/>
                <a:sym typeface="Calibri"/>
              </a:rPr>
              <a:t>:</a:t>
            </a:r>
            <a:r>
              <a:rPr lang="en" sz="900">
                <a:solidFill>
                  <a:schemeClr val="accent2"/>
                </a:solidFill>
                <a:latin typeface="Calibri"/>
                <a:ea typeface="Calibri"/>
                <a:cs typeface="Calibri"/>
                <a:sym typeface="Calibri"/>
              </a:rPr>
              <a:t>CSID</a:t>
            </a:r>
            <a:r>
              <a:rPr b="1" lang="en">
                <a:latin typeface="Calibri"/>
                <a:ea typeface="Calibri"/>
                <a:cs typeface="Calibri"/>
                <a:sym typeface="Calibri"/>
              </a:rPr>
              <a:t>:</a:t>
            </a:r>
            <a:r>
              <a:rPr lang="en" sz="900">
                <a:solidFill>
                  <a:schemeClr val="accent6"/>
                </a:solidFill>
                <a:latin typeface="Calibri"/>
                <a:ea typeface="Calibri"/>
                <a:cs typeface="Calibri"/>
                <a:sym typeface="Calibri"/>
              </a:rPr>
              <a:t>CESYM</a:t>
            </a:r>
            <a:r>
              <a:rPr b="1" lang="en">
                <a:latin typeface="Calibri"/>
                <a:ea typeface="Calibri"/>
                <a:cs typeface="Calibri"/>
                <a:sym typeface="Calibri"/>
              </a:rPr>
              <a:t>:</a:t>
            </a:r>
            <a:r>
              <a:rPr lang="en" sz="900">
                <a:solidFill>
                  <a:srgbClr val="FF0000"/>
                </a:solidFill>
                <a:latin typeface="Calibri"/>
                <a:ea typeface="Calibri"/>
                <a:cs typeface="Calibri"/>
                <a:sym typeface="Calibri"/>
              </a:rPr>
              <a:t>WEIGHT</a:t>
            </a:r>
            <a:endParaRPr sz="900">
              <a:solidFill>
                <a:srgbClr val="FF0000"/>
              </a:solidFill>
              <a:latin typeface="Calibri"/>
              <a:ea typeface="Calibri"/>
              <a:cs typeface="Calibri"/>
              <a:sym typeface="Calibri"/>
            </a:endParaRPr>
          </a:p>
        </p:txBody>
      </p:sp>
      <p:sp>
        <p:nvSpPr>
          <p:cNvPr id="537" name="Google Shape;537;p61"/>
          <p:cNvSpPr txBox="1"/>
          <p:nvPr/>
        </p:nvSpPr>
        <p:spPr>
          <a:xfrm>
            <a:off x="2132475" y="4288725"/>
            <a:ext cx="1614000" cy="383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Calibri"/>
                <a:ea typeface="Calibri"/>
                <a:cs typeface="Calibri"/>
                <a:sym typeface="Calibri"/>
              </a:rPr>
              <a:t>CRSYM</a:t>
            </a:r>
            <a:r>
              <a:rPr b="1" lang="en">
                <a:latin typeface="Calibri"/>
                <a:ea typeface="Calibri"/>
                <a:cs typeface="Calibri"/>
                <a:sym typeface="Calibri"/>
              </a:rPr>
              <a:t>:</a:t>
            </a:r>
            <a:r>
              <a:rPr lang="en" sz="900">
                <a:solidFill>
                  <a:schemeClr val="accent2"/>
                </a:solidFill>
                <a:latin typeface="Calibri"/>
                <a:ea typeface="Calibri"/>
                <a:cs typeface="Calibri"/>
                <a:sym typeface="Calibri"/>
              </a:rPr>
              <a:t>CSID</a:t>
            </a:r>
            <a:r>
              <a:rPr b="1" lang="en">
                <a:latin typeface="Calibri"/>
                <a:ea typeface="Calibri"/>
                <a:cs typeface="Calibri"/>
                <a:sym typeface="Calibri"/>
              </a:rPr>
              <a:t>:</a:t>
            </a:r>
            <a:r>
              <a:rPr lang="en" sz="900">
                <a:solidFill>
                  <a:schemeClr val="accent6"/>
                </a:solidFill>
                <a:latin typeface="Calibri"/>
                <a:ea typeface="Calibri"/>
                <a:cs typeface="Calibri"/>
                <a:sym typeface="Calibri"/>
              </a:rPr>
              <a:t>CESYM</a:t>
            </a:r>
            <a:r>
              <a:rPr b="1" lang="en">
                <a:latin typeface="Calibri"/>
                <a:ea typeface="Calibri"/>
                <a:cs typeface="Calibri"/>
                <a:sym typeface="Calibri"/>
              </a:rPr>
              <a:t>:</a:t>
            </a:r>
            <a:r>
              <a:rPr lang="en" sz="900">
                <a:solidFill>
                  <a:srgbClr val="FF0000"/>
                </a:solidFill>
                <a:latin typeface="Calibri"/>
                <a:ea typeface="Calibri"/>
                <a:cs typeface="Calibri"/>
                <a:sym typeface="Calibri"/>
              </a:rPr>
              <a:t>??</a:t>
            </a:r>
            <a:endParaRPr sz="900">
              <a:solidFill>
                <a:srgbClr val="FF0000"/>
              </a:solidFill>
              <a:latin typeface="Calibri"/>
              <a:ea typeface="Calibri"/>
              <a:cs typeface="Calibri"/>
              <a:sym typeface="Calibri"/>
            </a:endParaRPr>
          </a:p>
        </p:txBody>
      </p:sp>
      <p:sp>
        <p:nvSpPr>
          <p:cNvPr id="529" name="Google Shape;529;p61"/>
          <p:cNvSpPr/>
          <p:nvPr/>
        </p:nvSpPr>
        <p:spPr>
          <a:xfrm>
            <a:off x="3968337" y="1974700"/>
            <a:ext cx="1108200" cy="290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Instrument</a:t>
            </a:r>
            <a:endParaRPr>
              <a:latin typeface="Twentieth Century"/>
              <a:ea typeface="Twentieth Century"/>
              <a:cs typeface="Twentieth Century"/>
              <a:sym typeface="Twentieth Century"/>
            </a:endParaRPr>
          </a:p>
        </p:txBody>
      </p:sp>
      <p:sp>
        <p:nvSpPr>
          <p:cNvPr id="538" name="Google Shape;538;p61"/>
          <p:cNvSpPr/>
          <p:nvPr/>
        </p:nvSpPr>
        <p:spPr>
          <a:xfrm>
            <a:off x="3982728" y="2403575"/>
            <a:ext cx="1062600" cy="268200"/>
          </a:xfrm>
          <a:prstGeom prst="rect">
            <a:avLst/>
          </a:prstGeom>
          <a:solidFill>
            <a:srgbClr val="D9EAD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539" name="Google Shape;539;p61"/>
          <p:cNvSpPr txBox="1"/>
          <p:nvPr/>
        </p:nvSpPr>
        <p:spPr>
          <a:xfrm>
            <a:off x="5493725" y="3479700"/>
            <a:ext cx="3273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540" name="Google Shape;540;p61"/>
          <p:cNvSpPr/>
          <p:nvPr/>
        </p:nvSpPr>
        <p:spPr>
          <a:xfrm rot="-5400000">
            <a:off x="7552675" y="1952350"/>
            <a:ext cx="1290900" cy="508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Host PC</a:t>
            </a:r>
            <a:endParaRPr>
              <a:latin typeface="Twentieth Century"/>
              <a:ea typeface="Twentieth Century"/>
              <a:cs typeface="Twentieth Century"/>
              <a:sym typeface="Twentieth Century"/>
            </a:endParaRPr>
          </a:p>
        </p:txBody>
      </p:sp>
      <p:cxnSp>
        <p:nvCxnSpPr>
          <p:cNvPr id="541" name="Google Shape;541;p61"/>
          <p:cNvCxnSpPr>
            <a:stCxn id="516" idx="2"/>
            <a:endCxn id="540" idx="0"/>
          </p:cNvCxnSpPr>
          <p:nvPr/>
        </p:nvCxnSpPr>
        <p:spPr>
          <a:xfrm flipH="1" rot="10800000">
            <a:off x="7493425" y="2206700"/>
            <a:ext cx="450600" cy="600"/>
          </a:xfrm>
          <a:prstGeom prst="straightConnector1">
            <a:avLst/>
          </a:prstGeom>
          <a:noFill/>
          <a:ln cap="flat" cmpd="sng" w="9525">
            <a:solidFill>
              <a:schemeClr val="dk2"/>
            </a:solidFill>
            <a:prstDash val="solid"/>
            <a:round/>
            <a:headEnd len="med" w="med" type="none"/>
            <a:tailEnd len="med" w="med" type="triangle"/>
          </a:ln>
        </p:spPr>
      </p:cxnSp>
      <p:cxnSp>
        <p:nvCxnSpPr>
          <p:cNvPr id="542" name="Google Shape;542;p61"/>
          <p:cNvCxnSpPr>
            <a:stCxn id="538" idx="3"/>
            <a:endCxn id="539" idx="1"/>
          </p:cNvCxnSpPr>
          <p:nvPr/>
        </p:nvCxnSpPr>
        <p:spPr>
          <a:xfrm>
            <a:off x="5045328" y="2537675"/>
            <a:ext cx="448500" cy="1133700"/>
          </a:xfrm>
          <a:prstGeom prst="bentConnector3">
            <a:avLst>
              <a:gd fmla="val 34386" name="adj1"/>
            </a:avLst>
          </a:prstGeom>
          <a:noFill/>
          <a:ln cap="flat" cmpd="sng" w="9525">
            <a:solidFill>
              <a:schemeClr val="dk2"/>
            </a:solidFill>
            <a:prstDash val="solid"/>
            <a:round/>
            <a:headEnd len="med" w="med" type="none"/>
            <a:tailEnd len="med" w="med" type="none"/>
          </a:ln>
        </p:spPr>
      </p:cxnSp>
      <p:cxnSp>
        <p:nvCxnSpPr>
          <p:cNvPr id="543" name="Google Shape;543;p61"/>
          <p:cNvCxnSpPr>
            <a:stCxn id="539" idx="3"/>
            <a:endCxn id="544" idx="0"/>
          </p:cNvCxnSpPr>
          <p:nvPr/>
        </p:nvCxnSpPr>
        <p:spPr>
          <a:xfrm>
            <a:off x="5821025" y="3671400"/>
            <a:ext cx="226200" cy="501900"/>
          </a:xfrm>
          <a:prstGeom prst="bentConnector3">
            <a:avLst>
              <a:gd fmla="val 50006" name="adj1"/>
            </a:avLst>
          </a:prstGeom>
          <a:noFill/>
          <a:ln cap="flat" cmpd="sng" w="9525">
            <a:solidFill>
              <a:schemeClr val="dk2"/>
            </a:solidFill>
            <a:prstDash val="solid"/>
            <a:round/>
            <a:headEnd len="med" w="med" type="none"/>
            <a:tailEnd len="med" w="med" type="triangle"/>
          </a:ln>
        </p:spPr>
      </p:cxnSp>
      <p:sp>
        <p:nvSpPr>
          <p:cNvPr id="544" name="Google Shape;544;p61"/>
          <p:cNvSpPr/>
          <p:nvPr/>
        </p:nvSpPr>
        <p:spPr>
          <a:xfrm rot="-5400000">
            <a:off x="5663850" y="3919050"/>
            <a:ext cx="1275300" cy="5085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Extended Backend</a:t>
            </a:r>
            <a:endParaRPr>
              <a:latin typeface="Twentieth Century"/>
              <a:ea typeface="Twentieth Century"/>
              <a:cs typeface="Twentieth Century"/>
              <a:sym typeface="Twentieth Century"/>
            </a:endParaRPr>
          </a:p>
        </p:txBody>
      </p:sp>
      <p:cxnSp>
        <p:nvCxnSpPr>
          <p:cNvPr id="545" name="Google Shape;545;p61"/>
          <p:cNvCxnSpPr>
            <a:stCxn id="544" idx="2"/>
            <a:endCxn id="546" idx="0"/>
          </p:cNvCxnSpPr>
          <p:nvPr/>
        </p:nvCxnSpPr>
        <p:spPr>
          <a:xfrm>
            <a:off x="6555750" y="4173300"/>
            <a:ext cx="261300" cy="6000"/>
          </a:xfrm>
          <a:prstGeom prst="straightConnector1">
            <a:avLst/>
          </a:prstGeom>
          <a:noFill/>
          <a:ln cap="flat" cmpd="sng" w="9525">
            <a:solidFill>
              <a:schemeClr val="dk2"/>
            </a:solidFill>
            <a:prstDash val="solid"/>
            <a:round/>
            <a:headEnd len="med" w="med" type="none"/>
            <a:tailEnd len="med" w="med" type="triangle"/>
          </a:ln>
        </p:spPr>
      </p:cxnSp>
      <p:sp>
        <p:nvSpPr>
          <p:cNvPr id="546" name="Google Shape;546;p61"/>
          <p:cNvSpPr txBox="1"/>
          <p:nvPr/>
        </p:nvSpPr>
        <p:spPr>
          <a:xfrm rot="-5400000">
            <a:off x="6357013" y="3987600"/>
            <a:ext cx="1303500" cy="38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547" name="Google Shape;547;p61"/>
          <p:cNvCxnSpPr>
            <a:stCxn id="546" idx="2"/>
            <a:endCxn id="535" idx="0"/>
          </p:cNvCxnSpPr>
          <p:nvPr/>
        </p:nvCxnSpPr>
        <p:spPr>
          <a:xfrm flipH="1" rot="10800000">
            <a:off x="7200463" y="4173300"/>
            <a:ext cx="261300" cy="6000"/>
          </a:xfrm>
          <a:prstGeom prst="straightConnector1">
            <a:avLst/>
          </a:prstGeom>
          <a:noFill/>
          <a:ln cap="flat" cmpd="sng" w="9525">
            <a:solidFill>
              <a:schemeClr val="dk2"/>
            </a:solidFill>
            <a:prstDash val="solid"/>
            <a:round/>
            <a:headEnd len="med" w="med" type="none"/>
            <a:tailEnd len="med" w="med" type="triangle"/>
          </a:ln>
        </p:spPr>
      </p:cxnSp>
      <p:sp>
        <p:nvSpPr>
          <p:cNvPr id="548" name="Google Shape;548;p61"/>
          <p:cNvSpPr/>
          <p:nvPr/>
        </p:nvSpPr>
        <p:spPr>
          <a:xfrm>
            <a:off x="536100" y="1100150"/>
            <a:ext cx="1499100" cy="383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Benchmark Building System</a:t>
            </a:r>
            <a:endParaRPr>
              <a:latin typeface="Twentieth Century"/>
              <a:ea typeface="Twentieth Century"/>
              <a:cs typeface="Twentieth Century"/>
              <a:sym typeface="Twentieth Century"/>
            </a:endParaRPr>
          </a:p>
        </p:txBody>
      </p:sp>
      <p:sp>
        <p:nvSpPr>
          <p:cNvPr id="549" name="Google Shape;549;p61"/>
          <p:cNvSpPr/>
          <p:nvPr/>
        </p:nvSpPr>
        <p:spPr>
          <a:xfrm>
            <a:off x="6735900" y="1608017"/>
            <a:ext cx="481200" cy="421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rtlib</a:t>
            </a:r>
            <a:endParaRPr>
              <a:latin typeface="Twentieth Century"/>
              <a:ea typeface="Twentieth Century"/>
              <a:cs typeface="Twentieth Century"/>
              <a:sym typeface="Twentieth Centur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Target Benchmarks</a:t>
            </a:r>
            <a:endParaRPr>
              <a:latin typeface="Twentieth Century"/>
              <a:ea typeface="Twentieth Century"/>
              <a:cs typeface="Twentieth Century"/>
              <a:sym typeface="Twentieth Century"/>
            </a:endParaRPr>
          </a:p>
        </p:txBody>
      </p:sp>
      <p:sp>
        <p:nvSpPr>
          <p:cNvPr id="556" name="Google Shape;556;p62"/>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2"/>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SPEC2017 - intspeed and fpspeed</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Both are time-based metric</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Different data type to operate (integer/floating point)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Only C/C++ </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13 benchmarks + 2 microbench(for testing). 9 benchmarks are available now.</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Issue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 failure with Emit-llvm option (602, 607)</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Assertion failure while dumping call-graph (callsite without ID, 620, 623, 641).</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Instrumentation failure due to integer overflow (600)</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558" name="Google Shape;558;p62"/>
          <p:cNvPicPr preferRelativeResize="0"/>
          <p:nvPr/>
        </p:nvPicPr>
        <p:blipFill>
          <a:blip r:embed="rId3">
            <a:alphaModFix/>
          </a:blip>
          <a:stretch>
            <a:fillRect/>
          </a:stretch>
        </p:blipFill>
        <p:spPr>
          <a:xfrm>
            <a:off x="5759450" y="3195425"/>
            <a:ext cx="3351574" cy="1948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0" st="0"/>
                                            </p:txEl>
                                          </p:spTgt>
                                        </p:tgtEl>
                                        <p:attrNameLst>
                                          <p:attrName>style.visibility</p:attrName>
                                        </p:attrNameLst>
                                      </p:cBhvr>
                                      <p:to>
                                        <p:strVal val="visible"/>
                                      </p:to>
                                    </p:set>
                                    <p:animEffect filter="fade" transition="in">
                                      <p:cBhvr>
                                        <p:cTn dur="1000"/>
                                        <p:tgtEl>
                                          <p:spTgt spid="5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1" st="1"/>
                                            </p:txEl>
                                          </p:spTgt>
                                        </p:tgtEl>
                                        <p:attrNameLst>
                                          <p:attrName>style.visibility</p:attrName>
                                        </p:attrNameLst>
                                      </p:cBhvr>
                                      <p:to>
                                        <p:strVal val="visible"/>
                                      </p:to>
                                    </p:set>
                                    <p:animEffect filter="fade" transition="in">
                                      <p:cBhvr>
                                        <p:cTn dur="1000"/>
                                        <p:tgtEl>
                                          <p:spTgt spid="5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2" st="2"/>
                                            </p:txEl>
                                          </p:spTgt>
                                        </p:tgtEl>
                                        <p:attrNameLst>
                                          <p:attrName>style.visibility</p:attrName>
                                        </p:attrNameLst>
                                      </p:cBhvr>
                                      <p:to>
                                        <p:strVal val="visible"/>
                                      </p:to>
                                    </p:set>
                                    <p:animEffect filter="fade" transition="in">
                                      <p:cBhvr>
                                        <p:cTn dur="1000"/>
                                        <p:tgtEl>
                                          <p:spTgt spid="5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3" st="3"/>
                                            </p:txEl>
                                          </p:spTgt>
                                        </p:tgtEl>
                                        <p:attrNameLst>
                                          <p:attrName>style.visibility</p:attrName>
                                        </p:attrNameLst>
                                      </p:cBhvr>
                                      <p:to>
                                        <p:strVal val="visible"/>
                                      </p:to>
                                    </p:set>
                                    <p:animEffect filter="fade" transition="in">
                                      <p:cBhvr>
                                        <p:cTn dur="1000"/>
                                        <p:tgtEl>
                                          <p:spTgt spid="5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4" st="4"/>
                                            </p:txEl>
                                          </p:spTgt>
                                        </p:tgtEl>
                                        <p:attrNameLst>
                                          <p:attrName>style.visibility</p:attrName>
                                        </p:attrNameLst>
                                      </p:cBhvr>
                                      <p:to>
                                        <p:strVal val="visible"/>
                                      </p:to>
                                    </p:set>
                                    <p:animEffect filter="fade" transition="in">
                                      <p:cBhvr>
                                        <p:cTn dur="1000"/>
                                        <p:tgtEl>
                                          <p:spTgt spid="5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5" st="5"/>
                                            </p:txEl>
                                          </p:spTgt>
                                        </p:tgtEl>
                                        <p:attrNameLst>
                                          <p:attrName>style.visibility</p:attrName>
                                        </p:attrNameLst>
                                      </p:cBhvr>
                                      <p:to>
                                        <p:strVal val="visible"/>
                                      </p:to>
                                    </p:set>
                                    <p:animEffect filter="fade" transition="in">
                                      <p:cBhvr>
                                        <p:cTn dur="1000"/>
                                        <p:tgtEl>
                                          <p:spTgt spid="5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6" st="6"/>
                                            </p:txEl>
                                          </p:spTgt>
                                        </p:tgtEl>
                                        <p:attrNameLst>
                                          <p:attrName>style.visibility</p:attrName>
                                        </p:attrNameLst>
                                      </p:cBhvr>
                                      <p:to>
                                        <p:strVal val="visible"/>
                                      </p:to>
                                    </p:set>
                                    <p:animEffect filter="fade" transition="in">
                                      <p:cBhvr>
                                        <p:cTn dur="1000"/>
                                        <p:tgtEl>
                                          <p:spTgt spid="5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7" st="7"/>
                                            </p:txEl>
                                          </p:spTgt>
                                        </p:tgtEl>
                                        <p:attrNameLst>
                                          <p:attrName>style.visibility</p:attrName>
                                        </p:attrNameLst>
                                      </p:cBhvr>
                                      <p:to>
                                        <p:strVal val="visible"/>
                                      </p:to>
                                    </p:set>
                                    <p:animEffect filter="fade" transition="in">
                                      <p:cBhvr>
                                        <p:cTn dur="1000"/>
                                        <p:tgtEl>
                                          <p:spTgt spid="5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8" st="8"/>
                                            </p:txEl>
                                          </p:spTgt>
                                        </p:tgtEl>
                                        <p:attrNameLst>
                                          <p:attrName>style.visibility</p:attrName>
                                        </p:attrNameLst>
                                      </p:cBhvr>
                                      <p:to>
                                        <p:strVal val="visible"/>
                                      </p:to>
                                    </p:set>
                                    <p:animEffect filter="fade" transition="in">
                                      <p:cBhvr>
                                        <p:cTn dur="1000"/>
                                        <p:tgtEl>
                                          <p:spTgt spid="55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9" st="9"/>
                                            </p:txEl>
                                          </p:spTgt>
                                        </p:tgtEl>
                                        <p:attrNameLst>
                                          <p:attrName>style.visibility</p:attrName>
                                        </p:attrNameLst>
                                      </p:cBhvr>
                                      <p:to>
                                        <p:strVal val="visible"/>
                                      </p:to>
                                    </p:set>
                                    <p:animEffect filter="fade" transition="in">
                                      <p:cBhvr>
                                        <p:cTn dur="1000"/>
                                        <p:tgtEl>
                                          <p:spTgt spid="55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10" st="10"/>
                                            </p:txEl>
                                          </p:spTgt>
                                        </p:tgtEl>
                                        <p:attrNameLst>
                                          <p:attrName>style.visibility</p:attrName>
                                        </p:attrNameLst>
                                      </p:cBhvr>
                                      <p:to>
                                        <p:strVal val="visible"/>
                                      </p:to>
                                    </p:set>
                                    <p:animEffect filter="fade" transition="in">
                                      <p:cBhvr>
                                        <p:cTn dur="1000"/>
                                        <p:tgtEl>
                                          <p:spTgt spid="55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11" st="11"/>
                                            </p:txEl>
                                          </p:spTgt>
                                        </p:tgtEl>
                                        <p:attrNameLst>
                                          <p:attrName>style.visibility</p:attrName>
                                        </p:attrNameLst>
                                      </p:cBhvr>
                                      <p:to>
                                        <p:strVal val="visible"/>
                                      </p:to>
                                    </p:set>
                                    <p:animEffect filter="fade" transition="in">
                                      <p:cBhvr>
                                        <p:cTn dur="1000"/>
                                        <p:tgtEl>
                                          <p:spTgt spid="55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12" st="12"/>
                                            </p:txEl>
                                          </p:spTgt>
                                        </p:tgtEl>
                                        <p:attrNameLst>
                                          <p:attrName>style.visibility</p:attrName>
                                        </p:attrNameLst>
                                      </p:cBhvr>
                                      <p:to>
                                        <p:strVal val="visible"/>
                                      </p:to>
                                    </p:set>
                                    <p:animEffect filter="fade" transition="in">
                                      <p:cBhvr>
                                        <p:cTn dur="1000"/>
                                        <p:tgtEl>
                                          <p:spTgt spid="55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Initial Results (Execution Time)</a:t>
            </a:r>
            <a:endParaRPr>
              <a:latin typeface="Twentieth Century"/>
              <a:ea typeface="Twentieth Century"/>
              <a:cs typeface="Twentieth Century"/>
              <a:sym typeface="Twentieth Century"/>
            </a:endParaRPr>
          </a:p>
        </p:txBody>
      </p:sp>
      <p:sp>
        <p:nvSpPr>
          <p:cNvPr id="565" name="Google Shape;565;p63"/>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3"/>
          <p:cNvSpPr txBox="1"/>
          <p:nvPr>
            <p:ph idx="1" type="body"/>
          </p:nvPr>
        </p:nvSpPr>
        <p:spPr>
          <a:xfrm>
            <a:off x="311825" y="734650"/>
            <a:ext cx="82035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base-nopg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No modification is made. Just built with clang.</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base2-nopg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Empty function is inserted to remove effect of function call.</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Inserting function call to runtime lib (static) is easier than inserting a log of IRs.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Dcce-rtlib-nopg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Using rtlib</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Dcce-ldst-nopg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Insert IR of ld/add/store instructions.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 order to compare with dcce-rtlib</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4"/>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Initial Results (Execution Time)</a:t>
            </a:r>
            <a:endParaRPr>
              <a:latin typeface="Twentieth Century"/>
              <a:ea typeface="Twentieth Century"/>
              <a:cs typeface="Twentieth Century"/>
              <a:sym typeface="Twentieth Century"/>
            </a:endParaRPr>
          </a:p>
        </p:txBody>
      </p:sp>
      <p:sp>
        <p:nvSpPr>
          <p:cNvPr id="573" name="Google Shape;573;p64"/>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4" name="Google Shape;574;p64"/>
          <p:cNvPicPr preferRelativeResize="0"/>
          <p:nvPr/>
        </p:nvPicPr>
        <p:blipFill>
          <a:blip r:embed="rId3">
            <a:alphaModFix/>
          </a:blip>
          <a:stretch>
            <a:fillRect/>
          </a:stretch>
        </p:blipFill>
        <p:spPr>
          <a:xfrm>
            <a:off x="152400" y="918719"/>
            <a:ext cx="8839200" cy="38504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65"/>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Initial Results (Execution Time) - gprof</a:t>
            </a:r>
            <a:endParaRPr>
              <a:latin typeface="Twentieth Century"/>
              <a:ea typeface="Twentieth Century"/>
              <a:cs typeface="Twentieth Century"/>
              <a:sym typeface="Twentieth Century"/>
            </a:endParaRPr>
          </a:p>
        </p:txBody>
      </p:sp>
      <p:sp>
        <p:nvSpPr>
          <p:cNvPr id="581" name="Google Shape;581;p65"/>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2" name="Google Shape;582;p65"/>
          <p:cNvPicPr preferRelativeResize="0"/>
          <p:nvPr/>
        </p:nvPicPr>
        <p:blipFill>
          <a:blip r:embed="rId3">
            <a:alphaModFix/>
          </a:blip>
          <a:stretch>
            <a:fillRect/>
          </a:stretch>
        </p:blipFill>
        <p:spPr>
          <a:xfrm>
            <a:off x="1588950" y="963244"/>
            <a:ext cx="5400225" cy="387545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6"/>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Next Plan</a:t>
            </a:r>
            <a:endParaRPr>
              <a:latin typeface="Twentieth Century"/>
              <a:ea typeface="Twentieth Century"/>
              <a:cs typeface="Twentieth Century"/>
              <a:sym typeface="Twentieth Century"/>
            </a:endParaRPr>
          </a:p>
        </p:txBody>
      </p:sp>
      <p:sp>
        <p:nvSpPr>
          <p:cNvPr id="589" name="Google Shape;589;p66"/>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6"/>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Experiment setup</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Fix issues (compile, callgraph, instrument)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Analysis 644.nab_s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PCCE and get results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Continue debugging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0" st="0"/>
                                            </p:txEl>
                                          </p:spTgt>
                                        </p:tgtEl>
                                        <p:attrNameLst>
                                          <p:attrName>style.visibility</p:attrName>
                                        </p:attrNameLst>
                                      </p:cBhvr>
                                      <p:to>
                                        <p:strVal val="visible"/>
                                      </p:to>
                                    </p:set>
                                    <p:animEffect filter="fade" transition="in">
                                      <p:cBhvr>
                                        <p:cTn dur="1000"/>
                                        <p:tgtEl>
                                          <p:spTgt spid="5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1" st="1"/>
                                            </p:txEl>
                                          </p:spTgt>
                                        </p:tgtEl>
                                        <p:attrNameLst>
                                          <p:attrName>style.visibility</p:attrName>
                                        </p:attrNameLst>
                                      </p:cBhvr>
                                      <p:to>
                                        <p:strVal val="visible"/>
                                      </p:to>
                                    </p:set>
                                    <p:animEffect filter="fade" transition="in">
                                      <p:cBhvr>
                                        <p:cTn dur="1000"/>
                                        <p:tgtEl>
                                          <p:spTgt spid="5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2" st="2"/>
                                            </p:txEl>
                                          </p:spTgt>
                                        </p:tgtEl>
                                        <p:attrNameLst>
                                          <p:attrName>style.visibility</p:attrName>
                                        </p:attrNameLst>
                                      </p:cBhvr>
                                      <p:to>
                                        <p:strVal val="visible"/>
                                      </p:to>
                                    </p:set>
                                    <p:animEffect filter="fade" transition="in">
                                      <p:cBhvr>
                                        <p:cTn dur="1000"/>
                                        <p:tgtEl>
                                          <p:spTgt spid="5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3" st="3"/>
                                            </p:txEl>
                                          </p:spTgt>
                                        </p:tgtEl>
                                        <p:attrNameLst>
                                          <p:attrName>style.visibility</p:attrName>
                                        </p:attrNameLst>
                                      </p:cBhvr>
                                      <p:to>
                                        <p:strVal val="visible"/>
                                      </p:to>
                                    </p:set>
                                    <p:animEffect filter="fade" transition="in">
                                      <p:cBhvr>
                                        <p:cTn dur="1000"/>
                                        <p:tgtEl>
                                          <p:spTgt spid="5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4" st="4"/>
                                            </p:txEl>
                                          </p:spTgt>
                                        </p:tgtEl>
                                        <p:attrNameLst>
                                          <p:attrName>style.visibility</p:attrName>
                                        </p:attrNameLst>
                                      </p:cBhvr>
                                      <p:to>
                                        <p:strVal val="visible"/>
                                      </p:to>
                                    </p:set>
                                    <p:animEffect filter="fade" transition="in">
                                      <p:cBhvr>
                                        <p:cTn dur="1000"/>
                                        <p:tgtEl>
                                          <p:spTgt spid="5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5" st="5"/>
                                            </p:txEl>
                                          </p:spTgt>
                                        </p:tgtEl>
                                        <p:attrNameLst>
                                          <p:attrName>style.visibility</p:attrName>
                                        </p:attrNameLst>
                                      </p:cBhvr>
                                      <p:to>
                                        <p:strVal val="visible"/>
                                      </p:to>
                                    </p:set>
                                    <p:animEffect filter="fade" transition="in">
                                      <p:cBhvr>
                                        <p:cTn dur="1000"/>
                                        <p:tgtEl>
                                          <p:spTgt spid="5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6" st="6"/>
                                            </p:txEl>
                                          </p:spTgt>
                                        </p:tgtEl>
                                        <p:attrNameLst>
                                          <p:attrName>style.visibility</p:attrName>
                                        </p:attrNameLst>
                                      </p:cBhvr>
                                      <p:to>
                                        <p:strVal val="visible"/>
                                      </p:to>
                                    </p:set>
                                    <p:animEffect filter="fade" transition="in">
                                      <p:cBhvr>
                                        <p:cTn dur="1000"/>
                                        <p:tgtEl>
                                          <p:spTgt spid="5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7" st="7"/>
                                            </p:txEl>
                                          </p:spTgt>
                                        </p:tgtEl>
                                        <p:attrNameLst>
                                          <p:attrName>style.visibility</p:attrName>
                                        </p:attrNameLst>
                                      </p:cBhvr>
                                      <p:to>
                                        <p:strVal val="visible"/>
                                      </p:to>
                                    </p:set>
                                    <p:animEffect filter="fade" transition="in">
                                      <p:cBhvr>
                                        <p:cTn dur="1000"/>
                                        <p:tgtEl>
                                          <p:spTgt spid="5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8" st="8"/>
                                            </p:txEl>
                                          </p:spTgt>
                                        </p:tgtEl>
                                        <p:attrNameLst>
                                          <p:attrName>style.visibility</p:attrName>
                                        </p:attrNameLst>
                                      </p:cBhvr>
                                      <p:to>
                                        <p:strVal val="visible"/>
                                      </p:to>
                                    </p:set>
                                    <p:animEffect filter="fade" transition="in">
                                      <p:cBhvr>
                                        <p:cTn dur="1000"/>
                                        <p:tgtEl>
                                          <p:spTgt spid="59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9" st="9"/>
                                            </p:txEl>
                                          </p:spTgt>
                                        </p:tgtEl>
                                        <p:attrNameLst>
                                          <p:attrName>style.visibility</p:attrName>
                                        </p:attrNameLst>
                                      </p:cBhvr>
                                      <p:to>
                                        <p:strVal val="visible"/>
                                      </p:to>
                                    </p:set>
                                    <p:animEffect filter="fade" transition="in">
                                      <p:cBhvr>
                                        <p:cTn dur="1000"/>
                                        <p:tgtEl>
                                          <p:spTgt spid="59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597" name="Google Shape;597;p67"/>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Feb. 4</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8"/>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604" name="Google Shape;604;p68"/>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8"/>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Experiment setup.</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 / Call Graph issue with some benchmarks.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graph / Instrumentation issue Fixed</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620.omnetpp_s, 623.xalancbmk_s, 641.leela_s - multiple locations to return (try/catch)</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sz="1800">
                <a:latin typeface="Twentieth Century"/>
                <a:ea typeface="Twentieth Century"/>
                <a:cs typeface="Twentieth Century"/>
                <a:sym typeface="Twentieth Century"/>
              </a:rPr>
              <a:t>Instrumentation failure due to integer overflow (600) →  use “0” weight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Fixing compile issue - 602.gcc_s, 670.catcuBSSN_s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Bug fixes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Implement PCCE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Acyclic graph encoding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Decoding - two functions InitCallgraph(), Decode()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Simulation result - execution time (Baseline / DCCE / PCCE)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Analysis on 644.nab_s (huge overhead due to encoding in the hot routine.)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Discussion about the fair comparison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Verification with well-known algorithm</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number of paths from source to destination in acyclic directed graph</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Analysis using #neighbors/#incidents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0" st="0"/>
                                            </p:txEl>
                                          </p:spTgt>
                                        </p:tgtEl>
                                        <p:attrNameLst>
                                          <p:attrName>style.visibility</p:attrName>
                                        </p:attrNameLst>
                                      </p:cBhvr>
                                      <p:to>
                                        <p:strVal val="visible"/>
                                      </p:to>
                                    </p:set>
                                    <p:animEffect filter="fade" transition="in">
                                      <p:cBhvr>
                                        <p:cTn dur="1000"/>
                                        <p:tgtEl>
                                          <p:spTgt spid="6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 st="1"/>
                                            </p:txEl>
                                          </p:spTgt>
                                        </p:tgtEl>
                                        <p:attrNameLst>
                                          <p:attrName>style.visibility</p:attrName>
                                        </p:attrNameLst>
                                      </p:cBhvr>
                                      <p:to>
                                        <p:strVal val="visible"/>
                                      </p:to>
                                    </p:set>
                                    <p:animEffect filter="fade" transition="in">
                                      <p:cBhvr>
                                        <p:cTn dur="1000"/>
                                        <p:tgtEl>
                                          <p:spTgt spid="6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2" st="2"/>
                                            </p:txEl>
                                          </p:spTgt>
                                        </p:tgtEl>
                                        <p:attrNameLst>
                                          <p:attrName>style.visibility</p:attrName>
                                        </p:attrNameLst>
                                      </p:cBhvr>
                                      <p:to>
                                        <p:strVal val="visible"/>
                                      </p:to>
                                    </p:set>
                                    <p:animEffect filter="fade" transition="in">
                                      <p:cBhvr>
                                        <p:cTn dur="1000"/>
                                        <p:tgtEl>
                                          <p:spTgt spid="6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3" st="3"/>
                                            </p:txEl>
                                          </p:spTgt>
                                        </p:tgtEl>
                                        <p:attrNameLst>
                                          <p:attrName>style.visibility</p:attrName>
                                        </p:attrNameLst>
                                      </p:cBhvr>
                                      <p:to>
                                        <p:strVal val="visible"/>
                                      </p:to>
                                    </p:set>
                                    <p:animEffect filter="fade" transition="in">
                                      <p:cBhvr>
                                        <p:cTn dur="1000"/>
                                        <p:tgtEl>
                                          <p:spTgt spid="6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4" st="4"/>
                                            </p:txEl>
                                          </p:spTgt>
                                        </p:tgtEl>
                                        <p:attrNameLst>
                                          <p:attrName>style.visibility</p:attrName>
                                        </p:attrNameLst>
                                      </p:cBhvr>
                                      <p:to>
                                        <p:strVal val="visible"/>
                                      </p:to>
                                    </p:set>
                                    <p:animEffect filter="fade" transition="in">
                                      <p:cBhvr>
                                        <p:cTn dur="1000"/>
                                        <p:tgtEl>
                                          <p:spTgt spid="6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5" st="5"/>
                                            </p:txEl>
                                          </p:spTgt>
                                        </p:tgtEl>
                                        <p:attrNameLst>
                                          <p:attrName>style.visibility</p:attrName>
                                        </p:attrNameLst>
                                      </p:cBhvr>
                                      <p:to>
                                        <p:strVal val="visible"/>
                                      </p:to>
                                    </p:set>
                                    <p:animEffect filter="fade" transition="in">
                                      <p:cBhvr>
                                        <p:cTn dur="1000"/>
                                        <p:tgtEl>
                                          <p:spTgt spid="6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6" st="6"/>
                                            </p:txEl>
                                          </p:spTgt>
                                        </p:tgtEl>
                                        <p:attrNameLst>
                                          <p:attrName>style.visibility</p:attrName>
                                        </p:attrNameLst>
                                      </p:cBhvr>
                                      <p:to>
                                        <p:strVal val="visible"/>
                                      </p:to>
                                    </p:set>
                                    <p:animEffect filter="fade" transition="in">
                                      <p:cBhvr>
                                        <p:cTn dur="1000"/>
                                        <p:tgtEl>
                                          <p:spTgt spid="6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7" st="7"/>
                                            </p:txEl>
                                          </p:spTgt>
                                        </p:tgtEl>
                                        <p:attrNameLst>
                                          <p:attrName>style.visibility</p:attrName>
                                        </p:attrNameLst>
                                      </p:cBhvr>
                                      <p:to>
                                        <p:strVal val="visible"/>
                                      </p:to>
                                    </p:set>
                                    <p:animEffect filter="fade" transition="in">
                                      <p:cBhvr>
                                        <p:cTn dur="1000"/>
                                        <p:tgtEl>
                                          <p:spTgt spid="6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8" st="8"/>
                                            </p:txEl>
                                          </p:spTgt>
                                        </p:tgtEl>
                                        <p:attrNameLst>
                                          <p:attrName>style.visibility</p:attrName>
                                        </p:attrNameLst>
                                      </p:cBhvr>
                                      <p:to>
                                        <p:strVal val="visible"/>
                                      </p:to>
                                    </p:set>
                                    <p:animEffect filter="fade" transition="in">
                                      <p:cBhvr>
                                        <p:cTn dur="1000"/>
                                        <p:tgtEl>
                                          <p:spTgt spid="6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9" st="9"/>
                                            </p:txEl>
                                          </p:spTgt>
                                        </p:tgtEl>
                                        <p:attrNameLst>
                                          <p:attrName>style.visibility</p:attrName>
                                        </p:attrNameLst>
                                      </p:cBhvr>
                                      <p:to>
                                        <p:strVal val="visible"/>
                                      </p:to>
                                    </p:set>
                                    <p:animEffect filter="fade" transition="in">
                                      <p:cBhvr>
                                        <p:cTn dur="1000"/>
                                        <p:tgtEl>
                                          <p:spTgt spid="60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0" st="10"/>
                                            </p:txEl>
                                          </p:spTgt>
                                        </p:tgtEl>
                                        <p:attrNameLst>
                                          <p:attrName>style.visibility</p:attrName>
                                        </p:attrNameLst>
                                      </p:cBhvr>
                                      <p:to>
                                        <p:strVal val="visible"/>
                                      </p:to>
                                    </p:set>
                                    <p:animEffect filter="fade" transition="in">
                                      <p:cBhvr>
                                        <p:cTn dur="1000"/>
                                        <p:tgtEl>
                                          <p:spTgt spid="60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1" st="11"/>
                                            </p:txEl>
                                          </p:spTgt>
                                        </p:tgtEl>
                                        <p:attrNameLst>
                                          <p:attrName>style.visibility</p:attrName>
                                        </p:attrNameLst>
                                      </p:cBhvr>
                                      <p:to>
                                        <p:strVal val="visible"/>
                                      </p:to>
                                    </p:set>
                                    <p:animEffect filter="fade" transition="in">
                                      <p:cBhvr>
                                        <p:cTn dur="1000"/>
                                        <p:tgtEl>
                                          <p:spTgt spid="60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2" st="12"/>
                                            </p:txEl>
                                          </p:spTgt>
                                        </p:tgtEl>
                                        <p:attrNameLst>
                                          <p:attrName>style.visibility</p:attrName>
                                        </p:attrNameLst>
                                      </p:cBhvr>
                                      <p:to>
                                        <p:strVal val="visible"/>
                                      </p:to>
                                    </p:set>
                                    <p:animEffect filter="fade" transition="in">
                                      <p:cBhvr>
                                        <p:cTn dur="1000"/>
                                        <p:tgtEl>
                                          <p:spTgt spid="60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3" st="13"/>
                                            </p:txEl>
                                          </p:spTgt>
                                        </p:tgtEl>
                                        <p:attrNameLst>
                                          <p:attrName>style.visibility</p:attrName>
                                        </p:attrNameLst>
                                      </p:cBhvr>
                                      <p:to>
                                        <p:strVal val="visible"/>
                                      </p:to>
                                    </p:set>
                                    <p:animEffect filter="fade" transition="in">
                                      <p:cBhvr>
                                        <p:cTn dur="1000"/>
                                        <p:tgtEl>
                                          <p:spTgt spid="60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4" st="14"/>
                                            </p:txEl>
                                          </p:spTgt>
                                        </p:tgtEl>
                                        <p:attrNameLst>
                                          <p:attrName>style.visibility</p:attrName>
                                        </p:attrNameLst>
                                      </p:cBhvr>
                                      <p:to>
                                        <p:strVal val="visible"/>
                                      </p:to>
                                    </p:set>
                                    <p:animEffect filter="fade" transition="in">
                                      <p:cBhvr>
                                        <p:cTn dur="1000"/>
                                        <p:tgtEl>
                                          <p:spTgt spid="60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5" st="15"/>
                                            </p:txEl>
                                          </p:spTgt>
                                        </p:tgtEl>
                                        <p:attrNameLst>
                                          <p:attrName>style.visibility</p:attrName>
                                        </p:attrNameLst>
                                      </p:cBhvr>
                                      <p:to>
                                        <p:strVal val="visible"/>
                                      </p:to>
                                    </p:set>
                                    <p:animEffect filter="fade" transition="in">
                                      <p:cBhvr>
                                        <p:cTn dur="1000"/>
                                        <p:tgtEl>
                                          <p:spTgt spid="60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6" st="16"/>
                                            </p:txEl>
                                          </p:spTgt>
                                        </p:tgtEl>
                                        <p:attrNameLst>
                                          <p:attrName>style.visibility</p:attrName>
                                        </p:attrNameLst>
                                      </p:cBhvr>
                                      <p:to>
                                        <p:strVal val="visible"/>
                                      </p:to>
                                    </p:set>
                                    <p:animEffect filter="fade" transition="in">
                                      <p:cBhvr>
                                        <p:cTn dur="1000"/>
                                        <p:tgtEl>
                                          <p:spTgt spid="605">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7" st="17"/>
                                            </p:txEl>
                                          </p:spTgt>
                                        </p:tgtEl>
                                        <p:attrNameLst>
                                          <p:attrName>style.visibility</p:attrName>
                                        </p:attrNameLst>
                                      </p:cBhvr>
                                      <p:to>
                                        <p:strVal val="visible"/>
                                      </p:to>
                                    </p:set>
                                    <p:animEffect filter="fade" transition="in">
                                      <p:cBhvr>
                                        <p:cTn dur="1000"/>
                                        <p:tgtEl>
                                          <p:spTgt spid="605">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8" st="18"/>
                                            </p:txEl>
                                          </p:spTgt>
                                        </p:tgtEl>
                                        <p:attrNameLst>
                                          <p:attrName>style.visibility</p:attrName>
                                        </p:attrNameLst>
                                      </p:cBhvr>
                                      <p:to>
                                        <p:strVal val="visible"/>
                                      </p:to>
                                    </p:set>
                                    <p:animEffect filter="fade" transition="in">
                                      <p:cBhvr>
                                        <p:cTn dur="1000"/>
                                        <p:tgtEl>
                                          <p:spTgt spid="605">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xEl>
                                              <p:pRg end="19" st="19"/>
                                            </p:txEl>
                                          </p:spTgt>
                                        </p:tgtEl>
                                        <p:attrNameLst>
                                          <p:attrName>style.visibility</p:attrName>
                                        </p:attrNameLst>
                                      </p:cBhvr>
                                      <p:to>
                                        <p:strVal val="visible"/>
                                      </p:to>
                                    </p:set>
                                    <p:animEffect filter="fade" transition="in">
                                      <p:cBhvr>
                                        <p:cTn dur="1000"/>
                                        <p:tgtEl>
                                          <p:spTgt spid="605">
                                            <p:txEl>
                                              <p:pRg end="19" st="1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Analysis 644.nab_s</a:t>
            </a:r>
            <a:endParaRPr>
              <a:latin typeface="Twentieth Century"/>
              <a:ea typeface="Twentieth Century"/>
              <a:cs typeface="Twentieth Century"/>
              <a:sym typeface="Twentieth Century"/>
            </a:endParaRPr>
          </a:p>
        </p:txBody>
      </p:sp>
      <p:sp>
        <p:nvSpPr>
          <p:cNvPr id="612" name="Google Shape;612;p69"/>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9"/>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See Issue#1</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animEffect filter="fade" transition="in">
                                      <p:cBhvr>
                                        <p:cTn dur="1000"/>
                                        <p:tgtEl>
                                          <p:spTgt spid="6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1" st="1"/>
                                            </p:txEl>
                                          </p:spTgt>
                                        </p:tgtEl>
                                        <p:attrNameLst>
                                          <p:attrName>style.visibility</p:attrName>
                                        </p:attrNameLst>
                                      </p:cBhvr>
                                      <p:to>
                                        <p:strVal val="visible"/>
                                      </p:to>
                                    </p:set>
                                    <p:animEffect filter="fade" transition="in">
                                      <p:cBhvr>
                                        <p:cTn dur="1000"/>
                                        <p:tgtEl>
                                          <p:spTgt spid="6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2" st="2"/>
                                            </p:txEl>
                                          </p:spTgt>
                                        </p:tgtEl>
                                        <p:attrNameLst>
                                          <p:attrName>style.visibility</p:attrName>
                                        </p:attrNameLst>
                                      </p:cBhvr>
                                      <p:to>
                                        <p:strVal val="visible"/>
                                      </p:to>
                                    </p:set>
                                    <p:animEffect filter="fade" transition="in">
                                      <p:cBhvr>
                                        <p:cTn dur="1000"/>
                                        <p:tgtEl>
                                          <p:spTgt spid="6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xEl>
                                              <p:pRg end="3" st="3"/>
                                            </p:txEl>
                                          </p:spTgt>
                                        </p:tgtEl>
                                        <p:attrNameLst>
                                          <p:attrName>style.visibility</p:attrName>
                                        </p:attrNameLst>
                                      </p:cBhvr>
                                      <p:to>
                                        <p:strVal val="visible"/>
                                      </p:to>
                                    </p:set>
                                    <p:animEffect filter="fade" transition="in">
                                      <p:cBhvr>
                                        <p:cTn dur="1000"/>
                                        <p:tgtEl>
                                          <p:spTgt spid="61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Simulation Result</a:t>
            </a:r>
            <a:endParaRPr>
              <a:latin typeface="Twentieth Century"/>
              <a:ea typeface="Twentieth Century"/>
              <a:cs typeface="Twentieth Century"/>
              <a:sym typeface="Twentieth Century"/>
            </a:endParaRPr>
          </a:p>
        </p:txBody>
      </p:sp>
      <p:sp>
        <p:nvSpPr>
          <p:cNvPr id="620" name="Google Shape;620;p70"/>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1" name="Google Shape;621;p70"/>
          <p:cNvPicPr preferRelativeResize="0"/>
          <p:nvPr/>
        </p:nvPicPr>
        <p:blipFill>
          <a:blip r:embed="rId3">
            <a:alphaModFix/>
          </a:blip>
          <a:stretch>
            <a:fillRect/>
          </a:stretch>
        </p:blipFill>
        <p:spPr>
          <a:xfrm>
            <a:off x="910375" y="963250"/>
            <a:ext cx="7442974" cy="387545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Fair comparison</a:t>
            </a:r>
            <a:endParaRPr>
              <a:latin typeface="Twentieth Century"/>
              <a:ea typeface="Twentieth Century"/>
              <a:cs typeface="Twentieth Century"/>
              <a:sym typeface="Twentieth Century"/>
            </a:endParaRPr>
          </a:p>
        </p:txBody>
      </p:sp>
      <p:sp>
        <p:nvSpPr>
          <p:cNvPr id="628" name="Google Shape;628;p71"/>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1"/>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When to decode?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Every function call</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How to decode? </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Decode full path (tracing back from current to root node, O(logn))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Concatenating function signature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Encode recursive call?</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0" st="0"/>
                                            </p:txEl>
                                          </p:spTgt>
                                        </p:tgtEl>
                                        <p:attrNameLst>
                                          <p:attrName>style.visibility</p:attrName>
                                        </p:attrNameLst>
                                      </p:cBhvr>
                                      <p:to>
                                        <p:strVal val="visible"/>
                                      </p:to>
                                    </p:set>
                                    <p:animEffect filter="fade" transition="in">
                                      <p:cBhvr>
                                        <p:cTn dur="1000"/>
                                        <p:tgtEl>
                                          <p:spTgt spid="6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1" st="1"/>
                                            </p:txEl>
                                          </p:spTgt>
                                        </p:tgtEl>
                                        <p:attrNameLst>
                                          <p:attrName>style.visibility</p:attrName>
                                        </p:attrNameLst>
                                      </p:cBhvr>
                                      <p:to>
                                        <p:strVal val="visible"/>
                                      </p:to>
                                    </p:set>
                                    <p:animEffect filter="fade" transition="in">
                                      <p:cBhvr>
                                        <p:cTn dur="1000"/>
                                        <p:tgtEl>
                                          <p:spTgt spid="6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2" st="2"/>
                                            </p:txEl>
                                          </p:spTgt>
                                        </p:tgtEl>
                                        <p:attrNameLst>
                                          <p:attrName>style.visibility</p:attrName>
                                        </p:attrNameLst>
                                      </p:cBhvr>
                                      <p:to>
                                        <p:strVal val="visible"/>
                                      </p:to>
                                    </p:set>
                                    <p:animEffect filter="fade" transition="in">
                                      <p:cBhvr>
                                        <p:cTn dur="1000"/>
                                        <p:tgtEl>
                                          <p:spTgt spid="6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3" st="3"/>
                                            </p:txEl>
                                          </p:spTgt>
                                        </p:tgtEl>
                                        <p:attrNameLst>
                                          <p:attrName>style.visibility</p:attrName>
                                        </p:attrNameLst>
                                      </p:cBhvr>
                                      <p:to>
                                        <p:strVal val="visible"/>
                                      </p:to>
                                    </p:set>
                                    <p:animEffect filter="fade" transition="in">
                                      <p:cBhvr>
                                        <p:cTn dur="1000"/>
                                        <p:tgtEl>
                                          <p:spTgt spid="6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4" st="4"/>
                                            </p:txEl>
                                          </p:spTgt>
                                        </p:tgtEl>
                                        <p:attrNameLst>
                                          <p:attrName>style.visibility</p:attrName>
                                        </p:attrNameLst>
                                      </p:cBhvr>
                                      <p:to>
                                        <p:strVal val="visible"/>
                                      </p:to>
                                    </p:set>
                                    <p:animEffect filter="fade" transition="in">
                                      <p:cBhvr>
                                        <p:cTn dur="1000"/>
                                        <p:tgtEl>
                                          <p:spTgt spid="6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5" st="5"/>
                                            </p:txEl>
                                          </p:spTgt>
                                        </p:tgtEl>
                                        <p:attrNameLst>
                                          <p:attrName>style.visibility</p:attrName>
                                        </p:attrNameLst>
                                      </p:cBhvr>
                                      <p:to>
                                        <p:strVal val="visible"/>
                                      </p:to>
                                    </p:set>
                                    <p:animEffect filter="fade" transition="in">
                                      <p:cBhvr>
                                        <p:cTn dur="1000"/>
                                        <p:tgtEl>
                                          <p:spTgt spid="6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6" st="6"/>
                                            </p:txEl>
                                          </p:spTgt>
                                        </p:tgtEl>
                                        <p:attrNameLst>
                                          <p:attrName>style.visibility</p:attrName>
                                        </p:attrNameLst>
                                      </p:cBhvr>
                                      <p:to>
                                        <p:strVal val="visible"/>
                                      </p:to>
                                    </p:set>
                                    <p:animEffect filter="fade" transition="in">
                                      <p:cBhvr>
                                        <p:cTn dur="1000"/>
                                        <p:tgtEl>
                                          <p:spTgt spid="6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7" st="7"/>
                                            </p:txEl>
                                          </p:spTgt>
                                        </p:tgtEl>
                                        <p:attrNameLst>
                                          <p:attrName>style.visibility</p:attrName>
                                        </p:attrNameLst>
                                      </p:cBhvr>
                                      <p:to>
                                        <p:strVal val="visible"/>
                                      </p:to>
                                    </p:set>
                                    <p:animEffect filter="fade" transition="in">
                                      <p:cBhvr>
                                        <p:cTn dur="1000"/>
                                        <p:tgtEl>
                                          <p:spTgt spid="6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8" st="8"/>
                                            </p:txEl>
                                          </p:spTgt>
                                        </p:tgtEl>
                                        <p:attrNameLst>
                                          <p:attrName>style.visibility</p:attrName>
                                        </p:attrNameLst>
                                      </p:cBhvr>
                                      <p:to>
                                        <p:strVal val="visible"/>
                                      </p:to>
                                    </p:set>
                                    <p:animEffect filter="fade" transition="in">
                                      <p:cBhvr>
                                        <p:cTn dur="1000"/>
                                        <p:tgtEl>
                                          <p:spTgt spid="62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xEl>
                                              <p:pRg end="9" st="9"/>
                                            </p:txEl>
                                          </p:spTgt>
                                        </p:tgtEl>
                                        <p:attrNameLst>
                                          <p:attrName>style.visibility</p:attrName>
                                        </p:attrNameLst>
                                      </p:cBhvr>
                                      <p:to>
                                        <p:strVal val="visible"/>
                                      </p:to>
                                    </p:set>
                                    <p:animEffect filter="fade" transition="in">
                                      <p:cBhvr>
                                        <p:cTn dur="1000"/>
                                        <p:tgtEl>
                                          <p:spTgt spid="62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MaxID - verification</a:t>
            </a:r>
            <a:endParaRPr>
              <a:latin typeface="Twentieth Century"/>
              <a:ea typeface="Twentieth Century"/>
              <a:cs typeface="Twentieth Century"/>
              <a:sym typeface="Twentieth Century"/>
            </a:endParaRPr>
          </a:p>
        </p:txBody>
      </p:sp>
      <p:sp>
        <p:nvSpPr>
          <p:cNvPr id="636" name="Google Shape;636;p72"/>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72"/>
          <p:cNvSpPr/>
          <p:nvPr/>
        </p:nvSpPr>
        <p:spPr>
          <a:xfrm>
            <a:off x="8175475" y="2804550"/>
            <a:ext cx="549300" cy="502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t>dest</a:t>
            </a:r>
            <a:endParaRPr sz="800"/>
          </a:p>
        </p:txBody>
      </p:sp>
      <p:sp>
        <p:nvSpPr>
          <p:cNvPr id="638" name="Google Shape;638;p72"/>
          <p:cNvSpPr txBox="1"/>
          <p:nvPr>
            <p:ph idx="1" type="body"/>
          </p:nvPr>
        </p:nvSpPr>
        <p:spPr>
          <a:xfrm>
            <a:off x="311825" y="837125"/>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latin typeface="Arial"/>
                <a:ea typeface="Arial"/>
                <a:cs typeface="Arial"/>
                <a:sym typeface="Arial"/>
              </a:rPr>
              <a:t>Let DP(u) be the number of paths from u to destination.</a:t>
            </a:r>
            <a:endParaRPr>
              <a:latin typeface="Arial"/>
              <a:ea typeface="Arial"/>
              <a:cs typeface="Arial"/>
              <a:sym typeface="Arial"/>
            </a:endParaRPr>
          </a:p>
          <a:p>
            <a:pPr indent="-254000" lvl="0" marL="342900" rtl="0" algn="l">
              <a:spcBef>
                <a:spcPts val="0"/>
              </a:spcBef>
              <a:spcAft>
                <a:spcPts val="0"/>
              </a:spcAft>
              <a:buSzPts val="1400"/>
              <a:buChar char="❏"/>
            </a:pPr>
            <a:r>
              <a:rPr lang="en">
                <a:latin typeface="Arial"/>
                <a:ea typeface="Arial"/>
                <a:cs typeface="Arial"/>
                <a:sym typeface="Arial"/>
              </a:rPr>
              <a:t>DP(dest) = 1 DP(others) = 0</a:t>
            </a:r>
            <a:endParaRPr>
              <a:latin typeface="Arial"/>
              <a:ea typeface="Arial"/>
              <a:cs typeface="Arial"/>
              <a:sym typeface="Arial"/>
            </a:endParaRPr>
          </a:p>
          <a:p>
            <a:pPr indent="-254000" lvl="0" marL="342900" rtl="0" algn="l">
              <a:spcBef>
                <a:spcPts val="0"/>
              </a:spcBef>
              <a:spcAft>
                <a:spcPts val="0"/>
              </a:spcAft>
              <a:buSzPts val="1400"/>
              <a:buChar char="❏"/>
            </a:pPr>
            <a:r>
              <a:rPr lang="en">
                <a:latin typeface="Arial"/>
                <a:ea typeface="Arial"/>
                <a:cs typeface="Arial"/>
                <a:sym typeface="Arial"/>
              </a:rPr>
              <a:t>DP[i] = DP[i] + DP[j]</a:t>
            </a:r>
            <a:r>
              <a:rPr baseline="-25000" lang="en">
                <a:latin typeface="Arial"/>
                <a:ea typeface="Arial"/>
                <a:cs typeface="Arial"/>
                <a:sym typeface="Arial"/>
              </a:rPr>
              <a:t> </a:t>
            </a:r>
            <a:endParaRPr>
              <a:latin typeface="Arial"/>
              <a:ea typeface="Arial"/>
              <a:cs typeface="Arial"/>
              <a:sym typeface="Arial"/>
            </a:endParaRPr>
          </a:p>
          <a:p>
            <a:pPr indent="-254000" lvl="1" marL="685800" rtl="0" algn="l">
              <a:spcBef>
                <a:spcPts val="0"/>
              </a:spcBef>
              <a:spcAft>
                <a:spcPts val="0"/>
              </a:spcAft>
              <a:buSzPts val="1400"/>
              <a:buChar char="❏"/>
            </a:pPr>
            <a:r>
              <a:rPr lang="en">
                <a:latin typeface="Arial"/>
                <a:ea typeface="Arial"/>
                <a:cs typeface="Arial"/>
                <a:sym typeface="Arial"/>
              </a:rPr>
              <a:t>where i is the list of node id that are reverse order of topo sort</a:t>
            </a:r>
            <a:endParaRPr>
              <a:latin typeface="Arial"/>
              <a:ea typeface="Arial"/>
              <a:cs typeface="Arial"/>
              <a:sym typeface="Arial"/>
            </a:endParaRPr>
          </a:p>
          <a:p>
            <a:pPr indent="-254000" lvl="1" marL="685800" rtl="0" algn="l">
              <a:spcBef>
                <a:spcPts val="0"/>
              </a:spcBef>
              <a:spcAft>
                <a:spcPts val="0"/>
              </a:spcAft>
              <a:buSzPts val="1400"/>
              <a:buFont typeface="Arial"/>
              <a:buChar char="❏"/>
            </a:pPr>
            <a:r>
              <a:rPr lang="en">
                <a:latin typeface="Arial"/>
                <a:ea typeface="Arial"/>
                <a:cs typeface="Arial"/>
                <a:sym typeface="Arial"/>
              </a:rPr>
              <a:t>j is the list of neighbor node id</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DP[4] = 1</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DP[3] = DP[3] + DP[4] = 1</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DP[2] = DP[2] + DP[3] = 1</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DP[1] = 0 (no neighbors)</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DP[0] = DP[0] + DP[1] = 0</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DP[0] = DP[0] + DP[2] = 1</a:t>
            </a:r>
            <a:endParaRPr>
              <a:latin typeface="Arial"/>
              <a:ea typeface="Arial"/>
              <a:cs typeface="Arial"/>
              <a:sym typeface="Arial"/>
            </a:endParaRPr>
          </a:p>
          <a:p>
            <a:pPr indent="-254000" lvl="0" marL="342900" rtl="0" algn="l">
              <a:spcBef>
                <a:spcPts val="0"/>
              </a:spcBef>
              <a:spcAft>
                <a:spcPts val="0"/>
              </a:spcAft>
              <a:buSzPts val="1400"/>
              <a:buFont typeface="Arial"/>
              <a:buChar char="❏"/>
            </a:pPr>
            <a:r>
              <a:rPr lang="en">
                <a:latin typeface="Arial"/>
                <a:ea typeface="Arial"/>
                <a:cs typeface="Arial"/>
                <a:sym typeface="Arial"/>
              </a:rPr>
              <a:t>DP[0] = DP[0] + DP[3] = 2</a:t>
            </a:r>
            <a:endParaRPr>
              <a:latin typeface="Arial"/>
              <a:ea typeface="Arial"/>
              <a:cs typeface="Arial"/>
              <a:sym typeface="Arial"/>
            </a:endParaRPr>
          </a:p>
          <a:p>
            <a:pPr indent="-254000" lvl="0" marL="342900" rtl="0" algn="l">
              <a:spcBef>
                <a:spcPts val="0"/>
              </a:spcBef>
              <a:spcAft>
                <a:spcPts val="0"/>
              </a:spcAft>
              <a:buSzPts val="1400"/>
              <a:buChar char="❏"/>
            </a:pPr>
            <a:r>
              <a:rPr lang="en">
                <a:latin typeface="Arial"/>
                <a:ea typeface="Arial"/>
                <a:cs typeface="Arial"/>
                <a:sym typeface="Arial"/>
              </a:rPr>
              <a:t>DP[0] = DP[0] + DP[4] = 4</a:t>
            </a:r>
            <a:endParaRPr>
              <a:latin typeface="Arial"/>
              <a:ea typeface="Arial"/>
              <a:cs typeface="Arial"/>
              <a:sym typeface="Arial"/>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cxnSp>
        <p:nvCxnSpPr>
          <p:cNvPr id="639" name="Google Shape;639;p72"/>
          <p:cNvCxnSpPr>
            <a:stCxn id="640" idx="6"/>
            <a:endCxn id="637" idx="1"/>
          </p:cNvCxnSpPr>
          <p:nvPr/>
        </p:nvCxnSpPr>
        <p:spPr>
          <a:xfrm>
            <a:off x="7776818" y="2612639"/>
            <a:ext cx="479100" cy="265500"/>
          </a:xfrm>
          <a:prstGeom prst="straightConnector1">
            <a:avLst/>
          </a:prstGeom>
          <a:noFill/>
          <a:ln cap="flat" cmpd="sng" w="9525">
            <a:solidFill>
              <a:schemeClr val="dk2"/>
            </a:solidFill>
            <a:prstDash val="solid"/>
            <a:round/>
            <a:headEnd len="med" w="med" type="none"/>
            <a:tailEnd len="med" w="med" type="triangle"/>
          </a:ln>
        </p:spPr>
      </p:cxnSp>
      <p:cxnSp>
        <p:nvCxnSpPr>
          <p:cNvPr id="641" name="Google Shape;641;p72"/>
          <p:cNvCxnSpPr>
            <a:endCxn id="637" idx="2"/>
          </p:cNvCxnSpPr>
          <p:nvPr/>
        </p:nvCxnSpPr>
        <p:spPr>
          <a:xfrm>
            <a:off x="7742275" y="3052200"/>
            <a:ext cx="433200" cy="3600"/>
          </a:xfrm>
          <a:prstGeom prst="straightConnector1">
            <a:avLst/>
          </a:prstGeom>
          <a:noFill/>
          <a:ln cap="flat" cmpd="sng" w="9525">
            <a:solidFill>
              <a:schemeClr val="dk2"/>
            </a:solidFill>
            <a:prstDash val="solid"/>
            <a:round/>
            <a:headEnd len="med" w="med" type="none"/>
            <a:tailEnd len="med" w="med" type="triangle"/>
          </a:ln>
        </p:spPr>
      </p:cxnSp>
      <p:cxnSp>
        <p:nvCxnSpPr>
          <p:cNvPr id="642" name="Google Shape;642;p72"/>
          <p:cNvCxnSpPr>
            <a:endCxn id="637" idx="3"/>
          </p:cNvCxnSpPr>
          <p:nvPr/>
        </p:nvCxnSpPr>
        <p:spPr>
          <a:xfrm flipH="1" rot="10800000">
            <a:off x="7788818" y="3233461"/>
            <a:ext cx="467100" cy="290400"/>
          </a:xfrm>
          <a:prstGeom prst="straightConnector1">
            <a:avLst/>
          </a:prstGeom>
          <a:noFill/>
          <a:ln cap="flat" cmpd="sng" w="9525">
            <a:solidFill>
              <a:schemeClr val="dk2"/>
            </a:solidFill>
            <a:prstDash val="solid"/>
            <a:round/>
            <a:headEnd len="med" w="med" type="none"/>
            <a:tailEnd len="med" w="med" type="triangle"/>
          </a:ln>
        </p:spPr>
      </p:cxnSp>
      <p:sp>
        <p:nvSpPr>
          <p:cNvPr id="643" name="Google Shape;643;p72"/>
          <p:cNvSpPr/>
          <p:nvPr/>
        </p:nvSpPr>
        <p:spPr>
          <a:xfrm>
            <a:off x="5160000" y="2802750"/>
            <a:ext cx="549300" cy="502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src</a:t>
            </a:r>
            <a:endParaRPr sz="1200"/>
          </a:p>
        </p:txBody>
      </p:sp>
      <p:cxnSp>
        <p:nvCxnSpPr>
          <p:cNvPr id="644" name="Google Shape;644;p72"/>
          <p:cNvCxnSpPr>
            <a:stCxn id="643" idx="7"/>
          </p:cNvCxnSpPr>
          <p:nvPr/>
        </p:nvCxnSpPr>
        <p:spPr>
          <a:xfrm flipH="1" rot="10800000">
            <a:off x="5628857" y="2580239"/>
            <a:ext cx="489300" cy="296100"/>
          </a:xfrm>
          <a:prstGeom prst="straightConnector1">
            <a:avLst/>
          </a:prstGeom>
          <a:noFill/>
          <a:ln cap="flat" cmpd="sng" w="9525">
            <a:solidFill>
              <a:schemeClr val="dk2"/>
            </a:solidFill>
            <a:prstDash val="solid"/>
            <a:round/>
            <a:headEnd len="med" w="med" type="none"/>
            <a:tailEnd len="med" w="med" type="triangle"/>
          </a:ln>
        </p:spPr>
      </p:cxnSp>
      <p:cxnSp>
        <p:nvCxnSpPr>
          <p:cNvPr id="645" name="Google Shape;645;p72"/>
          <p:cNvCxnSpPr>
            <a:stCxn id="643" idx="6"/>
          </p:cNvCxnSpPr>
          <p:nvPr/>
        </p:nvCxnSpPr>
        <p:spPr>
          <a:xfrm>
            <a:off x="5709300" y="3054000"/>
            <a:ext cx="555600" cy="5700"/>
          </a:xfrm>
          <a:prstGeom prst="straightConnector1">
            <a:avLst/>
          </a:prstGeom>
          <a:noFill/>
          <a:ln cap="flat" cmpd="sng" w="9525">
            <a:solidFill>
              <a:schemeClr val="dk2"/>
            </a:solidFill>
            <a:prstDash val="solid"/>
            <a:round/>
            <a:headEnd len="med" w="med" type="none"/>
            <a:tailEnd len="med" w="med" type="triangle"/>
          </a:ln>
        </p:spPr>
      </p:cxnSp>
      <p:cxnSp>
        <p:nvCxnSpPr>
          <p:cNvPr id="646" name="Google Shape;646;p72"/>
          <p:cNvCxnSpPr>
            <a:stCxn id="643" idx="5"/>
          </p:cNvCxnSpPr>
          <p:nvPr/>
        </p:nvCxnSpPr>
        <p:spPr>
          <a:xfrm>
            <a:off x="5628857" y="3231661"/>
            <a:ext cx="512400" cy="361800"/>
          </a:xfrm>
          <a:prstGeom prst="straightConnector1">
            <a:avLst/>
          </a:prstGeom>
          <a:noFill/>
          <a:ln cap="flat" cmpd="sng" w="9525">
            <a:solidFill>
              <a:schemeClr val="dk2"/>
            </a:solidFill>
            <a:prstDash val="solid"/>
            <a:round/>
            <a:headEnd len="med" w="med" type="none"/>
            <a:tailEnd len="med" w="med" type="triangle"/>
          </a:ln>
        </p:spPr>
      </p:cxnSp>
      <p:sp>
        <p:nvSpPr>
          <p:cNvPr id="647" name="Google Shape;647;p72"/>
          <p:cNvSpPr/>
          <p:nvPr/>
        </p:nvSpPr>
        <p:spPr>
          <a:xfrm>
            <a:off x="6538475" y="2994000"/>
            <a:ext cx="139500" cy="125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72"/>
          <p:cNvSpPr/>
          <p:nvPr/>
        </p:nvSpPr>
        <p:spPr>
          <a:xfrm>
            <a:off x="6872638" y="2994000"/>
            <a:ext cx="139500" cy="125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72"/>
          <p:cNvSpPr/>
          <p:nvPr/>
        </p:nvSpPr>
        <p:spPr>
          <a:xfrm>
            <a:off x="7206825" y="2994000"/>
            <a:ext cx="139500" cy="125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0" st="0"/>
                                            </p:txEl>
                                          </p:spTgt>
                                        </p:tgtEl>
                                        <p:attrNameLst>
                                          <p:attrName>style.visibility</p:attrName>
                                        </p:attrNameLst>
                                      </p:cBhvr>
                                      <p:to>
                                        <p:strVal val="visible"/>
                                      </p:to>
                                    </p:set>
                                    <p:animEffect filter="fade" transition="in">
                                      <p:cBhvr>
                                        <p:cTn dur="1000"/>
                                        <p:tgtEl>
                                          <p:spTgt spid="6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 st="1"/>
                                            </p:txEl>
                                          </p:spTgt>
                                        </p:tgtEl>
                                        <p:attrNameLst>
                                          <p:attrName>style.visibility</p:attrName>
                                        </p:attrNameLst>
                                      </p:cBhvr>
                                      <p:to>
                                        <p:strVal val="visible"/>
                                      </p:to>
                                    </p:set>
                                    <p:animEffect filter="fade" transition="in">
                                      <p:cBhvr>
                                        <p:cTn dur="1000"/>
                                        <p:tgtEl>
                                          <p:spTgt spid="6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2" st="2"/>
                                            </p:txEl>
                                          </p:spTgt>
                                        </p:tgtEl>
                                        <p:attrNameLst>
                                          <p:attrName>style.visibility</p:attrName>
                                        </p:attrNameLst>
                                      </p:cBhvr>
                                      <p:to>
                                        <p:strVal val="visible"/>
                                      </p:to>
                                    </p:set>
                                    <p:animEffect filter="fade" transition="in">
                                      <p:cBhvr>
                                        <p:cTn dur="1000"/>
                                        <p:tgtEl>
                                          <p:spTgt spid="6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3" st="3"/>
                                            </p:txEl>
                                          </p:spTgt>
                                        </p:tgtEl>
                                        <p:attrNameLst>
                                          <p:attrName>style.visibility</p:attrName>
                                        </p:attrNameLst>
                                      </p:cBhvr>
                                      <p:to>
                                        <p:strVal val="visible"/>
                                      </p:to>
                                    </p:set>
                                    <p:animEffect filter="fade" transition="in">
                                      <p:cBhvr>
                                        <p:cTn dur="1000"/>
                                        <p:tgtEl>
                                          <p:spTgt spid="6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4" st="4"/>
                                            </p:txEl>
                                          </p:spTgt>
                                        </p:tgtEl>
                                        <p:attrNameLst>
                                          <p:attrName>style.visibility</p:attrName>
                                        </p:attrNameLst>
                                      </p:cBhvr>
                                      <p:to>
                                        <p:strVal val="visible"/>
                                      </p:to>
                                    </p:set>
                                    <p:animEffect filter="fade" transition="in">
                                      <p:cBhvr>
                                        <p:cTn dur="1000"/>
                                        <p:tgtEl>
                                          <p:spTgt spid="6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5" st="5"/>
                                            </p:txEl>
                                          </p:spTgt>
                                        </p:tgtEl>
                                        <p:attrNameLst>
                                          <p:attrName>style.visibility</p:attrName>
                                        </p:attrNameLst>
                                      </p:cBhvr>
                                      <p:to>
                                        <p:strVal val="visible"/>
                                      </p:to>
                                    </p:set>
                                    <p:animEffect filter="fade" transition="in">
                                      <p:cBhvr>
                                        <p:cTn dur="1000"/>
                                        <p:tgtEl>
                                          <p:spTgt spid="6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6" st="6"/>
                                            </p:txEl>
                                          </p:spTgt>
                                        </p:tgtEl>
                                        <p:attrNameLst>
                                          <p:attrName>style.visibility</p:attrName>
                                        </p:attrNameLst>
                                      </p:cBhvr>
                                      <p:to>
                                        <p:strVal val="visible"/>
                                      </p:to>
                                    </p:set>
                                    <p:animEffect filter="fade" transition="in">
                                      <p:cBhvr>
                                        <p:cTn dur="1000"/>
                                        <p:tgtEl>
                                          <p:spTgt spid="6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7" st="7"/>
                                            </p:txEl>
                                          </p:spTgt>
                                        </p:tgtEl>
                                        <p:attrNameLst>
                                          <p:attrName>style.visibility</p:attrName>
                                        </p:attrNameLst>
                                      </p:cBhvr>
                                      <p:to>
                                        <p:strVal val="visible"/>
                                      </p:to>
                                    </p:set>
                                    <p:animEffect filter="fade" transition="in">
                                      <p:cBhvr>
                                        <p:cTn dur="1000"/>
                                        <p:tgtEl>
                                          <p:spTgt spid="6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8" st="8"/>
                                            </p:txEl>
                                          </p:spTgt>
                                        </p:tgtEl>
                                        <p:attrNameLst>
                                          <p:attrName>style.visibility</p:attrName>
                                        </p:attrNameLst>
                                      </p:cBhvr>
                                      <p:to>
                                        <p:strVal val="visible"/>
                                      </p:to>
                                    </p:set>
                                    <p:animEffect filter="fade" transition="in">
                                      <p:cBhvr>
                                        <p:cTn dur="1000"/>
                                        <p:tgtEl>
                                          <p:spTgt spid="6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9" st="9"/>
                                            </p:txEl>
                                          </p:spTgt>
                                        </p:tgtEl>
                                        <p:attrNameLst>
                                          <p:attrName>style.visibility</p:attrName>
                                        </p:attrNameLst>
                                      </p:cBhvr>
                                      <p:to>
                                        <p:strVal val="visible"/>
                                      </p:to>
                                    </p:set>
                                    <p:animEffect filter="fade" transition="in">
                                      <p:cBhvr>
                                        <p:cTn dur="1000"/>
                                        <p:tgtEl>
                                          <p:spTgt spid="6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0" st="10"/>
                                            </p:txEl>
                                          </p:spTgt>
                                        </p:tgtEl>
                                        <p:attrNameLst>
                                          <p:attrName>style.visibility</p:attrName>
                                        </p:attrNameLst>
                                      </p:cBhvr>
                                      <p:to>
                                        <p:strVal val="visible"/>
                                      </p:to>
                                    </p:set>
                                    <p:animEffect filter="fade" transition="in">
                                      <p:cBhvr>
                                        <p:cTn dur="1000"/>
                                        <p:tgtEl>
                                          <p:spTgt spid="6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1" st="11"/>
                                            </p:txEl>
                                          </p:spTgt>
                                        </p:tgtEl>
                                        <p:attrNameLst>
                                          <p:attrName>style.visibility</p:attrName>
                                        </p:attrNameLst>
                                      </p:cBhvr>
                                      <p:to>
                                        <p:strVal val="visible"/>
                                      </p:to>
                                    </p:set>
                                    <p:animEffect filter="fade" transition="in">
                                      <p:cBhvr>
                                        <p:cTn dur="1000"/>
                                        <p:tgtEl>
                                          <p:spTgt spid="6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2" st="12"/>
                                            </p:txEl>
                                          </p:spTgt>
                                        </p:tgtEl>
                                        <p:attrNameLst>
                                          <p:attrName>style.visibility</p:attrName>
                                        </p:attrNameLst>
                                      </p:cBhvr>
                                      <p:to>
                                        <p:strVal val="visible"/>
                                      </p:to>
                                    </p:set>
                                    <p:animEffect filter="fade" transition="in">
                                      <p:cBhvr>
                                        <p:cTn dur="1000"/>
                                        <p:tgtEl>
                                          <p:spTgt spid="63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3" st="13"/>
                                            </p:txEl>
                                          </p:spTgt>
                                        </p:tgtEl>
                                        <p:attrNameLst>
                                          <p:attrName>style.visibility</p:attrName>
                                        </p:attrNameLst>
                                      </p:cBhvr>
                                      <p:to>
                                        <p:strVal val="visible"/>
                                      </p:to>
                                    </p:set>
                                    <p:animEffect filter="fade" transition="in">
                                      <p:cBhvr>
                                        <p:cTn dur="1000"/>
                                        <p:tgtEl>
                                          <p:spTgt spid="63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4" st="14"/>
                                            </p:txEl>
                                          </p:spTgt>
                                        </p:tgtEl>
                                        <p:attrNameLst>
                                          <p:attrName>style.visibility</p:attrName>
                                        </p:attrNameLst>
                                      </p:cBhvr>
                                      <p:to>
                                        <p:strVal val="visible"/>
                                      </p:to>
                                    </p:set>
                                    <p:animEffect filter="fade" transition="in">
                                      <p:cBhvr>
                                        <p:cTn dur="1000"/>
                                        <p:tgtEl>
                                          <p:spTgt spid="63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5" st="15"/>
                                            </p:txEl>
                                          </p:spTgt>
                                        </p:tgtEl>
                                        <p:attrNameLst>
                                          <p:attrName>style.visibility</p:attrName>
                                        </p:attrNameLst>
                                      </p:cBhvr>
                                      <p:to>
                                        <p:strVal val="visible"/>
                                      </p:to>
                                    </p:set>
                                    <p:animEffect filter="fade" transition="in">
                                      <p:cBhvr>
                                        <p:cTn dur="1000"/>
                                        <p:tgtEl>
                                          <p:spTgt spid="63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6" st="16"/>
                                            </p:txEl>
                                          </p:spTgt>
                                        </p:tgtEl>
                                        <p:attrNameLst>
                                          <p:attrName>style.visibility</p:attrName>
                                        </p:attrNameLst>
                                      </p:cBhvr>
                                      <p:to>
                                        <p:strVal val="visible"/>
                                      </p:to>
                                    </p:set>
                                    <p:animEffect filter="fade" transition="in">
                                      <p:cBhvr>
                                        <p:cTn dur="1000"/>
                                        <p:tgtEl>
                                          <p:spTgt spid="638">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7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MaxID - verification</a:t>
            </a:r>
            <a:endParaRPr>
              <a:latin typeface="Twentieth Century"/>
              <a:ea typeface="Twentieth Century"/>
              <a:cs typeface="Twentieth Century"/>
              <a:sym typeface="Twentieth Century"/>
            </a:endParaRPr>
          </a:p>
        </p:txBody>
      </p:sp>
      <p:pic>
        <p:nvPicPr>
          <p:cNvPr id="656" name="Google Shape;656;p73"/>
          <p:cNvPicPr preferRelativeResize="0"/>
          <p:nvPr/>
        </p:nvPicPr>
        <p:blipFill>
          <a:blip r:embed="rId3">
            <a:alphaModFix/>
          </a:blip>
          <a:stretch>
            <a:fillRect/>
          </a:stretch>
        </p:blipFill>
        <p:spPr>
          <a:xfrm>
            <a:off x="1204325" y="1680269"/>
            <a:ext cx="7067550" cy="25812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74"/>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MaxID - verification</a:t>
            </a:r>
            <a:endParaRPr>
              <a:latin typeface="Twentieth Century"/>
              <a:ea typeface="Twentieth Century"/>
              <a:cs typeface="Twentieth Century"/>
              <a:sym typeface="Twentieth Century"/>
            </a:endParaRPr>
          </a:p>
        </p:txBody>
      </p:sp>
      <p:sp>
        <p:nvSpPr>
          <p:cNvPr id="663" name="Google Shape;663;p74"/>
          <p:cNvSpPr txBox="1"/>
          <p:nvPr/>
        </p:nvSpPr>
        <p:spPr>
          <a:xfrm>
            <a:off x="185625" y="1020950"/>
            <a:ext cx="3000000" cy="475500"/>
          </a:xfrm>
          <a:prstGeom prst="rect">
            <a:avLst/>
          </a:prstGeom>
          <a:noFill/>
          <a:ln>
            <a:noFill/>
          </a:ln>
        </p:spPr>
        <p:txBody>
          <a:bodyPr anchorCtr="0" anchor="t" bIns="91425" lIns="91425" spcFirstLastPara="1" rIns="91425" wrap="square" tIns="91425">
            <a:spAutoFit/>
          </a:bodyPr>
          <a:lstStyle/>
          <a:p>
            <a:pPr indent="-254000" lvl="0" marL="342900" rtl="0" algn="l">
              <a:lnSpc>
                <a:spcPct val="90000"/>
              </a:lnSpc>
              <a:spcBef>
                <a:spcPts val="800"/>
              </a:spcBef>
              <a:spcAft>
                <a:spcPts val="0"/>
              </a:spcAft>
              <a:buClr>
                <a:schemeClr val="dk1"/>
              </a:buClr>
              <a:buSzPts val="1400"/>
              <a:buFont typeface="Twentieth Century"/>
              <a:buChar char="❏"/>
            </a:pPr>
            <a:r>
              <a:rPr lang="en" sz="2100">
                <a:solidFill>
                  <a:schemeClr val="dk1"/>
                </a:solidFill>
                <a:latin typeface="Twentieth Century"/>
                <a:ea typeface="Twentieth Century"/>
                <a:cs typeface="Twentieth Century"/>
                <a:sym typeface="Twentieth Century"/>
              </a:rPr>
              <a:t>See Excel file</a:t>
            </a:r>
            <a:endParaRPr sz="21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id="669" name="Google Shape;669;p75"/>
          <p:cNvPicPr preferRelativeResize="0"/>
          <p:nvPr/>
        </p:nvPicPr>
        <p:blipFill>
          <a:blip r:embed="rId3">
            <a:alphaModFix/>
          </a:blip>
          <a:stretch>
            <a:fillRect/>
          </a:stretch>
        </p:blipFill>
        <p:spPr>
          <a:xfrm>
            <a:off x="39525" y="2460975"/>
            <a:ext cx="2286000" cy="1828800"/>
          </a:xfrm>
          <a:prstGeom prst="rect">
            <a:avLst/>
          </a:prstGeom>
          <a:noFill/>
          <a:ln>
            <a:noFill/>
          </a:ln>
        </p:spPr>
      </p:pic>
      <p:pic>
        <p:nvPicPr>
          <p:cNvPr id="670" name="Google Shape;670;p75"/>
          <p:cNvPicPr preferRelativeResize="0"/>
          <p:nvPr/>
        </p:nvPicPr>
        <p:blipFill>
          <a:blip r:embed="rId4">
            <a:alphaModFix/>
          </a:blip>
          <a:stretch>
            <a:fillRect/>
          </a:stretch>
        </p:blipFill>
        <p:spPr>
          <a:xfrm>
            <a:off x="0" y="38825"/>
            <a:ext cx="2286000" cy="1828800"/>
          </a:xfrm>
          <a:prstGeom prst="rect">
            <a:avLst/>
          </a:prstGeom>
          <a:noFill/>
          <a:ln>
            <a:noFill/>
          </a:ln>
        </p:spPr>
      </p:pic>
      <p:pic>
        <p:nvPicPr>
          <p:cNvPr id="671" name="Google Shape;671;p75"/>
          <p:cNvPicPr preferRelativeResize="0"/>
          <p:nvPr/>
        </p:nvPicPr>
        <p:blipFill>
          <a:blip r:embed="rId5">
            <a:alphaModFix/>
          </a:blip>
          <a:stretch>
            <a:fillRect/>
          </a:stretch>
        </p:blipFill>
        <p:spPr>
          <a:xfrm>
            <a:off x="2383363" y="2460975"/>
            <a:ext cx="2286000" cy="1828800"/>
          </a:xfrm>
          <a:prstGeom prst="rect">
            <a:avLst/>
          </a:prstGeom>
          <a:noFill/>
          <a:ln>
            <a:noFill/>
          </a:ln>
        </p:spPr>
      </p:pic>
      <p:pic>
        <p:nvPicPr>
          <p:cNvPr id="672" name="Google Shape;672;p75"/>
          <p:cNvPicPr preferRelativeResize="0"/>
          <p:nvPr/>
        </p:nvPicPr>
        <p:blipFill>
          <a:blip r:embed="rId6">
            <a:alphaModFix/>
          </a:blip>
          <a:stretch>
            <a:fillRect/>
          </a:stretch>
        </p:blipFill>
        <p:spPr>
          <a:xfrm>
            <a:off x="2183000" y="38825"/>
            <a:ext cx="2286000" cy="1828800"/>
          </a:xfrm>
          <a:prstGeom prst="rect">
            <a:avLst/>
          </a:prstGeom>
          <a:noFill/>
          <a:ln>
            <a:noFill/>
          </a:ln>
        </p:spPr>
      </p:pic>
      <p:pic>
        <p:nvPicPr>
          <p:cNvPr id="673" name="Google Shape;673;p75"/>
          <p:cNvPicPr preferRelativeResize="0"/>
          <p:nvPr/>
        </p:nvPicPr>
        <p:blipFill>
          <a:blip r:embed="rId7">
            <a:alphaModFix/>
          </a:blip>
          <a:stretch>
            <a:fillRect/>
          </a:stretch>
        </p:blipFill>
        <p:spPr>
          <a:xfrm>
            <a:off x="4727200" y="2432750"/>
            <a:ext cx="2286000" cy="1828800"/>
          </a:xfrm>
          <a:prstGeom prst="rect">
            <a:avLst/>
          </a:prstGeom>
          <a:noFill/>
          <a:ln>
            <a:noFill/>
          </a:ln>
        </p:spPr>
      </p:pic>
      <p:pic>
        <p:nvPicPr>
          <p:cNvPr id="674" name="Google Shape;674;p75"/>
          <p:cNvPicPr preferRelativeResize="0"/>
          <p:nvPr/>
        </p:nvPicPr>
        <p:blipFill>
          <a:blip r:embed="rId8">
            <a:alphaModFix/>
          </a:blip>
          <a:stretch>
            <a:fillRect/>
          </a:stretch>
        </p:blipFill>
        <p:spPr>
          <a:xfrm>
            <a:off x="4469000" y="38825"/>
            <a:ext cx="2286000" cy="1828800"/>
          </a:xfrm>
          <a:prstGeom prst="rect">
            <a:avLst/>
          </a:prstGeom>
          <a:noFill/>
          <a:ln>
            <a:noFill/>
          </a:ln>
        </p:spPr>
      </p:pic>
      <p:pic>
        <p:nvPicPr>
          <p:cNvPr id="675" name="Google Shape;675;p75"/>
          <p:cNvPicPr preferRelativeResize="0"/>
          <p:nvPr/>
        </p:nvPicPr>
        <p:blipFill>
          <a:blip r:embed="rId9">
            <a:alphaModFix/>
          </a:blip>
          <a:stretch>
            <a:fillRect/>
          </a:stretch>
        </p:blipFill>
        <p:spPr>
          <a:xfrm>
            <a:off x="6812113" y="2432750"/>
            <a:ext cx="2286000" cy="1828800"/>
          </a:xfrm>
          <a:prstGeom prst="rect">
            <a:avLst/>
          </a:prstGeom>
          <a:noFill/>
          <a:ln>
            <a:noFill/>
          </a:ln>
        </p:spPr>
      </p:pic>
      <p:pic>
        <p:nvPicPr>
          <p:cNvPr id="676" name="Google Shape;676;p75"/>
          <p:cNvPicPr preferRelativeResize="0"/>
          <p:nvPr/>
        </p:nvPicPr>
        <p:blipFill>
          <a:blip r:embed="rId10">
            <a:alphaModFix/>
          </a:blip>
          <a:stretch>
            <a:fillRect/>
          </a:stretch>
        </p:blipFill>
        <p:spPr>
          <a:xfrm>
            <a:off x="6858000" y="38825"/>
            <a:ext cx="2286000" cy="18288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683" name="Google Shape;683;p76"/>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Feb. 11</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7"/>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Progress and Agenda</a:t>
            </a:r>
            <a:endParaRPr>
              <a:latin typeface="Twentieth Century"/>
              <a:ea typeface="Twentieth Century"/>
              <a:cs typeface="Twentieth Century"/>
              <a:sym typeface="Twentieth Century"/>
            </a:endParaRPr>
          </a:p>
        </p:txBody>
      </p:sp>
      <p:sp>
        <p:nvSpPr>
          <p:cNvPr id="690" name="Google Shape;690;p77"/>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Plan for WHISTLE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Use case survey (Need for strong motivation)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Encoding cyclic call graph.</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Experiment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Fix compile issues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Run PCCE with all benches with lightweight decoding scheme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8"/>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Use case of DCCE</a:t>
            </a:r>
            <a:endParaRPr>
              <a:latin typeface="Twentieth Century"/>
              <a:ea typeface="Twentieth Century"/>
              <a:cs typeface="Twentieth Century"/>
              <a:sym typeface="Twentieth Century"/>
            </a:endParaRPr>
          </a:p>
        </p:txBody>
      </p:sp>
      <p:sp>
        <p:nvSpPr>
          <p:cNvPr id="697" name="Google Shape;697;p78"/>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8"/>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Anomaly detection using stack frame information (Feng, SP’03)</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Unearthing Stealthy Program Attacks Buried in Extremely Long Execution Paths (Shu, CCS’15)</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xEl>
                                              <p:pRg end="0" st="0"/>
                                            </p:txEl>
                                          </p:spTgt>
                                        </p:tgtEl>
                                        <p:attrNameLst>
                                          <p:attrName>style.visibility</p:attrName>
                                        </p:attrNameLst>
                                      </p:cBhvr>
                                      <p:to>
                                        <p:strVal val="visible"/>
                                      </p:to>
                                    </p:set>
                                    <p:animEffect filter="fade" transition="in">
                                      <p:cBhvr>
                                        <p:cTn dur="1000"/>
                                        <p:tgtEl>
                                          <p:spTgt spid="6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xEl>
                                              <p:pRg end="1" st="1"/>
                                            </p:txEl>
                                          </p:spTgt>
                                        </p:tgtEl>
                                        <p:attrNameLst>
                                          <p:attrName>style.visibility</p:attrName>
                                        </p:attrNameLst>
                                      </p:cBhvr>
                                      <p:to>
                                        <p:strVal val="visible"/>
                                      </p:to>
                                    </p:set>
                                    <p:animEffect filter="fade" transition="in">
                                      <p:cBhvr>
                                        <p:cTn dur="1000"/>
                                        <p:tgtEl>
                                          <p:spTgt spid="6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xEl>
                                              <p:pRg end="2" st="2"/>
                                            </p:txEl>
                                          </p:spTgt>
                                        </p:tgtEl>
                                        <p:attrNameLst>
                                          <p:attrName>style.visibility</p:attrName>
                                        </p:attrNameLst>
                                      </p:cBhvr>
                                      <p:to>
                                        <p:strVal val="visible"/>
                                      </p:to>
                                    </p:set>
                                    <p:animEffect filter="fade" transition="in">
                                      <p:cBhvr>
                                        <p:cTn dur="1000"/>
                                        <p:tgtEl>
                                          <p:spTgt spid="6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xEl>
                                              <p:pRg end="3" st="3"/>
                                            </p:txEl>
                                          </p:spTgt>
                                        </p:tgtEl>
                                        <p:attrNameLst>
                                          <p:attrName>style.visibility</p:attrName>
                                        </p:attrNameLst>
                                      </p:cBhvr>
                                      <p:to>
                                        <p:strVal val="visible"/>
                                      </p:to>
                                    </p:set>
                                    <p:animEffect filter="fade" transition="in">
                                      <p:cBhvr>
                                        <p:cTn dur="1000"/>
                                        <p:tgtEl>
                                          <p:spTgt spid="6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xEl>
                                              <p:pRg end="4" st="4"/>
                                            </p:txEl>
                                          </p:spTgt>
                                        </p:tgtEl>
                                        <p:attrNameLst>
                                          <p:attrName>style.visibility</p:attrName>
                                        </p:attrNameLst>
                                      </p:cBhvr>
                                      <p:to>
                                        <p:strVal val="visible"/>
                                      </p:to>
                                    </p:set>
                                    <p:animEffect filter="fade" transition="in">
                                      <p:cBhvr>
                                        <p:cTn dur="1000"/>
                                        <p:tgtEl>
                                          <p:spTgt spid="69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05" name="Google Shape;705;p79"/>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 name="Google Shape;706;p79"/>
          <p:cNvPicPr preferRelativeResize="0"/>
          <p:nvPr/>
        </p:nvPicPr>
        <p:blipFill>
          <a:blip r:embed="rId3">
            <a:alphaModFix/>
          </a:blip>
          <a:stretch>
            <a:fillRect/>
          </a:stretch>
        </p:blipFill>
        <p:spPr>
          <a:xfrm>
            <a:off x="7038180" y="70250"/>
            <a:ext cx="3768739" cy="514349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8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13" name="Google Shape;713;p80"/>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80"/>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Idea: extract return address from the call stack and generate abstract execution path between two program execution points.</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Profile based (invariant) work.</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Virtual Stack list A = {a0, a1, …, an-1}</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Virtual Path</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For checkpoints</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anomaly.</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Return address anomaly.</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System call anomaly.</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Virtual path anomaly.</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715" name="Google Shape;715;p80"/>
          <p:cNvPicPr preferRelativeResize="0"/>
          <p:nvPr/>
        </p:nvPicPr>
        <p:blipFill>
          <a:blip r:embed="rId3">
            <a:alphaModFix/>
          </a:blip>
          <a:stretch>
            <a:fillRect/>
          </a:stretch>
        </p:blipFill>
        <p:spPr>
          <a:xfrm>
            <a:off x="4907326" y="1634450"/>
            <a:ext cx="4236674" cy="3509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0" st="0"/>
                                            </p:txEl>
                                          </p:spTgt>
                                        </p:tgtEl>
                                        <p:attrNameLst>
                                          <p:attrName>style.visibility</p:attrName>
                                        </p:attrNameLst>
                                      </p:cBhvr>
                                      <p:to>
                                        <p:strVal val="visible"/>
                                      </p:to>
                                    </p:set>
                                    <p:animEffect filter="fade" transition="in">
                                      <p:cBhvr>
                                        <p:cTn dur="1000"/>
                                        <p:tgtEl>
                                          <p:spTgt spid="7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1" st="1"/>
                                            </p:txEl>
                                          </p:spTgt>
                                        </p:tgtEl>
                                        <p:attrNameLst>
                                          <p:attrName>style.visibility</p:attrName>
                                        </p:attrNameLst>
                                      </p:cBhvr>
                                      <p:to>
                                        <p:strVal val="visible"/>
                                      </p:to>
                                    </p:set>
                                    <p:animEffect filter="fade" transition="in">
                                      <p:cBhvr>
                                        <p:cTn dur="1000"/>
                                        <p:tgtEl>
                                          <p:spTgt spid="7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2" st="2"/>
                                            </p:txEl>
                                          </p:spTgt>
                                        </p:tgtEl>
                                        <p:attrNameLst>
                                          <p:attrName>style.visibility</p:attrName>
                                        </p:attrNameLst>
                                      </p:cBhvr>
                                      <p:to>
                                        <p:strVal val="visible"/>
                                      </p:to>
                                    </p:set>
                                    <p:animEffect filter="fade" transition="in">
                                      <p:cBhvr>
                                        <p:cTn dur="1000"/>
                                        <p:tgtEl>
                                          <p:spTgt spid="7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3" st="3"/>
                                            </p:txEl>
                                          </p:spTgt>
                                        </p:tgtEl>
                                        <p:attrNameLst>
                                          <p:attrName>style.visibility</p:attrName>
                                        </p:attrNameLst>
                                      </p:cBhvr>
                                      <p:to>
                                        <p:strVal val="visible"/>
                                      </p:to>
                                    </p:set>
                                    <p:animEffect filter="fade" transition="in">
                                      <p:cBhvr>
                                        <p:cTn dur="1000"/>
                                        <p:tgtEl>
                                          <p:spTgt spid="7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4" st="4"/>
                                            </p:txEl>
                                          </p:spTgt>
                                        </p:tgtEl>
                                        <p:attrNameLst>
                                          <p:attrName>style.visibility</p:attrName>
                                        </p:attrNameLst>
                                      </p:cBhvr>
                                      <p:to>
                                        <p:strVal val="visible"/>
                                      </p:to>
                                    </p:set>
                                    <p:animEffect filter="fade" transition="in">
                                      <p:cBhvr>
                                        <p:cTn dur="1000"/>
                                        <p:tgtEl>
                                          <p:spTgt spid="7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5" st="5"/>
                                            </p:txEl>
                                          </p:spTgt>
                                        </p:tgtEl>
                                        <p:attrNameLst>
                                          <p:attrName>style.visibility</p:attrName>
                                        </p:attrNameLst>
                                      </p:cBhvr>
                                      <p:to>
                                        <p:strVal val="visible"/>
                                      </p:to>
                                    </p:set>
                                    <p:animEffect filter="fade" transition="in">
                                      <p:cBhvr>
                                        <p:cTn dur="1000"/>
                                        <p:tgtEl>
                                          <p:spTgt spid="7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6" st="6"/>
                                            </p:txEl>
                                          </p:spTgt>
                                        </p:tgtEl>
                                        <p:attrNameLst>
                                          <p:attrName>style.visibility</p:attrName>
                                        </p:attrNameLst>
                                      </p:cBhvr>
                                      <p:to>
                                        <p:strVal val="visible"/>
                                      </p:to>
                                    </p:set>
                                    <p:animEffect filter="fade" transition="in">
                                      <p:cBhvr>
                                        <p:cTn dur="1000"/>
                                        <p:tgtEl>
                                          <p:spTgt spid="7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7" st="7"/>
                                            </p:txEl>
                                          </p:spTgt>
                                        </p:tgtEl>
                                        <p:attrNameLst>
                                          <p:attrName>style.visibility</p:attrName>
                                        </p:attrNameLst>
                                      </p:cBhvr>
                                      <p:to>
                                        <p:strVal val="visible"/>
                                      </p:to>
                                    </p:set>
                                    <p:animEffect filter="fade" transition="in">
                                      <p:cBhvr>
                                        <p:cTn dur="1000"/>
                                        <p:tgtEl>
                                          <p:spTgt spid="7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8" st="8"/>
                                            </p:txEl>
                                          </p:spTgt>
                                        </p:tgtEl>
                                        <p:attrNameLst>
                                          <p:attrName>style.visibility</p:attrName>
                                        </p:attrNameLst>
                                      </p:cBhvr>
                                      <p:to>
                                        <p:strVal val="visible"/>
                                      </p:to>
                                    </p:set>
                                    <p:animEffect filter="fade" transition="in">
                                      <p:cBhvr>
                                        <p:cTn dur="1000"/>
                                        <p:tgtEl>
                                          <p:spTgt spid="7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9" st="9"/>
                                            </p:txEl>
                                          </p:spTgt>
                                        </p:tgtEl>
                                        <p:attrNameLst>
                                          <p:attrName>style.visibility</p:attrName>
                                        </p:attrNameLst>
                                      </p:cBhvr>
                                      <p:to>
                                        <p:strVal val="visible"/>
                                      </p:to>
                                    </p:set>
                                    <p:animEffect filter="fade" transition="in">
                                      <p:cBhvr>
                                        <p:cTn dur="1000"/>
                                        <p:tgtEl>
                                          <p:spTgt spid="71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xEl>
                                              <p:pRg end="10" st="10"/>
                                            </p:txEl>
                                          </p:spTgt>
                                        </p:tgtEl>
                                        <p:attrNameLst>
                                          <p:attrName>style.visibility</p:attrName>
                                        </p:attrNameLst>
                                      </p:cBhvr>
                                      <p:to>
                                        <p:strVal val="visible"/>
                                      </p:to>
                                    </p:set>
                                    <p:animEffect filter="fade" transition="in">
                                      <p:cBhvr>
                                        <p:cTn dur="1000"/>
                                        <p:tgtEl>
                                          <p:spTgt spid="71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8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22" name="Google Shape;722;p81"/>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1"/>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Convergence</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Run benchmarks until X number of system call is invoked.</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X ranges from small to many.</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724" name="Google Shape;724;p81"/>
          <p:cNvPicPr preferRelativeResize="0"/>
          <p:nvPr/>
        </p:nvPicPr>
        <p:blipFill>
          <a:blip r:embed="rId3">
            <a:alphaModFix/>
          </a:blip>
          <a:stretch>
            <a:fillRect/>
          </a:stretch>
        </p:blipFill>
        <p:spPr>
          <a:xfrm>
            <a:off x="4195348" y="1388750"/>
            <a:ext cx="4131851" cy="3623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xEl>
                                              <p:pRg end="0" st="0"/>
                                            </p:txEl>
                                          </p:spTgt>
                                        </p:tgtEl>
                                        <p:attrNameLst>
                                          <p:attrName>style.visibility</p:attrName>
                                        </p:attrNameLst>
                                      </p:cBhvr>
                                      <p:to>
                                        <p:strVal val="visible"/>
                                      </p:to>
                                    </p:set>
                                    <p:animEffect filter="fade" transition="in">
                                      <p:cBhvr>
                                        <p:cTn dur="1000"/>
                                        <p:tgtEl>
                                          <p:spTgt spid="7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xEl>
                                              <p:pRg end="1" st="1"/>
                                            </p:txEl>
                                          </p:spTgt>
                                        </p:tgtEl>
                                        <p:attrNameLst>
                                          <p:attrName>style.visibility</p:attrName>
                                        </p:attrNameLst>
                                      </p:cBhvr>
                                      <p:to>
                                        <p:strVal val="visible"/>
                                      </p:to>
                                    </p:set>
                                    <p:animEffect filter="fade" transition="in">
                                      <p:cBhvr>
                                        <p:cTn dur="1000"/>
                                        <p:tgtEl>
                                          <p:spTgt spid="7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xEl>
                                              <p:pRg end="2" st="2"/>
                                            </p:txEl>
                                          </p:spTgt>
                                        </p:tgtEl>
                                        <p:attrNameLst>
                                          <p:attrName>style.visibility</p:attrName>
                                        </p:attrNameLst>
                                      </p:cBhvr>
                                      <p:to>
                                        <p:strVal val="visible"/>
                                      </p:to>
                                    </p:set>
                                    <p:animEffect filter="fade" transition="in">
                                      <p:cBhvr>
                                        <p:cTn dur="1000"/>
                                        <p:tgtEl>
                                          <p:spTgt spid="7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xEl>
                                              <p:pRg end="3" st="3"/>
                                            </p:txEl>
                                          </p:spTgt>
                                        </p:tgtEl>
                                        <p:attrNameLst>
                                          <p:attrName>style.visibility</p:attrName>
                                        </p:attrNameLst>
                                      </p:cBhvr>
                                      <p:to>
                                        <p:strVal val="visible"/>
                                      </p:to>
                                    </p:set>
                                    <p:animEffect filter="fade" transition="in">
                                      <p:cBhvr>
                                        <p:cTn dur="1000"/>
                                        <p:tgtEl>
                                          <p:spTgt spid="7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xEl>
                                              <p:pRg end="4" st="4"/>
                                            </p:txEl>
                                          </p:spTgt>
                                        </p:tgtEl>
                                        <p:attrNameLst>
                                          <p:attrName>style.visibility</p:attrName>
                                        </p:attrNameLst>
                                      </p:cBhvr>
                                      <p:to>
                                        <p:strVal val="visible"/>
                                      </p:to>
                                    </p:set>
                                    <p:animEffect filter="fade" transition="in">
                                      <p:cBhvr>
                                        <p:cTn dur="1000"/>
                                        <p:tgtEl>
                                          <p:spTgt spid="7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8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31" name="Google Shape;731;p82"/>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82"/>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False Positive</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Execution is slightly different from what was used for the convergence.</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#false positive / #system call</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733" name="Google Shape;733;p82"/>
          <p:cNvPicPr preferRelativeResize="0"/>
          <p:nvPr/>
        </p:nvPicPr>
        <p:blipFill>
          <a:blip r:embed="rId3">
            <a:alphaModFix/>
          </a:blip>
          <a:stretch>
            <a:fillRect/>
          </a:stretch>
        </p:blipFill>
        <p:spPr>
          <a:xfrm>
            <a:off x="4725624" y="1541525"/>
            <a:ext cx="3988450" cy="3478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0" st="0"/>
                                            </p:txEl>
                                          </p:spTgt>
                                        </p:tgtEl>
                                        <p:attrNameLst>
                                          <p:attrName>style.visibility</p:attrName>
                                        </p:attrNameLst>
                                      </p:cBhvr>
                                      <p:to>
                                        <p:strVal val="visible"/>
                                      </p:to>
                                    </p:set>
                                    <p:animEffect filter="fade" transition="in">
                                      <p:cBhvr>
                                        <p:cTn dur="1000"/>
                                        <p:tgtEl>
                                          <p:spTgt spid="7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1" st="1"/>
                                            </p:txEl>
                                          </p:spTgt>
                                        </p:tgtEl>
                                        <p:attrNameLst>
                                          <p:attrName>style.visibility</p:attrName>
                                        </p:attrNameLst>
                                      </p:cBhvr>
                                      <p:to>
                                        <p:strVal val="visible"/>
                                      </p:to>
                                    </p:set>
                                    <p:animEffect filter="fade" transition="in">
                                      <p:cBhvr>
                                        <p:cTn dur="1000"/>
                                        <p:tgtEl>
                                          <p:spTgt spid="7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2" st="2"/>
                                            </p:txEl>
                                          </p:spTgt>
                                        </p:tgtEl>
                                        <p:attrNameLst>
                                          <p:attrName>style.visibility</p:attrName>
                                        </p:attrNameLst>
                                      </p:cBhvr>
                                      <p:to>
                                        <p:strVal val="visible"/>
                                      </p:to>
                                    </p:set>
                                    <p:animEffect filter="fade" transition="in">
                                      <p:cBhvr>
                                        <p:cTn dur="1000"/>
                                        <p:tgtEl>
                                          <p:spTgt spid="7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3" st="3"/>
                                            </p:txEl>
                                          </p:spTgt>
                                        </p:tgtEl>
                                        <p:attrNameLst>
                                          <p:attrName>style.visibility</p:attrName>
                                        </p:attrNameLst>
                                      </p:cBhvr>
                                      <p:to>
                                        <p:strVal val="visible"/>
                                      </p:to>
                                    </p:set>
                                    <p:animEffect filter="fade" transition="in">
                                      <p:cBhvr>
                                        <p:cTn dur="1000"/>
                                        <p:tgtEl>
                                          <p:spTgt spid="7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4" st="4"/>
                                            </p:txEl>
                                          </p:spTgt>
                                        </p:tgtEl>
                                        <p:attrNameLst>
                                          <p:attrName>style.visibility</p:attrName>
                                        </p:attrNameLst>
                                      </p:cBhvr>
                                      <p:to>
                                        <p:strVal val="visible"/>
                                      </p:to>
                                    </p:set>
                                    <p:animEffect filter="fade" transition="in">
                                      <p:cBhvr>
                                        <p:cTn dur="1000"/>
                                        <p:tgtEl>
                                          <p:spTgt spid="73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8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Can DCCE be used to detect anomaly?</a:t>
            </a:r>
            <a:endParaRPr>
              <a:latin typeface="Twentieth Century"/>
              <a:ea typeface="Twentieth Century"/>
              <a:cs typeface="Twentieth Century"/>
              <a:sym typeface="Twentieth Century"/>
            </a:endParaRPr>
          </a:p>
        </p:txBody>
      </p:sp>
      <p:sp>
        <p:nvSpPr>
          <p:cNvPr id="740" name="Google Shape;740;p83"/>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83"/>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34950" lvl="0" marL="342900" rtl="0" algn="l">
              <a:lnSpc>
                <a:spcPct val="115000"/>
              </a:lnSpc>
              <a:spcBef>
                <a:spcPts val="0"/>
              </a:spcBef>
              <a:spcAft>
                <a:spcPts val="0"/>
              </a:spcAft>
              <a:buSzPts val="1100"/>
              <a:buChar char="❏"/>
            </a:pPr>
            <a:r>
              <a:rPr lang="en" sz="1100"/>
              <a:t>Can calling context be used to detect this type of attack?</a:t>
            </a:r>
            <a:endParaRPr sz="1100"/>
          </a:p>
          <a:p>
            <a:pPr indent="0" lvl="0" marL="342900" rtl="0" algn="l">
              <a:lnSpc>
                <a:spcPct val="115000"/>
              </a:lnSpc>
              <a:spcBef>
                <a:spcPts val="0"/>
              </a:spcBef>
              <a:spcAft>
                <a:spcPts val="0"/>
              </a:spcAft>
              <a:buNone/>
            </a:pPr>
            <a:r>
              <a:rPr lang="en" sz="1100"/>
              <a:t>Foo() {</a:t>
            </a:r>
            <a:endParaRPr sz="1100"/>
          </a:p>
          <a:p>
            <a:pPr indent="0" lvl="0" marL="342900" rtl="0" algn="l">
              <a:lnSpc>
                <a:spcPct val="115000"/>
              </a:lnSpc>
              <a:spcBef>
                <a:spcPts val="0"/>
              </a:spcBef>
              <a:spcAft>
                <a:spcPts val="0"/>
              </a:spcAft>
              <a:buNone/>
            </a:pPr>
            <a:r>
              <a:rPr lang="en" sz="1100"/>
              <a:t>    // ID == 10</a:t>
            </a:r>
            <a:endParaRPr sz="1100"/>
          </a:p>
          <a:p>
            <a:pPr indent="0" lvl="0" marL="342900" rtl="0" algn="l">
              <a:lnSpc>
                <a:spcPct val="115000"/>
              </a:lnSpc>
              <a:spcBef>
                <a:spcPts val="0"/>
              </a:spcBef>
              <a:spcAft>
                <a:spcPts val="0"/>
              </a:spcAft>
              <a:buNone/>
            </a:pPr>
            <a:r>
              <a:rPr lang="en" sz="1100"/>
              <a:t>    if (…) {</a:t>
            </a:r>
            <a:endParaRPr sz="1100"/>
          </a:p>
          <a:p>
            <a:pPr indent="0" lvl="0" marL="342900" rtl="0" algn="l">
              <a:lnSpc>
                <a:spcPct val="115000"/>
              </a:lnSpc>
              <a:spcBef>
                <a:spcPts val="0"/>
              </a:spcBef>
              <a:spcAft>
                <a:spcPts val="0"/>
              </a:spcAft>
              <a:buNone/>
            </a:pPr>
            <a:r>
              <a:rPr lang="en" sz="1100"/>
              <a:t>        ID += w // ID == 11</a:t>
            </a:r>
            <a:endParaRPr sz="1100"/>
          </a:p>
          <a:p>
            <a:pPr indent="0" lvl="0" marL="342900" rtl="0" algn="l">
              <a:lnSpc>
                <a:spcPct val="115000"/>
              </a:lnSpc>
              <a:spcBef>
                <a:spcPts val="0"/>
              </a:spcBef>
              <a:spcAft>
                <a:spcPts val="0"/>
              </a:spcAft>
              <a:buNone/>
            </a:pPr>
            <a:r>
              <a:rPr lang="en" sz="1100"/>
              <a:t>        Call victim  // buffer overflow changes return address</a:t>
            </a:r>
            <a:endParaRPr sz="1100"/>
          </a:p>
          <a:p>
            <a:pPr indent="0" lvl="0" marL="342900" rtl="0" algn="l">
              <a:lnSpc>
                <a:spcPct val="115000"/>
              </a:lnSpc>
              <a:spcBef>
                <a:spcPts val="0"/>
              </a:spcBef>
              <a:spcAft>
                <a:spcPts val="0"/>
              </a:spcAft>
              <a:buNone/>
            </a:pPr>
            <a:r>
              <a:rPr lang="en" sz="1100"/>
              <a:t>        ID -= w        // this is the return site.</a:t>
            </a:r>
            <a:endParaRPr sz="1100"/>
          </a:p>
          <a:p>
            <a:pPr indent="0" lvl="0" marL="342900" rtl="0" algn="l">
              <a:lnSpc>
                <a:spcPct val="115000"/>
              </a:lnSpc>
              <a:spcBef>
                <a:spcPts val="0"/>
              </a:spcBef>
              <a:spcAft>
                <a:spcPts val="0"/>
              </a:spcAft>
              <a:buNone/>
            </a:pPr>
            <a:r>
              <a:rPr lang="en" sz="1100"/>
              <a:t>        return;</a:t>
            </a:r>
            <a:endParaRPr sz="1100"/>
          </a:p>
          <a:p>
            <a:pPr indent="0" lvl="0" marL="342900" rtl="0" algn="l">
              <a:lnSpc>
                <a:spcPct val="115000"/>
              </a:lnSpc>
              <a:spcBef>
                <a:spcPts val="0"/>
              </a:spcBef>
              <a:spcAft>
                <a:spcPts val="0"/>
              </a:spcAft>
              <a:buNone/>
            </a:pPr>
            <a:r>
              <a:rPr lang="en" sz="1100"/>
              <a:t>    }</a:t>
            </a:r>
            <a:endParaRPr sz="1100"/>
          </a:p>
          <a:p>
            <a:pPr indent="0" lvl="0" marL="342900" rtl="0" algn="l">
              <a:lnSpc>
                <a:spcPct val="115000"/>
              </a:lnSpc>
              <a:spcBef>
                <a:spcPts val="0"/>
              </a:spcBef>
              <a:spcAft>
                <a:spcPts val="0"/>
              </a:spcAft>
              <a:buNone/>
            </a:pPr>
            <a:r>
              <a:rPr lang="en" sz="1100"/>
              <a:t>   …</a:t>
            </a:r>
            <a:endParaRPr sz="1100"/>
          </a:p>
          <a:p>
            <a:pPr indent="0" lvl="0" marL="342900" rtl="0" algn="l">
              <a:lnSpc>
                <a:spcPct val="115000"/>
              </a:lnSpc>
              <a:spcBef>
                <a:spcPts val="0"/>
              </a:spcBef>
              <a:spcAft>
                <a:spcPts val="0"/>
              </a:spcAft>
              <a:buNone/>
            </a:pPr>
            <a:r>
              <a:rPr lang="en" sz="1100"/>
              <a:t>   // return to here after attack</a:t>
            </a:r>
            <a:endParaRPr sz="1100"/>
          </a:p>
          <a:p>
            <a:pPr indent="0" lvl="0" marL="342900" rtl="0" algn="l">
              <a:lnSpc>
                <a:spcPct val="115000"/>
              </a:lnSpc>
              <a:spcBef>
                <a:spcPts val="0"/>
              </a:spcBef>
              <a:spcAft>
                <a:spcPts val="0"/>
              </a:spcAft>
              <a:buNone/>
            </a:pPr>
            <a:r>
              <a:rPr lang="en" sz="1100"/>
              <a:t>   if ( ID not in the list for syscall A) exception!!</a:t>
            </a:r>
            <a:endParaRPr sz="1100"/>
          </a:p>
          <a:p>
            <a:pPr indent="0" lvl="0" marL="342900" rtl="0" algn="l">
              <a:lnSpc>
                <a:spcPct val="115000"/>
              </a:lnSpc>
              <a:spcBef>
                <a:spcPts val="0"/>
              </a:spcBef>
              <a:spcAft>
                <a:spcPts val="0"/>
              </a:spcAft>
              <a:buNone/>
            </a:pPr>
            <a:r>
              <a:rPr lang="en" sz="1100"/>
              <a:t>   // invariant = { 10}</a:t>
            </a:r>
            <a:endParaRPr sz="1100"/>
          </a:p>
          <a:p>
            <a:pPr indent="0" lvl="0" marL="342900" rtl="0" algn="l">
              <a:lnSpc>
                <a:spcPct val="115000"/>
              </a:lnSpc>
              <a:spcBef>
                <a:spcPts val="0"/>
              </a:spcBef>
              <a:spcAft>
                <a:spcPts val="0"/>
              </a:spcAft>
              <a:buNone/>
            </a:pPr>
            <a:r>
              <a:rPr lang="en" sz="1100"/>
              <a:t>   syscall A</a:t>
            </a:r>
            <a:endParaRPr sz="1100"/>
          </a:p>
          <a:p>
            <a:pPr indent="0" lvl="0" marL="342900" rtl="0" algn="l">
              <a:lnSpc>
                <a:spcPct val="115000"/>
              </a:lnSpc>
              <a:spcBef>
                <a:spcPts val="0"/>
              </a:spcBef>
              <a:spcAft>
                <a:spcPts val="0"/>
              </a:spcAft>
              <a:buNone/>
            </a:pPr>
            <a:r>
              <a:rPr lang="en" sz="1100"/>
              <a:t>}</a:t>
            </a:r>
            <a:endParaRPr sz="1100"/>
          </a:p>
          <a:p>
            <a:pPr indent="0" lvl="0" marL="0" rtl="0" algn="l">
              <a:lnSpc>
                <a:spcPct val="115000"/>
              </a:lnSpc>
              <a:spcBef>
                <a:spcPts val="0"/>
              </a:spcBef>
              <a:spcAft>
                <a:spcPts val="0"/>
              </a:spcAft>
              <a:buNone/>
            </a:pPr>
            <a:r>
              <a:rPr lang="en" sz="1100"/>
              <a:t> </a:t>
            </a:r>
            <a:endParaRPr sz="1100"/>
          </a:p>
          <a:p>
            <a:pPr indent="0" lvl="0" marL="342900" rtl="0" algn="l">
              <a:lnSpc>
                <a:spcPct val="115000"/>
              </a:lnSpc>
              <a:spcBef>
                <a:spcPts val="0"/>
              </a:spcBef>
              <a:spcAft>
                <a:spcPts val="0"/>
              </a:spcAft>
              <a:buNone/>
            </a:pPr>
            <a:r>
              <a:rPr lang="en" sz="1100"/>
              <a:t>// Possible to make a valid ID for syscall 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0" st="0"/>
                                            </p:txEl>
                                          </p:spTgt>
                                        </p:tgtEl>
                                        <p:attrNameLst>
                                          <p:attrName>style.visibility</p:attrName>
                                        </p:attrNameLst>
                                      </p:cBhvr>
                                      <p:to>
                                        <p:strVal val="visible"/>
                                      </p:to>
                                    </p:set>
                                    <p:animEffect filter="fade" transition="in">
                                      <p:cBhvr>
                                        <p:cTn dur="1000"/>
                                        <p:tgtEl>
                                          <p:spTgt spid="7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 st="1"/>
                                            </p:txEl>
                                          </p:spTgt>
                                        </p:tgtEl>
                                        <p:attrNameLst>
                                          <p:attrName>style.visibility</p:attrName>
                                        </p:attrNameLst>
                                      </p:cBhvr>
                                      <p:to>
                                        <p:strVal val="visible"/>
                                      </p:to>
                                    </p:set>
                                    <p:animEffect filter="fade" transition="in">
                                      <p:cBhvr>
                                        <p:cTn dur="1000"/>
                                        <p:tgtEl>
                                          <p:spTgt spid="7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2" st="2"/>
                                            </p:txEl>
                                          </p:spTgt>
                                        </p:tgtEl>
                                        <p:attrNameLst>
                                          <p:attrName>style.visibility</p:attrName>
                                        </p:attrNameLst>
                                      </p:cBhvr>
                                      <p:to>
                                        <p:strVal val="visible"/>
                                      </p:to>
                                    </p:set>
                                    <p:animEffect filter="fade" transition="in">
                                      <p:cBhvr>
                                        <p:cTn dur="1000"/>
                                        <p:tgtEl>
                                          <p:spTgt spid="7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3" st="3"/>
                                            </p:txEl>
                                          </p:spTgt>
                                        </p:tgtEl>
                                        <p:attrNameLst>
                                          <p:attrName>style.visibility</p:attrName>
                                        </p:attrNameLst>
                                      </p:cBhvr>
                                      <p:to>
                                        <p:strVal val="visible"/>
                                      </p:to>
                                    </p:set>
                                    <p:animEffect filter="fade" transition="in">
                                      <p:cBhvr>
                                        <p:cTn dur="1000"/>
                                        <p:tgtEl>
                                          <p:spTgt spid="7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4" st="4"/>
                                            </p:txEl>
                                          </p:spTgt>
                                        </p:tgtEl>
                                        <p:attrNameLst>
                                          <p:attrName>style.visibility</p:attrName>
                                        </p:attrNameLst>
                                      </p:cBhvr>
                                      <p:to>
                                        <p:strVal val="visible"/>
                                      </p:to>
                                    </p:set>
                                    <p:animEffect filter="fade" transition="in">
                                      <p:cBhvr>
                                        <p:cTn dur="1000"/>
                                        <p:tgtEl>
                                          <p:spTgt spid="7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5" st="5"/>
                                            </p:txEl>
                                          </p:spTgt>
                                        </p:tgtEl>
                                        <p:attrNameLst>
                                          <p:attrName>style.visibility</p:attrName>
                                        </p:attrNameLst>
                                      </p:cBhvr>
                                      <p:to>
                                        <p:strVal val="visible"/>
                                      </p:to>
                                    </p:set>
                                    <p:animEffect filter="fade" transition="in">
                                      <p:cBhvr>
                                        <p:cTn dur="1000"/>
                                        <p:tgtEl>
                                          <p:spTgt spid="7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6" st="6"/>
                                            </p:txEl>
                                          </p:spTgt>
                                        </p:tgtEl>
                                        <p:attrNameLst>
                                          <p:attrName>style.visibility</p:attrName>
                                        </p:attrNameLst>
                                      </p:cBhvr>
                                      <p:to>
                                        <p:strVal val="visible"/>
                                      </p:to>
                                    </p:set>
                                    <p:animEffect filter="fade" transition="in">
                                      <p:cBhvr>
                                        <p:cTn dur="1000"/>
                                        <p:tgtEl>
                                          <p:spTgt spid="7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7" st="7"/>
                                            </p:txEl>
                                          </p:spTgt>
                                        </p:tgtEl>
                                        <p:attrNameLst>
                                          <p:attrName>style.visibility</p:attrName>
                                        </p:attrNameLst>
                                      </p:cBhvr>
                                      <p:to>
                                        <p:strVal val="visible"/>
                                      </p:to>
                                    </p:set>
                                    <p:animEffect filter="fade" transition="in">
                                      <p:cBhvr>
                                        <p:cTn dur="1000"/>
                                        <p:tgtEl>
                                          <p:spTgt spid="7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8" st="8"/>
                                            </p:txEl>
                                          </p:spTgt>
                                        </p:tgtEl>
                                        <p:attrNameLst>
                                          <p:attrName>style.visibility</p:attrName>
                                        </p:attrNameLst>
                                      </p:cBhvr>
                                      <p:to>
                                        <p:strVal val="visible"/>
                                      </p:to>
                                    </p:set>
                                    <p:animEffect filter="fade" transition="in">
                                      <p:cBhvr>
                                        <p:cTn dur="1000"/>
                                        <p:tgtEl>
                                          <p:spTgt spid="7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9" st="9"/>
                                            </p:txEl>
                                          </p:spTgt>
                                        </p:tgtEl>
                                        <p:attrNameLst>
                                          <p:attrName>style.visibility</p:attrName>
                                        </p:attrNameLst>
                                      </p:cBhvr>
                                      <p:to>
                                        <p:strVal val="visible"/>
                                      </p:to>
                                    </p:set>
                                    <p:animEffect filter="fade" transition="in">
                                      <p:cBhvr>
                                        <p:cTn dur="1000"/>
                                        <p:tgtEl>
                                          <p:spTgt spid="74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0" st="10"/>
                                            </p:txEl>
                                          </p:spTgt>
                                        </p:tgtEl>
                                        <p:attrNameLst>
                                          <p:attrName>style.visibility</p:attrName>
                                        </p:attrNameLst>
                                      </p:cBhvr>
                                      <p:to>
                                        <p:strVal val="visible"/>
                                      </p:to>
                                    </p:set>
                                    <p:animEffect filter="fade" transition="in">
                                      <p:cBhvr>
                                        <p:cTn dur="1000"/>
                                        <p:tgtEl>
                                          <p:spTgt spid="74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1" st="11"/>
                                            </p:txEl>
                                          </p:spTgt>
                                        </p:tgtEl>
                                        <p:attrNameLst>
                                          <p:attrName>style.visibility</p:attrName>
                                        </p:attrNameLst>
                                      </p:cBhvr>
                                      <p:to>
                                        <p:strVal val="visible"/>
                                      </p:to>
                                    </p:set>
                                    <p:animEffect filter="fade" transition="in">
                                      <p:cBhvr>
                                        <p:cTn dur="1000"/>
                                        <p:tgtEl>
                                          <p:spTgt spid="74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2" st="12"/>
                                            </p:txEl>
                                          </p:spTgt>
                                        </p:tgtEl>
                                        <p:attrNameLst>
                                          <p:attrName>style.visibility</p:attrName>
                                        </p:attrNameLst>
                                      </p:cBhvr>
                                      <p:to>
                                        <p:strVal val="visible"/>
                                      </p:to>
                                    </p:set>
                                    <p:animEffect filter="fade" transition="in">
                                      <p:cBhvr>
                                        <p:cTn dur="1000"/>
                                        <p:tgtEl>
                                          <p:spTgt spid="74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3" st="13"/>
                                            </p:txEl>
                                          </p:spTgt>
                                        </p:tgtEl>
                                        <p:attrNameLst>
                                          <p:attrName>style.visibility</p:attrName>
                                        </p:attrNameLst>
                                      </p:cBhvr>
                                      <p:to>
                                        <p:strVal val="visible"/>
                                      </p:to>
                                    </p:set>
                                    <p:animEffect filter="fade" transition="in">
                                      <p:cBhvr>
                                        <p:cTn dur="1000"/>
                                        <p:tgtEl>
                                          <p:spTgt spid="74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4" st="14"/>
                                            </p:txEl>
                                          </p:spTgt>
                                        </p:tgtEl>
                                        <p:attrNameLst>
                                          <p:attrName>style.visibility</p:attrName>
                                        </p:attrNameLst>
                                      </p:cBhvr>
                                      <p:to>
                                        <p:strVal val="visible"/>
                                      </p:to>
                                    </p:set>
                                    <p:animEffect filter="fade" transition="in">
                                      <p:cBhvr>
                                        <p:cTn dur="1000"/>
                                        <p:tgtEl>
                                          <p:spTgt spid="74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5" st="15"/>
                                            </p:txEl>
                                          </p:spTgt>
                                        </p:tgtEl>
                                        <p:attrNameLst>
                                          <p:attrName>style.visibility</p:attrName>
                                        </p:attrNameLst>
                                      </p:cBhvr>
                                      <p:to>
                                        <p:strVal val="visible"/>
                                      </p:to>
                                    </p:set>
                                    <p:animEffect filter="fade" transition="in">
                                      <p:cBhvr>
                                        <p:cTn dur="1000"/>
                                        <p:tgtEl>
                                          <p:spTgt spid="74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6" st="16"/>
                                            </p:txEl>
                                          </p:spTgt>
                                        </p:tgtEl>
                                        <p:attrNameLst>
                                          <p:attrName>style.visibility</p:attrName>
                                        </p:attrNameLst>
                                      </p:cBhvr>
                                      <p:to>
                                        <p:strVal val="visible"/>
                                      </p:to>
                                    </p:set>
                                    <p:animEffect filter="fade" transition="in">
                                      <p:cBhvr>
                                        <p:cTn dur="1000"/>
                                        <p:tgtEl>
                                          <p:spTgt spid="741">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84"/>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Can DCCE be used to detect anomaly?</a:t>
            </a:r>
            <a:endParaRPr>
              <a:latin typeface="Twentieth Century"/>
              <a:ea typeface="Twentieth Century"/>
              <a:cs typeface="Twentieth Century"/>
              <a:sym typeface="Twentieth Century"/>
            </a:endParaRPr>
          </a:p>
        </p:txBody>
      </p:sp>
      <p:sp>
        <p:nvSpPr>
          <p:cNvPr id="748" name="Google Shape;748;p84"/>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4"/>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34950" lvl="0" marL="342900" rtl="0" algn="l">
              <a:lnSpc>
                <a:spcPct val="115000"/>
              </a:lnSpc>
              <a:spcBef>
                <a:spcPts val="0"/>
              </a:spcBef>
              <a:spcAft>
                <a:spcPts val="0"/>
              </a:spcAft>
              <a:buSzPts val="1100"/>
              <a:buChar char="❏"/>
            </a:pPr>
            <a:r>
              <a:rPr lang="en" sz="1100"/>
              <a:t>Can calling context be used to detect this type of attack?</a:t>
            </a:r>
            <a:endParaRPr sz="1100"/>
          </a:p>
          <a:p>
            <a:pPr indent="0" lvl="0" marL="0" rtl="0" algn="l">
              <a:lnSpc>
                <a:spcPct val="115000"/>
              </a:lnSpc>
              <a:spcBef>
                <a:spcPts val="0"/>
              </a:spcBef>
              <a:spcAft>
                <a:spcPts val="0"/>
              </a:spcAft>
              <a:buNone/>
            </a:pPr>
            <a:r>
              <a:t/>
            </a:r>
            <a:endParaRPr sz="1100"/>
          </a:p>
          <a:p>
            <a:pPr indent="0" lvl="0" marL="342900" rtl="0" algn="l">
              <a:lnSpc>
                <a:spcPct val="115000"/>
              </a:lnSpc>
              <a:spcBef>
                <a:spcPts val="0"/>
              </a:spcBef>
              <a:spcAft>
                <a:spcPts val="0"/>
              </a:spcAft>
              <a:buNone/>
            </a:pPr>
            <a:r>
              <a:rPr lang="en" sz="1100"/>
              <a:t>Foo() {</a:t>
            </a:r>
            <a:endParaRPr sz="1100"/>
          </a:p>
          <a:p>
            <a:pPr indent="0" lvl="0" marL="342900" rtl="0" algn="l">
              <a:lnSpc>
                <a:spcPct val="115000"/>
              </a:lnSpc>
              <a:spcBef>
                <a:spcPts val="0"/>
              </a:spcBef>
              <a:spcAft>
                <a:spcPts val="0"/>
              </a:spcAft>
              <a:buNone/>
            </a:pPr>
            <a:r>
              <a:rPr lang="en" sz="1100"/>
              <a:t>    if (…) {</a:t>
            </a:r>
            <a:endParaRPr sz="1100"/>
          </a:p>
          <a:p>
            <a:pPr indent="0" lvl="0" marL="342900" rtl="0" algn="l">
              <a:lnSpc>
                <a:spcPct val="115000"/>
              </a:lnSpc>
              <a:spcBef>
                <a:spcPts val="0"/>
              </a:spcBef>
              <a:spcAft>
                <a:spcPts val="0"/>
              </a:spcAft>
              <a:buNone/>
            </a:pPr>
            <a:r>
              <a:rPr lang="en" sz="1100"/>
              <a:t>        Call victim, w  // buffer overflow changes return address</a:t>
            </a:r>
            <a:endParaRPr sz="1100"/>
          </a:p>
          <a:p>
            <a:pPr indent="0" lvl="0" marL="342900" rtl="0" algn="l">
              <a:lnSpc>
                <a:spcPct val="115000"/>
              </a:lnSpc>
              <a:spcBef>
                <a:spcPts val="0"/>
              </a:spcBef>
              <a:spcAft>
                <a:spcPts val="0"/>
              </a:spcAft>
              <a:buNone/>
            </a:pPr>
            <a:r>
              <a:rPr lang="en" sz="1100"/>
              <a:t>        return;             // this is the return site.</a:t>
            </a:r>
            <a:endParaRPr sz="1100"/>
          </a:p>
          <a:p>
            <a:pPr indent="0" lvl="0" marL="342900" rtl="0" algn="l">
              <a:lnSpc>
                <a:spcPct val="115000"/>
              </a:lnSpc>
              <a:spcBef>
                <a:spcPts val="0"/>
              </a:spcBef>
              <a:spcAft>
                <a:spcPts val="0"/>
              </a:spcAft>
              <a:buNone/>
            </a:pPr>
            <a:r>
              <a:rPr lang="en" sz="1100"/>
              <a:t>    }</a:t>
            </a:r>
            <a:endParaRPr sz="1100"/>
          </a:p>
          <a:p>
            <a:pPr indent="0" lvl="0" marL="342900" rtl="0" algn="l">
              <a:lnSpc>
                <a:spcPct val="115000"/>
              </a:lnSpc>
              <a:spcBef>
                <a:spcPts val="0"/>
              </a:spcBef>
              <a:spcAft>
                <a:spcPts val="0"/>
              </a:spcAft>
              <a:buNone/>
            </a:pPr>
            <a:r>
              <a:rPr lang="en" sz="1100"/>
              <a:t>   …</a:t>
            </a:r>
            <a:endParaRPr sz="1100"/>
          </a:p>
          <a:p>
            <a:pPr indent="0" lvl="0" marL="342900" rtl="0" algn="l">
              <a:lnSpc>
                <a:spcPct val="115000"/>
              </a:lnSpc>
              <a:spcBef>
                <a:spcPts val="0"/>
              </a:spcBef>
              <a:spcAft>
                <a:spcPts val="0"/>
              </a:spcAft>
              <a:buNone/>
            </a:pPr>
            <a:r>
              <a:rPr lang="en" sz="1100"/>
              <a:t>   // return to here after attack</a:t>
            </a:r>
            <a:endParaRPr sz="1100"/>
          </a:p>
          <a:p>
            <a:pPr indent="0" lvl="0" marL="342900" rtl="0" algn="l">
              <a:lnSpc>
                <a:spcPct val="115000"/>
              </a:lnSpc>
              <a:spcBef>
                <a:spcPts val="0"/>
              </a:spcBef>
              <a:spcAft>
                <a:spcPts val="0"/>
              </a:spcAft>
              <a:buNone/>
            </a:pPr>
            <a:r>
              <a:rPr lang="en" sz="1100"/>
              <a:t>   syscall A  // syscall includes check if ID is not in the list</a:t>
            </a:r>
            <a:endParaRPr sz="1100"/>
          </a:p>
          <a:p>
            <a:pPr indent="0" lvl="0" marL="342900" rtl="0" algn="l">
              <a:lnSpc>
                <a:spcPct val="115000"/>
              </a:lnSpc>
              <a:spcBef>
                <a:spcPts val="0"/>
              </a:spcBef>
              <a:spcAft>
                <a:spcPts val="0"/>
              </a:spcAft>
              <a:buNone/>
            </a:pPr>
            <a:r>
              <a:rPr lang="en" sz="1100"/>
              <a:t>}</a:t>
            </a:r>
            <a:endParaRPr sz="1100"/>
          </a:p>
          <a:p>
            <a:pPr indent="0" lvl="0" marL="342900" rtl="0" algn="l">
              <a:lnSpc>
                <a:spcPct val="115000"/>
              </a:lnSpc>
              <a:spcBef>
                <a:spcPts val="0"/>
              </a:spcBef>
              <a:spcAft>
                <a:spcPts val="0"/>
              </a:spcAft>
              <a:buNone/>
            </a:pPr>
            <a:r>
              <a:rPr lang="en" sz="1100"/>
              <a:t>What if victim function has syscall A?</a:t>
            </a:r>
            <a:endParaRPr sz="1100"/>
          </a:p>
          <a:p>
            <a:pPr indent="0" lvl="0" marL="342900" rtl="0" algn="l">
              <a:lnSpc>
                <a:spcPct val="115000"/>
              </a:lnSpc>
              <a:spcBef>
                <a:spcPts val="0"/>
              </a:spcBef>
              <a:spcAft>
                <a:spcPts val="0"/>
              </a:spcAft>
              <a:buNone/>
            </a:pPr>
            <a:r>
              <a:rPr lang="en" sz="1100"/>
              <a:t>Need for collecting control flow?</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0" st="0"/>
                                            </p:txEl>
                                          </p:spTgt>
                                        </p:tgtEl>
                                        <p:attrNameLst>
                                          <p:attrName>style.visibility</p:attrName>
                                        </p:attrNameLst>
                                      </p:cBhvr>
                                      <p:to>
                                        <p:strVal val="visible"/>
                                      </p:to>
                                    </p:set>
                                    <p:animEffect filter="fade" transition="in">
                                      <p:cBhvr>
                                        <p:cTn dur="1000"/>
                                        <p:tgtEl>
                                          <p:spTgt spid="7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 st="1"/>
                                            </p:txEl>
                                          </p:spTgt>
                                        </p:tgtEl>
                                        <p:attrNameLst>
                                          <p:attrName>style.visibility</p:attrName>
                                        </p:attrNameLst>
                                      </p:cBhvr>
                                      <p:to>
                                        <p:strVal val="visible"/>
                                      </p:to>
                                    </p:set>
                                    <p:animEffect filter="fade" transition="in">
                                      <p:cBhvr>
                                        <p:cTn dur="1000"/>
                                        <p:tgtEl>
                                          <p:spTgt spid="7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2" st="2"/>
                                            </p:txEl>
                                          </p:spTgt>
                                        </p:tgtEl>
                                        <p:attrNameLst>
                                          <p:attrName>style.visibility</p:attrName>
                                        </p:attrNameLst>
                                      </p:cBhvr>
                                      <p:to>
                                        <p:strVal val="visible"/>
                                      </p:to>
                                    </p:set>
                                    <p:animEffect filter="fade" transition="in">
                                      <p:cBhvr>
                                        <p:cTn dur="1000"/>
                                        <p:tgtEl>
                                          <p:spTgt spid="7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3" st="3"/>
                                            </p:txEl>
                                          </p:spTgt>
                                        </p:tgtEl>
                                        <p:attrNameLst>
                                          <p:attrName>style.visibility</p:attrName>
                                        </p:attrNameLst>
                                      </p:cBhvr>
                                      <p:to>
                                        <p:strVal val="visible"/>
                                      </p:to>
                                    </p:set>
                                    <p:animEffect filter="fade" transition="in">
                                      <p:cBhvr>
                                        <p:cTn dur="1000"/>
                                        <p:tgtEl>
                                          <p:spTgt spid="7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4" st="4"/>
                                            </p:txEl>
                                          </p:spTgt>
                                        </p:tgtEl>
                                        <p:attrNameLst>
                                          <p:attrName>style.visibility</p:attrName>
                                        </p:attrNameLst>
                                      </p:cBhvr>
                                      <p:to>
                                        <p:strVal val="visible"/>
                                      </p:to>
                                    </p:set>
                                    <p:animEffect filter="fade" transition="in">
                                      <p:cBhvr>
                                        <p:cTn dur="1000"/>
                                        <p:tgtEl>
                                          <p:spTgt spid="7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5" st="5"/>
                                            </p:txEl>
                                          </p:spTgt>
                                        </p:tgtEl>
                                        <p:attrNameLst>
                                          <p:attrName>style.visibility</p:attrName>
                                        </p:attrNameLst>
                                      </p:cBhvr>
                                      <p:to>
                                        <p:strVal val="visible"/>
                                      </p:to>
                                    </p:set>
                                    <p:animEffect filter="fade" transition="in">
                                      <p:cBhvr>
                                        <p:cTn dur="1000"/>
                                        <p:tgtEl>
                                          <p:spTgt spid="7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6" st="6"/>
                                            </p:txEl>
                                          </p:spTgt>
                                        </p:tgtEl>
                                        <p:attrNameLst>
                                          <p:attrName>style.visibility</p:attrName>
                                        </p:attrNameLst>
                                      </p:cBhvr>
                                      <p:to>
                                        <p:strVal val="visible"/>
                                      </p:to>
                                    </p:set>
                                    <p:animEffect filter="fade" transition="in">
                                      <p:cBhvr>
                                        <p:cTn dur="1000"/>
                                        <p:tgtEl>
                                          <p:spTgt spid="7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7" st="7"/>
                                            </p:txEl>
                                          </p:spTgt>
                                        </p:tgtEl>
                                        <p:attrNameLst>
                                          <p:attrName>style.visibility</p:attrName>
                                        </p:attrNameLst>
                                      </p:cBhvr>
                                      <p:to>
                                        <p:strVal val="visible"/>
                                      </p:to>
                                    </p:set>
                                    <p:animEffect filter="fade" transition="in">
                                      <p:cBhvr>
                                        <p:cTn dur="1000"/>
                                        <p:tgtEl>
                                          <p:spTgt spid="7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8" st="8"/>
                                            </p:txEl>
                                          </p:spTgt>
                                        </p:tgtEl>
                                        <p:attrNameLst>
                                          <p:attrName>style.visibility</p:attrName>
                                        </p:attrNameLst>
                                      </p:cBhvr>
                                      <p:to>
                                        <p:strVal val="visible"/>
                                      </p:to>
                                    </p:set>
                                    <p:animEffect filter="fade" transition="in">
                                      <p:cBhvr>
                                        <p:cTn dur="1000"/>
                                        <p:tgtEl>
                                          <p:spTgt spid="7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9" st="9"/>
                                            </p:txEl>
                                          </p:spTgt>
                                        </p:tgtEl>
                                        <p:attrNameLst>
                                          <p:attrName>style.visibility</p:attrName>
                                        </p:attrNameLst>
                                      </p:cBhvr>
                                      <p:to>
                                        <p:strVal val="visible"/>
                                      </p:to>
                                    </p:set>
                                    <p:animEffect filter="fade" transition="in">
                                      <p:cBhvr>
                                        <p:cTn dur="1000"/>
                                        <p:tgtEl>
                                          <p:spTgt spid="7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0" st="10"/>
                                            </p:txEl>
                                          </p:spTgt>
                                        </p:tgtEl>
                                        <p:attrNameLst>
                                          <p:attrName>style.visibility</p:attrName>
                                        </p:attrNameLst>
                                      </p:cBhvr>
                                      <p:to>
                                        <p:strVal val="visible"/>
                                      </p:to>
                                    </p:set>
                                    <p:animEffect filter="fade" transition="in">
                                      <p:cBhvr>
                                        <p:cTn dur="1000"/>
                                        <p:tgtEl>
                                          <p:spTgt spid="7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1" st="11"/>
                                            </p:txEl>
                                          </p:spTgt>
                                        </p:tgtEl>
                                        <p:attrNameLst>
                                          <p:attrName>style.visibility</p:attrName>
                                        </p:attrNameLst>
                                      </p:cBhvr>
                                      <p:to>
                                        <p:strVal val="visible"/>
                                      </p:to>
                                    </p:set>
                                    <p:animEffect filter="fade" transition="in">
                                      <p:cBhvr>
                                        <p:cTn dur="1000"/>
                                        <p:tgtEl>
                                          <p:spTgt spid="7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2" st="12"/>
                                            </p:txEl>
                                          </p:spTgt>
                                        </p:tgtEl>
                                        <p:attrNameLst>
                                          <p:attrName>style.visibility</p:attrName>
                                        </p:attrNameLst>
                                      </p:cBhvr>
                                      <p:to>
                                        <p:strVal val="visible"/>
                                      </p:to>
                                    </p:set>
                                    <p:animEffect filter="fade" transition="in">
                                      <p:cBhvr>
                                        <p:cTn dur="1000"/>
                                        <p:tgtEl>
                                          <p:spTgt spid="74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3" st="13"/>
                                            </p:txEl>
                                          </p:spTgt>
                                        </p:tgtEl>
                                        <p:attrNameLst>
                                          <p:attrName>style.visibility</p:attrName>
                                        </p:attrNameLst>
                                      </p:cBhvr>
                                      <p:to>
                                        <p:strVal val="visible"/>
                                      </p:to>
                                    </p:set>
                                    <p:animEffect filter="fade" transition="in">
                                      <p:cBhvr>
                                        <p:cTn dur="1000"/>
                                        <p:tgtEl>
                                          <p:spTgt spid="74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4" st="14"/>
                                            </p:txEl>
                                          </p:spTgt>
                                        </p:tgtEl>
                                        <p:attrNameLst>
                                          <p:attrName>style.visibility</p:attrName>
                                        </p:attrNameLst>
                                      </p:cBhvr>
                                      <p:to>
                                        <p:strVal val="visible"/>
                                      </p:to>
                                    </p:set>
                                    <p:animEffect filter="fade" transition="in">
                                      <p:cBhvr>
                                        <p:cTn dur="1000"/>
                                        <p:tgtEl>
                                          <p:spTgt spid="749">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85"/>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56" name="Google Shape;756;p85"/>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85"/>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Idea: extract return address from the call stack and generate abstract execution path between two program execution points.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xEl>
                                              <p:pRg end="0" st="0"/>
                                            </p:txEl>
                                          </p:spTgt>
                                        </p:tgtEl>
                                        <p:attrNameLst>
                                          <p:attrName>style.visibility</p:attrName>
                                        </p:attrNameLst>
                                      </p:cBhvr>
                                      <p:to>
                                        <p:strVal val="visible"/>
                                      </p:to>
                                    </p:set>
                                    <p:animEffect filter="fade" transition="in">
                                      <p:cBhvr>
                                        <p:cTn dur="1000"/>
                                        <p:tgtEl>
                                          <p:spTgt spid="7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xEl>
                                              <p:pRg end="1" st="1"/>
                                            </p:txEl>
                                          </p:spTgt>
                                        </p:tgtEl>
                                        <p:attrNameLst>
                                          <p:attrName>style.visibility</p:attrName>
                                        </p:attrNameLst>
                                      </p:cBhvr>
                                      <p:to>
                                        <p:strVal val="visible"/>
                                      </p:to>
                                    </p:set>
                                    <p:animEffect filter="fade" transition="in">
                                      <p:cBhvr>
                                        <p:cTn dur="1000"/>
                                        <p:tgtEl>
                                          <p:spTgt spid="7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xEl>
                                              <p:pRg end="2" st="2"/>
                                            </p:txEl>
                                          </p:spTgt>
                                        </p:tgtEl>
                                        <p:attrNameLst>
                                          <p:attrName>style.visibility</p:attrName>
                                        </p:attrNameLst>
                                      </p:cBhvr>
                                      <p:to>
                                        <p:strVal val="visible"/>
                                      </p:to>
                                    </p:set>
                                    <p:animEffect filter="fade" transition="in">
                                      <p:cBhvr>
                                        <p:cTn dur="1000"/>
                                        <p:tgtEl>
                                          <p:spTgt spid="7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xEl>
                                              <p:pRg end="3" st="3"/>
                                            </p:txEl>
                                          </p:spTgt>
                                        </p:tgtEl>
                                        <p:attrNameLst>
                                          <p:attrName>style.visibility</p:attrName>
                                        </p:attrNameLst>
                                      </p:cBhvr>
                                      <p:to>
                                        <p:strVal val="visible"/>
                                      </p:to>
                                    </p:set>
                                    <p:animEffect filter="fade" transition="in">
                                      <p:cBhvr>
                                        <p:cTn dur="1000"/>
                                        <p:tgtEl>
                                          <p:spTgt spid="75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6"/>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Encoding Cyclic Call Graph</a:t>
            </a:r>
            <a:endParaRPr>
              <a:latin typeface="Twentieth Century"/>
              <a:ea typeface="Twentieth Century"/>
              <a:cs typeface="Twentieth Century"/>
              <a:sym typeface="Twentieth Century"/>
            </a:endParaRPr>
          </a:p>
        </p:txBody>
      </p:sp>
      <p:sp>
        <p:nvSpPr>
          <p:cNvPr id="764" name="Google Shape;764;p86"/>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6"/>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PCCE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Acyclic encoding is pushed to the stack when a recursion occurs.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The number on the stack and the current ID together represent the context.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Decode sub-path wise.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Valence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Encode cyclic edges separately with compact bits. (ceil(log(#cyclic edges))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Edges that begins and ends in the same SCC are cycles edges.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Cyclic edges must be part of a cycle.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0" st="0"/>
                                            </p:txEl>
                                          </p:spTgt>
                                        </p:tgtEl>
                                        <p:attrNameLst>
                                          <p:attrName>style.visibility</p:attrName>
                                        </p:attrNameLst>
                                      </p:cBhvr>
                                      <p:to>
                                        <p:strVal val="visible"/>
                                      </p:to>
                                    </p:set>
                                    <p:animEffect filter="fade" transition="in">
                                      <p:cBhvr>
                                        <p:cTn dur="1000"/>
                                        <p:tgtEl>
                                          <p:spTgt spid="7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1" st="1"/>
                                            </p:txEl>
                                          </p:spTgt>
                                        </p:tgtEl>
                                        <p:attrNameLst>
                                          <p:attrName>style.visibility</p:attrName>
                                        </p:attrNameLst>
                                      </p:cBhvr>
                                      <p:to>
                                        <p:strVal val="visible"/>
                                      </p:to>
                                    </p:set>
                                    <p:animEffect filter="fade" transition="in">
                                      <p:cBhvr>
                                        <p:cTn dur="1000"/>
                                        <p:tgtEl>
                                          <p:spTgt spid="7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2" st="2"/>
                                            </p:txEl>
                                          </p:spTgt>
                                        </p:tgtEl>
                                        <p:attrNameLst>
                                          <p:attrName>style.visibility</p:attrName>
                                        </p:attrNameLst>
                                      </p:cBhvr>
                                      <p:to>
                                        <p:strVal val="visible"/>
                                      </p:to>
                                    </p:set>
                                    <p:animEffect filter="fade" transition="in">
                                      <p:cBhvr>
                                        <p:cTn dur="1000"/>
                                        <p:tgtEl>
                                          <p:spTgt spid="7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3" st="3"/>
                                            </p:txEl>
                                          </p:spTgt>
                                        </p:tgtEl>
                                        <p:attrNameLst>
                                          <p:attrName>style.visibility</p:attrName>
                                        </p:attrNameLst>
                                      </p:cBhvr>
                                      <p:to>
                                        <p:strVal val="visible"/>
                                      </p:to>
                                    </p:set>
                                    <p:animEffect filter="fade" transition="in">
                                      <p:cBhvr>
                                        <p:cTn dur="1000"/>
                                        <p:tgtEl>
                                          <p:spTgt spid="7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4" st="4"/>
                                            </p:txEl>
                                          </p:spTgt>
                                        </p:tgtEl>
                                        <p:attrNameLst>
                                          <p:attrName>style.visibility</p:attrName>
                                        </p:attrNameLst>
                                      </p:cBhvr>
                                      <p:to>
                                        <p:strVal val="visible"/>
                                      </p:to>
                                    </p:set>
                                    <p:animEffect filter="fade" transition="in">
                                      <p:cBhvr>
                                        <p:cTn dur="1000"/>
                                        <p:tgtEl>
                                          <p:spTgt spid="7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5" st="5"/>
                                            </p:txEl>
                                          </p:spTgt>
                                        </p:tgtEl>
                                        <p:attrNameLst>
                                          <p:attrName>style.visibility</p:attrName>
                                        </p:attrNameLst>
                                      </p:cBhvr>
                                      <p:to>
                                        <p:strVal val="visible"/>
                                      </p:to>
                                    </p:set>
                                    <p:animEffect filter="fade" transition="in">
                                      <p:cBhvr>
                                        <p:cTn dur="1000"/>
                                        <p:tgtEl>
                                          <p:spTgt spid="7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6" st="6"/>
                                            </p:txEl>
                                          </p:spTgt>
                                        </p:tgtEl>
                                        <p:attrNameLst>
                                          <p:attrName>style.visibility</p:attrName>
                                        </p:attrNameLst>
                                      </p:cBhvr>
                                      <p:to>
                                        <p:strVal val="visible"/>
                                      </p:to>
                                    </p:set>
                                    <p:animEffect filter="fade" transition="in">
                                      <p:cBhvr>
                                        <p:cTn dur="1000"/>
                                        <p:tgtEl>
                                          <p:spTgt spid="7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7" st="7"/>
                                            </p:txEl>
                                          </p:spTgt>
                                        </p:tgtEl>
                                        <p:attrNameLst>
                                          <p:attrName>style.visibility</p:attrName>
                                        </p:attrNameLst>
                                      </p:cBhvr>
                                      <p:to>
                                        <p:strVal val="visible"/>
                                      </p:to>
                                    </p:set>
                                    <p:animEffect filter="fade" transition="in">
                                      <p:cBhvr>
                                        <p:cTn dur="1000"/>
                                        <p:tgtEl>
                                          <p:spTgt spid="7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8" st="8"/>
                                            </p:txEl>
                                          </p:spTgt>
                                        </p:tgtEl>
                                        <p:attrNameLst>
                                          <p:attrName>style.visibility</p:attrName>
                                        </p:attrNameLst>
                                      </p:cBhvr>
                                      <p:to>
                                        <p:strVal val="visible"/>
                                      </p:to>
                                    </p:set>
                                    <p:animEffect filter="fade" transition="in">
                                      <p:cBhvr>
                                        <p:cTn dur="1000"/>
                                        <p:tgtEl>
                                          <p:spTgt spid="7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9" st="9"/>
                                            </p:txEl>
                                          </p:spTgt>
                                        </p:tgtEl>
                                        <p:attrNameLst>
                                          <p:attrName>style.visibility</p:attrName>
                                        </p:attrNameLst>
                                      </p:cBhvr>
                                      <p:to>
                                        <p:strVal val="visible"/>
                                      </p:to>
                                    </p:set>
                                    <p:animEffect filter="fade" transition="in">
                                      <p:cBhvr>
                                        <p:cTn dur="1000"/>
                                        <p:tgtEl>
                                          <p:spTgt spid="7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xEl>
                                              <p:pRg end="10" st="10"/>
                                            </p:txEl>
                                          </p:spTgt>
                                        </p:tgtEl>
                                        <p:attrNameLst>
                                          <p:attrName>style.visibility</p:attrName>
                                        </p:attrNameLst>
                                      </p:cBhvr>
                                      <p:to>
                                        <p:strVal val="visible"/>
                                      </p:to>
                                    </p:set>
                                    <p:animEffect filter="fade" transition="in">
                                      <p:cBhvr>
                                        <p:cTn dur="1000"/>
                                        <p:tgtEl>
                                          <p:spTgt spid="76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87"/>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Encoding Cyclic Call Graph - PCCE</a:t>
            </a:r>
            <a:endParaRPr>
              <a:latin typeface="Twentieth Century"/>
              <a:ea typeface="Twentieth Century"/>
              <a:cs typeface="Twentieth Century"/>
              <a:sym typeface="Twentieth Century"/>
            </a:endParaRPr>
          </a:p>
        </p:txBody>
      </p:sp>
      <p:sp>
        <p:nvSpPr>
          <p:cNvPr id="772" name="Google Shape;772;p87"/>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3" name="Google Shape;773;p87"/>
          <p:cNvPicPr preferRelativeResize="0"/>
          <p:nvPr/>
        </p:nvPicPr>
        <p:blipFill>
          <a:blip r:embed="rId3">
            <a:alphaModFix/>
          </a:blip>
          <a:stretch>
            <a:fillRect/>
          </a:stretch>
        </p:blipFill>
        <p:spPr>
          <a:xfrm>
            <a:off x="1309125" y="1655950"/>
            <a:ext cx="7140150" cy="3335150"/>
          </a:xfrm>
          <a:prstGeom prst="rect">
            <a:avLst/>
          </a:prstGeom>
          <a:noFill/>
          <a:ln>
            <a:noFill/>
          </a:ln>
        </p:spPr>
      </p:pic>
      <p:graphicFrame>
        <p:nvGraphicFramePr>
          <p:cNvPr id="774" name="Google Shape;774;p87"/>
          <p:cNvGraphicFramePr/>
          <p:nvPr/>
        </p:nvGraphicFramePr>
        <p:xfrm>
          <a:off x="2668400" y="963250"/>
          <a:ext cx="3000000" cy="3000000"/>
        </p:xfrm>
        <a:graphic>
          <a:graphicData uri="http://schemas.openxmlformats.org/drawingml/2006/table">
            <a:tbl>
              <a:tblPr>
                <a:noFill/>
                <a:tableStyleId>{4F6D741B-05F4-47F7-A36B-7D189AB3F37F}</a:tableStyleId>
              </a:tblPr>
              <a:tblGrid>
                <a:gridCol w="382850"/>
                <a:gridCol w="382850"/>
                <a:gridCol w="382850"/>
                <a:gridCol w="382850"/>
                <a:gridCol w="382850"/>
                <a:gridCol w="382850"/>
                <a:gridCol w="382850"/>
                <a:gridCol w="382850"/>
              </a:tblGrid>
              <a:tr h="3962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A</a:t>
                      </a:r>
                      <a:endParaRPr/>
                    </a:p>
                  </a:txBody>
                  <a:tcPr marT="91425" marB="91425" marR="91425" marL="91425"/>
                </a:tc>
                <a:tc>
                  <a:txBody>
                    <a:bodyPr/>
                    <a:lstStyle/>
                    <a:p>
                      <a:pPr indent="0" lvl="0" marL="0" rtl="0" algn="ctr">
                        <a:spcBef>
                          <a:spcPts val="0"/>
                        </a:spcBef>
                        <a:spcAft>
                          <a:spcPts val="0"/>
                        </a:spcAft>
                        <a:buNone/>
                      </a:pPr>
                      <a:r>
                        <a:rPr lang="en"/>
                        <a:t>C</a:t>
                      </a:r>
                      <a:endParaRPr/>
                    </a:p>
                  </a:txBody>
                  <a:tcPr marT="91425" marB="91425" marR="91425" marL="91425"/>
                </a:tc>
                <a:tc>
                  <a:txBody>
                    <a:bodyPr/>
                    <a:lstStyle/>
                    <a:p>
                      <a:pPr indent="0" lvl="0" marL="0" rtl="0" algn="ctr">
                        <a:spcBef>
                          <a:spcPts val="0"/>
                        </a:spcBef>
                        <a:spcAft>
                          <a:spcPts val="0"/>
                        </a:spcAft>
                        <a:buNone/>
                      </a:pPr>
                      <a:r>
                        <a:rPr lang="en"/>
                        <a:t>G</a:t>
                      </a:r>
                      <a:endParaRPr/>
                    </a:p>
                  </a:txBody>
                  <a:tcPr marT="91425" marB="91425" marR="91425" marL="91425"/>
                </a:tc>
                <a:tc>
                  <a:txBody>
                    <a:bodyPr/>
                    <a:lstStyle/>
                    <a:p>
                      <a:pPr indent="0" lvl="0" marL="0" rtl="0" algn="ctr">
                        <a:spcBef>
                          <a:spcPts val="0"/>
                        </a:spcBef>
                        <a:spcAft>
                          <a:spcPts val="0"/>
                        </a:spcAft>
                        <a:buNone/>
                      </a:pPr>
                      <a:r>
                        <a:rPr lang="en"/>
                        <a:t>F</a:t>
                      </a:r>
                      <a:endParaRPr/>
                    </a:p>
                  </a:txBody>
                  <a:tcPr marT="91425" marB="91425" marR="91425" marL="91425"/>
                </a:tc>
                <a:tc>
                  <a:txBody>
                    <a:bodyPr/>
                    <a:lstStyle/>
                    <a:p>
                      <a:pPr indent="0" lvl="0" marL="0" rtl="0" algn="ctr">
                        <a:spcBef>
                          <a:spcPts val="0"/>
                        </a:spcBef>
                        <a:spcAft>
                          <a:spcPts val="0"/>
                        </a:spcAft>
                        <a:buNone/>
                      </a:pPr>
                      <a:r>
                        <a:rPr lang="en"/>
                        <a:t>C</a:t>
                      </a:r>
                      <a:endParaRPr/>
                    </a:p>
                  </a:txBody>
                  <a:tcPr marT="91425" marB="91425" marR="91425" marL="91425"/>
                </a:tc>
                <a:tc>
                  <a:txBody>
                    <a:bodyPr/>
                    <a:lstStyle/>
                    <a:p>
                      <a:pPr indent="0" lvl="0" marL="0" rtl="0" algn="ctr">
                        <a:spcBef>
                          <a:spcPts val="0"/>
                        </a:spcBef>
                        <a:spcAft>
                          <a:spcPts val="0"/>
                        </a:spcAft>
                        <a:buNone/>
                      </a:pPr>
                      <a:r>
                        <a:rPr lang="en"/>
                        <a:t>D</a:t>
                      </a:r>
                      <a:endParaRPr/>
                    </a:p>
                  </a:txBody>
                  <a:tcPr marT="91425" marB="91425" marR="91425" marL="91425"/>
                </a:tc>
                <a:tc>
                  <a:txBody>
                    <a:bodyPr/>
                    <a:lstStyle/>
                    <a:p>
                      <a:pPr indent="0" lvl="0" marL="0" rtl="0" algn="ctr">
                        <a:spcBef>
                          <a:spcPts val="0"/>
                        </a:spcBef>
                        <a:spcAft>
                          <a:spcPts val="0"/>
                        </a:spcAft>
                        <a:buNone/>
                      </a:pPr>
                      <a:r>
                        <a:rPr lang="en"/>
                        <a:t>E</a:t>
                      </a:r>
                      <a:endParaRPr/>
                    </a:p>
                  </a:txBody>
                  <a:tcPr marT="91425" marB="91425" marR="91425" marL="91425"/>
                </a:tc>
              </a:tr>
              <a:tr h="396200">
                <a:tc>
                  <a:txBody>
                    <a:bodyPr/>
                    <a:lstStyle/>
                    <a:p>
                      <a:pPr indent="0" lvl="0" marL="0" rtl="0" algn="ctr">
                        <a:spcBef>
                          <a:spcPts val="0"/>
                        </a:spcBef>
                        <a:spcAft>
                          <a:spcPts val="0"/>
                        </a:spcAft>
                        <a:buNone/>
                      </a:pPr>
                      <a:r>
                        <a:rPr lang="en"/>
                        <a:t>ID</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bl>
          </a:graphicData>
        </a:graphic>
      </p:graphicFrame>
      <p:graphicFrame>
        <p:nvGraphicFramePr>
          <p:cNvPr id="775" name="Google Shape;775;p87"/>
          <p:cNvGraphicFramePr/>
          <p:nvPr/>
        </p:nvGraphicFramePr>
        <p:xfrm>
          <a:off x="6832375" y="786570"/>
          <a:ext cx="3000000" cy="3000000"/>
        </p:xfrm>
        <a:graphic>
          <a:graphicData uri="http://schemas.openxmlformats.org/drawingml/2006/table">
            <a:tbl>
              <a:tblPr>
                <a:noFill/>
                <a:tableStyleId>{4F6D741B-05F4-47F7-A36B-7D189AB3F37F}</a:tableStyleId>
              </a:tblPr>
              <a:tblGrid>
                <a:gridCol w="576525"/>
                <a:gridCol w="735200"/>
              </a:tblGrid>
              <a:tr h="199100">
                <a:tc gridSpan="2">
                  <a:txBody>
                    <a:bodyPr/>
                    <a:lstStyle/>
                    <a:p>
                      <a:pPr indent="0" lvl="0" marL="0" rtl="0" algn="ctr">
                        <a:spcBef>
                          <a:spcPts val="0"/>
                        </a:spcBef>
                        <a:spcAft>
                          <a:spcPts val="0"/>
                        </a:spcAft>
                        <a:buNone/>
                      </a:pPr>
                      <a:r>
                        <a:rPr lang="en"/>
                        <a:t>Stack (id, l)</a:t>
                      </a:r>
                      <a:endParaRPr/>
                    </a:p>
                  </a:txBody>
                  <a:tcPr marT="91425" marB="91425" marR="91425" marL="91425"/>
                </a:tc>
                <a:tc hMerge="1"/>
              </a:tr>
              <a:tr h="292000">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F-&gt;C</a:t>
                      </a:r>
                      <a:endParaRPr/>
                    </a:p>
                  </a:txBody>
                  <a:tcPr marT="91425" marB="91425" marR="91425" marL="91425"/>
                </a:tc>
              </a:tr>
            </a:tbl>
          </a:graphicData>
        </a:graphic>
      </p:graphicFrame>
      <p:sp>
        <p:nvSpPr>
          <p:cNvPr id="776" name="Google Shape;776;p87"/>
          <p:cNvSpPr txBox="1"/>
          <p:nvPr/>
        </p:nvSpPr>
        <p:spPr>
          <a:xfrm>
            <a:off x="325325" y="1025875"/>
            <a:ext cx="210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Call path: ACGFCDE</a:t>
            </a:r>
            <a:endParaRPr>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8"/>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Encoding Acyclic Call Graph - Valence</a:t>
            </a:r>
            <a:endParaRPr>
              <a:latin typeface="Twentieth Century"/>
              <a:ea typeface="Twentieth Century"/>
              <a:cs typeface="Twentieth Century"/>
              <a:sym typeface="Twentieth Century"/>
            </a:endParaRPr>
          </a:p>
        </p:txBody>
      </p:sp>
      <p:sp>
        <p:nvSpPr>
          <p:cNvPr id="783" name="Google Shape;783;p88"/>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4" name="Google Shape;784;p88"/>
          <p:cNvPicPr preferRelativeResize="0"/>
          <p:nvPr/>
        </p:nvPicPr>
        <p:blipFill>
          <a:blip r:embed="rId3">
            <a:alphaModFix/>
          </a:blip>
          <a:stretch>
            <a:fillRect/>
          </a:stretch>
        </p:blipFill>
        <p:spPr>
          <a:xfrm>
            <a:off x="152400" y="1115644"/>
            <a:ext cx="4457700" cy="3486150"/>
          </a:xfrm>
          <a:prstGeom prst="rect">
            <a:avLst/>
          </a:prstGeom>
          <a:noFill/>
          <a:ln>
            <a:noFill/>
          </a:ln>
        </p:spPr>
      </p:pic>
      <p:graphicFrame>
        <p:nvGraphicFramePr>
          <p:cNvPr id="785" name="Google Shape;785;p88"/>
          <p:cNvGraphicFramePr/>
          <p:nvPr/>
        </p:nvGraphicFramePr>
        <p:xfrm>
          <a:off x="4840250" y="2771650"/>
          <a:ext cx="3000000" cy="3000000"/>
        </p:xfrm>
        <a:graphic>
          <a:graphicData uri="http://schemas.openxmlformats.org/drawingml/2006/table">
            <a:tbl>
              <a:tblPr>
                <a:noFill/>
                <a:tableStyleId>{4F6D741B-05F4-47F7-A36B-7D189AB3F37F}</a:tableStyleId>
              </a:tblPr>
              <a:tblGrid>
                <a:gridCol w="804325"/>
                <a:gridCol w="804325"/>
                <a:gridCol w="804325"/>
                <a:gridCol w="804325"/>
                <a:gridCol w="8043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BIT0</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BIT1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BIT2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BIT3</a:t>
                      </a:r>
                      <a:endParaRPr/>
                    </a:p>
                  </a:txBody>
                  <a:tcPr marT="91425" marB="91425" marR="91425" marL="91425"/>
                </a:tc>
              </a:tr>
              <a:tr h="381000">
                <a:tc>
                  <a:txBody>
                    <a:bodyPr/>
                    <a:lstStyle/>
                    <a:p>
                      <a:pPr indent="0" lvl="0" marL="0" rtl="0" algn="l">
                        <a:spcBef>
                          <a:spcPts val="0"/>
                        </a:spcBef>
                        <a:spcAft>
                          <a:spcPts val="0"/>
                        </a:spcAft>
                        <a:buNone/>
                      </a:pPr>
                      <a:r>
                        <a:rPr lang="en"/>
                        <a:t>ID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bl>
          </a:graphicData>
        </a:graphic>
      </p:graphicFrame>
      <p:sp>
        <p:nvSpPr>
          <p:cNvPr id="786" name="Google Shape;786;p88"/>
          <p:cNvSpPr txBox="1"/>
          <p:nvPr/>
        </p:nvSpPr>
        <p:spPr>
          <a:xfrm>
            <a:off x="4840250" y="2371650"/>
            <a:ext cx="13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Call Path: AJGI</a:t>
            </a:r>
            <a:endParaRPr>
              <a:latin typeface="Twentieth Century"/>
              <a:ea typeface="Twentieth Century"/>
              <a:cs typeface="Twentieth Century"/>
              <a:sym typeface="Twentieth Century"/>
            </a:endParaRPr>
          </a:p>
        </p:txBody>
      </p:sp>
      <p:sp>
        <p:nvSpPr>
          <p:cNvPr id="787" name="Google Shape;787;p88"/>
          <p:cNvSpPr txBox="1"/>
          <p:nvPr/>
        </p:nvSpPr>
        <p:spPr>
          <a:xfrm>
            <a:off x="1889875" y="4476800"/>
            <a:ext cx="513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Edge label “[n,m) means “set bits n though m-1 in id to v”</a:t>
            </a:r>
            <a:endParaRPr>
              <a:latin typeface="Twentieth Century"/>
              <a:ea typeface="Twentieth Century"/>
              <a:cs typeface="Twentieth Century"/>
              <a:sym typeface="Twentieth Century"/>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8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Encoding Cyclic Call Graph - Valence</a:t>
            </a:r>
            <a:endParaRPr>
              <a:latin typeface="Twentieth Century"/>
              <a:ea typeface="Twentieth Century"/>
              <a:cs typeface="Twentieth Century"/>
              <a:sym typeface="Twentieth Century"/>
            </a:endParaRPr>
          </a:p>
        </p:txBody>
      </p:sp>
      <p:sp>
        <p:nvSpPr>
          <p:cNvPr id="794" name="Google Shape;794;p89"/>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5" name="Google Shape;795;p89"/>
          <p:cNvPicPr preferRelativeResize="0"/>
          <p:nvPr/>
        </p:nvPicPr>
        <p:blipFill>
          <a:blip r:embed="rId3">
            <a:alphaModFix/>
          </a:blip>
          <a:stretch>
            <a:fillRect/>
          </a:stretch>
        </p:blipFill>
        <p:spPr>
          <a:xfrm>
            <a:off x="152400" y="1524150"/>
            <a:ext cx="7622501" cy="3545750"/>
          </a:xfrm>
          <a:prstGeom prst="rect">
            <a:avLst/>
          </a:prstGeom>
          <a:noFill/>
          <a:ln>
            <a:noFill/>
          </a:ln>
        </p:spPr>
      </p:pic>
      <p:sp>
        <p:nvSpPr>
          <p:cNvPr id="796" name="Google Shape;796;p89"/>
          <p:cNvSpPr txBox="1"/>
          <p:nvPr/>
        </p:nvSpPr>
        <p:spPr>
          <a:xfrm>
            <a:off x="152400" y="673525"/>
            <a:ext cx="246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Call Path: AJGJDFH</a:t>
            </a:r>
            <a:endParaRPr>
              <a:latin typeface="Twentieth Century"/>
              <a:ea typeface="Twentieth Century"/>
              <a:cs typeface="Twentieth Century"/>
              <a:sym typeface="Twentieth Century"/>
            </a:endParaRPr>
          </a:p>
        </p:txBody>
      </p:sp>
      <p:graphicFrame>
        <p:nvGraphicFramePr>
          <p:cNvPr id="797" name="Google Shape;797;p89"/>
          <p:cNvGraphicFramePr/>
          <p:nvPr/>
        </p:nvGraphicFramePr>
        <p:xfrm>
          <a:off x="2142150" y="731725"/>
          <a:ext cx="3000000" cy="3000000"/>
        </p:xfrm>
        <a:graphic>
          <a:graphicData uri="http://schemas.openxmlformats.org/drawingml/2006/table">
            <a:tbl>
              <a:tblPr>
                <a:noFill/>
                <a:tableStyleId>{4F6D741B-05F4-47F7-A36B-7D189AB3F37F}</a:tableStyleId>
              </a:tblPr>
              <a:tblGrid>
                <a:gridCol w="1047625"/>
                <a:gridCol w="541500"/>
                <a:gridCol w="541500"/>
                <a:gridCol w="541500"/>
                <a:gridCol w="541500"/>
                <a:gridCol w="541500"/>
                <a:gridCol w="541500"/>
                <a:gridCol w="541500"/>
              </a:tblGrid>
              <a:tr h="1465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04275">
                <a:tc>
                  <a:txBody>
                    <a:bodyPr/>
                    <a:lstStyle/>
                    <a:p>
                      <a:pPr indent="0" lvl="0" marL="0" rtl="0" algn="ctr">
                        <a:spcBef>
                          <a:spcPts val="0"/>
                        </a:spcBef>
                        <a:spcAft>
                          <a:spcPts val="0"/>
                        </a:spcAft>
                        <a:buNone/>
                      </a:pPr>
                      <a:r>
                        <a:rPr lang="en"/>
                        <a:t>asycID</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798" name="Google Shape;798;p89"/>
          <p:cNvGraphicFramePr/>
          <p:nvPr/>
        </p:nvGraphicFramePr>
        <p:xfrm>
          <a:off x="7227425" y="589545"/>
          <a:ext cx="3000000" cy="3000000"/>
        </p:xfrm>
        <a:graphic>
          <a:graphicData uri="http://schemas.openxmlformats.org/drawingml/2006/table">
            <a:tbl>
              <a:tblPr>
                <a:noFill/>
                <a:tableStyleId>{4F6D741B-05F4-47F7-A36B-7D189AB3F37F}</a:tableStyleId>
              </a:tblPr>
              <a:tblGrid>
                <a:gridCol w="576525"/>
                <a:gridCol w="735200"/>
              </a:tblGrid>
              <a:tr h="199100">
                <a:tc gridSpan="2">
                  <a:txBody>
                    <a:bodyPr/>
                    <a:lstStyle/>
                    <a:p>
                      <a:pPr indent="0" lvl="0" marL="0" rtl="0" algn="ctr">
                        <a:spcBef>
                          <a:spcPts val="0"/>
                        </a:spcBef>
                        <a:spcAft>
                          <a:spcPts val="0"/>
                        </a:spcAft>
                        <a:buNone/>
                      </a:pPr>
                      <a:r>
                        <a:rPr lang="en"/>
                        <a:t>recID</a:t>
                      </a:r>
                      <a:endParaRPr/>
                    </a:p>
                  </a:txBody>
                  <a:tcPr marT="91425" marB="91425" marR="91425" marL="91425"/>
                </a:tc>
                <a:tc hMerge="1"/>
              </a:tr>
              <a:tr h="292000">
                <a:tc gridSpan="2">
                  <a:txBody>
                    <a:bodyPr/>
                    <a:lstStyle/>
                    <a:p>
                      <a:pPr indent="0" lvl="0" marL="0" rtl="0" algn="ctr">
                        <a:spcBef>
                          <a:spcPts val="0"/>
                        </a:spcBef>
                        <a:spcAft>
                          <a:spcPts val="0"/>
                        </a:spcAft>
                        <a:buNone/>
                      </a:pPr>
                      <a:r>
                        <a:t/>
                      </a:r>
                      <a:endParaRPr/>
                    </a:p>
                  </a:txBody>
                  <a:tcPr marT="91425" marB="91425" marR="91425" marL="91425"/>
                </a:tc>
                <a:tc hMerge="1"/>
              </a:tr>
              <a:tr h="292000">
                <a:tc gridSpan="2">
                  <a:txBody>
                    <a:bodyPr/>
                    <a:lstStyle/>
                    <a:p>
                      <a:pPr indent="0" lvl="0" marL="0" rtl="0" algn="ctr">
                        <a:spcBef>
                          <a:spcPts val="0"/>
                        </a:spcBef>
                        <a:spcAft>
                          <a:spcPts val="0"/>
                        </a:spcAft>
                        <a:buNone/>
                      </a:pPr>
                      <a:r>
                        <a:t/>
                      </a:r>
                      <a:endParaRPr/>
                    </a:p>
                  </a:txBody>
                  <a:tcPr marT="91425" marB="91425" marR="91425" marL="91425"/>
                </a:tc>
                <a:tc hMerge="1"/>
              </a:tr>
              <a:tr h="292000">
                <a:tc gridSpan="2">
                  <a:txBody>
                    <a:bodyPr/>
                    <a:lstStyle/>
                    <a:p>
                      <a:pPr indent="0" lvl="0" marL="0" rtl="0" algn="l">
                        <a:spcBef>
                          <a:spcPts val="0"/>
                        </a:spcBef>
                        <a:spcAft>
                          <a:spcPts val="0"/>
                        </a:spcAft>
                        <a:buNone/>
                      </a:pPr>
                      <a:r>
                        <a:t/>
                      </a:r>
                      <a:endParaRPr/>
                    </a:p>
                  </a:txBody>
                  <a:tcPr marT="91425" marB="91425" marR="91425" marL="91425"/>
                </a:tc>
                <a:tc hMerge="1"/>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9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Encoding Cyclic Call Graph - DCCE</a:t>
            </a:r>
            <a:endParaRPr>
              <a:latin typeface="Twentieth Century"/>
              <a:ea typeface="Twentieth Century"/>
              <a:cs typeface="Twentieth Century"/>
              <a:sym typeface="Twentieth Century"/>
            </a:endParaRPr>
          </a:p>
        </p:txBody>
      </p:sp>
      <p:sp>
        <p:nvSpPr>
          <p:cNvPr id="805" name="Google Shape;805;p90"/>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6" name="Google Shape;806;p90"/>
          <p:cNvPicPr preferRelativeResize="0"/>
          <p:nvPr/>
        </p:nvPicPr>
        <p:blipFill>
          <a:blip r:embed="rId3">
            <a:alphaModFix/>
          </a:blip>
          <a:stretch>
            <a:fillRect/>
          </a:stretch>
        </p:blipFill>
        <p:spPr>
          <a:xfrm>
            <a:off x="2360075" y="1007194"/>
            <a:ext cx="4722722" cy="387545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9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Limitation of DFS to find ALL backedges</a:t>
            </a:r>
            <a:endParaRPr>
              <a:latin typeface="Twentieth Century"/>
              <a:ea typeface="Twentieth Century"/>
              <a:cs typeface="Twentieth Century"/>
              <a:sym typeface="Twentieth Century"/>
            </a:endParaRPr>
          </a:p>
        </p:txBody>
      </p:sp>
      <p:sp>
        <p:nvSpPr>
          <p:cNvPr id="813" name="Google Shape;813;p91"/>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4" name="Google Shape;814;p91"/>
          <p:cNvPicPr preferRelativeResize="0"/>
          <p:nvPr/>
        </p:nvPicPr>
        <p:blipFill>
          <a:blip r:embed="rId3">
            <a:alphaModFix/>
          </a:blip>
          <a:stretch>
            <a:fillRect/>
          </a:stretch>
        </p:blipFill>
        <p:spPr>
          <a:xfrm>
            <a:off x="0" y="1309127"/>
            <a:ext cx="3335050" cy="3067923"/>
          </a:xfrm>
          <a:prstGeom prst="rect">
            <a:avLst/>
          </a:prstGeom>
          <a:noFill/>
          <a:ln>
            <a:noFill/>
          </a:ln>
        </p:spPr>
      </p:pic>
      <p:pic>
        <p:nvPicPr>
          <p:cNvPr id="815" name="Google Shape;815;p91"/>
          <p:cNvPicPr preferRelativeResize="0"/>
          <p:nvPr/>
        </p:nvPicPr>
        <p:blipFill>
          <a:blip r:embed="rId4">
            <a:alphaModFix/>
          </a:blip>
          <a:stretch>
            <a:fillRect/>
          </a:stretch>
        </p:blipFill>
        <p:spPr>
          <a:xfrm>
            <a:off x="6474720" y="1591119"/>
            <a:ext cx="2364481" cy="2503941"/>
          </a:xfrm>
          <a:prstGeom prst="rect">
            <a:avLst/>
          </a:prstGeom>
          <a:noFill/>
          <a:ln>
            <a:noFill/>
          </a:ln>
        </p:spPr>
      </p:pic>
      <p:pic>
        <p:nvPicPr>
          <p:cNvPr id="816" name="Google Shape;816;p91"/>
          <p:cNvPicPr preferRelativeResize="0"/>
          <p:nvPr/>
        </p:nvPicPr>
        <p:blipFill>
          <a:blip r:embed="rId5">
            <a:alphaModFix/>
          </a:blip>
          <a:stretch>
            <a:fillRect/>
          </a:stretch>
        </p:blipFill>
        <p:spPr>
          <a:xfrm>
            <a:off x="3487450" y="1115644"/>
            <a:ext cx="2791996" cy="387545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9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How To Find back edges?</a:t>
            </a:r>
            <a:endParaRPr>
              <a:latin typeface="Twentieth Century"/>
              <a:ea typeface="Twentieth Century"/>
              <a:cs typeface="Twentieth Century"/>
              <a:sym typeface="Twentieth Century"/>
            </a:endParaRPr>
          </a:p>
        </p:txBody>
      </p:sp>
      <p:sp>
        <p:nvSpPr>
          <p:cNvPr id="823" name="Google Shape;823;p92"/>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92"/>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1" marL="685800" marR="0" rtl="0" algn="l">
              <a:lnSpc>
                <a:spcPct val="90000"/>
              </a:lnSpc>
              <a:spcBef>
                <a:spcPts val="400"/>
              </a:spcBef>
              <a:spcAft>
                <a:spcPts val="0"/>
              </a:spcAft>
              <a:buSzPts val="1400"/>
              <a:buFont typeface="Twentieth Century"/>
              <a:buChar char="❏"/>
            </a:pPr>
            <a:r>
              <a:rPr lang="en" sz="1800">
                <a:latin typeface="Twentieth Century"/>
                <a:ea typeface="Twentieth Century"/>
                <a:cs typeface="Twentieth Century"/>
                <a:sym typeface="Twentieth Century"/>
              </a:rPr>
              <a:t>Don</a:t>
            </a:r>
            <a:r>
              <a:rPr lang="en">
                <a:latin typeface="Twentieth Century"/>
                <a:ea typeface="Twentieth Century"/>
                <a:cs typeface="Twentieth Century"/>
                <a:sym typeface="Twentieth Century"/>
              </a:rPr>
              <a:t>ald B Johnson. "Finding all the elementary circuits of a directed graph." SIAM Journal on Computing. 1975.</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https://github.com/qpwo/python-simple-cycles/blob/master/johnson.py</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9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Issues with encoding cyclic CG (PCCE)</a:t>
            </a:r>
            <a:endParaRPr>
              <a:latin typeface="Twentieth Century"/>
              <a:ea typeface="Twentieth Century"/>
              <a:cs typeface="Twentieth Century"/>
              <a:sym typeface="Twentieth Century"/>
            </a:endParaRPr>
          </a:p>
        </p:txBody>
      </p:sp>
      <p:sp>
        <p:nvSpPr>
          <p:cNvPr id="831" name="Google Shape;831;p93"/>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2" name="Google Shape;832;p93"/>
          <p:cNvPicPr preferRelativeResize="0"/>
          <p:nvPr/>
        </p:nvPicPr>
        <p:blipFill>
          <a:blip r:embed="rId3">
            <a:alphaModFix/>
          </a:blip>
          <a:stretch>
            <a:fillRect/>
          </a:stretch>
        </p:blipFill>
        <p:spPr>
          <a:xfrm>
            <a:off x="152400" y="1115644"/>
            <a:ext cx="3042713" cy="3875456"/>
          </a:xfrm>
          <a:prstGeom prst="rect">
            <a:avLst/>
          </a:prstGeom>
          <a:noFill/>
          <a:ln>
            <a:noFill/>
          </a:ln>
        </p:spPr>
      </p:pic>
      <p:sp>
        <p:nvSpPr>
          <p:cNvPr id="833" name="Google Shape;833;p93"/>
          <p:cNvSpPr txBox="1"/>
          <p:nvPr/>
        </p:nvSpPr>
        <p:spPr>
          <a:xfrm>
            <a:off x="3411925" y="1184775"/>
            <a:ext cx="246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Call Path: AFDEB</a:t>
            </a:r>
            <a:endParaRPr>
              <a:latin typeface="Twentieth Century"/>
              <a:ea typeface="Twentieth Century"/>
              <a:cs typeface="Twentieth Century"/>
              <a:sym typeface="Twentieth Century"/>
            </a:endParaRPr>
          </a:p>
        </p:txBody>
      </p:sp>
      <p:graphicFrame>
        <p:nvGraphicFramePr>
          <p:cNvPr id="834" name="Google Shape;834;p93"/>
          <p:cNvGraphicFramePr/>
          <p:nvPr/>
        </p:nvGraphicFramePr>
        <p:xfrm>
          <a:off x="3411925" y="1722375"/>
          <a:ext cx="3000000" cy="3000000"/>
        </p:xfrm>
        <a:graphic>
          <a:graphicData uri="http://schemas.openxmlformats.org/drawingml/2006/table">
            <a:tbl>
              <a:tblPr>
                <a:noFill/>
                <a:tableStyleId>{4F6D741B-05F4-47F7-A36B-7D189AB3F37F}</a:tableStyleId>
              </a:tblPr>
              <a:tblGrid>
                <a:gridCol w="382850"/>
                <a:gridCol w="382850"/>
                <a:gridCol w="382850"/>
                <a:gridCol w="382850"/>
                <a:gridCol w="382850"/>
                <a:gridCol w="382850"/>
                <a:gridCol w="382850"/>
                <a:gridCol w="382850"/>
              </a:tblGrid>
              <a:tr h="3962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96200">
                <a:tc>
                  <a:txBody>
                    <a:bodyPr/>
                    <a:lstStyle/>
                    <a:p>
                      <a:pPr indent="0" lvl="0" marL="0" rtl="0" algn="ctr">
                        <a:spcBef>
                          <a:spcPts val="0"/>
                        </a:spcBef>
                        <a:spcAft>
                          <a:spcPts val="0"/>
                        </a:spcAft>
                        <a:buNone/>
                      </a:pPr>
                      <a:r>
                        <a:rPr lang="en"/>
                        <a:t>ID</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835" name="Google Shape;835;p93"/>
          <p:cNvGraphicFramePr/>
          <p:nvPr/>
        </p:nvGraphicFramePr>
        <p:xfrm>
          <a:off x="6762650" y="1722370"/>
          <a:ext cx="3000000" cy="3000000"/>
        </p:xfrm>
        <a:graphic>
          <a:graphicData uri="http://schemas.openxmlformats.org/drawingml/2006/table">
            <a:tbl>
              <a:tblPr>
                <a:noFill/>
                <a:tableStyleId>{4F6D741B-05F4-47F7-A36B-7D189AB3F37F}</a:tableStyleId>
              </a:tblPr>
              <a:tblGrid>
                <a:gridCol w="576525"/>
                <a:gridCol w="735200"/>
              </a:tblGrid>
              <a:tr h="199100">
                <a:tc gridSpan="2">
                  <a:txBody>
                    <a:bodyPr/>
                    <a:lstStyle/>
                    <a:p>
                      <a:pPr indent="0" lvl="0" marL="0" rtl="0" algn="ctr">
                        <a:spcBef>
                          <a:spcPts val="0"/>
                        </a:spcBef>
                        <a:spcAft>
                          <a:spcPts val="0"/>
                        </a:spcAft>
                        <a:buNone/>
                      </a:pPr>
                      <a:r>
                        <a:rPr lang="en"/>
                        <a:t>Stack (id, l)</a:t>
                      </a:r>
                      <a:endParaRPr/>
                    </a:p>
                  </a:txBody>
                  <a:tcPr marT="91425" marB="91425" marR="91425" marL="91425"/>
                </a:tc>
                <a:tc hMerge="1"/>
              </a:tr>
              <a:tr h="292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94"/>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Issues with encoding cyclic CG (DCCE)</a:t>
            </a:r>
            <a:endParaRPr>
              <a:latin typeface="Twentieth Century"/>
              <a:ea typeface="Twentieth Century"/>
              <a:cs typeface="Twentieth Century"/>
              <a:sym typeface="Twentieth Century"/>
            </a:endParaRPr>
          </a:p>
        </p:txBody>
      </p:sp>
      <p:sp>
        <p:nvSpPr>
          <p:cNvPr id="842" name="Google Shape;842;p94"/>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3" name="Google Shape;843;p94"/>
          <p:cNvPicPr preferRelativeResize="0"/>
          <p:nvPr/>
        </p:nvPicPr>
        <p:blipFill>
          <a:blip r:embed="rId3">
            <a:alphaModFix/>
          </a:blip>
          <a:stretch>
            <a:fillRect/>
          </a:stretch>
        </p:blipFill>
        <p:spPr>
          <a:xfrm>
            <a:off x="2119925" y="1022694"/>
            <a:ext cx="6044607" cy="3875457"/>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95"/>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How To Find all back edges?</a:t>
            </a:r>
            <a:endParaRPr>
              <a:latin typeface="Twentieth Century"/>
              <a:ea typeface="Twentieth Century"/>
              <a:cs typeface="Twentieth Century"/>
              <a:sym typeface="Twentieth Century"/>
            </a:endParaRPr>
          </a:p>
        </p:txBody>
      </p:sp>
      <p:sp>
        <p:nvSpPr>
          <p:cNvPr id="850" name="Google Shape;850;p95"/>
          <p:cNvSpPr/>
          <p:nvPr/>
        </p:nvSpPr>
        <p:spPr>
          <a:xfrm>
            <a:off x="6474725" y="305525"/>
            <a:ext cx="752700" cy="6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1" name="Google Shape;851;p95"/>
          <p:cNvPicPr preferRelativeResize="0"/>
          <p:nvPr/>
        </p:nvPicPr>
        <p:blipFill>
          <a:blip r:embed="rId3">
            <a:alphaModFix/>
          </a:blip>
          <a:stretch>
            <a:fillRect/>
          </a:stretch>
        </p:blipFill>
        <p:spPr>
          <a:xfrm>
            <a:off x="152400" y="1115644"/>
            <a:ext cx="7780956" cy="3875457"/>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9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858" name="Google Shape;858;p96"/>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March. 4</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97"/>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865" name="Google Shape;865;p97"/>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Survey of CC Collection techniques with real applications and feasibility study of DCCE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WHISTLE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98"/>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Definition of Calling Context</a:t>
            </a:r>
            <a:endParaRPr>
              <a:latin typeface="Twentieth Century"/>
              <a:ea typeface="Twentieth Century"/>
              <a:cs typeface="Twentieth Century"/>
              <a:sym typeface="Twentieth Century"/>
            </a:endParaRPr>
          </a:p>
        </p:txBody>
      </p:sp>
      <p:sp>
        <p:nvSpPr>
          <p:cNvPr id="872" name="Google Shape;872;p98"/>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The calling context (CC) of a given function invocation m, is path in the call graph (CG) leading from the root node to the node representing m.</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9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879" name="Google Shape;879;p99"/>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On-demand Call Stack Unwinding (libunwind, HPCToolkit)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shadowing (DeadSpy, CCTLib)</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Existing CC encoding scheme (PCCE, Valence)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Distinguishable CE encoding (DCCE)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0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886" name="Google Shape;886;p100"/>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On-demand Call Stack Unwinding (libunwind, HPCToolkit)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Walks function frames on the call stack using</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Compiler-recorded information (libunwind)</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Results from binary analysis (HPCToolkit)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No instrumentation cost at each function call / return.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High overhead on demand for CC.</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apps. with infrequent CC request.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Sampling-based performance tools and debugger.</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Real example - </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Watching for Software Inefficiencies with Witch</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0" st="0"/>
                                            </p:txEl>
                                          </p:spTgt>
                                        </p:tgtEl>
                                        <p:attrNameLst>
                                          <p:attrName>style.visibility</p:attrName>
                                        </p:attrNameLst>
                                      </p:cBhvr>
                                      <p:to>
                                        <p:strVal val="visible"/>
                                      </p:to>
                                    </p:set>
                                    <p:animEffect filter="fade" transition="in">
                                      <p:cBhvr>
                                        <p:cTn dur="1000"/>
                                        <p:tgtEl>
                                          <p:spTgt spid="8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 st="1"/>
                                            </p:txEl>
                                          </p:spTgt>
                                        </p:tgtEl>
                                        <p:attrNameLst>
                                          <p:attrName>style.visibility</p:attrName>
                                        </p:attrNameLst>
                                      </p:cBhvr>
                                      <p:to>
                                        <p:strVal val="visible"/>
                                      </p:to>
                                    </p:set>
                                    <p:animEffect filter="fade" transition="in">
                                      <p:cBhvr>
                                        <p:cTn dur="1000"/>
                                        <p:tgtEl>
                                          <p:spTgt spid="8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2" st="2"/>
                                            </p:txEl>
                                          </p:spTgt>
                                        </p:tgtEl>
                                        <p:attrNameLst>
                                          <p:attrName>style.visibility</p:attrName>
                                        </p:attrNameLst>
                                      </p:cBhvr>
                                      <p:to>
                                        <p:strVal val="visible"/>
                                      </p:to>
                                    </p:set>
                                    <p:animEffect filter="fade" transition="in">
                                      <p:cBhvr>
                                        <p:cTn dur="1000"/>
                                        <p:tgtEl>
                                          <p:spTgt spid="8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3" st="3"/>
                                            </p:txEl>
                                          </p:spTgt>
                                        </p:tgtEl>
                                        <p:attrNameLst>
                                          <p:attrName>style.visibility</p:attrName>
                                        </p:attrNameLst>
                                      </p:cBhvr>
                                      <p:to>
                                        <p:strVal val="visible"/>
                                      </p:to>
                                    </p:set>
                                    <p:animEffect filter="fade" transition="in">
                                      <p:cBhvr>
                                        <p:cTn dur="1000"/>
                                        <p:tgtEl>
                                          <p:spTgt spid="8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4" st="4"/>
                                            </p:txEl>
                                          </p:spTgt>
                                        </p:tgtEl>
                                        <p:attrNameLst>
                                          <p:attrName>style.visibility</p:attrName>
                                        </p:attrNameLst>
                                      </p:cBhvr>
                                      <p:to>
                                        <p:strVal val="visible"/>
                                      </p:to>
                                    </p:set>
                                    <p:animEffect filter="fade" transition="in">
                                      <p:cBhvr>
                                        <p:cTn dur="1000"/>
                                        <p:tgtEl>
                                          <p:spTgt spid="8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5" st="5"/>
                                            </p:txEl>
                                          </p:spTgt>
                                        </p:tgtEl>
                                        <p:attrNameLst>
                                          <p:attrName>style.visibility</p:attrName>
                                        </p:attrNameLst>
                                      </p:cBhvr>
                                      <p:to>
                                        <p:strVal val="visible"/>
                                      </p:to>
                                    </p:set>
                                    <p:animEffect filter="fade" transition="in">
                                      <p:cBhvr>
                                        <p:cTn dur="1000"/>
                                        <p:tgtEl>
                                          <p:spTgt spid="88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6" st="6"/>
                                            </p:txEl>
                                          </p:spTgt>
                                        </p:tgtEl>
                                        <p:attrNameLst>
                                          <p:attrName>style.visibility</p:attrName>
                                        </p:attrNameLst>
                                      </p:cBhvr>
                                      <p:to>
                                        <p:strVal val="visible"/>
                                      </p:to>
                                    </p:set>
                                    <p:animEffect filter="fade" transition="in">
                                      <p:cBhvr>
                                        <p:cTn dur="1000"/>
                                        <p:tgtEl>
                                          <p:spTgt spid="88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7" st="7"/>
                                            </p:txEl>
                                          </p:spTgt>
                                        </p:tgtEl>
                                        <p:attrNameLst>
                                          <p:attrName>style.visibility</p:attrName>
                                        </p:attrNameLst>
                                      </p:cBhvr>
                                      <p:to>
                                        <p:strVal val="visible"/>
                                      </p:to>
                                    </p:set>
                                    <p:animEffect filter="fade" transition="in">
                                      <p:cBhvr>
                                        <p:cTn dur="1000"/>
                                        <p:tgtEl>
                                          <p:spTgt spid="88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8" st="8"/>
                                            </p:txEl>
                                          </p:spTgt>
                                        </p:tgtEl>
                                        <p:attrNameLst>
                                          <p:attrName>style.visibility</p:attrName>
                                        </p:attrNameLst>
                                      </p:cBhvr>
                                      <p:to>
                                        <p:strVal val="visible"/>
                                      </p:to>
                                    </p:set>
                                    <p:animEffect filter="fade" transition="in">
                                      <p:cBhvr>
                                        <p:cTn dur="1000"/>
                                        <p:tgtEl>
                                          <p:spTgt spid="88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9" st="9"/>
                                            </p:txEl>
                                          </p:spTgt>
                                        </p:tgtEl>
                                        <p:attrNameLst>
                                          <p:attrName>style.visibility</p:attrName>
                                        </p:attrNameLst>
                                      </p:cBhvr>
                                      <p:to>
                                        <p:strVal val="visible"/>
                                      </p:to>
                                    </p:set>
                                    <p:animEffect filter="fade" transition="in">
                                      <p:cBhvr>
                                        <p:cTn dur="1000"/>
                                        <p:tgtEl>
                                          <p:spTgt spid="88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0" st="10"/>
                                            </p:txEl>
                                          </p:spTgt>
                                        </p:tgtEl>
                                        <p:attrNameLst>
                                          <p:attrName>style.visibility</p:attrName>
                                        </p:attrNameLst>
                                      </p:cBhvr>
                                      <p:to>
                                        <p:strVal val="visible"/>
                                      </p:to>
                                    </p:set>
                                    <p:animEffect filter="fade" transition="in">
                                      <p:cBhvr>
                                        <p:cTn dur="1000"/>
                                        <p:tgtEl>
                                          <p:spTgt spid="88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1" st="11"/>
                                            </p:txEl>
                                          </p:spTgt>
                                        </p:tgtEl>
                                        <p:attrNameLst>
                                          <p:attrName>style.visibility</p:attrName>
                                        </p:attrNameLst>
                                      </p:cBhvr>
                                      <p:to>
                                        <p:strVal val="visible"/>
                                      </p:to>
                                    </p:set>
                                    <p:animEffect filter="fade" transition="in">
                                      <p:cBhvr>
                                        <p:cTn dur="1000"/>
                                        <p:tgtEl>
                                          <p:spTgt spid="88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2" st="12"/>
                                            </p:txEl>
                                          </p:spTgt>
                                        </p:tgtEl>
                                        <p:attrNameLst>
                                          <p:attrName>style.visibility</p:attrName>
                                        </p:attrNameLst>
                                      </p:cBhvr>
                                      <p:to>
                                        <p:strVal val="visible"/>
                                      </p:to>
                                    </p:set>
                                    <p:animEffect filter="fade" transition="in">
                                      <p:cBhvr>
                                        <p:cTn dur="1000"/>
                                        <p:tgtEl>
                                          <p:spTgt spid="88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3" st="13"/>
                                            </p:txEl>
                                          </p:spTgt>
                                        </p:tgtEl>
                                        <p:attrNameLst>
                                          <p:attrName>style.visibility</p:attrName>
                                        </p:attrNameLst>
                                      </p:cBhvr>
                                      <p:to>
                                        <p:strVal val="visible"/>
                                      </p:to>
                                    </p:set>
                                    <p:animEffect filter="fade" transition="in">
                                      <p:cBhvr>
                                        <p:cTn dur="1000"/>
                                        <p:tgtEl>
                                          <p:spTgt spid="88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4" st="14"/>
                                            </p:txEl>
                                          </p:spTgt>
                                        </p:tgtEl>
                                        <p:attrNameLst>
                                          <p:attrName>style.visibility</p:attrName>
                                        </p:attrNameLst>
                                      </p:cBhvr>
                                      <p:to>
                                        <p:strVal val="visible"/>
                                      </p:to>
                                    </p:set>
                                    <p:animEffect filter="fade" transition="in">
                                      <p:cBhvr>
                                        <p:cTn dur="1000"/>
                                        <p:tgtEl>
                                          <p:spTgt spid="88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xEl>
                                              <p:pRg end="15" st="15"/>
                                            </p:txEl>
                                          </p:spTgt>
                                        </p:tgtEl>
                                        <p:attrNameLst>
                                          <p:attrName>style.visibility</p:attrName>
                                        </p:attrNameLst>
                                      </p:cBhvr>
                                      <p:to>
                                        <p:strVal val="visible"/>
                                      </p:to>
                                    </p:set>
                                    <p:animEffect filter="fade" transition="in">
                                      <p:cBhvr>
                                        <p:cTn dur="1000"/>
                                        <p:tgtEl>
                                          <p:spTgt spid="886">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0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893" name="Google Shape;893;p101"/>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Stack Shadowing (DeadSpy, CCTLib)</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Maintains Calling Context Tree as the execution unfolds.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Maintenance done by every function call and return.</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path and its hashed value are ready to be used.</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High overhead of maintenance.</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 constant time lookup.</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fine-grained execution monitoring (FEM) tools.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Track program execution at every machine instruction level.</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Real app: DeadSpy, Runtime Value Numbering, RedSpy, LoadSpy, and WHISTLE.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0" st="0"/>
                                            </p:txEl>
                                          </p:spTgt>
                                        </p:tgtEl>
                                        <p:attrNameLst>
                                          <p:attrName>style.visibility</p:attrName>
                                        </p:attrNameLst>
                                      </p:cBhvr>
                                      <p:to>
                                        <p:strVal val="visible"/>
                                      </p:to>
                                    </p:set>
                                    <p:animEffect filter="fade" transition="in">
                                      <p:cBhvr>
                                        <p:cTn dur="1000"/>
                                        <p:tgtEl>
                                          <p:spTgt spid="8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1" st="1"/>
                                            </p:txEl>
                                          </p:spTgt>
                                        </p:tgtEl>
                                        <p:attrNameLst>
                                          <p:attrName>style.visibility</p:attrName>
                                        </p:attrNameLst>
                                      </p:cBhvr>
                                      <p:to>
                                        <p:strVal val="visible"/>
                                      </p:to>
                                    </p:set>
                                    <p:animEffect filter="fade" transition="in">
                                      <p:cBhvr>
                                        <p:cTn dur="1000"/>
                                        <p:tgtEl>
                                          <p:spTgt spid="8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2" st="2"/>
                                            </p:txEl>
                                          </p:spTgt>
                                        </p:tgtEl>
                                        <p:attrNameLst>
                                          <p:attrName>style.visibility</p:attrName>
                                        </p:attrNameLst>
                                      </p:cBhvr>
                                      <p:to>
                                        <p:strVal val="visible"/>
                                      </p:to>
                                    </p:set>
                                    <p:animEffect filter="fade" transition="in">
                                      <p:cBhvr>
                                        <p:cTn dur="1000"/>
                                        <p:tgtEl>
                                          <p:spTgt spid="8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3" st="3"/>
                                            </p:txEl>
                                          </p:spTgt>
                                        </p:tgtEl>
                                        <p:attrNameLst>
                                          <p:attrName>style.visibility</p:attrName>
                                        </p:attrNameLst>
                                      </p:cBhvr>
                                      <p:to>
                                        <p:strVal val="visible"/>
                                      </p:to>
                                    </p:set>
                                    <p:animEffect filter="fade" transition="in">
                                      <p:cBhvr>
                                        <p:cTn dur="1000"/>
                                        <p:tgtEl>
                                          <p:spTgt spid="8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4" st="4"/>
                                            </p:txEl>
                                          </p:spTgt>
                                        </p:tgtEl>
                                        <p:attrNameLst>
                                          <p:attrName>style.visibility</p:attrName>
                                        </p:attrNameLst>
                                      </p:cBhvr>
                                      <p:to>
                                        <p:strVal val="visible"/>
                                      </p:to>
                                    </p:set>
                                    <p:animEffect filter="fade" transition="in">
                                      <p:cBhvr>
                                        <p:cTn dur="1000"/>
                                        <p:tgtEl>
                                          <p:spTgt spid="8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5" st="5"/>
                                            </p:txEl>
                                          </p:spTgt>
                                        </p:tgtEl>
                                        <p:attrNameLst>
                                          <p:attrName>style.visibility</p:attrName>
                                        </p:attrNameLst>
                                      </p:cBhvr>
                                      <p:to>
                                        <p:strVal val="visible"/>
                                      </p:to>
                                    </p:set>
                                    <p:animEffect filter="fade" transition="in">
                                      <p:cBhvr>
                                        <p:cTn dur="1000"/>
                                        <p:tgtEl>
                                          <p:spTgt spid="8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6" st="6"/>
                                            </p:txEl>
                                          </p:spTgt>
                                        </p:tgtEl>
                                        <p:attrNameLst>
                                          <p:attrName>style.visibility</p:attrName>
                                        </p:attrNameLst>
                                      </p:cBhvr>
                                      <p:to>
                                        <p:strVal val="visible"/>
                                      </p:to>
                                    </p:set>
                                    <p:animEffect filter="fade" transition="in">
                                      <p:cBhvr>
                                        <p:cTn dur="1000"/>
                                        <p:tgtEl>
                                          <p:spTgt spid="8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7" st="7"/>
                                            </p:txEl>
                                          </p:spTgt>
                                        </p:tgtEl>
                                        <p:attrNameLst>
                                          <p:attrName>style.visibility</p:attrName>
                                        </p:attrNameLst>
                                      </p:cBhvr>
                                      <p:to>
                                        <p:strVal val="visible"/>
                                      </p:to>
                                    </p:set>
                                    <p:animEffect filter="fade" transition="in">
                                      <p:cBhvr>
                                        <p:cTn dur="1000"/>
                                        <p:tgtEl>
                                          <p:spTgt spid="8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8" st="8"/>
                                            </p:txEl>
                                          </p:spTgt>
                                        </p:tgtEl>
                                        <p:attrNameLst>
                                          <p:attrName>style.visibility</p:attrName>
                                        </p:attrNameLst>
                                      </p:cBhvr>
                                      <p:to>
                                        <p:strVal val="visible"/>
                                      </p:to>
                                    </p:set>
                                    <p:animEffect filter="fade" transition="in">
                                      <p:cBhvr>
                                        <p:cTn dur="1000"/>
                                        <p:tgtEl>
                                          <p:spTgt spid="89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9" st="9"/>
                                            </p:txEl>
                                          </p:spTgt>
                                        </p:tgtEl>
                                        <p:attrNameLst>
                                          <p:attrName>style.visibility</p:attrName>
                                        </p:attrNameLst>
                                      </p:cBhvr>
                                      <p:to>
                                        <p:strVal val="visible"/>
                                      </p:to>
                                    </p:set>
                                    <p:animEffect filter="fade" transition="in">
                                      <p:cBhvr>
                                        <p:cTn dur="1000"/>
                                        <p:tgtEl>
                                          <p:spTgt spid="89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10" st="10"/>
                                            </p:txEl>
                                          </p:spTgt>
                                        </p:tgtEl>
                                        <p:attrNameLst>
                                          <p:attrName>style.visibility</p:attrName>
                                        </p:attrNameLst>
                                      </p:cBhvr>
                                      <p:to>
                                        <p:strVal val="visible"/>
                                      </p:to>
                                    </p:set>
                                    <p:animEffect filter="fade" transition="in">
                                      <p:cBhvr>
                                        <p:cTn dur="1000"/>
                                        <p:tgtEl>
                                          <p:spTgt spid="89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11" st="11"/>
                                            </p:txEl>
                                          </p:spTgt>
                                        </p:tgtEl>
                                        <p:attrNameLst>
                                          <p:attrName>style.visibility</p:attrName>
                                        </p:attrNameLst>
                                      </p:cBhvr>
                                      <p:to>
                                        <p:strVal val="visible"/>
                                      </p:to>
                                    </p:set>
                                    <p:animEffect filter="fade" transition="in">
                                      <p:cBhvr>
                                        <p:cTn dur="1000"/>
                                        <p:tgtEl>
                                          <p:spTgt spid="89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12" st="12"/>
                                            </p:txEl>
                                          </p:spTgt>
                                        </p:tgtEl>
                                        <p:attrNameLst>
                                          <p:attrName>style.visibility</p:attrName>
                                        </p:attrNameLst>
                                      </p:cBhvr>
                                      <p:to>
                                        <p:strVal val="visible"/>
                                      </p:to>
                                    </p:set>
                                    <p:animEffect filter="fade" transition="in">
                                      <p:cBhvr>
                                        <p:cTn dur="1000"/>
                                        <p:tgtEl>
                                          <p:spTgt spid="89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xEl>
                                              <p:pRg end="13" st="13"/>
                                            </p:txEl>
                                          </p:spTgt>
                                        </p:tgtEl>
                                        <p:attrNameLst>
                                          <p:attrName>style.visibility</p:attrName>
                                        </p:attrNameLst>
                                      </p:cBhvr>
                                      <p:to>
                                        <p:strVal val="visible"/>
                                      </p:to>
                                    </p:set>
                                    <p:animEffect filter="fade" transition="in">
                                      <p:cBhvr>
                                        <p:cTn dur="1000"/>
                                        <p:tgtEl>
                                          <p:spTgt spid="893">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0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900" name="Google Shape;900;p102"/>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(Existing) CC encoding schemes (PCCE, Valence).</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Calling context encoding is to uniquely represent the current context of any execution point using a small number of integer identifiers (IDs)</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Unwinding, shadowing can have ID by hashing.</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IDs in the existing CC encoding scheme can only distinguish the different contexts with respect to the current node (NDCCID).</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IDs in DCCE can distinguish the different contexts with respect to any nodes (DCCID).</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Need function ID to be DCCID.</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Extra overhead</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Marking at callgraph? Reading something in the stack frame?</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Not all call sites are instrumented to update ID.</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Decoding cost depending on the length of the current call path.</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Real app: Enabling Layer 2 Pathlet Tracing through Context Encoding in Software-Defined Networking</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0" st="0"/>
                                            </p:txEl>
                                          </p:spTgt>
                                        </p:tgtEl>
                                        <p:attrNameLst>
                                          <p:attrName>style.visibility</p:attrName>
                                        </p:attrNameLst>
                                      </p:cBhvr>
                                      <p:to>
                                        <p:strVal val="visible"/>
                                      </p:to>
                                    </p:set>
                                    <p:animEffect filter="fade" transition="in">
                                      <p:cBhvr>
                                        <p:cTn dur="1000"/>
                                        <p:tgtEl>
                                          <p:spTgt spid="9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 st="1"/>
                                            </p:txEl>
                                          </p:spTgt>
                                        </p:tgtEl>
                                        <p:attrNameLst>
                                          <p:attrName>style.visibility</p:attrName>
                                        </p:attrNameLst>
                                      </p:cBhvr>
                                      <p:to>
                                        <p:strVal val="visible"/>
                                      </p:to>
                                    </p:set>
                                    <p:animEffect filter="fade" transition="in">
                                      <p:cBhvr>
                                        <p:cTn dur="1000"/>
                                        <p:tgtEl>
                                          <p:spTgt spid="9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2" st="2"/>
                                            </p:txEl>
                                          </p:spTgt>
                                        </p:tgtEl>
                                        <p:attrNameLst>
                                          <p:attrName>style.visibility</p:attrName>
                                        </p:attrNameLst>
                                      </p:cBhvr>
                                      <p:to>
                                        <p:strVal val="visible"/>
                                      </p:to>
                                    </p:set>
                                    <p:animEffect filter="fade" transition="in">
                                      <p:cBhvr>
                                        <p:cTn dur="1000"/>
                                        <p:tgtEl>
                                          <p:spTgt spid="9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3" st="3"/>
                                            </p:txEl>
                                          </p:spTgt>
                                        </p:tgtEl>
                                        <p:attrNameLst>
                                          <p:attrName>style.visibility</p:attrName>
                                        </p:attrNameLst>
                                      </p:cBhvr>
                                      <p:to>
                                        <p:strVal val="visible"/>
                                      </p:to>
                                    </p:set>
                                    <p:animEffect filter="fade" transition="in">
                                      <p:cBhvr>
                                        <p:cTn dur="1000"/>
                                        <p:tgtEl>
                                          <p:spTgt spid="9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4" st="4"/>
                                            </p:txEl>
                                          </p:spTgt>
                                        </p:tgtEl>
                                        <p:attrNameLst>
                                          <p:attrName>style.visibility</p:attrName>
                                        </p:attrNameLst>
                                      </p:cBhvr>
                                      <p:to>
                                        <p:strVal val="visible"/>
                                      </p:to>
                                    </p:set>
                                    <p:animEffect filter="fade" transition="in">
                                      <p:cBhvr>
                                        <p:cTn dur="1000"/>
                                        <p:tgtEl>
                                          <p:spTgt spid="9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5" st="5"/>
                                            </p:txEl>
                                          </p:spTgt>
                                        </p:tgtEl>
                                        <p:attrNameLst>
                                          <p:attrName>style.visibility</p:attrName>
                                        </p:attrNameLst>
                                      </p:cBhvr>
                                      <p:to>
                                        <p:strVal val="visible"/>
                                      </p:to>
                                    </p:set>
                                    <p:animEffect filter="fade" transition="in">
                                      <p:cBhvr>
                                        <p:cTn dur="1000"/>
                                        <p:tgtEl>
                                          <p:spTgt spid="9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6" st="6"/>
                                            </p:txEl>
                                          </p:spTgt>
                                        </p:tgtEl>
                                        <p:attrNameLst>
                                          <p:attrName>style.visibility</p:attrName>
                                        </p:attrNameLst>
                                      </p:cBhvr>
                                      <p:to>
                                        <p:strVal val="visible"/>
                                      </p:to>
                                    </p:set>
                                    <p:animEffect filter="fade" transition="in">
                                      <p:cBhvr>
                                        <p:cTn dur="1000"/>
                                        <p:tgtEl>
                                          <p:spTgt spid="9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7" st="7"/>
                                            </p:txEl>
                                          </p:spTgt>
                                        </p:tgtEl>
                                        <p:attrNameLst>
                                          <p:attrName>style.visibility</p:attrName>
                                        </p:attrNameLst>
                                      </p:cBhvr>
                                      <p:to>
                                        <p:strVal val="visible"/>
                                      </p:to>
                                    </p:set>
                                    <p:animEffect filter="fade" transition="in">
                                      <p:cBhvr>
                                        <p:cTn dur="1000"/>
                                        <p:tgtEl>
                                          <p:spTgt spid="9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8" st="8"/>
                                            </p:txEl>
                                          </p:spTgt>
                                        </p:tgtEl>
                                        <p:attrNameLst>
                                          <p:attrName>style.visibility</p:attrName>
                                        </p:attrNameLst>
                                      </p:cBhvr>
                                      <p:to>
                                        <p:strVal val="visible"/>
                                      </p:to>
                                    </p:set>
                                    <p:animEffect filter="fade" transition="in">
                                      <p:cBhvr>
                                        <p:cTn dur="1000"/>
                                        <p:tgtEl>
                                          <p:spTgt spid="9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9" st="9"/>
                                            </p:txEl>
                                          </p:spTgt>
                                        </p:tgtEl>
                                        <p:attrNameLst>
                                          <p:attrName>style.visibility</p:attrName>
                                        </p:attrNameLst>
                                      </p:cBhvr>
                                      <p:to>
                                        <p:strVal val="visible"/>
                                      </p:to>
                                    </p:set>
                                    <p:animEffect filter="fade" transition="in">
                                      <p:cBhvr>
                                        <p:cTn dur="1000"/>
                                        <p:tgtEl>
                                          <p:spTgt spid="90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0" st="10"/>
                                            </p:txEl>
                                          </p:spTgt>
                                        </p:tgtEl>
                                        <p:attrNameLst>
                                          <p:attrName>style.visibility</p:attrName>
                                        </p:attrNameLst>
                                      </p:cBhvr>
                                      <p:to>
                                        <p:strVal val="visible"/>
                                      </p:to>
                                    </p:set>
                                    <p:animEffect filter="fade" transition="in">
                                      <p:cBhvr>
                                        <p:cTn dur="1000"/>
                                        <p:tgtEl>
                                          <p:spTgt spid="90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1" st="11"/>
                                            </p:txEl>
                                          </p:spTgt>
                                        </p:tgtEl>
                                        <p:attrNameLst>
                                          <p:attrName>style.visibility</p:attrName>
                                        </p:attrNameLst>
                                      </p:cBhvr>
                                      <p:to>
                                        <p:strVal val="visible"/>
                                      </p:to>
                                    </p:set>
                                    <p:animEffect filter="fade" transition="in">
                                      <p:cBhvr>
                                        <p:cTn dur="1000"/>
                                        <p:tgtEl>
                                          <p:spTgt spid="90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2" st="12"/>
                                            </p:txEl>
                                          </p:spTgt>
                                        </p:tgtEl>
                                        <p:attrNameLst>
                                          <p:attrName>style.visibility</p:attrName>
                                        </p:attrNameLst>
                                      </p:cBhvr>
                                      <p:to>
                                        <p:strVal val="visible"/>
                                      </p:to>
                                    </p:set>
                                    <p:animEffect filter="fade" transition="in">
                                      <p:cBhvr>
                                        <p:cTn dur="1000"/>
                                        <p:tgtEl>
                                          <p:spTgt spid="90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3" st="13"/>
                                            </p:txEl>
                                          </p:spTgt>
                                        </p:tgtEl>
                                        <p:attrNameLst>
                                          <p:attrName>style.visibility</p:attrName>
                                        </p:attrNameLst>
                                      </p:cBhvr>
                                      <p:to>
                                        <p:strVal val="visible"/>
                                      </p:to>
                                    </p:set>
                                    <p:animEffect filter="fade" transition="in">
                                      <p:cBhvr>
                                        <p:cTn dur="1000"/>
                                        <p:tgtEl>
                                          <p:spTgt spid="90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4" st="14"/>
                                            </p:txEl>
                                          </p:spTgt>
                                        </p:tgtEl>
                                        <p:attrNameLst>
                                          <p:attrName>style.visibility</p:attrName>
                                        </p:attrNameLst>
                                      </p:cBhvr>
                                      <p:to>
                                        <p:strVal val="visible"/>
                                      </p:to>
                                    </p:set>
                                    <p:animEffect filter="fade" transition="in">
                                      <p:cBhvr>
                                        <p:cTn dur="1000"/>
                                        <p:tgtEl>
                                          <p:spTgt spid="900">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0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907" name="Google Shape;907;p103"/>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Distinguishable Calling Context Encoding</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 cost to distinguish CCs.</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All call sites are instrumented to update ID.</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Not straightforward to design decoding algorithm with weight on incoming edge and MaxIDs of incidents.</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At best, same cost of decoding as existing encoding schemes.</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apps with highly frequent request for CCs.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0" st="0"/>
                                            </p:txEl>
                                          </p:spTgt>
                                        </p:tgtEl>
                                        <p:attrNameLst>
                                          <p:attrName>style.visibility</p:attrName>
                                        </p:attrNameLst>
                                      </p:cBhvr>
                                      <p:to>
                                        <p:strVal val="visible"/>
                                      </p:to>
                                    </p:set>
                                    <p:animEffect filter="fade" transition="in">
                                      <p:cBhvr>
                                        <p:cTn dur="1000"/>
                                        <p:tgtEl>
                                          <p:spTgt spid="9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1" st="1"/>
                                            </p:txEl>
                                          </p:spTgt>
                                        </p:tgtEl>
                                        <p:attrNameLst>
                                          <p:attrName>style.visibility</p:attrName>
                                        </p:attrNameLst>
                                      </p:cBhvr>
                                      <p:to>
                                        <p:strVal val="visible"/>
                                      </p:to>
                                    </p:set>
                                    <p:animEffect filter="fade" transition="in">
                                      <p:cBhvr>
                                        <p:cTn dur="1000"/>
                                        <p:tgtEl>
                                          <p:spTgt spid="9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2" st="2"/>
                                            </p:txEl>
                                          </p:spTgt>
                                        </p:tgtEl>
                                        <p:attrNameLst>
                                          <p:attrName>style.visibility</p:attrName>
                                        </p:attrNameLst>
                                      </p:cBhvr>
                                      <p:to>
                                        <p:strVal val="visible"/>
                                      </p:to>
                                    </p:set>
                                    <p:animEffect filter="fade" transition="in">
                                      <p:cBhvr>
                                        <p:cTn dur="1000"/>
                                        <p:tgtEl>
                                          <p:spTgt spid="9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3" st="3"/>
                                            </p:txEl>
                                          </p:spTgt>
                                        </p:tgtEl>
                                        <p:attrNameLst>
                                          <p:attrName>style.visibility</p:attrName>
                                        </p:attrNameLst>
                                      </p:cBhvr>
                                      <p:to>
                                        <p:strVal val="visible"/>
                                      </p:to>
                                    </p:set>
                                    <p:animEffect filter="fade" transition="in">
                                      <p:cBhvr>
                                        <p:cTn dur="1000"/>
                                        <p:tgtEl>
                                          <p:spTgt spid="9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4" st="4"/>
                                            </p:txEl>
                                          </p:spTgt>
                                        </p:tgtEl>
                                        <p:attrNameLst>
                                          <p:attrName>style.visibility</p:attrName>
                                        </p:attrNameLst>
                                      </p:cBhvr>
                                      <p:to>
                                        <p:strVal val="visible"/>
                                      </p:to>
                                    </p:set>
                                    <p:animEffect filter="fade" transition="in">
                                      <p:cBhvr>
                                        <p:cTn dur="1000"/>
                                        <p:tgtEl>
                                          <p:spTgt spid="9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5" st="5"/>
                                            </p:txEl>
                                          </p:spTgt>
                                        </p:tgtEl>
                                        <p:attrNameLst>
                                          <p:attrName>style.visibility</p:attrName>
                                        </p:attrNameLst>
                                      </p:cBhvr>
                                      <p:to>
                                        <p:strVal val="visible"/>
                                      </p:to>
                                    </p:set>
                                    <p:animEffect filter="fade" transition="in">
                                      <p:cBhvr>
                                        <p:cTn dur="1000"/>
                                        <p:tgtEl>
                                          <p:spTgt spid="9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6" st="6"/>
                                            </p:txEl>
                                          </p:spTgt>
                                        </p:tgtEl>
                                        <p:attrNameLst>
                                          <p:attrName>style.visibility</p:attrName>
                                        </p:attrNameLst>
                                      </p:cBhvr>
                                      <p:to>
                                        <p:strVal val="visible"/>
                                      </p:to>
                                    </p:set>
                                    <p:animEffect filter="fade" transition="in">
                                      <p:cBhvr>
                                        <p:cTn dur="1000"/>
                                        <p:tgtEl>
                                          <p:spTgt spid="9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7" st="7"/>
                                            </p:txEl>
                                          </p:spTgt>
                                        </p:tgtEl>
                                        <p:attrNameLst>
                                          <p:attrName>style.visibility</p:attrName>
                                        </p:attrNameLst>
                                      </p:cBhvr>
                                      <p:to>
                                        <p:strVal val="visible"/>
                                      </p:to>
                                    </p:set>
                                    <p:animEffect filter="fade" transition="in">
                                      <p:cBhvr>
                                        <p:cTn dur="1000"/>
                                        <p:tgtEl>
                                          <p:spTgt spid="90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8" st="8"/>
                                            </p:txEl>
                                          </p:spTgt>
                                        </p:tgtEl>
                                        <p:attrNameLst>
                                          <p:attrName>style.visibility</p:attrName>
                                        </p:attrNameLst>
                                      </p:cBhvr>
                                      <p:to>
                                        <p:strVal val="visible"/>
                                      </p:to>
                                    </p:set>
                                    <p:animEffect filter="fade" transition="in">
                                      <p:cBhvr>
                                        <p:cTn dur="1000"/>
                                        <p:tgtEl>
                                          <p:spTgt spid="90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xEl>
                                              <p:pRg end="9" st="9"/>
                                            </p:txEl>
                                          </p:spTgt>
                                        </p:tgtEl>
                                        <p:attrNameLst>
                                          <p:attrName>style.visibility</p:attrName>
                                        </p:attrNameLst>
                                      </p:cBhvr>
                                      <p:to>
                                        <p:strVal val="visible"/>
                                      </p:to>
                                    </p:set>
                                    <p:animEffect filter="fade" transition="in">
                                      <p:cBhvr>
                                        <p:cTn dur="1000"/>
                                        <p:tgtEl>
                                          <p:spTgt spid="90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04"/>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pic>
        <p:nvPicPr>
          <p:cNvPr id="914" name="Google Shape;914;p104"/>
          <p:cNvPicPr preferRelativeResize="0"/>
          <p:nvPr/>
        </p:nvPicPr>
        <p:blipFill>
          <a:blip r:embed="rId3">
            <a:alphaModFix/>
          </a:blip>
          <a:stretch>
            <a:fillRect/>
          </a:stretch>
        </p:blipFill>
        <p:spPr>
          <a:xfrm>
            <a:off x="152400" y="1115644"/>
            <a:ext cx="8839198" cy="1199191"/>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05"/>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sp>
        <p:nvSpPr>
          <p:cNvPr id="921" name="Google Shape;921;p105"/>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Large scientific parallel programs are written with conservative synchronization.</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Due to several layers of libraries, multiple programming languages.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Idea: dynamic optimization to elide (skip) context sensitively redundant barriers.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A barrier is redundant if and only if skipping the operation introduces no data races.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executes the program alongside a dynamic data race detector, identify barriers by their calling context, determine if they are redundant in a particular context, then speculatively skip future executions in the same calling context.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stack unwinding is used to get CC and CC is hashed to encode.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Frequency of CC request is every time barrier is invoked at runtime.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500,000 barrier operations in their microbenchmark. (small or large?)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No need for call path.</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0" st="0"/>
                                            </p:txEl>
                                          </p:spTgt>
                                        </p:tgtEl>
                                        <p:attrNameLst>
                                          <p:attrName>style.visibility</p:attrName>
                                        </p:attrNameLst>
                                      </p:cBhvr>
                                      <p:to>
                                        <p:strVal val="visible"/>
                                      </p:to>
                                    </p:set>
                                    <p:animEffect filter="fade" transition="in">
                                      <p:cBhvr>
                                        <p:cTn dur="1000"/>
                                        <p:tgtEl>
                                          <p:spTgt spid="9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1" st="1"/>
                                            </p:txEl>
                                          </p:spTgt>
                                        </p:tgtEl>
                                        <p:attrNameLst>
                                          <p:attrName>style.visibility</p:attrName>
                                        </p:attrNameLst>
                                      </p:cBhvr>
                                      <p:to>
                                        <p:strVal val="visible"/>
                                      </p:to>
                                    </p:set>
                                    <p:animEffect filter="fade" transition="in">
                                      <p:cBhvr>
                                        <p:cTn dur="1000"/>
                                        <p:tgtEl>
                                          <p:spTgt spid="9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2" st="2"/>
                                            </p:txEl>
                                          </p:spTgt>
                                        </p:tgtEl>
                                        <p:attrNameLst>
                                          <p:attrName>style.visibility</p:attrName>
                                        </p:attrNameLst>
                                      </p:cBhvr>
                                      <p:to>
                                        <p:strVal val="visible"/>
                                      </p:to>
                                    </p:set>
                                    <p:animEffect filter="fade" transition="in">
                                      <p:cBhvr>
                                        <p:cTn dur="1000"/>
                                        <p:tgtEl>
                                          <p:spTgt spid="9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3" st="3"/>
                                            </p:txEl>
                                          </p:spTgt>
                                        </p:tgtEl>
                                        <p:attrNameLst>
                                          <p:attrName>style.visibility</p:attrName>
                                        </p:attrNameLst>
                                      </p:cBhvr>
                                      <p:to>
                                        <p:strVal val="visible"/>
                                      </p:to>
                                    </p:set>
                                    <p:animEffect filter="fade" transition="in">
                                      <p:cBhvr>
                                        <p:cTn dur="1000"/>
                                        <p:tgtEl>
                                          <p:spTgt spid="9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4" st="4"/>
                                            </p:txEl>
                                          </p:spTgt>
                                        </p:tgtEl>
                                        <p:attrNameLst>
                                          <p:attrName>style.visibility</p:attrName>
                                        </p:attrNameLst>
                                      </p:cBhvr>
                                      <p:to>
                                        <p:strVal val="visible"/>
                                      </p:to>
                                    </p:set>
                                    <p:animEffect filter="fade" transition="in">
                                      <p:cBhvr>
                                        <p:cTn dur="1000"/>
                                        <p:tgtEl>
                                          <p:spTgt spid="9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5" st="5"/>
                                            </p:txEl>
                                          </p:spTgt>
                                        </p:tgtEl>
                                        <p:attrNameLst>
                                          <p:attrName>style.visibility</p:attrName>
                                        </p:attrNameLst>
                                      </p:cBhvr>
                                      <p:to>
                                        <p:strVal val="visible"/>
                                      </p:to>
                                    </p:set>
                                    <p:animEffect filter="fade" transition="in">
                                      <p:cBhvr>
                                        <p:cTn dur="1000"/>
                                        <p:tgtEl>
                                          <p:spTgt spid="9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6" st="6"/>
                                            </p:txEl>
                                          </p:spTgt>
                                        </p:tgtEl>
                                        <p:attrNameLst>
                                          <p:attrName>style.visibility</p:attrName>
                                        </p:attrNameLst>
                                      </p:cBhvr>
                                      <p:to>
                                        <p:strVal val="visible"/>
                                      </p:to>
                                    </p:set>
                                    <p:animEffect filter="fade" transition="in">
                                      <p:cBhvr>
                                        <p:cTn dur="1000"/>
                                        <p:tgtEl>
                                          <p:spTgt spid="9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7" st="7"/>
                                            </p:txEl>
                                          </p:spTgt>
                                        </p:tgtEl>
                                        <p:attrNameLst>
                                          <p:attrName>style.visibility</p:attrName>
                                        </p:attrNameLst>
                                      </p:cBhvr>
                                      <p:to>
                                        <p:strVal val="visible"/>
                                      </p:to>
                                    </p:set>
                                    <p:animEffect filter="fade" transition="in">
                                      <p:cBhvr>
                                        <p:cTn dur="1000"/>
                                        <p:tgtEl>
                                          <p:spTgt spid="9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8" st="8"/>
                                            </p:txEl>
                                          </p:spTgt>
                                        </p:tgtEl>
                                        <p:attrNameLst>
                                          <p:attrName>style.visibility</p:attrName>
                                        </p:attrNameLst>
                                      </p:cBhvr>
                                      <p:to>
                                        <p:strVal val="visible"/>
                                      </p:to>
                                    </p:set>
                                    <p:animEffect filter="fade" transition="in">
                                      <p:cBhvr>
                                        <p:cTn dur="1000"/>
                                        <p:tgtEl>
                                          <p:spTgt spid="9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9" st="9"/>
                                            </p:txEl>
                                          </p:spTgt>
                                        </p:tgtEl>
                                        <p:attrNameLst>
                                          <p:attrName>style.visibility</p:attrName>
                                        </p:attrNameLst>
                                      </p:cBhvr>
                                      <p:to>
                                        <p:strVal val="visible"/>
                                      </p:to>
                                    </p:set>
                                    <p:animEffect filter="fade" transition="in">
                                      <p:cBhvr>
                                        <p:cTn dur="1000"/>
                                        <p:tgtEl>
                                          <p:spTgt spid="92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10" st="10"/>
                                            </p:txEl>
                                          </p:spTgt>
                                        </p:tgtEl>
                                        <p:attrNameLst>
                                          <p:attrName>style.visibility</p:attrName>
                                        </p:attrNameLst>
                                      </p:cBhvr>
                                      <p:to>
                                        <p:strVal val="visible"/>
                                      </p:to>
                                    </p:set>
                                    <p:animEffect filter="fade" transition="in">
                                      <p:cBhvr>
                                        <p:cTn dur="1000"/>
                                        <p:tgtEl>
                                          <p:spTgt spid="92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xEl>
                                              <p:pRg end="11" st="11"/>
                                            </p:txEl>
                                          </p:spTgt>
                                        </p:tgtEl>
                                        <p:attrNameLst>
                                          <p:attrName>style.visibility</p:attrName>
                                        </p:attrNameLst>
                                      </p:cBhvr>
                                      <p:to>
                                        <p:strVal val="visible"/>
                                      </p:to>
                                    </p:set>
                                    <p:animEffect filter="fade" transition="in">
                                      <p:cBhvr>
                                        <p:cTn dur="1000"/>
                                        <p:tgtEl>
                                          <p:spTgt spid="921">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06"/>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DeadSpy, RedSpy, LoadSpy</a:t>
            </a:r>
            <a:endParaRPr>
              <a:latin typeface="Twentieth Century"/>
              <a:ea typeface="Twentieth Century"/>
              <a:cs typeface="Twentieth Century"/>
              <a:sym typeface="Twentieth Century"/>
            </a:endParaRPr>
          </a:p>
        </p:txBody>
      </p:sp>
      <p:sp>
        <p:nvSpPr>
          <p:cNvPr id="928" name="Google Shape;928;p106"/>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Redundant operations are a common performance limiter.</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Due to missed compiler optimization opportunities, inappropriate data structure/algorithm, developers’ inattention to performance.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Idea: a whole program profiler to pinpoint dead write(DeadSpy), and redundant computation (RedSpy), and redundant memory load(LoadSpy)</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They require CC on each load or store operation.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Employ a unique 32-bit integer provided by CCTLib</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Need DCCID during profile Need CC during report.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Once optize the app using tool (+ CC), the app </a:t>
            </a:r>
            <a:r>
              <a:rPr lang="en">
                <a:latin typeface="Twentieth Century"/>
                <a:ea typeface="Twentieth Century"/>
                <a:cs typeface="Twentieth Century"/>
                <a:sym typeface="Twentieth Century"/>
              </a:rPr>
              <a:t>does</a:t>
            </a:r>
            <a:r>
              <a:rPr lang="en">
                <a:latin typeface="Twentieth Century"/>
                <a:ea typeface="Twentieth Century"/>
                <a:cs typeface="Twentieth Century"/>
                <a:sym typeface="Twentieth Century"/>
              </a:rPr>
              <a:t> not need CC anymore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DCCE could perform better with these apps.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0" st="0"/>
                                            </p:txEl>
                                          </p:spTgt>
                                        </p:tgtEl>
                                        <p:attrNameLst>
                                          <p:attrName>style.visibility</p:attrName>
                                        </p:attrNameLst>
                                      </p:cBhvr>
                                      <p:to>
                                        <p:strVal val="visible"/>
                                      </p:to>
                                    </p:set>
                                    <p:animEffect filter="fade" transition="in">
                                      <p:cBhvr>
                                        <p:cTn dur="1000"/>
                                        <p:tgtEl>
                                          <p:spTgt spid="9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1" st="1"/>
                                            </p:txEl>
                                          </p:spTgt>
                                        </p:tgtEl>
                                        <p:attrNameLst>
                                          <p:attrName>style.visibility</p:attrName>
                                        </p:attrNameLst>
                                      </p:cBhvr>
                                      <p:to>
                                        <p:strVal val="visible"/>
                                      </p:to>
                                    </p:set>
                                    <p:animEffect filter="fade" transition="in">
                                      <p:cBhvr>
                                        <p:cTn dur="1000"/>
                                        <p:tgtEl>
                                          <p:spTgt spid="9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2" st="2"/>
                                            </p:txEl>
                                          </p:spTgt>
                                        </p:tgtEl>
                                        <p:attrNameLst>
                                          <p:attrName>style.visibility</p:attrName>
                                        </p:attrNameLst>
                                      </p:cBhvr>
                                      <p:to>
                                        <p:strVal val="visible"/>
                                      </p:to>
                                    </p:set>
                                    <p:animEffect filter="fade" transition="in">
                                      <p:cBhvr>
                                        <p:cTn dur="1000"/>
                                        <p:tgtEl>
                                          <p:spTgt spid="9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3" st="3"/>
                                            </p:txEl>
                                          </p:spTgt>
                                        </p:tgtEl>
                                        <p:attrNameLst>
                                          <p:attrName>style.visibility</p:attrName>
                                        </p:attrNameLst>
                                      </p:cBhvr>
                                      <p:to>
                                        <p:strVal val="visible"/>
                                      </p:to>
                                    </p:set>
                                    <p:animEffect filter="fade" transition="in">
                                      <p:cBhvr>
                                        <p:cTn dur="1000"/>
                                        <p:tgtEl>
                                          <p:spTgt spid="9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4" st="4"/>
                                            </p:txEl>
                                          </p:spTgt>
                                        </p:tgtEl>
                                        <p:attrNameLst>
                                          <p:attrName>style.visibility</p:attrName>
                                        </p:attrNameLst>
                                      </p:cBhvr>
                                      <p:to>
                                        <p:strVal val="visible"/>
                                      </p:to>
                                    </p:set>
                                    <p:animEffect filter="fade" transition="in">
                                      <p:cBhvr>
                                        <p:cTn dur="1000"/>
                                        <p:tgtEl>
                                          <p:spTgt spid="9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5" st="5"/>
                                            </p:txEl>
                                          </p:spTgt>
                                        </p:tgtEl>
                                        <p:attrNameLst>
                                          <p:attrName>style.visibility</p:attrName>
                                        </p:attrNameLst>
                                      </p:cBhvr>
                                      <p:to>
                                        <p:strVal val="visible"/>
                                      </p:to>
                                    </p:set>
                                    <p:animEffect filter="fade" transition="in">
                                      <p:cBhvr>
                                        <p:cTn dur="1000"/>
                                        <p:tgtEl>
                                          <p:spTgt spid="9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6" st="6"/>
                                            </p:txEl>
                                          </p:spTgt>
                                        </p:tgtEl>
                                        <p:attrNameLst>
                                          <p:attrName>style.visibility</p:attrName>
                                        </p:attrNameLst>
                                      </p:cBhvr>
                                      <p:to>
                                        <p:strVal val="visible"/>
                                      </p:to>
                                    </p:set>
                                    <p:animEffect filter="fade" transition="in">
                                      <p:cBhvr>
                                        <p:cTn dur="1000"/>
                                        <p:tgtEl>
                                          <p:spTgt spid="9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7" st="7"/>
                                            </p:txEl>
                                          </p:spTgt>
                                        </p:tgtEl>
                                        <p:attrNameLst>
                                          <p:attrName>style.visibility</p:attrName>
                                        </p:attrNameLst>
                                      </p:cBhvr>
                                      <p:to>
                                        <p:strVal val="visible"/>
                                      </p:to>
                                    </p:set>
                                    <p:animEffect filter="fade" transition="in">
                                      <p:cBhvr>
                                        <p:cTn dur="1000"/>
                                        <p:tgtEl>
                                          <p:spTgt spid="9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8" st="8"/>
                                            </p:txEl>
                                          </p:spTgt>
                                        </p:tgtEl>
                                        <p:attrNameLst>
                                          <p:attrName>style.visibility</p:attrName>
                                        </p:attrNameLst>
                                      </p:cBhvr>
                                      <p:to>
                                        <p:strVal val="visible"/>
                                      </p:to>
                                    </p:set>
                                    <p:animEffect filter="fade" transition="in">
                                      <p:cBhvr>
                                        <p:cTn dur="1000"/>
                                        <p:tgtEl>
                                          <p:spTgt spid="92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9" st="9"/>
                                            </p:txEl>
                                          </p:spTgt>
                                        </p:tgtEl>
                                        <p:attrNameLst>
                                          <p:attrName>style.visibility</p:attrName>
                                        </p:attrNameLst>
                                      </p:cBhvr>
                                      <p:to>
                                        <p:strVal val="visible"/>
                                      </p:to>
                                    </p:set>
                                    <p:animEffect filter="fade" transition="in">
                                      <p:cBhvr>
                                        <p:cTn dur="1000"/>
                                        <p:tgtEl>
                                          <p:spTgt spid="92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xEl>
                                              <p:pRg end="10" st="10"/>
                                            </p:txEl>
                                          </p:spTgt>
                                        </p:tgtEl>
                                        <p:attrNameLst>
                                          <p:attrName>style.visibility</p:attrName>
                                        </p:attrNameLst>
                                      </p:cBhvr>
                                      <p:to>
                                        <p:strVal val="visible"/>
                                      </p:to>
                                    </p:set>
                                    <p:animEffect filter="fade" transition="in">
                                      <p:cBhvr>
                                        <p:cTn dur="1000"/>
                                        <p:tgtEl>
                                          <p:spTgt spid="92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07"/>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Enabling Layer 2 Pathlet Tracing through Context Encoding in Software-Defined Networking</a:t>
            </a:r>
            <a:endParaRPr>
              <a:latin typeface="Twentieth Century"/>
              <a:ea typeface="Twentieth Century"/>
              <a:cs typeface="Twentieth Century"/>
              <a:sym typeface="Twentieth Century"/>
            </a:endParaRPr>
          </a:p>
        </p:txBody>
      </p:sp>
      <p:sp>
        <p:nvSpPr>
          <p:cNvPr id="935" name="Google Shape;935;p107"/>
          <p:cNvSpPr txBox="1"/>
          <p:nvPr>
            <p:ph idx="1" type="body"/>
          </p:nvPr>
        </p:nvSpPr>
        <p:spPr>
          <a:xfrm>
            <a:off x="74350" y="963250"/>
            <a:ext cx="90183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Troubleshooting of SDN operations needs to verify whether the low-level actions performed by network devices conform to the high-level policies deployed by operators.</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Idea: focus on path tracing, a specific operation for SDN troubleshooting that determines the Layer 2 path taken by a given packet.</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Analogies between CC Encoding and Path encoding in SDN</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 graph of SW and topology of Network.</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site and network switch.</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Calling Context and network path.</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Use PCCE and IDs are embedded to each packet.</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Only request of network path (CC) in this application. No need for hashed CC.</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0" st="0"/>
                                            </p:txEl>
                                          </p:spTgt>
                                        </p:tgtEl>
                                        <p:attrNameLst>
                                          <p:attrName>style.visibility</p:attrName>
                                        </p:attrNameLst>
                                      </p:cBhvr>
                                      <p:to>
                                        <p:strVal val="visible"/>
                                      </p:to>
                                    </p:set>
                                    <p:animEffect filter="fade" transition="in">
                                      <p:cBhvr>
                                        <p:cTn dur="1000"/>
                                        <p:tgtEl>
                                          <p:spTgt spid="9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1" st="1"/>
                                            </p:txEl>
                                          </p:spTgt>
                                        </p:tgtEl>
                                        <p:attrNameLst>
                                          <p:attrName>style.visibility</p:attrName>
                                        </p:attrNameLst>
                                      </p:cBhvr>
                                      <p:to>
                                        <p:strVal val="visible"/>
                                      </p:to>
                                    </p:set>
                                    <p:animEffect filter="fade" transition="in">
                                      <p:cBhvr>
                                        <p:cTn dur="1000"/>
                                        <p:tgtEl>
                                          <p:spTgt spid="9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2" st="2"/>
                                            </p:txEl>
                                          </p:spTgt>
                                        </p:tgtEl>
                                        <p:attrNameLst>
                                          <p:attrName>style.visibility</p:attrName>
                                        </p:attrNameLst>
                                      </p:cBhvr>
                                      <p:to>
                                        <p:strVal val="visible"/>
                                      </p:to>
                                    </p:set>
                                    <p:animEffect filter="fade" transition="in">
                                      <p:cBhvr>
                                        <p:cTn dur="1000"/>
                                        <p:tgtEl>
                                          <p:spTgt spid="9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3" st="3"/>
                                            </p:txEl>
                                          </p:spTgt>
                                        </p:tgtEl>
                                        <p:attrNameLst>
                                          <p:attrName>style.visibility</p:attrName>
                                        </p:attrNameLst>
                                      </p:cBhvr>
                                      <p:to>
                                        <p:strVal val="visible"/>
                                      </p:to>
                                    </p:set>
                                    <p:animEffect filter="fade" transition="in">
                                      <p:cBhvr>
                                        <p:cTn dur="1000"/>
                                        <p:tgtEl>
                                          <p:spTgt spid="9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4" st="4"/>
                                            </p:txEl>
                                          </p:spTgt>
                                        </p:tgtEl>
                                        <p:attrNameLst>
                                          <p:attrName>style.visibility</p:attrName>
                                        </p:attrNameLst>
                                      </p:cBhvr>
                                      <p:to>
                                        <p:strVal val="visible"/>
                                      </p:to>
                                    </p:set>
                                    <p:animEffect filter="fade" transition="in">
                                      <p:cBhvr>
                                        <p:cTn dur="1000"/>
                                        <p:tgtEl>
                                          <p:spTgt spid="9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5" st="5"/>
                                            </p:txEl>
                                          </p:spTgt>
                                        </p:tgtEl>
                                        <p:attrNameLst>
                                          <p:attrName>style.visibility</p:attrName>
                                        </p:attrNameLst>
                                      </p:cBhvr>
                                      <p:to>
                                        <p:strVal val="visible"/>
                                      </p:to>
                                    </p:set>
                                    <p:animEffect filter="fade" transition="in">
                                      <p:cBhvr>
                                        <p:cTn dur="1000"/>
                                        <p:tgtEl>
                                          <p:spTgt spid="9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6" st="6"/>
                                            </p:txEl>
                                          </p:spTgt>
                                        </p:tgtEl>
                                        <p:attrNameLst>
                                          <p:attrName>style.visibility</p:attrName>
                                        </p:attrNameLst>
                                      </p:cBhvr>
                                      <p:to>
                                        <p:strVal val="visible"/>
                                      </p:to>
                                    </p:set>
                                    <p:animEffect filter="fade" transition="in">
                                      <p:cBhvr>
                                        <p:cTn dur="1000"/>
                                        <p:tgtEl>
                                          <p:spTgt spid="9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7" st="7"/>
                                            </p:txEl>
                                          </p:spTgt>
                                        </p:tgtEl>
                                        <p:attrNameLst>
                                          <p:attrName>style.visibility</p:attrName>
                                        </p:attrNameLst>
                                      </p:cBhvr>
                                      <p:to>
                                        <p:strVal val="visible"/>
                                      </p:to>
                                    </p:set>
                                    <p:animEffect filter="fade" transition="in">
                                      <p:cBhvr>
                                        <p:cTn dur="1000"/>
                                        <p:tgtEl>
                                          <p:spTgt spid="9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8" st="8"/>
                                            </p:txEl>
                                          </p:spTgt>
                                        </p:tgtEl>
                                        <p:attrNameLst>
                                          <p:attrName>style.visibility</p:attrName>
                                        </p:attrNameLst>
                                      </p:cBhvr>
                                      <p:to>
                                        <p:strVal val="visible"/>
                                      </p:to>
                                    </p:set>
                                    <p:animEffect filter="fade" transition="in">
                                      <p:cBhvr>
                                        <p:cTn dur="1000"/>
                                        <p:tgtEl>
                                          <p:spTgt spid="9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xEl>
                                              <p:pRg end="9" st="9"/>
                                            </p:txEl>
                                          </p:spTgt>
                                        </p:tgtEl>
                                        <p:attrNameLst>
                                          <p:attrName>style.visibility</p:attrName>
                                        </p:attrNameLst>
                                      </p:cBhvr>
                                      <p:to>
                                        <p:strVal val="visible"/>
                                      </p:to>
                                    </p:set>
                                    <p:animEffect filter="fade" transition="in">
                                      <p:cBhvr>
                                        <p:cTn dur="1000"/>
                                        <p:tgtEl>
                                          <p:spTgt spid="93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08"/>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 and suggested techniques</a:t>
            </a:r>
            <a:endParaRPr>
              <a:latin typeface="Twentieth Century"/>
              <a:ea typeface="Twentieth Century"/>
              <a:cs typeface="Twentieth Century"/>
              <a:sym typeface="Twentieth Century"/>
            </a:endParaRPr>
          </a:p>
        </p:txBody>
      </p:sp>
      <p:pic>
        <p:nvPicPr>
          <p:cNvPr id="942" name="Google Shape;942;p108"/>
          <p:cNvPicPr preferRelativeResize="0"/>
          <p:nvPr/>
        </p:nvPicPr>
        <p:blipFill>
          <a:blip r:embed="rId3">
            <a:alphaModFix/>
          </a:blip>
          <a:stretch>
            <a:fillRect/>
          </a:stretch>
        </p:blipFill>
        <p:spPr>
          <a:xfrm>
            <a:off x="152400" y="1115650"/>
            <a:ext cx="8839200" cy="1089764"/>
          </a:xfrm>
          <a:prstGeom prst="rect">
            <a:avLst/>
          </a:prstGeom>
          <a:noFill/>
          <a:ln>
            <a:noFill/>
          </a:ln>
        </p:spPr>
      </p:pic>
      <p:pic>
        <p:nvPicPr>
          <p:cNvPr id="943" name="Google Shape;943;p108"/>
          <p:cNvPicPr preferRelativeResize="0"/>
          <p:nvPr/>
        </p:nvPicPr>
        <p:blipFill>
          <a:blip r:embed="rId4">
            <a:alphaModFix/>
          </a:blip>
          <a:stretch>
            <a:fillRect/>
          </a:stretch>
        </p:blipFill>
        <p:spPr>
          <a:xfrm>
            <a:off x="152400" y="2507969"/>
            <a:ext cx="8839198" cy="119919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109"/>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Performance evaluation</a:t>
            </a:r>
            <a:endParaRPr>
              <a:latin typeface="Twentieth Century"/>
              <a:ea typeface="Twentieth Century"/>
              <a:cs typeface="Twentieth Century"/>
              <a:sym typeface="Twentieth Century"/>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1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Accuracy Evaluation</a:t>
            </a:r>
            <a:endParaRPr>
              <a:latin typeface="Twentieth Century"/>
              <a:ea typeface="Twentieth Century"/>
              <a:cs typeface="Twentieth Century"/>
              <a:sym typeface="Twentieth Century"/>
            </a:endParaRPr>
          </a:p>
        </p:txBody>
      </p:sp>
      <p:sp>
        <p:nvSpPr>
          <p:cNvPr id="956" name="Google Shape;956;p110"/>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Recursive call.</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 loaded libraries.</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Multi-threaded program.</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Exception handling.</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Setjmp / longjmp.</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Signal handling.</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Attaching to a running process.</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Function call identification in Optimized binary.</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1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963" name="Google Shape;963;p111"/>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2021 March. 11</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1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Topics</a:t>
            </a:r>
            <a:endParaRPr>
              <a:latin typeface="Twentieth Century"/>
              <a:ea typeface="Twentieth Century"/>
              <a:cs typeface="Twentieth Century"/>
              <a:sym typeface="Twentieth Century"/>
            </a:endParaRPr>
          </a:p>
        </p:txBody>
      </p:sp>
      <p:sp>
        <p:nvSpPr>
          <p:cNvPr id="970" name="Google Shape;970;p112"/>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Calling Context Encoding</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Survey of HW Supported CFI</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Necessities, Design Choices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CFI Policies and its HW Supports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HW-Supported Runtime Calling Context ID Generation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Necessities,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Basic Idea and Components to extend</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Existing HW-Supported tracing techniques.</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Intel Processor Trace</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Arm CoreSight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WHISTLE</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Think about static analysis for long term goal.</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To show coverage, use SW profile with fuzzing/symbolic execution + HW profile only for profiling transient execution (selectively profile like important functions)</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False negative - prove it is not technique not possible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13"/>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Need for hardware-based CFI</a:t>
            </a:r>
            <a:endParaRPr>
              <a:latin typeface="Twentieth Century"/>
              <a:ea typeface="Twentieth Century"/>
              <a:cs typeface="Twentieth Century"/>
              <a:sym typeface="Twentieth Century"/>
            </a:endParaRPr>
          </a:p>
        </p:txBody>
      </p:sp>
      <p:sp>
        <p:nvSpPr>
          <p:cNvPr id="977" name="Google Shape;977;p113"/>
          <p:cNvSpPr txBox="1"/>
          <p:nvPr>
            <p:ph idx="1" type="body"/>
          </p:nvPr>
        </p:nvSpPr>
        <p:spPr>
          <a:xfrm>
            <a:off x="74350" y="734650"/>
            <a:ext cx="9018300" cy="12099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Runtime data can be compromised if they are stored in writable memory.</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Data can be tampered by attackers.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SW protection - memory segmentation, Software-based Fault Isolation(SFI).</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HW-based can provide strong isolation for runtime data structure and less overhead.</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978" name="Google Shape;978;p113"/>
          <p:cNvSpPr txBox="1"/>
          <p:nvPr/>
        </p:nvSpPr>
        <p:spPr>
          <a:xfrm>
            <a:off x="0" y="3989100"/>
            <a:ext cx="9018300" cy="723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700">
                <a:solidFill>
                  <a:schemeClr val="dk1"/>
                </a:solidFill>
                <a:latin typeface="Twentieth Century"/>
                <a:ea typeface="Twentieth Century"/>
                <a:cs typeface="Twentieth Century"/>
                <a:sym typeface="Twentieth Century"/>
              </a:rPr>
              <a:t>- </a:t>
            </a:r>
            <a:r>
              <a:rPr lang="en" sz="700">
                <a:solidFill>
                  <a:schemeClr val="dk1"/>
                </a:solidFill>
              </a:rPr>
              <a:t>Mauro Conti, Stephen Crane, Lucas Davi, Michael Franz, Per Larsen, Marco Negro, Christopher Liebchen, Mohaned Qunaibit, and Ahmad-Reza Sadeghi. 2015. Losing Control: On the Effectiveness of Control-Flow Integrity Under Stack Attacks. In Proceedings of the 22Nd ACM SIGSAC Conference on Computer and Communications Security (CCS ’15). ACM, New York, NY, USA, 952–963. </a:t>
            </a:r>
            <a:r>
              <a:rPr lang="en" sz="700" u="sng">
                <a:solidFill>
                  <a:schemeClr val="hlink"/>
                </a:solidFill>
                <a:hlinkClick r:id="rId3"/>
              </a:rPr>
              <a:t>https://doi.org/10.1145/2810103.2813671</a:t>
            </a:r>
            <a:endParaRPr sz="700">
              <a:solidFill>
                <a:srgbClr val="0055C9"/>
              </a:solidFill>
            </a:endParaRPr>
          </a:p>
          <a:p>
            <a:pPr indent="0" lvl="0" marL="0" rtl="0" algn="l">
              <a:lnSpc>
                <a:spcPct val="100000"/>
              </a:lnSpc>
              <a:spcBef>
                <a:spcPts val="0"/>
              </a:spcBef>
              <a:spcAft>
                <a:spcPts val="0"/>
              </a:spcAft>
              <a:buNone/>
            </a:pPr>
            <a:r>
              <a:rPr lang="en" sz="700">
                <a:solidFill>
                  <a:srgbClr val="0055C9"/>
                </a:solidFill>
              </a:rPr>
              <a:t>- </a:t>
            </a:r>
            <a:r>
              <a:rPr lang="en" sz="700">
                <a:solidFill>
                  <a:schemeClr val="dk1"/>
                </a:solidFill>
              </a:rPr>
              <a:t>Isaac Evans, Sam Fingeret, Julian Gonzalez, Ulziibayar Otgonbaatar, Tiffany Tang, Howard Shrobe, Stelios Sidiroglou-Douskos, Martin Rinard, and Hamed Okhravi. 2015. Missing the Point(Er): On the Effectiveness of Code Pointer Integrity. In Proceedings of the 2015 IEEE Symposium on Security and Privacy (SP ’15). IEEE Computer Society, Washington, DC, USA, 781–796. </a:t>
            </a:r>
            <a:r>
              <a:rPr lang="en" sz="700">
                <a:solidFill>
                  <a:srgbClr val="0055C9"/>
                </a:solidFill>
              </a:rPr>
              <a:t>https://doi.org/10.1109/SP.2015.53</a:t>
            </a:r>
            <a:endParaRPr sz="700">
              <a:solidFill>
                <a:srgbClr val="0055C9"/>
              </a:solidFill>
            </a:endParaRPr>
          </a:p>
          <a:p>
            <a:pPr indent="0" lvl="0" marL="0" rtl="0" algn="l">
              <a:lnSpc>
                <a:spcPct val="100000"/>
              </a:lnSpc>
              <a:spcBef>
                <a:spcPts val="0"/>
              </a:spcBef>
              <a:spcAft>
                <a:spcPts val="0"/>
              </a:spcAft>
              <a:buNone/>
            </a:pPr>
            <a:r>
              <a:t/>
            </a:r>
            <a:endParaRPr sz="700">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0" st="0"/>
                                            </p:txEl>
                                          </p:spTgt>
                                        </p:tgtEl>
                                        <p:attrNameLst>
                                          <p:attrName>style.visibility</p:attrName>
                                        </p:attrNameLst>
                                      </p:cBhvr>
                                      <p:to>
                                        <p:strVal val="visible"/>
                                      </p:to>
                                    </p:set>
                                    <p:animEffect filter="fade" transition="in">
                                      <p:cBhvr>
                                        <p:cTn dur="1000"/>
                                        <p:tgtEl>
                                          <p:spTgt spid="9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1" st="1"/>
                                            </p:txEl>
                                          </p:spTgt>
                                        </p:tgtEl>
                                        <p:attrNameLst>
                                          <p:attrName>style.visibility</p:attrName>
                                        </p:attrNameLst>
                                      </p:cBhvr>
                                      <p:to>
                                        <p:strVal val="visible"/>
                                      </p:to>
                                    </p:set>
                                    <p:animEffect filter="fade" transition="in">
                                      <p:cBhvr>
                                        <p:cTn dur="1000"/>
                                        <p:tgtEl>
                                          <p:spTgt spid="9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2" st="2"/>
                                            </p:txEl>
                                          </p:spTgt>
                                        </p:tgtEl>
                                        <p:attrNameLst>
                                          <p:attrName>style.visibility</p:attrName>
                                        </p:attrNameLst>
                                      </p:cBhvr>
                                      <p:to>
                                        <p:strVal val="visible"/>
                                      </p:to>
                                    </p:set>
                                    <p:animEffect filter="fade" transition="in">
                                      <p:cBhvr>
                                        <p:cTn dur="1000"/>
                                        <p:tgtEl>
                                          <p:spTgt spid="9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3" st="3"/>
                                            </p:txEl>
                                          </p:spTgt>
                                        </p:tgtEl>
                                        <p:attrNameLst>
                                          <p:attrName>style.visibility</p:attrName>
                                        </p:attrNameLst>
                                      </p:cBhvr>
                                      <p:to>
                                        <p:strVal val="visible"/>
                                      </p:to>
                                    </p:set>
                                    <p:animEffect filter="fade" transition="in">
                                      <p:cBhvr>
                                        <p:cTn dur="1000"/>
                                        <p:tgtEl>
                                          <p:spTgt spid="9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4" st="4"/>
                                            </p:txEl>
                                          </p:spTgt>
                                        </p:tgtEl>
                                        <p:attrNameLst>
                                          <p:attrName>style.visibility</p:attrName>
                                        </p:attrNameLst>
                                      </p:cBhvr>
                                      <p:to>
                                        <p:strVal val="visible"/>
                                      </p:to>
                                    </p:set>
                                    <p:animEffect filter="fade" transition="in">
                                      <p:cBhvr>
                                        <p:cTn dur="1000"/>
                                        <p:tgtEl>
                                          <p:spTgt spid="9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5" st="5"/>
                                            </p:txEl>
                                          </p:spTgt>
                                        </p:tgtEl>
                                        <p:attrNameLst>
                                          <p:attrName>style.visibility</p:attrName>
                                        </p:attrNameLst>
                                      </p:cBhvr>
                                      <p:to>
                                        <p:strVal val="visible"/>
                                      </p:to>
                                    </p:set>
                                    <p:animEffect filter="fade" transition="in">
                                      <p:cBhvr>
                                        <p:cTn dur="1000"/>
                                        <p:tgtEl>
                                          <p:spTgt spid="9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xEl>
                                              <p:pRg end="6" st="6"/>
                                            </p:txEl>
                                          </p:spTgt>
                                        </p:tgtEl>
                                        <p:attrNameLst>
                                          <p:attrName>style.visibility</p:attrName>
                                        </p:attrNameLst>
                                      </p:cBhvr>
                                      <p:to>
                                        <p:strVal val="visible"/>
                                      </p:to>
                                    </p:set>
                                    <p:animEffect filter="fade" transition="in">
                                      <p:cBhvr>
                                        <p:cTn dur="1000"/>
                                        <p:tgtEl>
                                          <p:spTgt spid="97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14"/>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Integrating into a processor’s pipeline stage.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Can access all the runtime information.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Requires modification of existing processor.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Debug Interface.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Connect off-chip microprocessor, ASIC, or FPGA to the external debug interface.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No changes in the processor.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limited to access all the required runtime information.</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985" name="Google Shape;985;p114"/>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Design options</a:t>
            </a:r>
            <a:endParaRPr>
              <a:latin typeface="Twentieth Century"/>
              <a:ea typeface="Twentieth Century"/>
              <a:cs typeface="Twentieth Century"/>
              <a:sym typeface="Twentieth Century"/>
            </a:endParaRPr>
          </a:p>
        </p:txBody>
      </p:sp>
      <p:pic>
        <p:nvPicPr>
          <p:cNvPr id="986" name="Google Shape;986;p114"/>
          <p:cNvPicPr preferRelativeResize="0"/>
          <p:nvPr/>
        </p:nvPicPr>
        <p:blipFill>
          <a:blip r:embed="rId3">
            <a:alphaModFix/>
          </a:blip>
          <a:stretch>
            <a:fillRect/>
          </a:stretch>
        </p:blipFill>
        <p:spPr>
          <a:xfrm>
            <a:off x="5168020" y="3434475"/>
            <a:ext cx="3535125" cy="1092975"/>
          </a:xfrm>
          <a:prstGeom prst="rect">
            <a:avLst/>
          </a:prstGeom>
          <a:noFill/>
          <a:ln>
            <a:noFill/>
          </a:ln>
        </p:spPr>
      </p:pic>
      <p:pic>
        <p:nvPicPr>
          <p:cNvPr id="987" name="Google Shape;987;p114"/>
          <p:cNvPicPr preferRelativeResize="0"/>
          <p:nvPr/>
        </p:nvPicPr>
        <p:blipFill>
          <a:blip r:embed="rId4">
            <a:alphaModFix/>
          </a:blip>
          <a:stretch>
            <a:fillRect/>
          </a:stretch>
        </p:blipFill>
        <p:spPr>
          <a:xfrm>
            <a:off x="1094050" y="2802447"/>
            <a:ext cx="3241200" cy="215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0" st="0"/>
                                            </p:txEl>
                                          </p:spTgt>
                                        </p:tgtEl>
                                        <p:attrNameLst>
                                          <p:attrName>style.visibility</p:attrName>
                                        </p:attrNameLst>
                                      </p:cBhvr>
                                      <p:to>
                                        <p:strVal val="visible"/>
                                      </p:to>
                                    </p:set>
                                    <p:animEffect filter="fade" transition="in">
                                      <p:cBhvr>
                                        <p:cTn dur="1000"/>
                                        <p:tgtEl>
                                          <p:spTgt spid="9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1" st="1"/>
                                            </p:txEl>
                                          </p:spTgt>
                                        </p:tgtEl>
                                        <p:attrNameLst>
                                          <p:attrName>style.visibility</p:attrName>
                                        </p:attrNameLst>
                                      </p:cBhvr>
                                      <p:to>
                                        <p:strVal val="visible"/>
                                      </p:to>
                                    </p:set>
                                    <p:animEffect filter="fade" transition="in">
                                      <p:cBhvr>
                                        <p:cTn dur="1000"/>
                                        <p:tgtEl>
                                          <p:spTgt spid="9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2" st="2"/>
                                            </p:txEl>
                                          </p:spTgt>
                                        </p:tgtEl>
                                        <p:attrNameLst>
                                          <p:attrName>style.visibility</p:attrName>
                                        </p:attrNameLst>
                                      </p:cBhvr>
                                      <p:to>
                                        <p:strVal val="visible"/>
                                      </p:to>
                                    </p:set>
                                    <p:animEffect filter="fade" transition="in">
                                      <p:cBhvr>
                                        <p:cTn dur="1000"/>
                                        <p:tgtEl>
                                          <p:spTgt spid="9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3" st="3"/>
                                            </p:txEl>
                                          </p:spTgt>
                                        </p:tgtEl>
                                        <p:attrNameLst>
                                          <p:attrName>style.visibility</p:attrName>
                                        </p:attrNameLst>
                                      </p:cBhvr>
                                      <p:to>
                                        <p:strVal val="visible"/>
                                      </p:to>
                                    </p:set>
                                    <p:animEffect filter="fade" transition="in">
                                      <p:cBhvr>
                                        <p:cTn dur="1000"/>
                                        <p:tgtEl>
                                          <p:spTgt spid="9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4" st="4"/>
                                            </p:txEl>
                                          </p:spTgt>
                                        </p:tgtEl>
                                        <p:attrNameLst>
                                          <p:attrName>style.visibility</p:attrName>
                                        </p:attrNameLst>
                                      </p:cBhvr>
                                      <p:to>
                                        <p:strVal val="visible"/>
                                      </p:to>
                                    </p:set>
                                    <p:animEffect filter="fade" transition="in">
                                      <p:cBhvr>
                                        <p:cTn dur="1000"/>
                                        <p:tgtEl>
                                          <p:spTgt spid="9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5" st="5"/>
                                            </p:txEl>
                                          </p:spTgt>
                                        </p:tgtEl>
                                        <p:attrNameLst>
                                          <p:attrName>style.visibility</p:attrName>
                                        </p:attrNameLst>
                                      </p:cBhvr>
                                      <p:to>
                                        <p:strVal val="visible"/>
                                      </p:to>
                                    </p:set>
                                    <p:animEffect filter="fade" transition="in">
                                      <p:cBhvr>
                                        <p:cTn dur="1000"/>
                                        <p:tgtEl>
                                          <p:spTgt spid="9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6" st="6"/>
                                            </p:txEl>
                                          </p:spTgt>
                                        </p:tgtEl>
                                        <p:attrNameLst>
                                          <p:attrName>style.visibility</p:attrName>
                                        </p:attrNameLst>
                                      </p:cBhvr>
                                      <p:to>
                                        <p:strVal val="visible"/>
                                      </p:to>
                                    </p:set>
                                    <p:animEffect filter="fade" transition="in">
                                      <p:cBhvr>
                                        <p:cTn dur="1000"/>
                                        <p:tgtEl>
                                          <p:spTgt spid="9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7" st="7"/>
                                            </p:txEl>
                                          </p:spTgt>
                                        </p:tgtEl>
                                        <p:attrNameLst>
                                          <p:attrName>style.visibility</p:attrName>
                                        </p:attrNameLst>
                                      </p:cBhvr>
                                      <p:to>
                                        <p:strVal val="visible"/>
                                      </p:to>
                                    </p:set>
                                    <p:animEffect filter="fade" transition="in">
                                      <p:cBhvr>
                                        <p:cTn dur="1000"/>
                                        <p:tgtEl>
                                          <p:spTgt spid="9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8" st="8"/>
                                            </p:txEl>
                                          </p:spTgt>
                                        </p:tgtEl>
                                        <p:attrNameLst>
                                          <p:attrName>style.visibility</p:attrName>
                                        </p:attrNameLst>
                                      </p:cBhvr>
                                      <p:to>
                                        <p:strVal val="visible"/>
                                      </p:to>
                                    </p:set>
                                    <p:animEffect filter="fade" transition="in">
                                      <p:cBhvr>
                                        <p:cTn dur="1000"/>
                                        <p:tgtEl>
                                          <p:spTgt spid="98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9" st="9"/>
                                            </p:txEl>
                                          </p:spTgt>
                                        </p:tgtEl>
                                        <p:attrNameLst>
                                          <p:attrName>style.visibility</p:attrName>
                                        </p:attrNameLst>
                                      </p:cBhvr>
                                      <p:to>
                                        <p:strVal val="visible"/>
                                      </p:to>
                                    </p:set>
                                    <p:animEffect filter="fade" transition="in">
                                      <p:cBhvr>
                                        <p:cTn dur="1000"/>
                                        <p:tgtEl>
                                          <p:spTgt spid="98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xEl>
                                              <p:pRg end="10" st="10"/>
                                            </p:txEl>
                                          </p:spTgt>
                                        </p:tgtEl>
                                        <p:attrNameLst>
                                          <p:attrName>style.visibility</p:attrName>
                                        </p:attrNameLst>
                                      </p:cBhvr>
                                      <p:to>
                                        <p:strVal val="visible"/>
                                      </p:to>
                                    </p:set>
                                    <p:animEffect filter="fade" transition="in">
                                      <p:cBhvr>
                                        <p:cTn dur="1000"/>
                                        <p:tgtEl>
                                          <p:spTgt spid="98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15"/>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Labels - indirect forward branch</a:t>
            </a:r>
            <a:endParaRPr>
              <a:latin typeface="Twentieth Century"/>
              <a:ea typeface="Twentieth Century"/>
              <a:cs typeface="Twentieth Century"/>
              <a:sym typeface="Twentieth Century"/>
            </a:endParaRPr>
          </a:p>
        </p:txBody>
      </p:sp>
      <p:sp>
        <p:nvSpPr>
          <p:cNvPr id="994" name="Google Shape;994;p115"/>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Correctness of the destination basic block(BB) is verified before every indirect branch using label ID.</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Insert ID at the beginning of each BB.</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Before each indirect branch, the destination BB’s ID is compared to a set of IDs storing possible destination BBs.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ISA extension.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SetLabel: assign a new ID to the label register before branch.</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CheckLabel: verify ID in label register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Limitations of static CFI</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Multiple different indirect branches target the many common BB.</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Context-sensitive CFI</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Last Branch Record(Intel LBR) - PathArmor</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Per-input - πCFI</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Path (Intel PT) - PittyPat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Stack (Return Addr) - CFI-LB</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Origin-Sensitive - OS-CFI</a:t>
            </a:r>
            <a:endParaRPr>
              <a:latin typeface="Twentieth Century"/>
              <a:ea typeface="Twentieth Century"/>
              <a:cs typeface="Twentieth Century"/>
              <a:sym typeface="Twentieth Century"/>
            </a:endParaRPr>
          </a:p>
        </p:txBody>
      </p:sp>
      <p:pic>
        <p:nvPicPr>
          <p:cNvPr id="995" name="Google Shape;995;p115"/>
          <p:cNvPicPr preferRelativeResize="0"/>
          <p:nvPr/>
        </p:nvPicPr>
        <p:blipFill>
          <a:blip r:embed="rId3">
            <a:alphaModFix/>
          </a:blip>
          <a:stretch>
            <a:fillRect/>
          </a:stretch>
        </p:blipFill>
        <p:spPr>
          <a:xfrm>
            <a:off x="5449340" y="734650"/>
            <a:ext cx="3545610" cy="3958250"/>
          </a:xfrm>
          <a:prstGeom prst="rect">
            <a:avLst/>
          </a:prstGeom>
          <a:noFill/>
          <a:ln>
            <a:noFill/>
          </a:ln>
        </p:spPr>
      </p:pic>
      <p:sp>
        <p:nvSpPr>
          <p:cNvPr id="996" name="Google Shape;996;p115"/>
          <p:cNvSpPr txBox="1"/>
          <p:nvPr/>
        </p:nvSpPr>
        <p:spPr>
          <a:xfrm>
            <a:off x="3884650" y="3923275"/>
            <a:ext cx="5208000" cy="1319700"/>
          </a:xfrm>
          <a:prstGeom prst="rect">
            <a:avLst/>
          </a:prstGeom>
          <a:noFill/>
          <a:ln>
            <a:noFill/>
          </a:ln>
        </p:spPr>
        <p:txBody>
          <a:bodyPr anchorCtr="0" anchor="ctr" bIns="91425" lIns="91425" spcFirstLastPara="1" rIns="91425" wrap="square" tIns="91425">
            <a:spAutoFit/>
          </a:bodyPr>
          <a:lstStyle/>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[CODASPY'16] HCFI: Hardware-enforced Control-Flow Integrity.</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[DAC’16] Strategy Without Tactics: Policy-agnostic Hardware- enhanced Control-flow Integrity.</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[USENIX’15] Control-Flow Bending: On the Effectiveness of Control-Flow Integrity.</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[CCS'15] Practical Context-Sensitive CFI (PathArmor)</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[CCS'15] Per-Input Control-Flow Integrity (πCFI)</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[USENIX'17] Efficient Protection of Path-Sensitive Control Security (Pitty Pat)</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[EuroS&amp;P’19] Adaptive Call-site Sensitive Control Flow Integrity (CFI-LB)</a:t>
            </a:r>
            <a:endParaRPr sz="700">
              <a:solidFill>
                <a:schemeClr val="dk1"/>
              </a:solidFill>
              <a:latin typeface="Twentieth Century"/>
              <a:ea typeface="Twentieth Century"/>
              <a:cs typeface="Twentieth Century"/>
              <a:sym typeface="Twentieth Century"/>
            </a:endParaRPr>
          </a:p>
          <a:p>
            <a:pPr indent="0" lvl="0" marL="0" marR="0" rtl="0" algn="l">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[USENIX'19] Origin-sensitive Control Flow Integrity</a:t>
            </a:r>
            <a:endParaRPr sz="700">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0" st="0"/>
                                            </p:txEl>
                                          </p:spTgt>
                                        </p:tgtEl>
                                        <p:attrNameLst>
                                          <p:attrName>style.visibility</p:attrName>
                                        </p:attrNameLst>
                                      </p:cBhvr>
                                      <p:to>
                                        <p:strVal val="visible"/>
                                      </p:to>
                                    </p:set>
                                    <p:animEffect filter="fade" transition="in">
                                      <p:cBhvr>
                                        <p:cTn dur="1000"/>
                                        <p:tgtEl>
                                          <p:spTgt spid="9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1" st="1"/>
                                            </p:txEl>
                                          </p:spTgt>
                                        </p:tgtEl>
                                        <p:attrNameLst>
                                          <p:attrName>style.visibility</p:attrName>
                                        </p:attrNameLst>
                                      </p:cBhvr>
                                      <p:to>
                                        <p:strVal val="visible"/>
                                      </p:to>
                                    </p:set>
                                    <p:animEffect filter="fade" transition="in">
                                      <p:cBhvr>
                                        <p:cTn dur="1000"/>
                                        <p:tgtEl>
                                          <p:spTgt spid="9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2" st="2"/>
                                            </p:txEl>
                                          </p:spTgt>
                                        </p:tgtEl>
                                        <p:attrNameLst>
                                          <p:attrName>style.visibility</p:attrName>
                                        </p:attrNameLst>
                                      </p:cBhvr>
                                      <p:to>
                                        <p:strVal val="visible"/>
                                      </p:to>
                                    </p:set>
                                    <p:animEffect filter="fade" transition="in">
                                      <p:cBhvr>
                                        <p:cTn dur="1000"/>
                                        <p:tgtEl>
                                          <p:spTgt spid="9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3" st="3"/>
                                            </p:txEl>
                                          </p:spTgt>
                                        </p:tgtEl>
                                        <p:attrNameLst>
                                          <p:attrName>style.visibility</p:attrName>
                                        </p:attrNameLst>
                                      </p:cBhvr>
                                      <p:to>
                                        <p:strVal val="visible"/>
                                      </p:to>
                                    </p:set>
                                    <p:animEffect filter="fade" transition="in">
                                      <p:cBhvr>
                                        <p:cTn dur="1000"/>
                                        <p:tgtEl>
                                          <p:spTgt spid="9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4" st="4"/>
                                            </p:txEl>
                                          </p:spTgt>
                                        </p:tgtEl>
                                        <p:attrNameLst>
                                          <p:attrName>style.visibility</p:attrName>
                                        </p:attrNameLst>
                                      </p:cBhvr>
                                      <p:to>
                                        <p:strVal val="visible"/>
                                      </p:to>
                                    </p:set>
                                    <p:animEffect filter="fade" transition="in">
                                      <p:cBhvr>
                                        <p:cTn dur="1000"/>
                                        <p:tgtEl>
                                          <p:spTgt spid="9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5" st="5"/>
                                            </p:txEl>
                                          </p:spTgt>
                                        </p:tgtEl>
                                        <p:attrNameLst>
                                          <p:attrName>style.visibility</p:attrName>
                                        </p:attrNameLst>
                                      </p:cBhvr>
                                      <p:to>
                                        <p:strVal val="visible"/>
                                      </p:to>
                                    </p:set>
                                    <p:animEffect filter="fade" transition="in">
                                      <p:cBhvr>
                                        <p:cTn dur="1000"/>
                                        <p:tgtEl>
                                          <p:spTgt spid="9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6" st="6"/>
                                            </p:txEl>
                                          </p:spTgt>
                                        </p:tgtEl>
                                        <p:attrNameLst>
                                          <p:attrName>style.visibility</p:attrName>
                                        </p:attrNameLst>
                                      </p:cBhvr>
                                      <p:to>
                                        <p:strVal val="visible"/>
                                      </p:to>
                                    </p:set>
                                    <p:animEffect filter="fade" transition="in">
                                      <p:cBhvr>
                                        <p:cTn dur="1000"/>
                                        <p:tgtEl>
                                          <p:spTgt spid="9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7" st="7"/>
                                            </p:txEl>
                                          </p:spTgt>
                                        </p:tgtEl>
                                        <p:attrNameLst>
                                          <p:attrName>style.visibility</p:attrName>
                                        </p:attrNameLst>
                                      </p:cBhvr>
                                      <p:to>
                                        <p:strVal val="visible"/>
                                      </p:to>
                                    </p:set>
                                    <p:animEffect filter="fade" transition="in">
                                      <p:cBhvr>
                                        <p:cTn dur="1000"/>
                                        <p:tgtEl>
                                          <p:spTgt spid="9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8" st="8"/>
                                            </p:txEl>
                                          </p:spTgt>
                                        </p:tgtEl>
                                        <p:attrNameLst>
                                          <p:attrName>style.visibility</p:attrName>
                                        </p:attrNameLst>
                                      </p:cBhvr>
                                      <p:to>
                                        <p:strVal val="visible"/>
                                      </p:to>
                                    </p:set>
                                    <p:animEffect filter="fade" transition="in">
                                      <p:cBhvr>
                                        <p:cTn dur="1000"/>
                                        <p:tgtEl>
                                          <p:spTgt spid="99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9" st="9"/>
                                            </p:txEl>
                                          </p:spTgt>
                                        </p:tgtEl>
                                        <p:attrNameLst>
                                          <p:attrName>style.visibility</p:attrName>
                                        </p:attrNameLst>
                                      </p:cBhvr>
                                      <p:to>
                                        <p:strVal val="visible"/>
                                      </p:to>
                                    </p:set>
                                    <p:animEffect filter="fade" transition="in">
                                      <p:cBhvr>
                                        <p:cTn dur="1000"/>
                                        <p:tgtEl>
                                          <p:spTgt spid="99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10" st="10"/>
                                            </p:txEl>
                                          </p:spTgt>
                                        </p:tgtEl>
                                        <p:attrNameLst>
                                          <p:attrName>style.visibility</p:attrName>
                                        </p:attrNameLst>
                                      </p:cBhvr>
                                      <p:to>
                                        <p:strVal val="visible"/>
                                      </p:to>
                                    </p:set>
                                    <p:animEffect filter="fade" transition="in">
                                      <p:cBhvr>
                                        <p:cTn dur="1000"/>
                                        <p:tgtEl>
                                          <p:spTgt spid="99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11" st="11"/>
                                            </p:txEl>
                                          </p:spTgt>
                                        </p:tgtEl>
                                        <p:attrNameLst>
                                          <p:attrName>style.visibility</p:attrName>
                                        </p:attrNameLst>
                                      </p:cBhvr>
                                      <p:to>
                                        <p:strVal val="visible"/>
                                      </p:to>
                                    </p:set>
                                    <p:animEffect filter="fade" transition="in">
                                      <p:cBhvr>
                                        <p:cTn dur="1000"/>
                                        <p:tgtEl>
                                          <p:spTgt spid="99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12" st="12"/>
                                            </p:txEl>
                                          </p:spTgt>
                                        </p:tgtEl>
                                        <p:attrNameLst>
                                          <p:attrName>style.visibility</p:attrName>
                                        </p:attrNameLst>
                                      </p:cBhvr>
                                      <p:to>
                                        <p:strVal val="visible"/>
                                      </p:to>
                                    </p:set>
                                    <p:animEffect filter="fade" transition="in">
                                      <p:cBhvr>
                                        <p:cTn dur="1000"/>
                                        <p:tgtEl>
                                          <p:spTgt spid="99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xEl>
                                              <p:pRg end="13" st="13"/>
                                            </p:txEl>
                                          </p:spTgt>
                                        </p:tgtEl>
                                        <p:attrNameLst>
                                          <p:attrName>style.visibility</p:attrName>
                                        </p:attrNameLst>
                                      </p:cBhvr>
                                      <p:to>
                                        <p:strVal val="visible"/>
                                      </p:to>
                                    </p:set>
                                    <p:animEffect filter="fade" transition="in">
                                      <p:cBhvr>
                                        <p:cTn dur="1000"/>
                                        <p:tgtEl>
                                          <p:spTgt spid="994">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16"/>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Shadow Call Stack (SCS) - backward edge</a:t>
            </a:r>
            <a:endParaRPr>
              <a:latin typeface="Twentieth Century"/>
              <a:ea typeface="Twentieth Century"/>
              <a:cs typeface="Twentieth Century"/>
              <a:sym typeface="Twentieth Century"/>
            </a:endParaRPr>
          </a:p>
        </p:txBody>
      </p:sp>
      <p:sp>
        <p:nvSpPr>
          <p:cNvPr id="1003" name="Google Shape;1003;p116"/>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Backward Edge(ret) hijacking cannot be protected by Label.</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pushes the return address on both the data and shadow stack.</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Ret pops the return address from both stacks and compares them.</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If not match, raise an exception.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Challenges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Buffer Size. (Maximum call depth of 238, 16~32 entries)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Protecting Runtime Data.</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Intel CET - special “SCS” pages (regular store inst. cannot modify).</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Rely on memory allocated in kernel space to ensure that SCS is separated from the processor’s memory space.</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Lee et al. - Protected by snooping traffic bet. Processor and memory controller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sz="1800">
                <a:latin typeface="Twentieth Century"/>
                <a:ea typeface="Twentieth Century"/>
                <a:cs typeface="Twentieth Century"/>
                <a:sym typeface="Twentieth Century"/>
              </a:rPr>
              <a:t>Multithreading environment</a:t>
            </a:r>
            <a:endParaRPr sz="1800">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sz="1500">
                <a:latin typeface="Twentieth Century"/>
                <a:ea typeface="Twentieth Century"/>
                <a:cs typeface="Twentieth Century"/>
                <a:sym typeface="Twentieth Century"/>
              </a:rPr>
              <a:t>Store PID in SCS entry (Davi et al).</a:t>
            </a:r>
            <a:endParaRPr sz="1500">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sz="1500">
                <a:latin typeface="Twentieth Century"/>
                <a:ea typeface="Twentieth Century"/>
                <a:cs typeface="Twentieth Century"/>
                <a:sym typeface="Twentieth Century"/>
              </a:rPr>
              <a:t>Relax CFI policy by allowing returns to target any address stored in SCS (Das et al).</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Practical Issues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Precise CFG, Unintended branches, Setjmp/Longjmp</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04" name="Google Shape;1004;p116"/>
          <p:cNvSpPr txBox="1"/>
          <p:nvPr/>
        </p:nvSpPr>
        <p:spPr>
          <a:xfrm>
            <a:off x="0" y="3989100"/>
            <a:ext cx="9018300" cy="1154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700">
                <a:solidFill>
                  <a:schemeClr val="dk1"/>
                </a:solidFill>
                <a:latin typeface="Twentieth Century"/>
                <a:ea typeface="Twentieth Century"/>
                <a:cs typeface="Twentieth Century"/>
                <a:sym typeface="Twentieth Century"/>
              </a:rPr>
              <a:t>- Yongje Lee, Jinyong Lee, Ingoo Heo, Dongil Hwang, and Yunheung Paek. 2017. Using CoreSight PTM to Integrate CRA Monitoring IPs in an ARM-Based SoC. ACM Trans. Des. Autom. Electron. Syst. 22, 3, Article 52 (April 2017), 25 pages. </a:t>
            </a:r>
            <a:r>
              <a:rPr lang="en" sz="700" u="sng">
                <a:solidFill>
                  <a:schemeClr val="hlink"/>
                </a:solidFill>
                <a:latin typeface="Twentieth Century"/>
                <a:ea typeface="Twentieth Century"/>
                <a:cs typeface="Twentieth Century"/>
                <a:sym typeface="Twentieth Century"/>
                <a:hlinkClick r:id="rId3"/>
              </a:rPr>
              <a:t>https://doi.org/10.1145/3035965</a:t>
            </a:r>
            <a:endParaRPr sz="700">
              <a:solidFill>
                <a:srgbClr val="0055C9"/>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None/>
            </a:pPr>
            <a:r>
              <a:rPr lang="en" sz="700">
                <a:solidFill>
                  <a:srgbClr val="0055C9"/>
                </a:solidFill>
                <a:latin typeface="Twentieth Century"/>
                <a:ea typeface="Twentieth Century"/>
                <a:cs typeface="Twentieth Century"/>
                <a:sym typeface="Twentieth Century"/>
              </a:rPr>
              <a:t>- Intel CET - https://software.intel.com/sites/default/files/managed/4d/2a/ control-flow-enforcement-technology-preview.pdf</a:t>
            </a:r>
            <a:r>
              <a:rPr lang="en" sz="700">
                <a:solidFill>
                  <a:schemeClr val="dk1"/>
                </a:solidFill>
                <a:latin typeface="Twentieth Century"/>
                <a:ea typeface="Twentieth Century"/>
                <a:cs typeface="Twentieth Century"/>
                <a:sym typeface="Twentieth Century"/>
              </a:rPr>
              <a:t>. </a:t>
            </a:r>
            <a:endParaRPr sz="700">
              <a:solidFill>
                <a:schemeClr val="dk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None/>
            </a:pPr>
            <a:r>
              <a:rPr lang="en" sz="700">
                <a:solidFill>
                  <a:schemeClr val="dk1"/>
                </a:solidFill>
                <a:latin typeface="Twentieth Century"/>
                <a:ea typeface="Twentieth Century"/>
                <a:cs typeface="Twentieth Century"/>
                <a:sym typeface="Twentieth Century"/>
              </a:rPr>
              <a:t>- Hilmi Ozdoganoglu, T. N. Vijaykumar, Carla E. Brodley, Benjamin A. Kuperman, and Ankit Jalote. 2006. SmashGuard: A Hardware Solution to Prevent Security Attacks on the Function Return Address. IEEE Trans. Comput. 55, 10 (Oct. 2006), 1271–1285. </a:t>
            </a:r>
            <a:r>
              <a:rPr lang="en" sz="700" u="sng">
                <a:solidFill>
                  <a:schemeClr val="hlink"/>
                </a:solidFill>
                <a:latin typeface="Twentieth Century"/>
                <a:ea typeface="Twentieth Century"/>
                <a:cs typeface="Twentieth Century"/>
                <a:sym typeface="Twentieth Century"/>
                <a:hlinkClick r:id="rId4"/>
              </a:rPr>
              <a:t>https://doi.org/10.1109/TC.2006.166</a:t>
            </a:r>
            <a:endParaRPr sz="700">
              <a:solidFill>
                <a:schemeClr val="dk1"/>
              </a:solidFill>
            </a:endParaRPr>
          </a:p>
          <a:p>
            <a:pPr indent="0" lvl="0" marL="0" rtl="0" algn="l">
              <a:lnSpc>
                <a:spcPct val="100000"/>
              </a:lnSpc>
              <a:spcBef>
                <a:spcPts val="0"/>
              </a:spcBef>
              <a:spcAft>
                <a:spcPts val="0"/>
              </a:spcAft>
              <a:buNone/>
            </a:pPr>
            <a:r>
              <a:rPr lang="en" sz="700">
                <a:solidFill>
                  <a:schemeClr val="dk1"/>
                </a:solidFill>
              </a:rPr>
              <a:t>- Lucas Davi, Matthias Hanreich, Debayan Paul, Ahmad-Reza Sadeghi, Patrick Koeberl, Dean Sullivan, Orlando Arias, and Yier Jin. 2015. HAFIX: Hardware-assisted Flow Integrity Extension. In Proceedings of the 52Nd Annual Design Automation Conference (DAC ’15). ACM, New York, NY, USA, 74:1–74:6.</a:t>
            </a:r>
            <a:endParaRPr sz="700">
              <a:solidFill>
                <a:schemeClr val="dk1"/>
              </a:solidFill>
            </a:endParaRPr>
          </a:p>
          <a:p>
            <a:pPr indent="0" lvl="0" marL="0" rtl="0" algn="l">
              <a:lnSpc>
                <a:spcPct val="100000"/>
              </a:lnSpc>
              <a:spcBef>
                <a:spcPts val="0"/>
              </a:spcBef>
              <a:spcAft>
                <a:spcPts val="0"/>
              </a:spcAft>
              <a:buNone/>
            </a:pPr>
            <a:r>
              <a:rPr lang="en" sz="700">
                <a:solidFill>
                  <a:schemeClr val="dk1"/>
                </a:solidFill>
              </a:rPr>
              <a:t>- Sanjeev Das, Wei Zhang, and Yang Liu. 2016. A Fine-Grained Control Flow Integrity Approach Against Runtime Memory Attacks for Embedded Systems. IEEE Trans. Very Large Scale Integr. Syst. 24, 11 (Nov. 2016), 3193–3207. </a:t>
            </a:r>
            <a:r>
              <a:rPr lang="en" sz="700">
                <a:solidFill>
                  <a:srgbClr val="0055C9"/>
                </a:solidFill>
              </a:rPr>
              <a:t>https://doi.org/10.1109/TVLSI.2016.2548561</a:t>
            </a:r>
            <a:endParaRPr sz="700">
              <a:solidFill>
                <a:srgbClr val="0055C9"/>
              </a:solidFill>
              <a:latin typeface="Twentieth Century"/>
              <a:ea typeface="Twentieth Century"/>
              <a:cs typeface="Twentieth Century"/>
              <a:sym typeface="Twentieth Century"/>
            </a:endParaRPr>
          </a:p>
        </p:txBody>
      </p:sp>
      <p:pic>
        <p:nvPicPr>
          <p:cNvPr id="1005" name="Google Shape;1005;p116"/>
          <p:cNvPicPr preferRelativeResize="0"/>
          <p:nvPr/>
        </p:nvPicPr>
        <p:blipFill>
          <a:blip r:embed="rId5">
            <a:alphaModFix/>
          </a:blip>
          <a:stretch>
            <a:fillRect/>
          </a:stretch>
        </p:blipFill>
        <p:spPr>
          <a:xfrm>
            <a:off x="9182592" y="875992"/>
            <a:ext cx="2890850" cy="1157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0" st="0"/>
                                            </p:txEl>
                                          </p:spTgt>
                                        </p:tgtEl>
                                        <p:attrNameLst>
                                          <p:attrName>style.visibility</p:attrName>
                                        </p:attrNameLst>
                                      </p:cBhvr>
                                      <p:to>
                                        <p:strVal val="visible"/>
                                      </p:to>
                                    </p:set>
                                    <p:animEffect filter="fade" transition="in">
                                      <p:cBhvr>
                                        <p:cTn dur="1000"/>
                                        <p:tgtEl>
                                          <p:spTgt spid="10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 st="1"/>
                                            </p:txEl>
                                          </p:spTgt>
                                        </p:tgtEl>
                                        <p:attrNameLst>
                                          <p:attrName>style.visibility</p:attrName>
                                        </p:attrNameLst>
                                      </p:cBhvr>
                                      <p:to>
                                        <p:strVal val="visible"/>
                                      </p:to>
                                    </p:set>
                                    <p:animEffect filter="fade" transition="in">
                                      <p:cBhvr>
                                        <p:cTn dur="1000"/>
                                        <p:tgtEl>
                                          <p:spTgt spid="10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2" st="2"/>
                                            </p:txEl>
                                          </p:spTgt>
                                        </p:tgtEl>
                                        <p:attrNameLst>
                                          <p:attrName>style.visibility</p:attrName>
                                        </p:attrNameLst>
                                      </p:cBhvr>
                                      <p:to>
                                        <p:strVal val="visible"/>
                                      </p:to>
                                    </p:set>
                                    <p:animEffect filter="fade" transition="in">
                                      <p:cBhvr>
                                        <p:cTn dur="1000"/>
                                        <p:tgtEl>
                                          <p:spTgt spid="10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3" st="3"/>
                                            </p:txEl>
                                          </p:spTgt>
                                        </p:tgtEl>
                                        <p:attrNameLst>
                                          <p:attrName>style.visibility</p:attrName>
                                        </p:attrNameLst>
                                      </p:cBhvr>
                                      <p:to>
                                        <p:strVal val="visible"/>
                                      </p:to>
                                    </p:set>
                                    <p:animEffect filter="fade" transition="in">
                                      <p:cBhvr>
                                        <p:cTn dur="1000"/>
                                        <p:tgtEl>
                                          <p:spTgt spid="10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4" st="4"/>
                                            </p:txEl>
                                          </p:spTgt>
                                        </p:tgtEl>
                                        <p:attrNameLst>
                                          <p:attrName>style.visibility</p:attrName>
                                        </p:attrNameLst>
                                      </p:cBhvr>
                                      <p:to>
                                        <p:strVal val="visible"/>
                                      </p:to>
                                    </p:set>
                                    <p:animEffect filter="fade" transition="in">
                                      <p:cBhvr>
                                        <p:cTn dur="1000"/>
                                        <p:tgtEl>
                                          <p:spTgt spid="10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5" st="5"/>
                                            </p:txEl>
                                          </p:spTgt>
                                        </p:tgtEl>
                                        <p:attrNameLst>
                                          <p:attrName>style.visibility</p:attrName>
                                        </p:attrNameLst>
                                      </p:cBhvr>
                                      <p:to>
                                        <p:strVal val="visible"/>
                                      </p:to>
                                    </p:set>
                                    <p:animEffect filter="fade" transition="in">
                                      <p:cBhvr>
                                        <p:cTn dur="1000"/>
                                        <p:tgtEl>
                                          <p:spTgt spid="10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6" st="6"/>
                                            </p:txEl>
                                          </p:spTgt>
                                        </p:tgtEl>
                                        <p:attrNameLst>
                                          <p:attrName>style.visibility</p:attrName>
                                        </p:attrNameLst>
                                      </p:cBhvr>
                                      <p:to>
                                        <p:strVal val="visible"/>
                                      </p:to>
                                    </p:set>
                                    <p:animEffect filter="fade" transition="in">
                                      <p:cBhvr>
                                        <p:cTn dur="1000"/>
                                        <p:tgtEl>
                                          <p:spTgt spid="10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7" st="7"/>
                                            </p:txEl>
                                          </p:spTgt>
                                        </p:tgtEl>
                                        <p:attrNameLst>
                                          <p:attrName>style.visibility</p:attrName>
                                        </p:attrNameLst>
                                      </p:cBhvr>
                                      <p:to>
                                        <p:strVal val="visible"/>
                                      </p:to>
                                    </p:set>
                                    <p:animEffect filter="fade" transition="in">
                                      <p:cBhvr>
                                        <p:cTn dur="1000"/>
                                        <p:tgtEl>
                                          <p:spTgt spid="10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8" st="8"/>
                                            </p:txEl>
                                          </p:spTgt>
                                        </p:tgtEl>
                                        <p:attrNameLst>
                                          <p:attrName>style.visibility</p:attrName>
                                        </p:attrNameLst>
                                      </p:cBhvr>
                                      <p:to>
                                        <p:strVal val="visible"/>
                                      </p:to>
                                    </p:set>
                                    <p:animEffect filter="fade" transition="in">
                                      <p:cBhvr>
                                        <p:cTn dur="1000"/>
                                        <p:tgtEl>
                                          <p:spTgt spid="10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9" st="9"/>
                                            </p:txEl>
                                          </p:spTgt>
                                        </p:tgtEl>
                                        <p:attrNameLst>
                                          <p:attrName>style.visibility</p:attrName>
                                        </p:attrNameLst>
                                      </p:cBhvr>
                                      <p:to>
                                        <p:strVal val="visible"/>
                                      </p:to>
                                    </p:set>
                                    <p:animEffect filter="fade" transition="in">
                                      <p:cBhvr>
                                        <p:cTn dur="1000"/>
                                        <p:tgtEl>
                                          <p:spTgt spid="100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0" st="10"/>
                                            </p:txEl>
                                          </p:spTgt>
                                        </p:tgtEl>
                                        <p:attrNameLst>
                                          <p:attrName>style.visibility</p:attrName>
                                        </p:attrNameLst>
                                      </p:cBhvr>
                                      <p:to>
                                        <p:strVal val="visible"/>
                                      </p:to>
                                    </p:set>
                                    <p:animEffect filter="fade" transition="in">
                                      <p:cBhvr>
                                        <p:cTn dur="1000"/>
                                        <p:tgtEl>
                                          <p:spTgt spid="100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1" st="11"/>
                                            </p:txEl>
                                          </p:spTgt>
                                        </p:tgtEl>
                                        <p:attrNameLst>
                                          <p:attrName>style.visibility</p:attrName>
                                        </p:attrNameLst>
                                      </p:cBhvr>
                                      <p:to>
                                        <p:strVal val="visible"/>
                                      </p:to>
                                    </p:set>
                                    <p:animEffect filter="fade" transition="in">
                                      <p:cBhvr>
                                        <p:cTn dur="1000"/>
                                        <p:tgtEl>
                                          <p:spTgt spid="100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2" st="12"/>
                                            </p:txEl>
                                          </p:spTgt>
                                        </p:tgtEl>
                                        <p:attrNameLst>
                                          <p:attrName>style.visibility</p:attrName>
                                        </p:attrNameLst>
                                      </p:cBhvr>
                                      <p:to>
                                        <p:strVal val="visible"/>
                                      </p:to>
                                    </p:set>
                                    <p:animEffect filter="fade" transition="in">
                                      <p:cBhvr>
                                        <p:cTn dur="1000"/>
                                        <p:tgtEl>
                                          <p:spTgt spid="100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3" st="13"/>
                                            </p:txEl>
                                          </p:spTgt>
                                        </p:tgtEl>
                                        <p:attrNameLst>
                                          <p:attrName>style.visibility</p:attrName>
                                        </p:attrNameLst>
                                      </p:cBhvr>
                                      <p:to>
                                        <p:strVal val="visible"/>
                                      </p:to>
                                    </p:set>
                                    <p:animEffect filter="fade" transition="in">
                                      <p:cBhvr>
                                        <p:cTn dur="1000"/>
                                        <p:tgtEl>
                                          <p:spTgt spid="100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4" st="14"/>
                                            </p:txEl>
                                          </p:spTgt>
                                        </p:tgtEl>
                                        <p:attrNameLst>
                                          <p:attrName>style.visibility</p:attrName>
                                        </p:attrNameLst>
                                      </p:cBhvr>
                                      <p:to>
                                        <p:strVal val="visible"/>
                                      </p:to>
                                    </p:set>
                                    <p:animEffect filter="fade" transition="in">
                                      <p:cBhvr>
                                        <p:cTn dur="1000"/>
                                        <p:tgtEl>
                                          <p:spTgt spid="100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5" st="15"/>
                                            </p:txEl>
                                          </p:spTgt>
                                        </p:tgtEl>
                                        <p:attrNameLst>
                                          <p:attrName>style.visibility</p:attrName>
                                        </p:attrNameLst>
                                      </p:cBhvr>
                                      <p:to>
                                        <p:strVal val="visible"/>
                                      </p:to>
                                    </p:set>
                                    <p:animEffect filter="fade" transition="in">
                                      <p:cBhvr>
                                        <p:cTn dur="1000"/>
                                        <p:tgtEl>
                                          <p:spTgt spid="100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6" st="16"/>
                                            </p:txEl>
                                          </p:spTgt>
                                        </p:tgtEl>
                                        <p:attrNameLst>
                                          <p:attrName>style.visibility</p:attrName>
                                        </p:attrNameLst>
                                      </p:cBhvr>
                                      <p:to>
                                        <p:strVal val="visible"/>
                                      </p:to>
                                    </p:set>
                                    <p:animEffect filter="fade" transition="in">
                                      <p:cBhvr>
                                        <p:cTn dur="1000"/>
                                        <p:tgtEl>
                                          <p:spTgt spid="1003">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xEl>
                                              <p:pRg end="17" st="17"/>
                                            </p:txEl>
                                          </p:spTgt>
                                        </p:tgtEl>
                                        <p:attrNameLst>
                                          <p:attrName>style.visibility</p:attrName>
                                        </p:attrNameLst>
                                      </p:cBhvr>
                                      <p:to>
                                        <p:strVal val="visible"/>
                                      </p:to>
                                    </p:set>
                                    <p:animEffect filter="fade" transition="in">
                                      <p:cBhvr>
                                        <p:cTn dur="1000"/>
                                        <p:tgtEl>
                                          <p:spTgt spid="1003">
                                            <p:txEl>
                                              <p:pRg end="17" st="1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17"/>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CFIBR: activates the function by loading the label to dedicated memory.</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CFIDEL: deactivates the function by remove the label.</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CFIRET: checks if a label is active.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assigns label to each function.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forces CFIBR to be the first instruction of each function.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forces CFIDEL to be executed just before return.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Integrated to the processor pipeline stages.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CFI Control logics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the label state memory (16384x1 buffer)</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12" name="Google Shape;1012;p117"/>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Shadow Stack alternative - backward edge</a:t>
            </a:r>
            <a:endParaRPr>
              <a:latin typeface="Twentieth Century"/>
              <a:ea typeface="Twentieth Century"/>
              <a:cs typeface="Twentieth Century"/>
              <a:sym typeface="Twentieth Century"/>
            </a:endParaRPr>
          </a:p>
        </p:txBody>
      </p:sp>
      <p:sp>
        <p:nvSpPr>
          <p:cNvPr id="1013" name="Google Shape;1013;p117"/>
          <p:cNvSpPr txBox="1"/>
          <p:nvPr/>
        </p:nvSpPr>
        <p:spPr>
          <a:xfrm>
            <a:off x="107225" y="4594425"/>
            <a:ext cx="9018300" cy="41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700">
                <a:solidFill>
                  <a:schemeClr val="dk1"/>
                </a:solidFill>
              </a:rPr>
              <a:t>Lucas Davi, Matthias Hanreich, Debayan Paul, Ahmad-Reza Sadeghi, Patrick Koeberl, Dean Sullivan, Orlando Arias, and Yier Jin. 2015. HAFIX: Hardware-assisted Flow Integrity Extension. In Proceedings of the 52Nd Annual Design Automation Conference (DAC ’15). ACM, New York, NY, USA, 74:1–74:6.</a:t>
            </a:r>
            <a:endParaRPr sz="700">
              <a:solidFill>
                <a:schemeClr val="dk1"/>
              </a:solidFill>
            </a:endParaRPr>
          </a:p>
        </p:txBody>
      </p:sp>
      <p:pic>
        <p:nvPicPr>
          <p:cNvPr id="1014" name="Google Shape;1014;p117"/>
          <p:cNvPicPr preferRelativeResize="0"/>
          <p:nvPr/>
        </p:nvPicPr>
        <p:blipFill>
          <a:blip r:embed="rId3">
            <a:alphaModFix/>
          </a:blip>
          <a:stretch>
            <a:fillRect/>
          </a:stretch>
        </p:blipFill>
        <p:spPr>
          <a:xfrm>
            <a:off x="5096867" y="2796617"/>
            <a:ext cx="2519800" cy="1834300"/>
          </a:xfrm>
          <a:prstGeom prst="rect">
            <a:avLst/>
          </a:prstGeom>
          <a:noFill/>
          <a:ln>
            <a:noFill/>
          </a:ln>
        </p:spPr>
      </p:pic>
      <p:pic>
        <p:nvPicPr>
          <p:cNvPr id="1015" name="Google Shape;1015;p117"/>
          <p:cNvPicPr preferRelativeResize="0"/>
          <p:nvPr/>
        </p:nvPicPr>
        <p:blipFill>
          <a:blip r:embed="rId4">
            <a:alphaModFix/>
          </a:blip>
          <a:stretch>
            <a:fillRect/>
          </a:stretch>
        </p:blipFill>
        <p:spPr>
          <a:xfrm>
            <a:off x="7472498" y="1210812"/>
            <a:ext cx="1764175" cy="3468551"/>
          </a:xfrm>
          <a:prstGeom prst="rect">
            <a:avLst/>
          </a:prstGeom>
          <a:noFill/>
          <a:ln>
            <a:noFill/>
          </a:ln>
        </p:spPr>
      </p:pic>
      <p:pic>
        <p:nvPicPr>
          <p:cNvPr id="1016" name="Google Shape;1016;p117"/>
          <p:cNvPicPr preferRelativeResize="0"/>
          <p:nvPr/>
        </p:nvPicPr>
        <p:blipFill>
          <a:blip r:embed="rId5">
            <a:alphaModFix/>
          </a:blip>
          <a:stretch>
            <a:fillRect/>
          </a:stretch>
        </p:blipFill>
        <p:spPr>
          <a:xfrm>
            <a:off x="291100" y="3669369"/>
            <a:ext cx="3581425" cy="925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0" st="0"/>
                                            </p:txEl>
                                          </p:spTgt>
                                        </p:tgtEl>
                                        <p:attrNameLst>
                                          <p:attrName>style.visibility</p:attrName>
                                        </p:attrNameLst>
                                      </p:cBhvr>
                                      <p:to>
                                        <p:strVal val="visible"/>
                                      </p:to>
                                    </p:set>
                                    <p:animEffect filter="fade" transition="in">
                                      <p:cBhvr>
                                        <p:cTn dur="1000"/>
                                        <p:tgtEl>
                                          <p:spTgt spid="10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1" st="1"/>
                                            </p:txEl>
                                          </p:spTgt>
                                        </p:tgtEl>
                                        <p:attrNameLst>
                                          <p:attrName>style.visibility</p:attrName>
                                        </p:attrNameLst>
                                      </p:cBhvr>
                                      <p:to>
                                        <p:strVal val="visible"/>
                                      </p:to>
                                    </p:set>
                                    <p:animEffect filter="fade" transition="in">
                                      <p:cBhvr>
                                        <p:cTn dur="1000"/>
                                        <p:tgtEl>
                                          <p:spTgt spid="10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2" st="2"/>
                                            </p:txEl>
                                          </p:spTgt>
                                        </p:tgtEl>
                                        <p:attrNameLst>
                                          <p:attrName>style.visibility</p:attrName>
                                        </p:attrNameLst>
                                      </p:cBhvr>
                                      <p:to>
                                        <p:strVal val="visible"/>
                                      </p:to>
                                    </p:set>
                                    <p:animEffect filter="fade" transition="in">
                                      <p:cBhvr>
                                        <p:cTn dur="1000"/>
                                        <p:tgtEl>
                                          <p:spTgt spid="10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3" st="3"/>
                                            </p:txEl>
                                          </p:spTgt>
                                        </p:tgtEl>
                                        <p:attrNameLst>
                                          <p:attrName>style.visibility</p:attrName>
                                        </p:attrNameLst>
                                      </p:cBhvr>
                                      <p:to>
                                        <p:strVal val="visible"/>
                                      </p:to>
                                    </p:set>
                                    <p:animEffect filter="fade" transition="in">
                                      <p:cBhvr>
                                        <p:cTn dur="1000"/>
                                        <p:tgtEl>
                                          <p:spTgt spid="10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4" st="4"/>
                                            </p:txEl>
                                          </p:spTgt>
                                        </p:tgtEl>
                                        <p:attrNameLst>
                                          <p:attrName>style.visibility</p:attrName>
                                        </p:attrNameLst>
                                      </p:cBhvr>
                                      <p:to>
                                        <p:strVal val="visible"/>
                                      </p:to>
                                    </p:set>
                                    <p:animEffect filter="fade" transition="in">
                                      <p:cBhvr>
                                        <p:cTn dur="1000"/>
                                        <p:tgtEl>
                                          <p:spTgt spid="10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5" st="5"/>
                                            </p:txEl>
                                          </p:spTgt>
                                        </p:tgtEl>
                                        <p:attrNameLst>
                                          <p:attrName>style.visibility</p:attrName>
                                        </p:attrNameLst>
                                      </p:cBhvr>
                                      <p:to>
                                        <p:strVal val="visible"/>
                                      </p:to>
                                    </p:set>
                                    <p:animEffect filter="fade" transition="in">
                                      <p:cBhvr>
                                        <p:cTn dur="1000"/>
                                        <p:tgtEl>
                                          <p:spTgt spid="10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6" st="6"/>
                                            </p:txEl>
                                          </p:spTgt>
                                        </p:tgtEl>
                                        <p:attrNameLst>
                                          <p:attrName>style.visibility</p:attrName>
                                        </p:attrNameLst>
                                      </p:cBhvr>
                                      <p:to>
                                        <p:strVal val="visible"/>
                                      </p:to>
                                    </p:set>
                                    <p:animEffect filter="fade" transition="in">
                                      <p:cBhvr>
                                        <p:cTn dur="1000"/>
                                        <p:tgtEl>
                                          <p:spTgt spid="101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7" st="7"/>
                                            </p:txEl>
                                          </p:spTgt>
                                        </p:tgtEl>
                                        <p:attrNameLst>
                                          <p:attrName>style.visibility</p:attrName>
                                        </p:attrNameLst>
                                      </p:cBhvr>
                                      <p:to>
                                        <p:strVal val="visible"/>
                                      </p:to>
                                    </p:set>
                                    <p:animEffect filter="fade" transition="in">
                                      <p:cBhvr>
                                        <p:cTn dur="1000"/>
                                        <p:tgtEl>
                                          <p:spTgt spid="101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8" st="8"/>
                                            </p:txEl>
                                          </p:spTgt>
                                        </p:tgtEl>
                                        <p:attrNameLst>
                                          <p:attrName>style.visibility</p:attrName>
                                        </p:attrNameLst>
                                      </p:cBhvr>
                                      <p:to>
                                        <p:strVal val="visible"/>
                                      </p:to>
                                    </p:set>
                                    <p:animEffect filter="fade" transition="in">
                                      <p:cBhvr>
                                        <p:cTn dur="1000"/>
                                        <p:tgtEl>
                                          <p:spTgt spid="101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9" st="9"/>
                                            </p:txEl>
                                          </p:spTgt>
                                        </p:tgtEl>
                                        <p:attrNameLst>
                                          <p:attrName>style.visibility</p:attrName>
                                        </p:attrNameLst>
                                      </p:cBhvr>
                                      <p:to>
                                        <p:strVal val="visible"/>
                                      </p:to>
                                    </p:set>
                                    <p:animEffect filter="fade" transition="in">
                                      <p:cBhvr>
                                        <p:cTn dur="1000"/>
                                        <p:tgtEl>
                                          <p:spTgt spid="101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10" st="10"/>
                                            </p:txEl>
                                          </p:spTgt>
                                        </p:tgtEl>
                                        <p:attrNameLst>
                                          <p:attrName>style.visibility</p:attrName>
                                        </p:attrNameLst>
                                      </p:cBhvr>
                                      <p:to>
                                        <p:strVal val="visible"/>
                                      </p:to>
                                    </p:set>
                                    <p:animEffect filter="fade" transition="in">
                                      <p:cBhvr>
                                        <p:cTn dur="1000"/>
                                        <p:tgtEl>
                                          <p:spTgt spid="101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11" st="11"/>
                                            </p:txEl>
                                          </p:spTgt>
                                        </p:tgtEl>
                                        <p:attrNameLst>
                                          <p:attrName>style.visibility</p:attrName>
                                        </p:attrNameLst>
                                      </p:cBhvr>
                                      <p:to>
                                        <p:strVal val="visible"/>
                                      </p:to>
                                    </p:set>
                                    <p:animEffect filter="fade" transition="in">
                                      <p:cBhvr>
                                        <p:cTn dur="1000"/>
                                        <p:tgtEl>
                                          <p:spTgt spid="101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12" st="12"/>
                                            </p:txEl>
                                          </p:spTgt>
                                        </p:tgtEl>
                                        <p:attrNameLst>
                                          <p:attrName>style.visibility</p:attrName>
                                        </p:attrNameLst>
                                      </p:cBhvr>
                                      <p:to>
                                        <p:strVal val="visible"/>
                                      </p:to>
                                    </p:set>
                                    <p:animEffect filter="fade" transition="in">
                                      <p:cBhvr>
                                        <p:cTn dur="1000"/>
                                        <p:tgtEl>
                                          <p:spTgt spid="1011">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18"/>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Table - allowed branches (source addr, dest addr)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Single entry for each direct branch, Multiple entries for each indirect branch</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Fine-grained, static CFI</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Large storage requirement, performance penalty</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Finite State Machine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Interprocedural CFI (Function calls)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Interprocedural CFI (basic blocks)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Detect Invalid system call sequence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Heuristics - detects CRA signatures from the branching behavior</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a:t>
            </a:r>
            <a:r>
              <a:rPr lang="en" sz="1800">
                <a:latin typeface="Twentieth Century"/>
                <a:ea typeface="Twentieth Century"/>
                <a:cs typeface="Twentieth Century"/>
                <a:sym typeface="Twentieth Century"/>
              </a:rPr>
              <a:t>onitoring graph(MG)</a:t>
            </a:r>
            <a:endParaRPr sz="1800">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The expected program behavior, called a monitoring graph, is generated through analysis and simulation, and is then stored in memory. At runtime, the derived stream is compared to the monitoring graph.</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Patterns of address, opcode, load, store, control flow, hash of opcde, and PC.</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23" name="Google Shape;1023;p118"/>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Other CFI Approaches</a:t>
            </a:r>
            <a:endParaRPr>
              <a:latin typeface="Twentieth Century"/>
              <a:ea typeface="Twentieth Century"/>
              <a:cs typeface="Twentieth Century"/>
              <a:sym typeface="Twentieth Century"/>
            </a:endParaRPr>
          </a:p>
        </p:txBody>
      </p:sp>
      <p:sp>
        <p:nvSpPr>
          <p:cNvPr id="1024" name="Google Shape;1024;p118"/>
          <p:cNvSpPr txBox="1"/>
          <p:nvPr/>
        </p:nvSpPr>
        <p:spPr>
          <a:xfrm>
            <a:off x="107225" y="4289625"/>
            <a:ext cx="9018300" cy="103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700">
                <a:solidFill>
                  <a:schemeClr val="dk1"/>
                </a:solidFill>
              </a:rPr>
              <a:t>- Z. Guo, R. Bhakta, and I. G. Harris. 2014. Control-flow checking for intrusion detection via a real-time debug interface. In 2014 International Conference on Smart Computing Workshops. 87–92.</a:t>
            </a:r>
            <a:endParaRPr sz="700">
              <a:solidFill>
                <a:schemeClr val="dk1"/>
              </a:solidFill>
            </a:endParaRPr>
          </a:p>
          <a:p>
            <a:pPr indent="0" lvl="0" marL="0" rtl="0" algn="l">
              <a:lnSpc>
                <a:spcPct val="115000"/>
              </a:lnSpc>
              <a:spcBef>
                <a:spcPts val="0"/>
              </a:spcBef>
              <a:spcAft>
                <a:spcPts val="0"/>
              </a:spcAft>
              <a:buNone/>
            </a:pPr>
            <a:r>
              <a:rPr lang="en" sz="700">
                <a:solidFill>
                  <a:schemeClr val="dk1"/>
                </a:solidFill>
              </a:rPr>
              <a:t>- Divya Arora, Srivaths Ravi, Anand Raghunathan, and Niraj K. Jha. 2006. Hardware-assisted Run-time Monitoring for Secure Program Execution on Embedded Processors. IEEE Trans. Very Large Scale Integr. Syst. 14, 12 (Dec. 2006), 1295–1308. </a:t>
            </a:r>
            <a:r>
              <a:rPr lang="en" sz="700" u="sng">
                <a:solidFill>
                  <a:schemeClr val="hlink"/>
                </a:solidFill>
                <a:hlinkClick r:id="rId3"/>
              </a:rPr>
              <a:t>https://doi.org/10.1109/TVLSI.2006.887799</a:t>
            </a:r>
            <a:endParaRPr sz="700">
              <a:solidFill>
                <a:schemeClr val="dk1"/>
              </a:solidFill>
            </a:endParaRPr>
          </a:p>
          <a:p>
            <a:pPr indent="0" lvl="0" marL="0" rtl="0" algn="l">
              <a:lnSpc>
                <a:spcPct val="115000"/>
              </a:lnSpc>
              <a:spcBef>
                <a:spcPts val="0"/>
              </a:spcBef>
              <a:spcAft>
                <a:spcPts val="0"/>
              </a:spcAft>
              <a:buNone/>
            </a:pPr>
            <a:r>
              <a:rPr lang="en" sz="700">
                <a:solidFill>
                  <a:srgbClr val="0055C9"/>
                </a:solidFill>
              </a:rPr>
              <a:t>- </a:t>
            </a:r>
            <a:r>
              <a:rPr lang="en" sz="700">
                <a:solidFill>
                  <a:schemeClr val="dk1"/>
                </a:solidFill>
              </a:rPr>
              <a:t>Mehryar Rahmatian, Hessam Kooti, Ian G. Harris, and Elaheh Bozorgzadeh. 2012. Hardware-Assisted Detection of Malicious Software in Embedded Systems. IEEE Embed. Syst. Lett. 4, 4 (Dec. 2012), 94–97. </a:t>
            </a:r>
            <a:r>
              <a:rPr lang="en" sz="700" u="sng">
                <a:solidFill>
                  <a:schemeClr val="hlink"/>
                </a:solidFill>
                <a:hlinkClick r:id="rId4"/>
              </a:rPr>
              <a:t>https://doi.org/10.1109/LES.2012.2218630</a:t>
            </a:r>
            <a:endParaRPr sz="700">
              <a:solidFill>
                <a:schemeClr val="dk1"/>
              </a:solidFill>
            </a:endParaRPr>
          </a:p>
          <a:p>
            <a:pPr indent="0" lvl="0" marL="0" rtl="0" algn="l">
              <a:lnSpc>
                <a:spcPct val="115000"/>
              </a:lnSpc>
              <a:spcBef>
                <a:spcPts val="0"/>
              </a:spcBef>
              <a:spcAft>
                <a:spcPts val="0"/>
              </a:spcAft>
              <a:buNone/>
            </a:pPr>
            <a:r>
              <a:rPr lang="en" sz="700">
                <a:solidFill>
                  <a:srgbClr val="0055C9"/>
                </a:solidFill>
              </a:rPr>
              <a:t>- </a:t>
            </a:r>
            <a:r>
              <a:rPr lang="en" sz="700">
                <a:solidFill>
                  <a:schemeClr val="dk1"/>
                </a:solidFill>
              </a:rPr>
              <a:t>Shufu Mao and Tilman Wolf. 2010. Hardware support for secure processing in embedded systems. Computers, IEEE Transactions on 59, 6 (2010), 847–854.</a:t>
            </a:r>
            <a:endParaRPr sz="700">
              <a:solidFill>
                <a:schemeClr val="dk1"/>
              </a:solidFill>
            </a:endParaRPr>
          </a:p>
          <a:p>
            <a:pPr indent="0" lvl="0" marL="0" rtl="0" algn="l">
              <a:lnSpc>
                <a:spcPct val="115000"/>
              </a:lnSpc>
              <a:spcBef>
                <a:spcPts val="0"/>
              </a:spcBef>
              <a:spcAft>
                <a:spcPts val="0"/>
              </a:spcAft>
              <a:buNone/>
            </a:pPr>
            <a:r>
              <a:t/>
            </a:r>
            <a:endParaRPr sz="700">
              <a:solidFill>
                <a:srgbClr val="0055C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0" st="0"/>
                                            </p:txEl>
                                          </p:spTgt>
                                        </p:tgtEl>
                                        <p:attrNameLst>
                                          <p:attrName>style.visibility</p:attrName>
                                        </p:attrNameLst>
                                      </p:cBhvr>
                                      <p:to>
                                        <p:strVal val="visible"/>
                                      </p:to>
                                    </p:set>
                                    <p:animEffect filter="fade" transition="in">
                                      <p:cBhvr>
                                        <p:cTn dur="1000"/>
                                        <p:tgtEl>
                                          <p:spTgt spid="10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 st="1"/>
                                            </p:txEl>
                                          </p:spTgt>
                                        </p:tgtEl>
                                        <p:attrNameLst>
                                          <p:attrName>style.visibility</p:attrName>
                                        </p:attrNameLst>
                                      </p:cBhvr>
                                      <p:to>
                                        <p:strVal val="visible"/>
                                      </p:to>
                                    </p:set>
                                    <p:animEffect filter="fade" transition="in">
                                      <p:cBhvr>
                                        <p:cTn dur="1000"/>
                                        <p:tgtEl>
                                          <p:spTgt spid="10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2" st="2"/>
                                            </p:txEl>
                                          </p:spTgt>
                                        </p:tgtEl>
                                        <p:attrNameLst>
                                          <p:attrName>style.visibility</p:attrName>
                                        </p:attrNameLst>
                                      </p:cBhvr>
                                      <p:to>
                                        <p:strVal val="visible"/>
                                      </p:to>
                                    </p:set>
                                    <p:animEffect filter="fade" transition="in">
                                      <p:cBhvr>
                                        <p:cTn dur="1000"/>
                                        <p:tgtEl>
                                          <p:spTgt spid="10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3" st="3"/>
                                            </p:txEl>
                                          </p:spTgt>
                                        </p:tgtEl>
                                        <p:attrNameLst>
                                          <p:attrName>style.visibility</p:attrName>
                                        </p:attrNameLst>
                                      </p:cBhvr>
                                      <p:to>
                                        <p:strVal val="visible"/>
                                      </p:to>
                                    </p:set>
                                    <p:animEffect filter="fade" transition="in">
                                      <p:cBhvr>
                                        <p:cTn dur="1000"/>
                                        <p:tgtEl>
                                          <p:spTgt spid="10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4" st="4"/>
                                            </p:txEl>
                                          </p:spTgt>
                                        </p:tgtEl>
                                        <p:attrNameLst>
                                          <p:attrName>style.visibility</p:attrName>
                                        </p:attrNameLst>
                                      </p:cBhvr>
                                      <p:to>
                                        <p:strVal val="visible"/>
                                      </p:to>
                                    </p:set>
                                    <p:animEffect filter="fade" transition="in">
                                      <p:cBhvr>
                                        <p:cTn dur="1000"/>
                                        <p:tgtEl>
                                          <p:spTgt spid="10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5" st="5"/>
                                            </p:txEl>
                                          </p:spTgt>
                                        </p:tgtEl>
                                        <p:attrNameLst>
                                          <p:attrName>style.visibility</p:attrName>
                                        </p:attrNameLst>
                                      </p:cBhvr>
                                      <p:to>
                                        <p:strVal val="visible"/>
                                      </p:to>
                                    </p:set>
                                    <p:animEffect filter="fade" transition="in">
                                      <p:cBhvr>
                                        <p:cTn dur="1000"/>
                                        <p:tgtEl>
                                          <p:spTgt spid="10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6" st="6"/>
                                            </p:txEl>
                                          </p:spTgt>
                                        </p:tgtEl>
                                        <p:attrNameLst>
                                          <p:attrName>style.visibility</p:attrName>
                                        </p:attrNameLst>
                                      </p:cBhvr>
                                      <p:to>
                                        <p:strVal val="visible"/>
                                      </p:to>
                                    </p:set>
                                    <p:animEffect filter="fade" transition="in">
                                      <p:cBhvr>
                                        <p:cTn dur="1000"/>
                                        <p:tgtEl>
                                          <p:spTgt spid="10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7" st="7"/>
                                            </p:txEl>
                                          </p:spTgt>
                                        </p:tgtEl>
                                        <p:attrNameLst>
                                          <p:attrName>style.visibility</p:attrName>
                                        </p:attrNameLst>
                                      </p:cBhvr>
                                      <p:to>
                                        <p:strVal val="visible"/>
                                      </p:to>
                                    </p:set>
                                    <p:animEffect filter="fade" transition="in">
                                      <p:cBhvr>
                                        <p:cTn dur="1000"/>
                                        <p:tgtEl>
                                          <p:spTgt spid="10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8" st="8"/>
                                            </p:txEl>
                                          </p:spTgt>
                                        </p:tgtEl>
                                        <p:attrNameLst>
                                          <p:attrName>style.visibility</p:attrName>
                                        </p:attrNameLst>
                                      </p:cBhvr>
                                      <p:to>
                                        <p:strVal val="visible"/>
                                      </p:to>
                                    </p:set>
                                    <p:animEffect filter="fade" transition="in">
                                      <p:cBhvr>
                                        <p:cTn dur="1000"/>
                                        <p:tgtEl>
                                          <p:spTgt spid="10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9" st="9"/>
                                            </p:txEl>
                                          </p:spTgt>
                                        </p:tgtEl>
                                        <p:attrNameLst>
                                          <p:attrName>style.visibility</p:attrName>
                                        </p:attrNameLst>
                                      </p:cBhvr>
                                      <p:to>
                                        <p:strVal val="visible"/>
                                      </p:to>
                                    </p:set>
                                    <p:animEffect filter="fade" transition="in">
                                      <p:cBhvr>
                                        <p:cTn dur="1000"/>
                                        <p:tgtEl>
                                          <p:spTgt spid="10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0" st="10"/>
                                            </p:txEl>
                                          </p:spTgt>
                                        </p:tgtEl>
                                        <p:attrNameLst>
                                          <p:attrName>style.visibility</p:attrName>
                                        </p:attrNameLst>
                                      </p:cBhvr>
                                      <p:to>
                                        <p:strVal val="visible"/>
                                      </p:to>
                                    </p:set>
                                    <p:animEffect filter="fade" transition="in">
                                      <p:cBhvr>
                                        <p:cTn dur="1000"/>
                                        <p:tgtEl>
                                          <p:spTgt spid="10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1" st="11"/>
                                            </p:txEl>
                                          </p:spTgt>
                                        </p:tgtEl>
                                        <p:attrNameLst>
                                          <p:attrName>style.visibility</p:attrName>
                                        </p:attrNameLst>
                                      </p:cBhvr>
                                      <p:to>
                                        <p:strVal val="visible"/>
                                      </p:to>
                                    </p:set>
                                    <p:animEffect filter="fade" transition="in">
                                      <p:cBhvr>
                                        <p:cTn dur="1000"/>
                                        <p:tgtEl>
                                          <p:spTgt spid="102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2" st="12"/>
                                            </p:txEl>
                                          </p:spTgt>
                                        </p:tgtEl>
                                        <p:attrNameLst>
                                          <p:attrName>style.visibility</p:attrName>
                                        </p:attrNameLst>
                                      </p:cBhvr>
                                      <p:to>
                                        <p:strVal val="visible"/>
                                      </p:to>
                                    </p:set>
                                    <p:animEffect filter="fade" transition="in">
                                      <p:cBhvr>
                                        <p:cTn dur="1000"/>
                                        <p:tgtEl>
                                          <p:spTgt spid="102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xEl>
                                              <p:pRg end="13" st="13"/>
                                            </p:txEl>
                                          </p:spTgt>
                                        </p:tgtEl>
                                        <p:attrNameLst>
                                          <p:attrName>style.visibility</p:attrName>
                                        </p:attrNameLst>
                                      </p:cBhvr>
                                      <p:to>
                                        <p:strVal val="visible"/>
                                      </p:to>
                                    </p:set>
                                    <p:animEffect filter="fade" transition="in">
                                      <p:cBhvr>
                                        <p:cTn dur="1000"/>
                                        <p:tgtEl>
                                          <p:spTgt spid="102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19"/>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Inter- Intra procedural Control Flow Integrity</a:t>
            </a:r>
            <a:endParaRPr>
              <a:latin typeface="Twentieth Century"/>
              <a:ea typeface="Twentieth Century"/>
              <a:cs typeface="Twentieth Century"/>
              <a:sym typeface="Twentieth Century"/>
            </a:endParaRPr>
          </a:p>
        </p:txBody>
      </p:sp>
      <p:sp>
        <p:nvSpPr>
          <p:cNvPr id="1031" name="Google Shape;1031;p119"/>
          <p:cNvSpPr txBox="1"/>
          <p:nvPr/>
        </p:nvSpPr>
        <p:spPr>
          <a:xfrm>
            <a:off x="107225" y="4594425"/>
            <a:ext cx="9018300" cy="8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700">
                <a:solidFill>
                  <a:schemeClr val="dk1"/>
                </a:solidFill>
              </a:rPr>
              <a:t>- Z. Guo, R. Bhakta, and I. G. Harris. 2014. Control-flow checking for intrusion detection via a real-time debug interface. In 2014 International Conference on Smart Computing Workshops. 87–92.</a:t>
            </a:r>
            <a:endParaRPr sz="700">
              <a:solidFill>
                <a:schemeClr val="dk1"/>
              </a:solidFill>
            </a:endParaRPr>
          </a:p>
          <a:p>
            <a:pPr indent="0" lvl="0" marL="0" rtl="0" algn="l">
              <a:lnSpc>
                <a:spcPct val="115000"/>
              </a:lnSpc>
              <a:spcBef>
                <a:spcPts val="0"/>
              </a:spcBef>
              <a:spcAft>
                <a:spcPts val="0"/>
              </a:spcAft>
              <a:buNone/>
            </a:pPr>
            <a:r>
              <a:rPr lang="en" sz="700">
                <a:solidFill>
                  <a:schemeClr val="dk1"/>
                </a:solidFill>
              </a:rPr>
              <a:t>- Divya Arora, Srivaths Ravi, Anand Raghunathan, and Niraj K. Jha. 2006. Hardware-assisted Run-time Monitoring for Secure Program Execution on Embedded Processors. IEEE Trans. Very Large Scale Integr. Syst. 14, 12 (Dec. 2006), 1295–1308. </a:t>
            </a:r>
            <a:r>
              <a:rPr lang="en" sz="700">
                <a:solidFill>
                  <a:srgbClr val="0055C9"/>
                </a:solidFill>
              </a:rPr>
              <a:t>https://doi.org/10.1109/TVLSI.2006.887799</a:t>
            </a:r>
            <a:endParaRPr sz="700">
              <a:solidFill>
                <a:srgbClr val="0055C9"/>
              </a:solidFill>
            </a:endParaRPr>
          </a:p>
          <a:p>
            <a:pPr indent="-228600" lvl="0" marL="457200" rtl="0" algn="l">
              <a:lnSpc>
                <a:spcPct val="115000"/>
              </a:lnSpc>
              <a:spcBef>
                <a:spcPts val="1200"/>
              </a:spcBef>
              <a:spcAft>
                <a:spcPts val="0"/>
              </a:spcAft>
              <a:buClr>
                <a:schemeClr val="dk1"/>
              </a:buClr>
              <a:buSzPts val="700"/>
              <a:buNone/>
            </a:pPr>
            <a:r>
              <a:t/>
            </a:r>
            <a:endParaRPr sz="700">
              <a:solidFill>
                <a:schemeClr val="dk1"/>
              </a:solidFill>
            </a:endParaRPr>
          </a:p>
        </p:txBody>
      </p:sp>
      <p:pic>
        <p:nvPicPr>
          <p:cNvPr id="1032" name="Google Shape;1032;p119"/>
          <p:cNvPicPr preferRelativeResize="0"/>
          <p:nvPr/>
        </p:nvPicPr>
        <p:blipFill>
          <a:blip r:embed="rId3">
            <a:alphaModFix/>
          </a:blip>
          <a:stretch>
            <a:fillRect/>
          </a:stretch>
        </p:blipFill>
        <p:spPr>
          <a:xfrm>
            <a:off x="44375" y="808175"/>
            <a:ext cx="9143999" cy="37172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20"/>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Branch Regulation (BR)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Invariant based</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always targets a function entry point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Indirect jmp targets either a function entry or an address within the current function.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Limits JOP attacks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requires no CFG, lightweight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Branch Regulation on Basic Blocks (BR on BB)</a:t>
            </a:r>
            <a:endParaRPr>
              <a:latin typeface="Twentieth Century"/>
              <a:ea typeface="Twentieth Century"/>
              <a:cs typeface="Twentieth Century"/>
              <a:sym typeface="Twentieth Century"/>
            </a:endParaRPr>
          </a:p>
          <a:p>
            <a:pPr indent="-254000" lvl="1" marL="685800" rtl="0" algn="l">
              <a:lnSpc>
                <a:spcPct val="115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Restricting jmp targets to the current function boundary (as was done in BR) is too restrictive, as it cannot support longjmp().</a:t>
            </a:r>
            <a:endParaRPr sz="900">
              <a:latin typeface="Arial"/>
              <a:ea typeface="Arial"/>
              <a:cs typeface="Arial"/>
              <a:sym typeface="Arial"/>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is allowed to target the first basic block of a function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Inject jmp are allowed to target the first instruction inside a basic block.</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39" name="Google Shape;1039;p120"/>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Other CFI Approaches</a:t>
            </a:r>
            <a:endParaRPr>
              <a:latin typeface="Twentieth Century"/>
              <a:ea typeface="Twentieth Century"/>
              <a:cs typeface="Twentieth Century"/>
              <a:sym typeface="Twentieth Century"/>
            </a:endParaRPr>
          </a:p>
        </p:txBody>
      </p:sp>
      <p:sp>
        <p:nvSpPr>
          <p:cNvPr id="1040" name="Google Shape;1040;p120"/>
          <p:cNvSpPr txBox="1"/>
          <p:nvPr/>
        </p:nvSpPr>
        <p:spPr>
          <a:xfrm>
            <a:off x="107225" y="4289625"/>
            <a:ext cx="9018300" cy="78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700">
                <a:solidFill>
                  <a:schemeClr val="dk1"/>
                </a:solidFill>
              </a:rPr>
              <a:t>- Mehmet Kayaalp, Meltem Ozsoy, Nael Abu Ghazaleh, and Dmitry Ponomarev. 2014. Efficiently securing systems from code reuse attacks. Computers, IEEE Transactions on 63, 5 (2014), 1144–1156.</a:t>
            </a:r>
            <a:endParaRPr sz="700">
              <a:solidFill>
                <a:schemeClr val="dk1"/>
              </a:solidFill>
            </a:endParaRPr>
          </a:p>
          <a:p>
            <a:pPr indent="0" lvl="0" marL="0" rtl="0" algn="l">
              <a:lnSpc>
                <a:spcPct val="115000"/>
              </a:lnSpc>
              <a:spcBef>
                <a:spcPts val="0"/>
              </a:spcBef>
              <a:spcAft>
                <a:spcPts val="0"/>
              </a:spcAft>
              <a:buNone/>
            </a:pPr>
            <a:r>
              <a:rPr lang="en" sz="700">
                <a:solidFill>
                  <a:schemeClr val="dk1"/>
                </a:solidFill>
              </a:rPr>
              <a:t>- Sanjeev Das, Wei Zhang, and Yang Liu. 2016. A Fine-Grained Control Flow Integrity Approach Against Runtime Memory Attacks for Embedded Systems. IEEE Trans. Very Large Scale Integr. Syst. 24, 11 (Nov. 2016), 3193–3207. </a:t>
            </a:r>
            <a:r>
              <a:rPr lang="en" sz="700">
                <a:solidFill>
                  <a:srgbClr val="0055C9"/>
                </a:solidFill>
              </a:rPr>
              <a:t>https://doi.org/10.1109/TVLSI.2016.2548561</a:t>
            </a:r>
            <a:endParaRPr sz="700">
              <a:solidFill>
                <a:srgbClr val="0055C9"/>
              </a:solidFill>
            </a:endParaRPr>
          </a:p>
          <a:p>
            <a:pPr indent="0" lvl="0" marL="0" rtl="0" algn="l">
              <a:lnSpc>
                <a:spcPct val="115000"/>
              </a:lnSpc>
              <a:spcBef>
                <a:spcPts val="0"/>
              </a:spcBef>
              <a:spcAft>
                <a:spcPts val="0"/>
              </a:spcAft>
              <a:buNone/>
            </a:pPr>
            <a:r>
              <a:t/>
            </a:r>
            <a:endParaRPr sz="700">
              <a:solidFill>
                <a:schemeClr val="dk1"/>
              </a:solidFill>
            </a:endParaRPr>
          </a:p>
          <a:p>
            <a:pPr indent="0" lvl="0" marL="0" rtl="0" algn="l">
              <a:lnSpc>
                <a:spcPct val="115000"/>
              </a:lnSpc>
              <a:spcBef>
                <a:spcPts val="0"/>
              </a:spcBef>
              <a:spcAft>
                <a:spcPts val="0"/>
              </a:spcAft>
              <a:buNone/>
            </a:pPr>
            <a:r>
              <a:t/>
            </a:r>
            <a:endParaRPr sz="700">
              <a:solidFill>
                <a:schemeClr val="dk1"/>
              </a:solidFill>
            </a:endParaRPr>
          </a:p>
        </p:txBody>
      </p:sp>
      <p:pic>
        <p:nvPicPr>
          <p:cNvPr id="1041" name="Google Shape;1041;p120"/>
          <p:cNvPicPr preferRelativeResize="0"/>
          <p:nvPr/>
        </p:nvPicPr>
        <p:blipFill>
          <a:blip r:embed="rId3">
            <a:alphaModFix/>
          </a:blip>
          <a:stretch>
            <a:fillRect/>
          </a:stretch>
        </p:blipFill>
        <p:spPr>
          <a:xfrm>
            <a:off x="4392550" y="46925"/>
            <a:ext cx="2666626" cy="838450"/>
          </a:xfrm>
          <a:prstGeom prst="rect">
            <a:avLst/>
          </a:prstGeom>
          <a:noFill/>
          <a:ln>
            <a:noFill/>
          </a:ln>
        </p:spPr>
      </p:pic>
      <p:pic>
        <p:nvPicPr>
          <p:cNvPr id="1042" name="Google Shape;1042;p120"/>
          <p:cNvPicPr preferRelativeResize="0"/>
          <p:nvPr/>
        </p:nvPicPr>
        <p:blipFill>
          <a:blip r:embed="rId4">
            <a:alphaModFix/>
          </a:blip>
          <a:stretch>
            <a:fillRect/>
          </a:stretch>
        </p:blipFill>
        <p:spPr>
          <a:xfrm>
            <a:off x="7232325" y="0"/>
            <a:ext cx="1893200" cy="113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0" st="0"/>
                                            </p:txEl>
                                          </p:spTgt>
                                        </p:tgtEl>
                                        <p:attrNameLst>
                                          <p:attrName>style.visibility</p:attrName>
                                        </p:attrNameLst>
                                      </p:cBhvr>
                                      <p:to>
                                        <p:strVal val="visible"/>
                                      </p:to>
                                    </p:set>
                                    <p:animEffect filter="fade" transition="in">
                                      <p:cBhvr>
                                        <p:cTn dur="1000"/>
                                        <p:tgtEl>
                                          <p:spTgt spid="10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1" st="1"/>
                                            </p:txEl>
                                          </p:spTgt>
                                        </p:tgtEl>
                                        <p:attrNameLst>
                                          <p:attrName>style.visibility</p:attrName>
                                        </p:attrNameLst>
                                      </p:cBhvr>
                                      <p:to>
                                        <p:strVal val="visible"/>
                                      </p:to>
                                    </p:set>
                                    <p:animEffect filter="fade" transition="in">
                                      <p:cBhvr>
                                        <p:cTn dur="1000"/>
                                        <p:tgtEl>
                                          <p:spTgt spid="10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2" st="2"/>
                                            </p:txEl>
                                          </p:spTgt>
                                        </p:tgtEl>
                                        <p:attrNameLst>
                                          <p:attrName>style.visibility</p:attrName>
                                        </p:attrNameLst>
                                      </p:cBhvr>
                                      <p:to>
                                        <p:strVal val="visible"/>
                                      </p:to>
                                    </p:set>
                                    <p:animEffect filter="fade" transition="in">
                                      <p:cBhvr>
                                        <p:cTn dur="1000"/>
                                        <p:tgtEl>
                                          <p:spTgt spid="10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3" st="3"/>
                                            </p:txEl>
                                          </p:spTgt>
                                        </p:tgtEl>
                                        <p:attrNameLst>
                                          <p:attrName>style.visibility</p:attrName>
                                        </p:attrNameLst>
                                      </p:cBhvr>
                                      <p:to>
                                        <p:strVal val="visible"/>
                                      </p:to>
                                    </p:set>
                                    <p:animEffect filter="fade" transition="in">
                                      <p:cBhvr>
                                        <p:cTn dur="1000"/>
                                        <p:tgtEl>
                                          <p:spTgt spid="10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4" st="4"/>
                                            </p:txEl>
                                          </p:spTgt>
                                        </p:tgtEl>
                                        <p:attrNameLst>
                                          <p:attrName>style.visibility</p:attrName>
                                        </p:attrNameLst>
                                      </p:cBhvr>
                                      <p:to>
                                        <p:strVal val="visible"/>
                                      </p:to>
                                    </p:set>
                                    <p:animEffect filter="fade" transition="in">
                                      <p:cBhvr>
                                        <p:cTn dur="1000"/>
                                        <p:tgtEl>
                                          <p:spTgt spid="10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5" st="5"/>
                                            </p:txEl>
                                          </p:spTgt>
                                        </p:tgtEl>
                                        <p:attrNameLst>
                                          <p:attrName>style.visibility</p:attrName>
                                        </p:attrNameLst>
                                      </p:cBhvr>
                                      <p:to>
                                        <p:strVal val="visible"/>
                                      </p:to>
                                    </p:set>
                                    <p:animEffect filter="fade" transition="in">
                                      <p:cBhvr>
                                        <p:cTn dur="1000"/>
                                        <p:tgtEl>
                                          <p:spTgt spid="10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6" st="6"/>
                                            </p:txEl>
                                          </p:spTgt>
                                        </p:tgtEl>
                                        <p:attrNameLst>
                                          <p:attrName>style.visibility</p:attrName>
                                        </p:attrNameLst>
                                      </p:cBhvr>
                                      <p:to>
                                        <p:strVal val="visible"/>
                                      </p:to>
                                    </p:set>
                                    <p:animEffect filter="fade" transition="in">
                                      <p:cBhvr>
                                        <p:cTn dur="1000"/>
                                        <p:tgtEl>
                                          <p:spTgt spid="10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7" st="7"/>
                                            </p:txEl>
                                          </p:spTgt>
                                        </p:tgtEl>
                                        <p:attrNameLst>
                                          <p:attrName>style.visibility</p:attrName>
                                        </p:attrNameLst>
                                      </p:cBhvr>
                                      <p:to>
                                        <p:strVal val="visible"/>
                                      </p:to>
                                    </p:set>
                                    <p:animEffect filter="fade" transition="in">
                                      <p:cBhvr>
                                        <p:cTn dur="1000"/>
                                        <p:tgtEl>
                                          <p:spTgt spid="10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8" st="8"/>
                                            </p:txEl>
                                          </p:spTgt>
                                        </p:tgtEl>
                                        <p:attrNameLst>
                                          <p:attrName>style.visibility</p:attrName>
                                        </p:attrNameLst>
                                      </p:cBhvr>
                                      <p:to>
                                        <p:strVal val="visible"/>
                                      </p:to>
                                    </p:set>
                                    <p:animEffect filter="fade" transition="in">
                                      <p:cBhvr>
                                        <p:cTn dur="1000"/>
                                        <p:tgtEl>
                                          <p:spTgt spid="10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9" st="9"/>
                                            </p:txEl>
                                          </p:spTgt>
                                        </p:tgtEl>
                                        <p:attrNameLst>
                                          <p:attrName>style.visibility</p:attrName>
                                        </p:attrNameLst>
                                      </p:cBhvr>
                                      <p:to>
                                        <p:strVal val="visible"/>
                                      </p:to>
                                    </p:set>
                                    <p:animEffect filter="fade" transition="in">
                                      <p:cBhvr>
                                        <p:cTn dur="1000"/>
                                        <p:tgtEl>
                                          <p:spTgt spid="10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10" st="10"/>
                                            </p:txEl>
                                          </p:spTgt>
                                        </p:tgtEl>
                                        <p:attrNameLst>
                                          <p:attrName>style.visibility</p:attrName>
                                        </p:attrNameLst>
                                      </p:cBhvr>
                                      <p:to>
                                        <p:strVal val="visible"/>
                                      </p:to>
                                    </p:set>
                                    <p:animEffect filter="fade" transition="in">
                                      <p:cBhvr>
                                        <p:cTn dur="1000"/>
                                        <p:tgtEl>
                                          <p:spTgt spid="103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21"/>
          <p:cNvSpPr txBox="1"/>
          <p:nvPr/>
        </p:nvSpPr>
        <p:spPr>
          <a:xfrm>
            <a:off x="74350" y="3960450"/>
            <a:ext cx="9018300" cy="140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700">
                <a:solidFill>
                  <a:schemeClr val="dk1"/>
                </a:solidFill>
              </a:rPr>
              <a:t>- Wenjian He, Sanjeev Das, Wei Zhang, and Yang Liu. 2017. No-Jump-into-Basic-Block: Enforce Basic Block CFI on the Fly for Real-world Binaries. In Proceedings of the 54th Annual Design Automation Conference 2017 (DAC ’17). ACM, New York, NY, USA, Article 23, 6 pages. </a:t>
            </a:r>
            <a:r>
              <a:rPr lang="en" sz="700">
                <a:solidFill>
                  <a:srgbClr val="0055C9"/>
                </a:solidFill>
              </a:rPr>
              <a:t>https: //doi.org/10.1145/3061639.3062291</a:t>
            </a:r>
            <a:endParaRPr sz="700">
              <a:solidFill>
                <a:schemeClr val="dk1"/>
              </a:solidFill>
            </a:endParaRPr>
          </a:p>
          <a:p>
            <a:pPr indent="0" lvl="0" marL="0" rtl="0" algn="l">
              <a:lnSpc>
                <a:spcPct val="115000"/>
              </a:lnSpc>
              <a:spcBef>
                <a:spcPts val="0"/>
              </a:spcBef>
              <a:spcAft>
                <a:spcPts val="0"/>
              </a:spcAft>
              <a:buNone/>
            </a:pPr>
            <a:r>
              <a:rPr lang="en" sz="700">
                <a:solidFill>
                  <a:schemeClr val="dk1"/>
                </a:solidFill>
              </a:rPr>
              <a:t>- Intel. 2017. Intel Control-flow Enforcement Technology Preview. </a:t>
            </a:r>
            <a:r>
              <a:rPr lang="en" sz="700">
                <a:solidFill>
                  <a:srgbClr val="0055C9"/>
                </a:solidFill>
              </a:rPr>
              <a:t>https://software.intel.com/sites/default/files/managed/4d/2a/ control-flow-enforcement-technology-preview.pdf</a:t>
            </a:r>
            <a:r>
              <a:rPr lang="en" sz="700">
                <a:solidFill>
                  <a:schemeClr val="dk1"/>
                </a:solidFill>
              </a:rPr>
              <a:t>. (2017). [Online; accessed 19-Jun-2017].</a:t>
            </a:r>
            <a:endParaRPr sz="700">
              <a:solidFill>
                <a:schemeClr val="dk1"/>
              </a:solidFill>
            </a:endParaRPr>
          </a:p>
          <a:p>
            <a:pPr indent="0" lvl="0" marL="0" rtl="0" algn="l">
              <a:lnSpc>
                <a:spcPct val="115000"/>
              </a:lnSpc>
              <a:spcBef>
                <a:spcPts val="0"/>
              </a:spcBef>
              <a:spcAft>
                <a:spcPts val="0"/>
              </a:spcAft>
              <a:buNone/>
            </a:pPr>
            <a:r>
              <a:rPr lang="en" sz="700">
                <a:solidFill>
                  <a:schemeClr val="dk1"/>
                </a:solidFill>
              </a:rPr>
              <a:t>- Ruan de Clercq, Johannes Götzfried, Ü"bler David, Pieter Maene, and Ingrid Verbauwhede. 2017. SOFIA: Software and Control Flow Integrity</a:t>
            </a:r>
            <a:br>
              <a:rPr lang="en" sz="700">
                <a:solidFill>
                  <a:schemeClr val="dk1"/>
                </a:solidFill>
              </a:rPr>
            </a:br>
            <a:r>
              <a:rPr lang="en" sz="700">
                <a:solidFill>
                  <a:schemeClr val="dk1"/>
                </a:solidFill>
              </a:rPr>
              <a:t>Architecture. In Computers &amp; Security, Vol. 68. 16–35. </a:t>
            </a:r>
            <a:r>
              <a:rPr lang="en" sz="700" u="sng">
                <a:solidFill>
                  <a:schemeClr val="hlink"/>
                </a:solidFill>
                <a:hlinkClick r:id="rId3"/>
              </a:rPr>
              <a:t>https://doi.org/10.1016/j.cose.2017.03.013</a:t>
            </a:r>
            <a:endParaRPr sz="700">
              <a:solidFill>
                <a:schemeClr val="dk1"/>
              </a:solidFill>
            </a:endParaRPr>
          </a:p>
          <a:p>
            <a:pPr indent="0" lvl="0" marL="0" rtl="0" algn="l">
              <a:lnSpc>
                <a:spcPct val="115000"/>
              </a:lnSpc>
              <a:spcBef>
                <a:spcPts val="0"/>
              </a:spcBef>
              <a:spcAft>
                <a:spcPts val="0"/>
              </a:spcAft>
              <a:buNone/>
            </a:pPr>
            <a:r>
              <a:rPr lang="en" sz="700">
                <a:solidFill>
                  <a:srgbClr val="0055C9"/>
                </a:solidFill>
              </a:rPr>
              <a:t>- </a:t>
            </a:r>
            <a:r>
              <a:rPr lang="en" sz="700">
                <a:solidFill>
                  <a:schemeClr val="dk1"/>
                </a:solidFill>
              </a:rPr>
              <a:t>K. Wilken and J. P. Shen. 1988. Continuous signature monitoring: efficient concurrent-detection of processor control errors. In International Test Conference 1988 Proceeding. 914–925. </a:t>
            </a:r>
            <a:r>
              <a:rPr lang="en" sz="700" u="sng">
                <a:solidFill>
                  <a:schemeClr val="hlink"/>
                </a:solidFill>
                <a:hlinkClick r:id="rId4"/>
              </a:rPr>
              <a:t>https://doi.org/10.1109/TEST.1988.207880</a:t>
            </a:r>
            <a:endParaRPr sz="700">
              <a:solidFill>
                <a:srgbClr val="0055C9"/>
              </a:solidFill>
            </a:endParaRPr>
          </a:p>
          <a:p>
            <a:pPr indent="0" lvl="0" marL="0" rtl="0" algn="l">
              <a:lnSpc>
                <a:spcPct val="115000"/>
              </a:lnSpc>
              <a:spcBef>
                <a:spcPts val="0"/>
              </a:spcBef>
              <a:spcAft>
                <a:spcPts val="0"/>
              </a:spcAft>
              <a:buNone/>
            </a:pPr>
            <a:r>
              <a:rPr lang="en" sz="700">
                <a:solidFill>
                  <a:srgbClr val="0055C9"/>
                </a:solidFill>
              </a:rPr>
              <a:t>- </a:t>
            </a:r>
            <a:r>
              <a:rPr lang="en" sz="700">
                <a:solidFill>
                  <a:schemeClr val="dk1"/>
                </a:solidFill>
              </a:rPr>
              <a:t>A. Mahmood and E. J. McCluskey. 1988. Concurrent Error Detection Using Watchdog Processors-A Survey. IEEE Trans. Comput. 37, 2 (Feb. 1988), 160–174. </a:t>
            </a:r>
            <a:r>
              <a:rPr lang="en" sz="700" u="sng">
                <a:solidFill>
                  <a:schemeClr val="hlink"/>
                </a:solidFill>
                <a:hlinkClick r:id="rId5"/>
              </a:rPr>
              <a:t>https://doi.org/10.1109/12.2145</a:t>
            </a:r>
            <a:endParaRPr sz="700">
              <a:solidFill>
                <a:srgbClr val="0055C9"/>
              </a:solidFill>
            </a:endParaRPr>
          </a:p>
          <a:p>
            <a:pPr indent="0" lvl="0" marL="0" rtl="0" algn="l">
              <a:lnSpc>
                <a:spcPct val="115000"/>
              </a:lnSpc>
              <a:spcBef>
                <a:spcPts val="0"/>
              </a:spcBef>
              <a:spcAft>
                <a:spcPts val="0"/>
              </a:spcAft>
              <a:buNone/>
            </a:pPr>
            <a:r>
              <a:rPr lang="en" sz="700">
                <a:solidFill>
                  <a:srgbClr val="0055C9"/>
                </a:solidFill>
              </a:rPr>
              <a:t>- </a:t>
            </a:r>
            <a:r>
              <a:rPr lang="en" sz="700">
                <a:solidFill>
                  <a:schemeClr val="dk1"/>
                </a:solidFill>
              </a:rPr>
              <a:t>2017. Pointer Authentication on ARMv8.3. Qualcomm Technologies, Inc. (2017).</a:t>
            </a:r>
            <a:endParaRPr sz="700">
              <a:solidFill>
                <a:schemeClr val="dk1"/>
              </a:solidFill>
            </a:endParaRPr>
          </a:p>
          <a:p>
            <a:pPr indent="0" lvl="0" marL="0" rtl="0" algn="l">
              <a:lnSpc>
                <a:spcPct val="115000"/>
              </a:lnSpc>
              <a:spcBef>
                <a:spcPts val="0"/>
              </a:spcBef>
              <a:spcAft>
                <a:spcPts val="0"/>
              </a:spcAft>
              <a:buNone/>
            </a:pPr>
            <a:r>
              <a:t/>
            </a:r>
            <a:endParaRPr sz="700">
              <a:solidFill>
                <a:srgbClr val="0055C9"/>
              </a:solidFill>
            </a:endParaRPr>
          </a:p>
          <a:p>
            <a:pPr indent="0" lvl="0" marL="0" rtl="0" algn="l">
              <a:lnSpc>
                <a:spcPct val="115000"/>
              </a:lnSpc>
              <a:spcBef>
                <a:spcPts val="0"/>
              </a:spcBef>
              <a:spcAft>
                <a:spcPts val="0"/>
              </a:spcAft>
              <a:buNone/>
            </a:pPr>
            <a:r>
              <a:t/>
            </a:r>
            <a:endParaRPr sz="700">
              <a:solidFill>
                <a:schemeClr val="dk1"/>
              </a:solidFill>
            </a:endParaRPr>
          </a:p>
        </p:txBody>
      </p:sp>
      <p:sp>
        <p:nvSpPr>
          <p:cNvPr id="1049" name="Google Shape;1049;p121"/>
          <p:cNvSpPr txBox="1"/>
          <p:nvPr>
            <p:ph idx="1" type="body"/>
          </p:nvPr>
        </p:nvSpPr>
        <p:spPr>
          <a:xfrm>
            <a:off x="74350" y="734650"/>
            <a:ext cx="9018300" cy="3508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Branch Limitation (BL)</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Limits branch target to basic block entries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ENDBRANCH in Intel CET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Instruction Set Randomization (ISR)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Instruction’s bytes are encrypted offline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Decrypted using a combination of the current and previous program counters at runtime.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Invalid control flow between two instructions will lead to a decryption error.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Signature Modeling (SM)</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 checksum is periodically calculated on the executed instructions for comparison with stored reference values.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Code Pointer Integrity (CPI)</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Pointer Authentication Codes (PACs) are used to verify the integrity of pointers at runtime.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PAC is calculated over the pointer target together with a context.</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50" name="Google Shape;1050;p121"/>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Other CFI Approaches</a:t>
            </a:r>
            <a:endParaRPr>
              <a:latin typeface="Twentieth Century"/>
              <a:ea typeface="Twentieth Century"/>
              <a:cs typeface="Twentieth Century"/>
              <a:sym typeface="Twentieth Century"/>
            </a:endParaRPr>
          </a:p>
        </p:txBody>
      </p:sp>
      <p:pic>
        <p:nvPicPr>
          <p:cNvPr id="1051" name="Google Shape;1051;p121"/>
          <p:cNvPicPr preferRelativeResize="0"/>
          <p:nvPr/>
        </p:nvPicPr>
        <p:blipFill>
          <a:blip r:embed="rId6">
            <a:alphaModFix/>
          </a:blip>
          <a:stretch>
            <a:fillRect/>
          </a:stretch>
        </p:blipFill>
        <p:spPr>
          <a:xfrm>
            <a:off x="4392550" y="46925"/>
            <a:ext cx="2666626" cy="838450"/>
          </a:xfrm>
          <a:prstGeom prst="rect">
            <a:avLst/>
          </a:prstGeom>
          <a:noFill/>
          <a:ln>
            <a:noFill/>
          </a:ln>
        </p:spPr>
      </p:pic>
      <p:pic>
        <p:nvPicPr>
          <p:cNvPr id="1052" name="Google Shape;1052;p121"/>
          <p:cNvPicPr preferRelativeResize="0"/>
          <p:nvPr/>
        </p:nvPicPr>
        <p:blipFill>
          <a:blip r:embed="rId7">
            <a:alphaModFix/>
          </a:blip>
          <a:stretch>
            <a:fillRect/>
          </a:stretch>
        </p:blipFill>
        <p:spPr>
          <a:xfrm>
            <a:off x="7232325" y="0"/>
            <a:ext cx="1893200" cy="113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0" st="0"/>
                                            </p:txEl>
                                          </p:spTgt>
                                        </p:tgtEl>
                                        <p:attrNameLst>
                                          <p:attrName>style.visibility</p:attrName>
                                        </p:attrNameLst>
                                      </p:cBhvr>
                                      <p:to>
                                        <p:strVal val="visible"/>
                                      </p:to>
                                    </p:set>
                                    <p:animEffect filter="fade" transition="in">
                                      <p:cBhvr>
                                        <p:cTn dur="1000"/>
                                        <p:tgtEl>
                                          <p:spTgt spid="10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1" st="1"/>
                                            </p:txEl>
                                          </p:spTgt>
                                        </p:tgtEl>
                                        <p:attrNameLst>
                                          <p:attrName>style.visibility</p:attrName>
                                        </p:attrNameLst>
                                      </p:cBhvr>
                                      <p:to>
                                        <p:strVal val="visible"/>
                                      </p:to>
                                    </p:set>
                                    <p:animEffect filter="fade" transition="in">
                                      <p:cBhvr>
                                        <p:cTn dur="1000"/>
                                        <p:tgtEl>
                                          <p:spTgt spid="10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2" st="2"/>
                                            </p:txEl>
                                          </p:spTgt>
                                        </p:tgtEl>
                                        <p:attrNameLst>
                                          <p:attrName>style.visibility</p:attrName>
                                        </p:attrNameLst>
                                      </p:cBhvr>
                                      <p:to>
                                        <p:strVal val="visible"/>
                                      </p:to>
                                    </p:set>
                                    <p:animEffect filter="fade" transition="in">
                                      <p:cBhvr>
                                        <p:cTn dur="1000"/>
                                        <p:tgtEl>
                                          <p:spTgt spid="10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3" st="3"/>
                                            </p:txEl>
                                          </p:spTgt>
                                        </p:tgtEl>
                                        <p:attrNameLst>
                                          <p:attrName>style.visibility</p:attrName>
                                        </p:attrNameLst>
                                      </p:cBhvr>
                                      <p:to>
                                        <p:strVal val="visible"/>
                                      </p:to>
                                    </p:set>
                                    <p:animEffect filter="fade" transition="in">
                                      <p:cBhvr>
                                        <p:cTn dur="1000"/>
                                        <p:tgtEl>
                                          <p:spTgt spid="10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4" st="4"/>
                                            </p:txEl>
                                          </p:spTgt>
                                        </p:tgtEl>
                                        <p:attrNameLst>
                                          <p:attrName>style.visibility</p:attrName>
                                        </p:attrNameLst>
                                      </p:cBhvr>
                                      <p:to>
                                        <p:strVal val="visible"/>
                                      </p:to>
                                    </p:set>
                                    <p:animEffect filter="fade" transition="in">
                                      <p:cBhvr>
                                        <p:cTn dur="1000"/>
                                        <p:tgtEl>
                                          <p:spTgt spid="10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5" st="5"/>
                                            </p:txEl>
                                          </p:spTgt>
                                        </p:tgtEl>
                                        <p:attrNameLst>
                                          <p:attrName>style.visibility</p:attrName>
                                        </p:attrNameLst>
                                      </p:cBhvr>
                                      <p:to>
                                        <p:strVal val="visible"/>
                                      </p:to>
                                    </p:set>
                                    <p:animEffect filter="fade" transition="in">
                                      <p:cBhvr>
                                        <p:cTn dur="1000"/>
                                        <p:tgtEl>
                                          <p:spTgt spid="10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6" st="6"/>
                                            </p:txEl>
                                          </p:spTgt>
                                        </p:tgtEl>
                                        <p:attrNameLst>
                                          <p:attrName>style.visibility</p:attrName>
                                        </p:attrNameLst>
                                      </p:cBhvr>
                                      <p:to>
                                        <p:strVal val="visible"/>
                                      </p:to>
                                    </p:set>
                                    <p:animEffect filter="fade" transition="in">
                                      <p:cBhvr>
                                        <p:cTn dur="1000"/>
                                        <p:tgtEl>
                                          <p:spTgt spid="10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7" st="7"/>
                                            </p:txEl>
                                          </p:spTgt>
                                        </p:tgtEl>
                                        <p:attrNameLst>
                                          <p:attrName>style.visibility</p:attrName>
                                        </p:attrNameLst>
                                      </p:cBhvr>
                                      <p:to>
                                        <p:strVal val="visible"/>
                                      </p:to>
                                    </p:set>
                                    <p:animEffect filter="fade" transition="in">
                                      <p:cBhvr>
                                        <p:cTn dur="1000"/>
                                        <p:tgtEl>
                                          <p:spTgt spid="10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8" st="8"/>
                                            </p:txEl>
                                          </p:spTgt>
                                        </p:tgtEl>
                                        <p:attrNameLst>
                                          <p:attrName>style.visibility</p:attrName>
                                        </p:attrNameLst>
                                      </p:cBhvr>
                                      <p:to>
                                        <p:strVal val="visible"/>
                                      </p:to>
                                    </p:set>
                                    <p:animEffect filter="fade" transition="in">
                                      <p:cBhvr>
                                        <p:cTn dur="1000"/>
                                        <p:tgtEl>
                                          <p:spTgt spid="10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9" st="9"/>
                                            </p:txEl>
                                          </p:spTgt>
                                        </p:tgtEl>
                                        <p:attrNameLst>
                                          <p:attrName>style.visibility</p:attrName>
                                        </p:attrNameLst>
                                      </p:cBhvr>
                                      <p:to>
                                        <p:strVal val="visible"/>
                                      </p:to>
                                    </p:set>
                                    <p:animEffect filter="fade" transition="in">
                                      <p:cBhvr>
                                        <p:cTn dur="1000"/>
                                        <p:tgtEl>
                                          <p:spTgt spid="10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10" st="10"/>
                                            </p:txEl>
                                          </p:spTgt>
                                        </p:tgtEl>
                                        <p:attrNameLst>
                                          <p:attrName>style.visibility</p:attrName>
                                        </p:attrNameLst>
                                      </p:cBhvr>
                                      <p:to>
                                        <p:strVal val="visible"/>
                                      </p:to>
                                    </p:set>
                                    <p:animEffect filter="fade" transition="in">
                                      <p:cBhvr>
                                        <p:cTn dur="1000"/>
                                        <p:tgtEl>
                                          <p:spTgt spid="10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11" st="11"/>
                                            </p:txEl>
                                          </p:spTgt>
                                        </p:tgtEl>
                                        <p:attrNameLst>
                                          <p:attrName>style.visibility</p:attrName>
                                        </p:attrNameLst>
                                      </p:cBhvr>
                                      <p:to>
                                        <p:strVal val="visible"/>
                                      </p:to>
                                    </p:set>
                                    <p:animEffect filter="fade" transition="in">
                                      <p:cBhvr>
                                        <p:cTn dur="1000"/>
                                        <p:tgtEl>
                                          <p:spTgt spid="10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12" st="12"/>
                                            </p:txEl>
                                          </p:spTgt>
                                        </p:tgtEl>
                                        <p:attrNameLst>
                                          <p:attrName>style.visibility</p:attrName>
                                        </p:attrNameLst>
                                      </p:cBhvr>
                                      <p:to>
                                        <p:strVal val="visible"/>
                                      </p:to>
                                    </p:set>
                                    <p:animEffect filter="fade" transition="in">
                                      <p:cBhvr>
                                        <p:cTn dur="1000"/>
                                        <p:tgtEl>
                                          <p:spTgt spid="104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22"/>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For applications that want to DISTINGUISH CC at runtime.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Some apps does not need to manage CC at runtime.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They require CC after analysis, debug, profile, etc. (decoding doesn’t require high speed)</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Existing CC collection tech. are all software based.</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unwinding, Stack Shadowing, CC Enc/Dec.</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 Assisted Tracing (Intel Processor Trace, Arm CoreSight) are designed for postmortem analysis.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b="1" lang="en">
                <a:latin typeface="Twentieth Century"/>
                <a:ea typeface="Twentieth Century"/>
                <a:cs typeface="Twentieth Century"/>
                <a:sym typeface="Twentieth Century"/>
              </a:rPr>
              <a:t>Idea: Provide </a:t>
            </a:r>
            <a:r>
              <a:rPr b="1" i="1" lang="en" u="sng">
                <a:latin typeface="Twentieth Century"/>
                <a:ea typeface="Twentieth Century"/>
                <a:cs typeface="Twentieth Century"/>
                <a:sym typeface="Twentieth Century"/>
              </a:rPr>
              <a:t>CCID register</a:t>
            </a:r>
            <a:r>
              <a:rPr b="1" lang="en">
                <a:latin typeface="Twentieth Century"/>
                <a:ea typeface="Twentieth Century"/>
                <a:cs typeface="Twentieth Century"/>
                <a:sym typeface="Twentieth Century"/>
              </a:rPr>
              <a:t> that stores the identifier of the current calling context.</a:t>
            </a:r>
            <a:endParaRPr b="1">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It can reduce overhead to </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 CCs and hashing it. (Stack Unwinding, Stack Shadowing)</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 function ID and associating with encodings (CC Encoding schemes).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 to HW supported CFI,</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It is a new debug info not a security mitigation such as CFI.</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59" name="Google Shape;1059;p122"/>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HW Supported Runtime Calling Context ID Generation</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0" st="0"/>
                                            </p:txEl>
                                          </p:spTgt>
                                        </p:tgtEl>
                                        <p:attrNameLst>
                                          <p:attrName>style.visibility</p:attrName>
                                        </p:attrNameLst>
                                      </p:cBhvr>
                                      <p:to>
                                        <p:strVal val="visible"/>
                                      </p:to>
                                    </p:set>
                                    <p:animEffect filter="fade" transition="in">
                                      <p:cBhvr>
                                        <p:cTn dur="1000"/>
                                        <p:tgtEl>
                                          <p:spTgt spid="10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 st="1"/>
                                            </p:txEl>
                                          </p:spTgt>
                                        </p:tgtEl>
                                        <p:attrNameLst>
                                          <p:attrName>style.visibility</p:attrName>
                                        </p:attrNameLst>
                                      </p:cBhvr>
                                      <p:to>
                                        <p:strVal val="visible"/>
                                      </p:to>
                                    </p:set>
                                    <p:animEffect filter="fade" transition="in">
                                      <p:cBhvr>
                                        <p:cTn dur="1000"/>
                                        <p:tgtEl>
                                          <p:spTgt spid="10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2" st="2"/>
                                            </p:txEl>
                                          </p:spTgt>
                                        </p:tgtEl>
                                        <p:attrNameLst>
                                          <p:attrName>style.visibility</p:attrName>
                                        </p:attrNameLst>
                                      </p:cBhvr>
                                      <p:to>
                                        <p:strVal val="visible"/>
                                      </p:to>
                                    </p:set>
                                    <p:animEffect filter="fade" transition="in">
                                      <p:cBhvr>
                                        <p:cTn dur="1000"/>
                                        <p:tgtEl>
                                          <p:spTgt spid="10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3" st="3"/>
                                            </p:txEl>
                                          </p:spTgt>
                                        </p:tgtEl>
                                        <p:attrNameLst>
                                          <p:attrName>style.visibility</p:attrName>
                                        </p:attrNameLst>
                                      </p:cBhvr>
                                      <p:to>
                                        <p:strVal val="visible"/>
                                      </p:to>
                                    </p:set>
                                    <p:animEffect filter="fade" transition="in">
                                      <p:cBhvr>
                                        <p:cTn dur="1000"/>
                                        <p:tgtEl>
                                          <p:spTgt spid="10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4" st="4"/>
                                            </p:txEl>
                                          </p:spTgt>
                                        </p:tgtEl>
                                        <p:attrNameLst>
                                          <p:attrName>style.visibility</p:attrName>
                                        </p:attrNameLst>
                                      </p:cBhvr>
                                      <p:to>
                                        <p:strVal val="visible"/>
                                      </p:to>
                                    </p:set>
                                    <p:animEffect filter="fade" transition="in">
                                      <p:cBhvr>
                                        <p:cTn dur="1000"/>
                                        <p:tgtEl>
                                          <p:spTgt spid="10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5" st="5"/>
                                            </p:txEl>
                                          </p:spTgt>
                                        </p:tgtEl>
                                        <p:attrNameLst>
                                          <p:attrName>style.visibility</p:attrName>
                                        </p:attrNameLst>
                                      </p:cBhvr>
                                      <p:to>
                                        <p:strVal val="visible"/>
                                      </p:to>
                                    </p:set>
                                    <p:animEffect filter="fade" transition="in">
                                      <p:cBhvr>
                                        <p:cTn dur="1000"/>
                                        <p:tgtEl>
                                          <p:spTgt spid="10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6" st="6"/>
                                            </p:txEl>
                                          </p:spTgt>
                                        </p:tgtEl>
                                        <p:attrNameLst>
                                          <p:attrName>style.visibility</p:attrName>
                                        </p:attrNameLst>
                                      </p:cBhvr>
                                      <p:to>
                                        <p:strVal val="visible"/>
                                      </p:to>
                                    </p:set>
                                    <p:animEffect filter="fade" transition="in">
                                      <p:cBhvr>
                                        <p:cTn dur="1000"/>
                                        <p:tgtEl>
                                          <p:spTgt spid="10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7" st="7"/>
                                            </p:txEl>
                                          </p:spTgt>
                                        </p:tgtEl>
                                        <p:attrNameLst>
                                          <p:attrName>style.visibility</p:attrName>
                                        </p:attrNameLst>
                                      </p:cBhvr>
                                      <p:to>
                                        <p:strVal val="visible"/>
                                      </p:to>
                                    </p:set>
                                    <p:animEffect filter="fade" transition="in">
                                      <p:cBhvr>
                                        <p:cTn dur="1000"/>
                                        <p:tgtEl>
                                          <p:spTgt spid="10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8" st="8"/>
                                            </p:txEl>
                                          </p:spTgt>
                                        </p:tgtEl>
                                        <p:attrNameLst>
                                          <p:attrName>style.visibility</p:attrName>
                                        </p:attrNameLst>
                                      </p:cBhvr>
                                      <p:to>
                                        <p:strVal val="visible"/>
                                      </p:to>
                                    </p:set>
                                    <p:animEffect filter="fade" transition="in">
                                      <p:cBhvr>
                                        <p:cTn dur="1000"/>
                                        <p:tgtEl>
                                          <p:spTgt spid="10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9" st="9"/>
                                            </p:txEl>
                                          </p:spTgt>
                                        </p:tgtEl>
                                        <p:attrNameLst>
                                          <p:attrName>style.visibility</p:attrName>
                                        </p:attrNameLst>
                                      </p:cBhvr>
                                      <p:to>
                                        <p:strVal val="visible"/>
                                      </p:to>
                                    </p:set>
                                    <p:animEffect filter="fade" transition="in">
                                      <p:cBhvr>
                                        <p:cTn dur="1000"/>
                                        <p:tgtEl>
                                          <p:spTgt spid="10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0" st="10"/>
                                            </p:txEl>
                                          </p:spTgt>
                                        </p:tgtEl>
                                        <p:attrNameLst>
                                          <p:attrName>style.visibility</p:attrName>
                                        </p:attrNameLst>
                                      </p:cBhvr>
                                      <p:to>
                                        <p:strVal val="visible"/>
                                      </p:to>
                                    </p:set>
                                    <p:animEffect filter="fade" transition="in">
                                      <p:cBhvr>
                                        <p:cTn dur="1000"/>
                                        <p:tgtEl>
                                          <p:spTgt spid="10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1" st="11"/>
                                            </p:txEl>
                                          </p:spTgt>
                                        </p:tgtEl>
                                        <p:attrNameLst>
                                          <p:attrName>style.visibility</p:attrName>
                                        </p:attrNameLst>
                                      </p:cBhvr>
                                      <p:to>
                                        <p:strVal val="visible"/>
                                      </p:to>
                                    </p:set>
                                    <p:animEffect filter="fade" transition="in">
                                      <p:cBhvr>
                                        <p:cTn dur="1000"/>
                                        <p:tgtEl>
                                          <p:spTgt spid="105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2" st="12"/>
                                            </p:txEl>
                                          </p:spTgt>
                                        </p:tgtEl>
                                        <p:attrNameLst>
                                          <p:attrName>style.visibility</p:attrName>
                                        </p:attrNameLst>
                                      </p:cBhvr>
                                      <p:to>
                                        <p:strVal val="visible"/>
                                      </p:to>
                                    </p:set>
                                    <p:animEffect filter="fade" transition="in">
                                      <p:cBhvr>
                                        <p:cTn dur="1000"/>
                                        <p:tgtEl>
                                          <p:spTgt spid="105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3" st="13"/>
                                            </p:txEl>
                                          </p:spTgt>
                                        </p:tgtEl>
                                        <p:attrNameLst>
                                          <p:attrName>style.visibility</p:attrName>
                                        </p:attrNameLst>
                                      </p:cBhvr>
                                      <p:to>
                                        <p:strVal val="visible"/>
                                      </p:to>
                                    </p:set>
                                    <p:animEffect filter="fade" transition="in">
                                      <p:cBhvr>
                                        <p:cTn dur="1000"/>
                                        <p:tgtEl>
                                          <p:spTgt spid="105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4" st="14"/>
                                            </p:txEl>
                                          </p:spTgt>
                                        </p:tgtEl>
                                        <p:attrNameLst>
                                          <p:attrName>style.visibility</p:attrName>
                                        </p:attrNameLst>
                                      </p:cBhvr>
                                      <p:to>
                                        <p:strVal val="visible"/>
                                      </p:to>
                                    </p:set>
                                    <p:animEffect filter="fade" transition="in">
                                      <p:cBhvr>
                                        <p:cTn dur="1000"/>
                                        <p:tgtEl>
                                          <p:spTgt spid="1058">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23"/>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Compiler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Generates call graph and calculates weight of each edge.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Use special instruction call_cc / ret_cc with weight to update CCID register.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Provides CCID register.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Call_cc callee weight: adds weight to CCID register.</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For recursive call, Push current CCID to Shadow CCID Stack or restore CCID from stack.</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Ret_cc weight: subtract weight from CCID register, pop CCID from shadow CCID stack.</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User space can only read CCID register.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Written by only call_cc and ret_cc</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Need code integrity</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SW-based application use CCID register with help of instrumentation tool</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HW-based application use CCID register through debug interface.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066" name="Google Shape;1066;p123"/>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n">
                <a:latin typeface="Twentieth Century"/>
                <a:ea typeface="Twentieth Century"/>
                <a:cs typeface="Twentieth Century"/>
                <a:sym typeface="Twentieth Century"/>
              </a:rPr>
              <a:t>HW Supported Runtime Calling Context ID Generation</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0" st="0"/>
                                            </p:txEl>
                                          </p:spTgt>
                                        </p:tgtEl>
                                        <p:attrNameLst>
                                          <p:attrName>style.visibility</p:attrName>
                                        </p:attrNameLst>
                                      </p:cBhvr>
                                      <p:to>
                                        <p:strVal val="visible"/>
                                      </p:to>
                                    </p:set>
                                    <p:animEffect filter="fade" transition="in">
                                      <p:cBhvr>
                                        <p:cTn dur="1000"/>
                                        <p:tgtEl>
                                          <p:spTgt spid="10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 st="1"/>
                                            </p:txEl>
                                          </p:spTgt>
                                        </p:tgtEl>
                                        <p:attrNameLst>
                                          <p:attrName>style.visibility</p:attrName>
                                        </p:attrNameLst>
                                      </p:cBhvr>
                                      <p:to>
                                        <p:strVal val="visible"/>
                                      </p:to>
                                    </p:set>
                                    <p:animEffect filter="fade" transition="in">
                                      <p:cBhvr>
                                        <p:cTn dur="1000"/>
                                        <p:tgtEl>
                                          <p:spTgt spid="10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2" st="2"/>
                                            </p:txEl>
                                          </p:spTgt>
                                        </p:tgtEl>
                                        <p:attrNameLst>
                                          <p:attrName>style.visibility</p:attrName>
                                        </p:attrNameLst>
                                      </p:cBhvr>
                                      <p:to>
                                        <p:strVal val="visible"/>
                                      </p:to>
                                    </p:set>
                                    <p:animEffect filter="fade" transition="in">
                                      <p:cBhvr>
                                        <p:cTn dur="1000"/>
                                        <p:tgtEl>
                                          <p:spTgt spid="10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3" st="3"/>
                                            </p:txEl>
                                          </p:spTgt>
                                        </p:tgtEl>
                                        <p:attrNameLst>
                                          <p:attrName>style.visibility</p:attrName>
                                        </p:attrNameLst>
                                      </p:cBhvr>
                                      <p:to>
                                        <p:strVal val="visible"/>
                                      </p:to>
                                    </p:set>
                                    <p:animEffect filter="fade" transition="in">
                                      <p:cBhvr>
                                        <p:cTn dur="1000"/>
                                        <p:tgtEl>
                                          <p:spTgt spid="10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4" st="4"/>
                                            </p:txEl>
                                          </p:spTgt>
                                        </p:tgtEl>
                                        <p:attrNameLst>
                                          <p:attrName>style.visibility</p:attrName>
                                        </p:attrNameLst>
                                      </p:cBhvr>
                                      <p:to>
                                        <p:strVal val="visible"/>
                                      </p:to>
                                    </p:set>
                                    <p:animEffect filter="fade" transition="in">
                                      <p:cBhvr>
                                        <p:cTn dur="1000"/>
                                        <p:tgtEl>
                                          <p:spTgt spid="10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5" st="5"/>
                                            </p:txEl>
                                          </p:spTgt>
                                        </p:tgtEl>
                                        <p:attrNameLst>
                                          <p:attrName>style.visibility</p:attrName>
                                        </p:attrNameLst>
                                      </p:cBhvr>
                                      <p:to>
                                        <p:strVal val="visible"/>
                                      </p:to>
                                    </p:set>
                                    <p:animEffect filter="fade" transition="in">
                                      <p:cBhvr>
                                        <p:cTn dur="1000"/>
                                        <p:tgtEl>
                                          <p:spTgt spid="10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6" st="6"/>
                                            </p:txEl>
                                          </p:spTgt>
                                        </p:tgtEl>
                                        <p:attrNameLst>
                                          <p:attrName>style.visibility</p:attrName>
                                        </p:attrNameLst>
                                      </p:cBhvr>
                                      <p:to>
                                        <p:strVal val="visible"/>
                                      </p:to>
                                    </p:set>
                                    <p:animEffect filter="fade" transition="in">
                                      <p:cBhvr>
                                        <p:cTn dur="1000"/>
                                        <p:tgtEl>
                                          <p:spTgt spid="10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7" st="7"/>
                                            </p:txEl>
                                          </p:spTgt>
                                        </p:tgtEl>
                                        <p:attrNameLst>
                                          <p:attrName>style.visibility</p:attrName>
                                        </p:attrNameLst>
                                      </p:cBhvr>
                                      <p:to>
                                        <p:strVal val="visible"/>
                                      </p:to>
                                    </p:set>
                                    <p:animEffect filter="fade" transition="in">
                                      <p:cBhvr>
                                        <p:cTn dur="1000"/>
                                        <p:tgtEl>
                                          <p:spTgt spid="10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8" st="8"/>
                                            </p:txEl>
                                          </p:spTgt>
                                        </p:tgtEl>
                                        <p:attrNameLst>
                                          <p:attrName>style.visibility</p:attrName>
                                        </p:attrNameLst>
                                      </p:cBhvr>
                                      <p:to>
                                        <p:strVal val="visible"/>
                                      </p:to>
                                    </p:set>
                                    <p:animEffect filter="fade" transition="in">
                                      <p:cBhvr>
                                        <p:cTn dur="1000"/>
                                        <p:tgtEl>
                                          <p:spTgt spid="10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9" st="9"/>
                                            </p:txEl>
                                          </p:spTgt>
                                        </p:tgtEl>
                                        <p:attrNameLst>
                                          <p:attrName>style.visibility</p:attrName>
                                        </p:attrNameLst>
                                      </p:cBhvr>
                                      <p:to>
                                        <p:strVal val="visible"/>
                                      </p:to>
                                    </p:set>
                                    <p:animEffect filter="fade" transition="in">
                                      <p:cBhvr>
                                        <p:cTn dur="1000"/>
                                        <p:tgtEl>
                                          <p:spTgt spid="10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0" st="10"/>
                                            </p:txEl>
                                          </p:spTgt>
                                        </p:tgtEl>
                                        <p:attrNameLst>
                                          <p:attrName>style.visibility</p:attrName>
                                        </p:attrNameLst>
                                      </p:cBhvr>
                                      <p:to>
                                        <p:strVal val="visible"/>
                                      </p:to>
                                    </p:set>
                                    <p:animEffect filter="fade" transition="in">
                                      <p:cBhvr>
                                        <p:cTn dur="1000"/>
                                        <p:tgtEl>
                                          <p:spTgt spid="10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1" st="11"/>
                                            </p:txEl>
                                          </p:spTgt>
                                        </p:tgtEl>
                                        <p:attrNameLst>
                                          <p:attrName>style.visibility</p:attrName>
                                        </p:attrNameLst>
                                      </p:cBhvr>
                                      <p:to>
                                        <p:strVal val="visible"/>
                                      </p:to>
                                    </p:set>
                                    <p:animEffect filter="fade" transition="in">
                                      <p:cBhvr>
                                        <p:cTn dur="1000"/>
                                        <p:tgtEl>
                                          <p:spTgt spid="106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2" st="12"/>
                                            </p:txEl>
                                          </p:spTgt>
                                        </p:tgtEl>
                                        <p:attrNameLst>
                                          <p:attrName>style.visibility</p:attrName>
                                        </p:attrNameLst>
                                      </p:cBhvr>
                                      <p:to>
                                        <p:strVal val="visible"/>
                                      </p:to>
                                    </p:set>
                                    <p:animEffect filter="fade" transition="in">
                                      <p:cBhvr>
                                        <p:cTn dur="1000"/>
                                        <p:tgtEl>
                                          <p:spTgt spid="106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3" st="13"/>
                                            </p:txEl>
                                          </p:spTgt>
                                        </p:tgtEl>
                                        <p:attrNameLst>
                                          <p:attrName>style.visibility</p:attrName>
                                        </p:attrNameLst>
                                      </p:cBhvr>
                                      <p:to>
                                        <p:strVal val="visible"/>
                                      </p:to>
                                    </p:set>
                                    <p:animEffect filter="fade" transition="in">
                                      <p:cBhvr>
                                        <p:cTn dur="1000"/>
                                        <p:tgtEl>
                                          <p:spTgt spid="106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4" st="14"/>
                                            </p:txEl>
                                          </p:spTgt>
                                        </p:tgtEl>
                                        <p:attrNameLst>
                                          <p:attrName>style.visibility</p:attrName>
                                        </p:attrNameLst>
                                      </p:cBhvr>
                                      <p:to>
                                        <p:strVal val="visible"/>
                                      </p:to>
                                    </p:set>
                                    <p:animEffect filter="fade" transition="in">
                                      <p:cBhvr>
                                        <p:cTn dur="1000"/>
                                        <p:tgtEl>
                                          <p:spTgt spid="106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xEl>
                                              <p:pRg end="15" st="15"/>
                                            </p:txEl>
                                          </p:spTgt>
                                        </p:tgtEl>
                                        <p:attrNameLst>
                                          <p:attrName>style.visibility</p:attrName>
                                        </p:attrNameLst>
                                      </p:cBhvr>
                                      <p:to>
                                        <p:strVal val="visible"/>
                                      </p:to>
                                    </p:set>
                                    <p:animEffect filter="fade" transition="in">
                                      <p:cBhvr>
                                        <p:cTn dur="1000"/>
                                        <p:tgtEl>
                                          <p:spTgt spid="1065">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24"/>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73" name="Google Shape;1073;p124"/>
          <p:cNvPicPr preferRelativeResize="0"/>
          <p:nvPr/>
        </p:nvPicPr>
        <p:blipFill>
          <a:blip r:embed="rId3">
            <a:alphaModFix/>
          </a:blip>
          <a:stretch>
            <a:fillRect/>
          </a:stretch>
        </p:blipFill>
        <p:spPr>
          <a:xfrm>
            <a:off x="216400" y="365825"/>
            <a:ext cx="8275025" cy="376722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25"/>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80" name="Google Shape;1080;p125"/>
          <p:cNvPicPr preferRelativeResize="0"/>
          <p:nvPr/>
        </p:nvPicPr>
        <p:blipFill>
          <a:blip r:embed="rId3">
            <a:alphaModFix/>
          </a:blip>
          <a:stretch>
            <a:fillRect/>
          </a:stretch>
        </p:blipFill>
        <p:spPr>
          <a:xfrm>
            <a:off x="345550" y="171825"/>
            <a:ext cx="7887416" cy="43867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26"/>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87" name="Google Shape;1087;p126"/>
          <p:cNvPicPr preferRelativeResize="0"/>
          <p:nvPr/>
        </p:nvPicPr>
        <p:blipFill>
          <a:blip r:embed="rId3">
            <a:alphaModFix/>
          </a:blip>
          <a:stretch>
            <a:fillRect/>
          </a:stretch>
        </p:blipFill>
        <p:spPr>
          <a:xfrm>
            <a:off x="242902" y="111325"/>
            <a:ext cx="8581051" cy="438587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27"/>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94" name="Google Shape;1094;p127"/>
          <p:cNvPicPr preferRelativeResize="0"/>
          <p:nvPr/>
        </p:nvPicPr>
        <p:blipFill>
          <a:blip r:embed="rId3">
            <a:alphaModFix/>
          </a:blip>
          <a:stretch>
            <a:fillRect/>
          </a:stretch>
        </p:blipFill>
        <p:spPr>
          <a:xfrm>
            <a:off x="235825" y="112725"/>
            <a:ext cx="8110325" cy="45189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28"/>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ARM CoreSite</a:t>
            </a:r>
            <a:endParaRPr>
              <a:latin typeface="Twentieth Century"/>
              <a:ea typeface="Twentieth Century"/>
              <a:cs typeface="Twentieth Century"/>
              <a:sym typeface="Twentieth Century"/>
            </a:endParaRPr>
          </a:p>
        </p:txBody>
      </p:sp>
      <p:sp>
        <p:nvSpPr>
          <p:cNvPr id="1101" name="Google Shape;1101;p128"/>
          <p:cNvSpPr txBox="1"/>
          <p:nvPr/>
        </p:nvSpPr>
        <p:spPr>
          <a:xfrm>
            <a:off x="62850" y="4625600"/>
            <a:ext cx="90183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a:t>
            </a:r>
            <a:r>
              <a:rPr lang="en" sz="1000" u="sng">
                <a:solidFill>
                  <a:schemeClr val="hlink"/>
                </a:solidFill>
                <a:hlinkClick r:id="rId3"/>
              </a:rPr>
              <a:t>https://elinux.org/images/b/b3/Hardware_Assisted_Tracing_on_ARM.pdf</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u="sng">
                <a:solidFill>
                  <a:schemeClr val="hlink"/>
                </a:solidFill>
                <a:hlinkClick r:id="rId4"/>
              </a:rPr>
              <a:t>https://www.youtube.com/watch?v=Gm2ZXIB18PQ</a:t>
            </a:r>
            <a:r>
              <a:rPr lang="en" sz="1000">
                <a:solidFill>
                  <a:schemeClr val="dk1"/>
                </a:solidFill>
              </a:rPr>
              <a:t> </a:t>
            </a:r>
            <a:endParaRPr sz="1000">
              <a:solidFill>
                <a:srgbClr val="0055C9"/>
              </a:solidFill>
            </a:endParaRPr>
          </a:p>
        </p:txBody>
      </p:sp>
      <p:pic>
        <p:nvPicPr>
          <p:cNvPr id="1102" name="Google Shape;1102;p128"/>
          <p:cNvPicPr preferRelativeResize="0"/>
          <p:nvPr/>
        </p:nvPicPr>
        <p:blipFill>
          <a:blip r:embed="rId5">
            <a:alphaModFix/>
          </a:blip>
          <a:stretch>
            <a:fillRect/>
          </a:stretch>
        </p:blipFill>
        <p:spPr>
          <a:xfrm>
            <a:off x="152400" y="1115650"/>
            <a:ext cx="6373857" cy="3509950"/>
          </a:xfrm>
          <a:prstGeom prst="rect">
            <a:avLst/>
          </a:prstGeom>
          <a:noFill/>
          <a:ln>
            <a:noFill/>
          </a:ln>
        </p:spPr>
      </p:pic>
      <p:pic>
        <p:nvPicPr>
          <p:cNvPr id="1103" name="Google Shape;1103;p128"/>
          <p:cNvPicPr preferRelativeResize="0"/>
          <p:nvPr/>
        </p:nvPicPr>
        <p:blipFill>
          <a:blip r:embed="rId6">
            <a:alphaModFix/>
          </a:blip>
          <a:stretch>
            <a:fillRect/>
          </a:stretch>
        </p:blipFill>
        <p:spPr>
          <a:xfrm>
            <a:off x="62850" y="137256"/>
            <a:ext cx="9143998" cy="4410337"/>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29"/>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110" name="Google Shape;1110;p129"/>
          <p:cNvPicPr preferRelativeResize="0"/>
          <p:nvPr/>
        </p:nvPicPr>
        <p:blipFill>
          <a:blip r:embed="rId3">
            <a:alphaModFix/>
          </a:blip>
          <a:stretch>
            <a:fillRect/>
          </a:stretch>
        </p:blipFill>
        <p:spPr>
          <a:xfrm>
            <a:off x="62850" y="39525"/>
            <a:ext cx="8604775" cy="473847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30"/>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u="sng">
                <a:solidFill>
                  <a:schemeClr val="hlink"/>
                </a:solidFill>
                <a:hlinkClick r:id="rId3"/>
              </a:rPr>
              <a:t>https://www.youtube.com/watch?v=pDF09K3753k</a:t>
            </a:r>
            <a:r>
              <a:rPr lang="en" sz="1000">
                <a:solidFill>
                  <a:schemeClr val="dk1"/>
                </a:solidFill>
              </a:rPr>
              <a:t> </a:t>
            </a:r>
            <a:endParaRPr sz="1000">
              <a:solidFill>
                <a:srgbClr val="0055C9"/>
              </a:solidFill>
            </a:endParaRPr>
          </a:p>
        </p:txBody>
      </p:sp>
      <p:pic>
        <p:nvPicPr>
          <p:cNvPr id="1117" name="Google Shape;1117;p130"/>
          <p:cNvPicPr preferRelativeResize="0"/>
          <p:nvPr/>
        </p:nvPicPr>
        <p:blipFill>
          <a:blip r:embed="rId4">
            <a:alphaModFix/>
          </a:blip>
          <a:stretch>
            <a:fillRect/>
          </a:stretch>
        </p:blipFill>
        <p:spPr>
          <a:xfrm>
            <a:off x="152400" y="1066800"/>
            <a:ext cx="8839200" cy="323088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31"/>
          <p:cNvSpPr txBox="1"/>
          <p:nvPr/>
        </p:nvSpPr>
        <p:spPr>
          <a:xfrm>
            <a:off x="62850" y="4778000"/>
            <a:ext cx="9018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124" name="Google Shape;1124;p131"/>
          <p:cNvPicPr preferRelativeResize="0"/>
          <p:nvPr/>
        </p:nvPicPr>
        <p:blipFill>
          <a:blip r:embed="rId3">
            <a:alphaModFix/>
          </a:blip>
          <a:stretch>
            <a:fillRect/>
          </a:stretch>
        </p:blipFill>
        <p:spPr>
          <a:xfrm>
            <a:off x="110875" y="0"/>
            <a:ext cx="8649076" cy="46962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32"/>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CRA Monitor using CoreSight</a:t>
            </a:r>
            <a:endParaRPr>
              <a:latin typeface="Twentieth Century"/>
              <a:ea typeface="Twentieth Century"/>
              <a:cs typeface="Twentieth Century"/>
              <a:sym typeface="Twentieth Century"/>
            </a:endParaRPr>
          </a:p>
        </p:txBody>
      </p:sp>
      <p:sp>
        <p:nvSpPr>
          <p:cNvPr id="1131" name="Google Shape;1131;p132"/>
          <p:cNvSpPr txBox="1"/>
          <p:nvPr/>
        </p:nvSpPr>
        <p:spPr>
          <a:xfrm>
            <a:off x="62850" y="4661100"/>
            <a:ext cx="90183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900">
                <a:solidFill>
                  <a:schemeClr val="dk1"/>
                </a:solidFill>
              </a:rPr>
              <a:t>Yongje Lee, Jinyong Lee, Ingoo Heo, Dongil Hwang, and Yunheung Paek. 2017. Using CoreSight PTM to Integrate CRA Monitoring IPs in an ARM-Based SoC. ACM Trans. Des. Autom. Electron. Syst. 22, 3, Article 52 (April 2017), 25 pages. </a:t>
            </a:r>
            <a:r>
              <a:rPr lang="en" sz="900">
                <a:solidFill>
                  <a:srgbClr val="0055C9"/>
                </a:solidFill>
              </a:rPr>
              <a:t>https://doi.org/10.1145/3035965</a:t>
            </a:r>
            <a:endParaRPr sz="900">
              <a:solidFill>
                <a:srgbClr val="0055C9"/>
              </a:solidFill>
            </a:endParaRPr>
          </a:p>
        </p:txBody>
      </p:sp>
      <p:pic>
        <p:nvPicPr>
          <p:cNvPr id="1132" name="Google Shape;1132;p132"/>
          <p:cNvPicPr preferRelativeResize="0"/>
          <p:nvPr/>
        </p:nvPicPr>
        <p:blipFill>
          <a:blip r:embed="rId3">
            <a:alphaModFix/>
          </a:blip>
          <a:stretch>
            <a:fillRect/>
          </a:stretch>
        </p:blipFill>
        <p:spPr>
          <a:xfrm>
            <a:off x="152400" y="1115650"/>
            <a:ext cx="8839201" cy="3433637"/>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33"/>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Complete Cyclic CG.</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Address indirect call.</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Check how SVF does points-to analysis (PTA)</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Address practical issues.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Size, Setjmp/Longjmp(Exception), multi-threaded program, unintended branch,</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Static stats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#nodes, #edges, #cycles, #func-ptrs, Max Neighbors, Max Incidents, Max cycle length, Max call path length, MaxID, etc</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 stats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#contexts, Max call path length</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Sensitivity study of shadow CCID buffer.</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Runtime speedup of target applications </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Apps w/ existing tech. vs. SW-DCCE vs. HW-DCCE.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139" name="Google Shape;1139;p133"/>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animEffect filter="fade" transition="in">
                                      <p:cBhvr>
                                        <p:cTn dur="1000"/>
                                        <p:tgtEl>
                                          <p:spTgt spid="1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animEffect filter="fade" transition="in">
                                      <p:cBhvr>
                                        <p:cTn dur="1000"/>
                                        <p:tgtEl>
                                          <p:spTgt spid="1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animEffect filter="fade" transition="in">
                                      <p:cBhvr>
                                        <p:cTn dur="1000"/>
                                        <p:tgtEl>
                                          <p:spTgt spid="11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3" st="3"/>
                                            </p:txEl>
                                          </p:spTgt>
                                        </p:tgtEl>
                                        <p:attrNameLst>
                                          <p:attrName>style.visibility</p:attrName>
                                        </p:attrNameLst>
                                      </p:cBhvr>
                                      <p:to>
                                        <p:strVal val="visible"/>
                                      </p:to>
                                    </p:set>
                                    <p:animEffect filter="fade" transition="in">
                                      <p:cBhvr>
                                        <p:cTn dur="1000"/>
                                        <p:tgtEl>
                                          <p:spTgt spid="11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4" st="4"/>
                                            </p:txEl>
                                          </p:spTgt>
                                        </p:tgtEl>
                                        <p:attrNameLst>
                                          <p:attrName>style.visibility</p:attrName>
                                        </p:attrNameLst>
                                      </p:cBhvr>
                                      <p:to>
                                        <p:strVal val="visible"/>
                                      </p:to>
                                    </p:set>
                                    <p:animEffect filter="fade" transition="in">
                                      <p:cBhvr>
                                        <p:cTn dur="1000"/>
                                        <p:tgtEl>
                                          <p:spTgt spid="11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5" st="5"/>
                                            </p:txEl>
                                          </p:spTgt>
                                        </p:tgtEl>
                                        <p:attrNameLst>
                                          <p:attrName>style.visibility</p:attrName>
                                        </p:attrNameLst>
                                      </p:cBhvr>
                                      <p:to>
                                        <p:strVal val="visible"/>
                                      </p:to>
                                    </p:set>
                                    <p:animEffect filter="fade" transition="in">
                                      <p:cBhvr>
                                        <p:cTn dur="1000"/>
                                        <p:tgtEl>
                                          <p:spTgt spid="11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6" st="6"/>
                                            </p:txEl>
                                          </p:spTgt>
                                        </p:tgtEl>
                                        <p:attrNameLst>
                                          <p:attrName>style.visibility</p:attrName>
                                        </p:attrNameLst>
                                      </p:cBhvr>
                                      <p:to>
                                        <p:strVal val="visible"/>
                                      </p:to>
                                    </p:set>
                                    <p:animEffect filter="fade" transition="in">
                                      <p:cBhvr>
                                        <p:cTn dur="1000"/>
                                        <p:tgtEl>
                                          <p:spTgt spid="11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7" st="7"/>
                                            </p:txEl>
                                          </p:spTgt>
                                        </p:tgtEl>
                                        <p:attrNameLst>
                                          <p:attrName>style.visibility</p:attrName>
                                        </p:attrNameLst>
                                      </p:cBhvr>
                                      <p:to>
                                        <p:strVal val="visible"/>
                                      </p:to>
                                    </p:set>
                                    <p:animEffect filter="fade" transition="in">
                                      <p:cBhvr>
                                        <p:cTn dur="1000"/>
                                        <p:tgtEl>
                                          <p:spTgt spid="11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8" st="8"/>
                                            </p:txEl>
                                          </p:spTgt>
                                        </p:tgtEl>
                                        <p:attrNameLst>
                                          <p:attrName>style.visibility</p:attrName>
                                        </p:attrNameLst>
                                      </p:cBhvr>
                                      <p:to>
                                        <p:strVal val="visible"/>
                                      </p:to>
                                    </p:set>
                                    <p:animEffect filter="fade" transition="in">
                                      <p:cBhvr>
                                        <p:cTn dur="1000"/>
                                        <p:tgtEl>
                                          <p:spTgt spid="11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9" st="9"/>
                                            </p:txEl>
                                          </p:spTgt>
                                        </p:tgtEl>
                                        <p:attrNameLst>
                                          <p:attrName>style.visibility</p:attrName>
                                        </p:attrNameLst>
                                      </p:cBhvr>
                                      <p:to>
                                        <p:strVal val="visible"/>
                                      </p:to>
                                    </p:set>
                                    <p:animEffect filter="fade" transition="in">
                                      <p:cBhvr>
                                        <p:cTn dur="1000"/>
                                        <p:tgtEl>
                                          <p:spTgt spid="11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0" st="10"/>
                                            </p:txEl>
                                          </p:spTgt>
                                        </p:tgtEl>
                                        <p:attrNameLst>
                                          <p:attrName>style.visibility</p:attrName>
                                        </p:attrNameLst>
                                      </p:cBhvr>
                                      <p:to>
                                        <p:strVal val="visible"/>
                                      </p:to>
                                    </p:set>
                                    <p:animEffect filter="fade" transition="in">
                                      <p:cBhvr>
                                        <p:cTn dur="1000"/>
                                        <p:tgtEl>
                                          <p:spTgt spid="11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1" st="11"/>
                                            </p:txEl>
                                          </p:spTgt>
                                        </p:tgtEl>
                                        <p:attrNameLst>
                                          <p:attrName>style.visibility</p:attrName>
                                        </p:attrNameLst>
                                      </p:cBhvr>
                                      <p:to>
                                        <p:strVal val="visible"/>
                                      </p:to>
                                    </p:set>
                                    <p:animEffect filter="fade" transition="in">
                                      <p:cBhvr>
                                        <p:cTn dur="1000"/>
                                        <p:tgtEl>
                                          <p:spTgt spid="11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2" st="12"/>
                                            </p:txEl>
                                          </p:spTgt>
                                        </p:tgtEl>
                                        <p:attrNameLst>
                                          <p:attrName>style.visibility</p:attrName>
                                        </p:attrNameLst>
                                      </p:cBhvr>
                                      <p:to>
                                        <p:strVal val="visible"/>
                                      </p:to>
                                    </p:set>
                                    <p:animEffect filter="fade" transition="in">
                                      <p:cBhvr>
                                        <p:cTn dur="1000"/>
                                        <p:tgtEl>
                                          <p:spTgt spid="113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3" st="13"/>
                                            </p:txEl>
                                          </p:spTgt>
                                        </p:tgtEl>
                                        <p:attrNameLst>
                                          <p:attrName>style.visibility</p:attrName>
                                        </p:attrNameLst>
                                      </p:cBhvr>
                                      <p:to>
                                        <p:strVal val="visible"/>
                                      </p:to>
                                    </p:set>
                                    <p:animEffect filter="fade" transition="in">
                                      <p:cBhvr>
                                        <p:cTn dur="1000"/>
                                        <p:tgtEl>
                                          <p:spTgt spid="1138">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34"/>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Simulator - need suggestions.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Extend Compiler using LLVM to support new instructions.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Extend processor’s pipeline stage.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Duplicate/Modify applications to use CCID register.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Target Apps.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DeadSpy,RedSpy,LoadSp</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u="sng">
                <a:solidFill>
                  <a:schemeClr val="hlink"/>
                </a:solidFill>
                <a:latin typeface="Twentieth Century"/>
                <a:ea typeface="Twentieth Century"/>
                <a:cs typeface="Twentieth Century"/>
                <a:sym typeface="Twentieth Century"/>
                <a:hlinkClick r:id="rId3"/>
              </a:rPr>
              <a:t>https://github.com/CCTLib/cctlib/blob/master/clients/loadspy_client.cpp</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Elision</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146" name="Google Shape;1146;p134"/>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0" st="0"/>
                                            </p:txEl>
                                          </p:spTgt>
                                        </p:tgtEl>
                                        <p:attrNameLst>
                                          <p:attrName>style.visibility</p:attrName>
                                        </p:attrNameLst>
                                      </p:cBhvr>
                                      <p:to>
                                        <p:strVal val="visible"/>
                                      </p:to>
                                    </p:set>
                                    <p:animEffect filter="fade" transition="in">
                                      <p:cBhvr>
                                        <p:cTn dur="1000"/>
                                        <p:tgtEl>
                                          <p:spTgt spid="1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1" st="1"/>
                                            </p:txEl>
                                          </p:spTgt>
                                        </p:tgtEl>
                                        <p:attrNameLst>
                                          <p:attrName>style.visibility</p:attrName>
                                        </p:attrNameLst>
                                      </p:cBhvr>
                                      <p:to>
                                        <p:strVal val="visible"/>
                                      </p:to>
                                    </p:set>
                                    <p:animEffect filter="fade" transition="in">
                                      <p:cBhvr>
                                        <p:cTn dur="1000"/>
                                        <p:tgtEl>
                                          <p:spTgt spid="1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2" st="2"/>
                                            </p:txEl>
                                          </p:spTgt>
                                        </p:tgtEl>
                                        <p:attrNameLst>
                                          <p:attrName>style.visibility</p:attrName>
                                        </p:attrNameLst>
                                      </p:cBhvr>
                                      <p:to>
                                        <p:strVal val="visible"/>
                                      </p:to>
                                    </p:set>
                                    <p:animEffect filter="fade" transition="in">
                                      <p:cBhvr>
                                        <p:cTn dur="1000"/>
                                        <p:tgtEl>
                                          <p:spTgt spid="1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3" st="3"/>
                                            </p:txEl>
                                          </p:spTgt>
                                        </p:tgtEl>
                                        <p:attrNameLst>
                                          <p:attrName>style.visibility</p:attrName>
                                        </p:attrNameLst>
                                      </p:cBhvr>
                                      <p:to>
                                        <p:strVal val="visible"/>
                                      </p:to>
                                    </p:set>
                                    <p:animEffect filter="fade" transition="in">
                                      <p:cBhvr>
                                        <p:cTn dur="1000"/>
                                        <p:tgtEl>
                                          <p:spTgt spid="11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4" st="4"/>
                                            </p:txEl>
                                          </p:spTgt>
                                        </p:tgtEl>
                                        <p:attrNameLst>
                                          <p:attrName>style.visibility</p:attrName>
                                        </p:attrNameLst>
                                      </p:cBhvr>
                                      <p:to>
                                        <p:strVal val="visible"/>
                                      </p:to>
                                    </p:set>
                                    <p:animEffect filter="fade" transition="in">
                                      <p:cBhvr>
                                        <p:cTn dur="1000"/>
                                        <p:tgtEl>
                                          <p:spTgt spid="11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5" st="5"/>
                                            </p:txEl>
                                          </p:spTgt>
                                        </p:tgtEl>
                                        <p:attrNameLst>
                                          <p:attrName>style.visibility</p:attrName>
                                        </p:attrNameLst>
                                      </p:cBhvr>
                                      <p:to>
                                        <p:strVal val="visible"/>
                                      </p:to>
                                    </p:set>
                                    <p:animEffect filter="fade" transition="in">
                                      <p:cBhvr>
                                        <p:cTn dur="1000"/>
                                        <p:tgtEl>
                                          <p:spTgt spid="11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6" st="6"/>
                                            </p:txEl>
                                          </p:spTgt>
                                        </p:tgtEl>
                                        <p:attrNameLst>
                                          <p:attrName>style.visibility</p:attrName>
                                        </p:attrNameLst>
                                      </p:cBhvr>
                                      <p:to>
                                        <p:strVal val="visible"/>
                                      </p:to>
                                    </p:set>
                                    <p:animEffect filter="fade" transition="in">
                                      <p:cBhvr>
                                        <p:cTn dur="1000"/>
                                        <p:tgtEl>
                                          <p:spTgt spid="11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7" st="7"/>
                                            </p:txEl>
                                          </p:spTgt>
                                        </p:tgtEl>
                                        <p:attrNameLst>
                                          <p:attrName>style.visibility</p:attrName>
                                        </p:attrNameLst>
                                      </p:cBhvr>
                                      <p:to>
                                        <p:strVal val="visible"/>
                                      </p:to>
                                    </p:set>
                                    <p:animEffect filter="fade" transition="in">
                                      <p:cBhvr>
                                        <p:cTn dur="1000"/>
                                        <p:tgtEl>
                                          <p:spTgt spid="11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8" st="8"/>
                                            </p:txEl>
                                          </p:spTgt>
                                        </p:tgtEl>
                                        <p:attrNameLst>
                                          <p:attrName>style.visibility</p:attrName>
                                        </p:attrNameLst>
                                      </p:cBhvr>
                                      <p:to>
                                        <p:strVal val="visible"/>
                                      </p:to>
                                    </p:set>
                                    <p:animEffect filter="fade" transition="in">
                                      <p:cBhvr>
                                        <p:cTn dur="1000"/>
                                        <p:tgtEl>
                                          <p:spTgt spid="11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9" st="9"/>
                                            </p:txEl>
                                          </p:spTgt>
                                        </p:tgtEl>
                                        <p:attrNameLst>
                                          <p:attrName>style.visibility</p:attrName>
                                        </p:attrNameLst>
                                      </p:cBhvr>
                                      <p:to>
                                        <p:strVal val="visible"/>
                                      </p:to>
                                    </p:set>
                                    <p:animEffect filter="fade" transition="in">
                                      <p:cBhvr>
                                        <p:cTn dur="1000"/>
                                        <p:tgtEl>
                                          <p:spTgt spid="11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10" st="10"/>
                                            </p:txEl>
                                          </p:spTgt>
                                        </p:tgtEl>
                                        <p:attrNameLst>
                                          <p:attrName>style.visibility</p:attrName>
                                        </p:attrNameLst>
                                      </p:cBhvr>
                                      <p:to>
                                        <p:strVal val="visible"/>
                                      </p:to>
                                    </p:set>
                                    <p:animEffect filter="fade" transition="in">
                                      <p:cBhvr>
                                        <p:cTn dur="1000"/>
                                        <p:tgtEl>
                                          <p:spTgt spid="114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35"/>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Shadow Call Stack (SCS)</a:t>
            </a:r>
            <a:endParaRPr>
              <a:latin typeface="Twentieth Century"/>
              <a:ea typeface="Twentieth Century"/>
              <a:cs typeface="Twentieth Century"/>
              <a:sym typeface="Twentieth Century"/>
            </a:endParaRPr>
          </a:p>
        </p:txBody>
      </p:sp>
      <p:sp>
        <p:nvSpPr>
          <p:cNvPr id="1153" name="Google Shape;1153;p135"/>
          <p:cNvSpPr txBox="1"/>
          <p:nvPr/>
        </p:nvSpPr>
        <p:spPr>
          <a:xfrm>
            <a:off x="62850" y="4727100"/>
            <a:ext cx="9018300" cy="487200"/>
          </a:xfrm>
          <a:prstGeom prst="rect">
            <a:avLst/>
          </a:prstGeom>
          <a:noFill/>
          <a:ln>
            <a:noFill/>
          </a:ln>
        </p:spPr>
        <p:txBody>
          <a:bodyPr anchorCtr="0" anchor="t" bIns="91425" lIns="91425" spcFirstLastPara="1" rIns="91425" wrap="square" tIns="91425">
            <a:spAutoFit/>
          </a:bodyPr>
          <a:lstStyle/>
          <a:p>
            <a:pPr indent="-228600" lvl="0" marL="457200" rtl="0" algn="l">
              <a:lnSpc>
                <a:spcPct val="115000"/>
              </a:lnSpc>
              <a:spcBef>
                <a:spcPts val="1200"/>
              </a:spcBef>
              <a:spcAft>
                <a:spcPts val="0"/>
              </a:spcAft>
              <a:buClr>
                <a:schemeClr val="dk1"/>
              </a:buClr>
              <a:buSzPts val="1100"/>
              <a:buNone/>
            </a:pPr>
            <a:r>
              <a:rPr lang="en" sz="700">
                <a:solidFill>
                  <a:schemeClr val="dk1"/>
                </a:solidFill>
              </a:rPr>
              <a:t>Yongje Lee, Jinyong Lee, Ingoo Heo, Dongil Hwang, and Yunheung Paek. 2017. Using CoreSight PTM to Integrate CRA Monitoring IPs in an ARM-Based SoC. ACM Trans. Des. Autom. Electron. Syst. 22, 3, Article 52 (April 2017), 25 pages. </a:t>
            </a:r>
            <a:r>
              <a:rPr lang="en" sz="700">
                <a:solidFill>
                  <a:srgbClr val="0055C9"/>
                </a:solidFill>
              </a:rPr>
              <a:t>https://doi.org/10.1145/3035965</a:t>
            </a:r>
            <a:endParaRPr sz="700">
              <a:solidFill>
                <a:srgbClr val="0055C9"/>
              </a:solidFill>
            </a:endParaRPr>
          </a:p>
        </p:txBody>
      </p:sp>
      <p:pic>
        <p:nvPicPr>
          <p:cNvPr id="1154" name="Google Shape;1154;p135"/>
          <p:cNvPicPr preferRelativeResize="0"/>
          <p:nvPr/>
        </p:nvPicPr>
        <p:blipFill>
          <a:blip r:embed="rId3">
            <a:alphaModFix/>
          </a:blip>
          <a:stretch>
            <a:fillRect/>
          </a:stretch>
        </p:blipFill>
        <p:spPr>
          <a:xfrm>
            <a:off x="152400" y="1115650"/>
            <a:ext cx="6986905" cy="34590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36"/>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Dynamic Information Flow Tracking </a:t>
            </a:r>
            <a:endParaRPr>
              <a:latin typeface="Twentieth Century"/>
              <a:ea typeface="Twentieth Century"/>
              <a:cs typeface="Twentieth Century"/>
              <a:sym typeface="Twentieth Century"/>
            </a:endParaRPr>
          </a:p>
        </p:txBody>
      </p:sp>
      <p:sp>
        <p:nvSpPr>
          <p:cNvPr id="1161" name="Google Shape;1161;p136"/>
          <p:cNvSpPr txBox="1"/>
          <p:nvPr/>
        </p:nvSpPr>
        <p:spPr>
          <a:xfrm>
            <a:off x="62850" y="4727100"/>
            <a:ext cx="9018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700">
                <a:solidFill>
                  <a:schemeClr val="dk1"/>
                </a:solidFill>
              </a:rPr>
              <a:t>[DAC'15] Efficient Security Monitoring with the Core Debug Interface in an Embedded Processor</a:t>
            </a:r>
            <a:endParaRPr sz="700">
              <a:solidFill>
                <a:srgbClr val="0055C9"/>
              </a:solidFill>
            </a:endParaRPr>
          </a:p>
        </p:txBody>
      </p:sp>
      <p:pic>
        <p:nvPicPr>
          <p:cNvPr id="1162" name="Google Shape;1162;p136"/>
          <p:cNvPicPr preferRelativeResize="0"/>
          <p:nvPr/>
        </p:nvPicPr>
        <p:blipFill>
          <a:blip r:embed="rId3">
            <a:alphaModFix/>
          </a:blip>
          <a:stretch>
            <a:fillRect/>
          </a:stretch>
        </p:blipFill>
        <p:spPr>
          <a:xfrm>
            <a:off x="152400" y="1115650"/>
            <a:ext cx="6326848" cy="34590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37"/>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Integrated into the pipeline stages of the processor.</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HW components - FSMs, lookup tables, buffer, a hash engine, and control logic.</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Maximum area overhead - 1.2 % (Interprocedural), 5.17%(Inter+Intra), 9.1% (Inter+Intra+Hash)</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
        <p:nvSpPr>
          <p:cNvPr id="1169" name="Google Shape;1169;p137"/>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Inter- Intra procedural Control Flow</a:t>
            </a:r>
            <a:endParaRPr>
              <a:latin typeface="Twentieth Century"/>
              <a:ea typeface="Twentieth Century"/>
              <a:cs typeface="Twentieth Century"/>
              <a:sym typeface="Twentieth Century"/>
            </a:endParaRPr>
          </a:p>
        </p:txBody>
      </p:sp>
      <p:sp>
        <p:nvSpPr>
          <p:cNvPr id="1170" name="Google Shape;1170;p137"/>
          <p:cNvSpPr txBox="1"/>
          <p:nvPr/>
        </p:nvSpPr>
        <p:spPr>
          <a:xfrm>
            <a:off x="107225" y="4594425"/>
            <a:ext cx="9018300" cy="8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700">
                <a:solidFill>
                  <a:schemeClr val="dk1"/>
                </a:solidFill>
              </a:rPr>
              <a:t>- Z. Guo, R. Bhakta, and I. G. Harris. 2014. Control-flow checking for intrusion detection via a real-time debug interface. In 2014 International Conference on Smart Computing Workshops. 87–92.</a:t>
            </a:r>
            <a:endParaRPr sz="700">
              <a:solidFill>
                <a:schemeClr val="dk1"/>
              </a:solidFill>
            </a:endParaRPr>
          </a:p>
          <a:p>
            <a:pPr indent="0" lvl="0" marL="0" rtl="0" algn="l">
              <a:lnSpc>
                <a:spcPct val="115000"/>
              </a:lnSpc>
              <a:spcBef>
                <a:spcPts val="0"/>
              </a:spcBef>
              <a:spcAft>
                <a:spcPts val="0"/>
              </a:spcAft>
              <a:buNone/>
            </a:pPr>
            <a:r>
              <a:rPr lang="en" sz="700">
                <a:solidFill>
                  <a:schemeClr val="dk1"/>
                </a:solidFill>
              </a:rPr>
              <a:t>- Divya Arora, Srivaths Ravi, Anand Raghunathan, and Niraj K. Jha. 2006. Hardware-assisted Run-time Monitoring for Secure Program Execution on Embedded Processors. IEEE Trans. Very Large Scale Integr. Syst. 14, 12 (Dec. 2006), 1295–1308. </a:t>
            </a:r>
            <a:r>
              <a:rPr lang="en" sz="700">
                <a:solidFill>
                  <a:srgbClr val="0055C9"/>
                </a:solidFill>
              </a:rPr>
              <a:t>https://doi.org/10.1109/TVLSI.2006.887799</a:t>
            </a:r>
            <a:endParaRPr sz="700">
              <a:solidFill>
                <a:srgbClr val="0055C9"/>
              </a:solidFill>
            </a:endParaRPr>
          </a:p>
          <a:p>
            <a:pPr indent="-228600" lvl="0" marL="457200" rtl="0" algn="l">
              <a:lnSpc>
                <a:spcPct val="115000"/>
              </a:lnSpc>
              <a:spcBef>
                <a:spcPts val="1200"/>
              </a:spcBef>
              <a:spcAft>
                <a:spcPts val="0"/>
              </a:spcAft>
              <a:buClr>
                <a:schemeClr val="dk1"/>
              </a:buClr>
              <a:buSzPts val="700"/>
              <a:buNone/>
            </a:pPr>
            <a:r>
              <a:t/>
            </a:r>
            <a:endParaRPr sz="7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xEl>
                                              <p:pRg end="0" st="0"/>
                                            </p:txEl>
                                          </p:spTgt>
                                        </p:tgtEl>
                                        <p:attrNameLst>
                                          <p:attrName>style.visibility</p:attrName>
                                        </p:attrNameLst>
                                      </p:cBhvr>
                                      <p:to>
                                        <p:strVal val="visible"/>
                                      </p:to>
                                    </p:set>
                                    <p:animEffect filter="fade" transition="in">
                                      <p:cBhvr>
                                        <p:cTn dur="1000"/>
                                        <p:tgtEl>
                                          <p:spTgt spid="1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xEl>
                                              <p:pRg end="1" st="1"/>
                                            </p:txEl>
                                          </p:spTgt>
                                        </p:tgtEl>
                                        <p:attrNameLst>
                                          <p:attrName>style.visibility</p:attrName>
                                        </p:attrNameLst>
                                      </p:cBhvr>
                                      <p:to>
                                        <p:strVal val="visible"/>
                                      </p:to>
                                    </p:set>
                                    <p:animEffect filter="fade" transition="in">
                                      <p:cBhvr>
                                        <p:cTn dur="1000"/>
                                        <p:tgtEl>
                                          <p:spTgt spid="11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xEl>
                                              <p:pRg end="2" st="2"/>
                                            </p:txEl>
                                          </p:spTgt>
                                        </p:tgtEl>
                                        <p:attrNameLst>
                                          <p:attrName>style.visibility</p:attrName>
                                        </p:attrNameLst>
                                      </p:cBhvr>
                                      <p:to>
                                        <p:strVal val="visible"/>
                                      </p:to>
                                    </p:set>
                                    <p:animEffect filter="fade" transition="in">
                                      <p:cBhvr>
                                        <p:cTn dur="1000"/>
                                        <p:tgtEl>
                                          <p:spTgt spid="11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xEl>
                                              <p:pRg end="3" st="3"/>
                                            </p:txEl>
                                          </p:spTgt>
                                        </p:tgtEl>
                                        <p:attrNameLst>
                                          <p:attrName>style.visibility</p:attrName>
                                        </p:attrNameLst>
                                      </p:cBhvr>
                                      <p:to>
                                        <p:strVal val="visible"/>
                                      </p:to>
                                    </p:set>
                                    <p:animEffect filter="fade" transition="in">
                                      <p:cBhvr>
                                        <p:cTn dur="1000"/>
                                        <p:tgtEl>
                                          <p:spTgt spid="11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xEl>
                                              <p:pRg end="4" st="4"/>
                                            </p:txEl>
                                          </p:spTgt>
                                        </p:tgtEl>
                                        <p:attrNameLst>
                                          <p:attrName>style.visibility</p:attrName>
                                        </p:attrNameLst>
                                      </p:cBhvr>
                                      <p:to>
                                        <p:strVal val="visible"/>
                                      </p:to>
                                    </p:set>
                                    <p:animEffect filter="fade" transition="in">
                                      <p:cBhvr>
                                        <p:cTn dur="1000"/>
                                        <p:tgtEl>
                                          <p:spTgt spid="116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3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1177" name="Google Shape;1177;p138"/>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5/02/2022</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3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1184" name="Google Shape;1184;p139"/>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Quick Summary of DCCE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a:t>
            </a:r>
            <a:r>
              <a:rPr lang="en">
                <a:latin typeface="Twentieth Century"/>
                <a:ea typeface="Twentieth Century"/>
                <a:cs typeface="Twentieth Century"/>
                <a:sym typeface="Twentieth Century"/>
              </a:rPr>
              <a:t>Ellison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SyncPerf</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Target Conference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140"/>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New algorithm inspired by WHISTLE</a:t>
            </a:r>
            <a:endParaRPr/>
          </a:p>
        </p:txBody>
      </p:sp>
      <p:sp>
        <p:nvSpPr>
          <p:cNvPr id="1191" name="Google Shape;1191;p140"/>
          <p:cNvSpPr txBox="1"/>
          <p:nvPr>
            <p:ph idx="1" type="body"/>
          </p:nvPr>
        </p:nvSpPr>
        <p:spPr>
          <a:xfrm>
            <a:off x="685800" y="1083469"/>
            <a:ext cx="7886700" cy="32634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We want to get calling context at runtime fast.</a:t>
            </a:r>
            <a:endParaRPr/>
          </a:p>
          <a:p>
            <a:pPr indent="-254000" lvl="1" marL="685800" rtl="0" algn="l">
              <a:spcBef>
                <a:spcPts val="0"/>
              </a:spcBef>
              <a:spcAft>
                <a:spcPts val="0"/>
              </a:spcAft>
              <a:buSzPts val="1400"/>
              <a:buChar char="❏"/>
            </a:pPr>
            <a:r>
              <a:rPr lang="en"/>
              <a:t>Walk through stack frame and hash it. (Slow if need CC so frequent)</a:t>
            </a:r>
            <a:endParaRPr/>
          </a:p>
          <a:p>
            <a:pPr indent="-254000" lvl="1" marL="685800" rtl="0" algn="l">
              <a:spcBef>
                <a:spcPts val="0"/>
              </a:spcBef>
              <a:spcAft>
                <a:spcPts val="0"/>
              </a:spcAft>
              <a:buSzPts val="1400"/>
              <a:buChar char="❏"/>
            </a:pPr>
            <a:r>
              <a:rPr lang="en"/>
              <a:t>Encode CC and decode it offline. (Overhead to decode CC)</a:t>
            </a:r>
            <a:endParaRPr/>
          </a:p>
          <a:p>
            <a:pPr indent="-254000" lvl="0" marL="342900" rtl="0" algn="l">
              <a:spcBef>
                <a:spcPts val="0"/>
              </a:spcBef>
              <a:spcAft>
                <a:spcPts val="0"/>
              </a:spcAft>
              <a:buSzPts val="1400"/>
              <a:buChar char="❏"/>
            </a:pPr>
            <a:r>
              <a:rPr lang="en"/>
              <a:t>Assign</a:t>
            </a:r>
            <a:r>
              <a:rPr lang="en"/>
              <a:t> edge weight that is used to update CCID for every function entry/exit so that (all/interesting) CCs map to different CCIDs.</a:t>
            </a:r>
            <a:endParaRPr/>
          </a:p>
          <a:p>
            <a:pPr indent="-254000" lvl="1" marL="685800" rtl="0" algn="l">
              <a:spcBef>
                <a:spcPts val="0"/>
              </a:spcBef>
              <a:spcAft>
                <a:spcPts val="0"/>
              </a:spcAft>
              <a:buSzPts val="1400"/>
              <a:buChar char="❏"/>
            </a:pPr>
            <a:r>
              <a:rPr lang="en"/>
              <a:t>No need walking through stack frame nor decoding encoded CC.</a:t>
            </a:r>
            <a:endParaRPr/>
          </a:p>
          <a:p>
            <a:pPr indent="-254000" lvl="1" marL="685800" rtl="0" algn="l">
              <a:spcBef>
                <a:spcPts val="0"/>
              </a:spcBef>
              <a:spcAft>
                <a:spcPts val="0"/>
              </a:spcAft>
              <a:buSzPts val="1400"/>
              <a:buChar char="❏"/>
            </a:pPr>
            <a:r>
              <a:rPr lang="en"/>
              <a:t>Need simple operation to update CCID.</a:t>
            </a:r>
            <a:endParaRPr/>
          </a:p>
          <a:p>
            <a:pPr indent="-254000" lvl="2" marL="1028700" rtl="0" algn="l">
              <a:spcBef>
                <a:spcPts val="0"/>
              </a:spcBef>
              <a:spcAft>
                <a:spcPts val="0"/>
              </a:spcAft>
              <a:buSzPts val="1400"/>
              <a:buChar char="❏"/>
            </a:pPr>
            <a:r>
              <a:rPr lang="en"/>
              <a:t>CCID += edge weight (for function entry).</a:t>
            </a:r>
            <a:endParaRPr/>
          </a:p>
          <a:p>
            <a:pPr indent="-254000" lvl="2" marL="1028700" rtl="0" algn="l">
              <a:spcBef>
                <a:spcPts val="0"/>
              </a:spcBef>
              <a:spcAft>
                <a:spcPts val="0"/>
              </a:spcAft>
              <a:buSzPts val="1400"/>
              <a:buChar char="❏"/>
            </a:pPr>
            <a:r>
              <a:rPr lang="en"/>
              <a:t>CCID -= edge weight (for function exit).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14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Existing </a:t>
            </a:r>
            <a:r>
              <a:rPr lang="en">
                <a:latin typeface="Twentieth Century"/>
                <a:ea typeface="Twentieth Century"/>
                <a:cs typeface="Twentieth Century"/>
                <a:sym typeface="Twentieth Century"/>
              </a:rPr>
              <a:t>CC Collection Techniques</a:t>
            </a:r>
            <a:endParaRPr>
              <a:latin typeface="Twentieth Century"/>
              <a:ea typeface="Twentieth Century"/>
              <a:cs typeface="Twentieth Century"/>
              <a:sym typeface="Twentieth Century"/>
            </a:endParaRPr>
          </a:p>
        </p:txBody>
      </p:sp>
      <p:sp>
        <p:nvSpPr>
          <p:cNvPr id="1198" name="Google Shape;1198;p141"/>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On-demand Call Stack Unwinding (libunwind, HPCToolkit)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Walks function frames on the call stack using</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Compiler-recorded information (libunwind)</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Results from binary analysis (HPCToolkit)</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No instrumentation cost at each function call / return.</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High overhead on demand for CC.</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tools with infrequent CC request.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Sampling-based performance tools and debugger.</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Real example - </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Elision for Production Parallel Programs (libunwind)</a:t>
            </a:r>
            <a:endParaRPr>
              <a:latin typeface="Twentieth Century"/>
              <a:ea typeface="Twentieth Century"/>
              <a:cs typeface="Twentieth Century"/>
              <a:sym typeface="Twentieth Century"/>
            </a:endParaRPr>
          </a:p>
          <a:p>
            <a:pPr indent="-254000" lvl="3" marL="13716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Watching for Software Inefficiencies with Witch (Sampling based profile - use HPCToolkit)</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0" st="0"/>
                                            </p:txEl>
                                          </p:spTgt>
                                        </p:tgtEl>
                                        <p:attrNameLst>
                                          <p:attrName>style.visibility</p:attrName>
                                        </p:attrNameLst>
                                      </p:cBhvr>
                                      <p:to>
                                        <p:strVal val="visible"/>
                                      </p:to>
                                    </p:set>
                                    <p:animEffect filter="fade" transition="in">
                                      <p:cBhvr>
                                        <p:cTn dur="1000"/>
                                        <p:tgtEl>
                                          <p:spTgt spid="1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 st="1"/>
                                            </p:txEl>
                                          </p:spTgt>
                                        </p:tgtEl>
                                        <p:attrNameLst>
                                          <p:attrName>style.visibility</p:attrName>
                                        </p:attrNameLst>
                                      </p:cBhvr>
                                      <p:to>
                                        <p:strVal val="visible"/>
                                      </p:to>
                                    </p:set>
                                    <p:animEffect filter="fade" transition="in">
                                      <p:cBhvr>
                                        <p:cTn dur="1000"/>
                                        <p:tgtEl>
                                          <p:spTgt spid="1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2" st="2"/>
                                            </p:txEl>
                                          </p:spTgt>
                                        </p:tgtEl>
                                        <p:attrNameLst>
                                          <p:attrName>style.visibility</p:attrName>
                                        </p:attrNameLst>
                                      </p:cBhvr>
                                      <p:to>
                                        <p:strVal val="visible"/>
                                      </p:to>
                                    </p:set>
                                    <p:animEffect filter="fade" transition="in">
                                      <p:cBhvr>
                                        <p:cTn dur="1000"/>
                                        <p:tgtEl>
                                          <p:spTgt spid="1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3" st="3"/>
                                            </p:txEl>
                                          </p:spTgt>
                                        </p:tgtEl>
                                        <p:attrNameLst>
                                          <p:attrName>style.visibility</p:attrName>
                                        </p:attrNameLst>
                                      </p:cBhvr>
                                      <p:to>
                                        <p:strVal val="visible"/>
                                      </p:to>
                                    </p:set>
                                    <p:animEffect filter="fade" transition="in">
                                      <p:cBhvr>
                                        <p:cTn dur="1000"/>
                                        <p:tgtEl>
                                          <p:spTgt spid="1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4" st="4"/>
                                            </p:txEl>
                                          </p:spTgt>
                                        </p:tgtEl>
                                        <p:attrNameLst>
                                          <p:attrName>style.visibility</p:attrName>
                                        </p:attrNameLst>
                                      </p:cBhvr>
                                      <p:to>
                                        <p:strVal val="visible"/>
                                      </p:to>
                                    </p:set>
                                    <p:animEffect filter="fade" transition="in">
                                      <p:cBhvr>
                                        <p:cTn dur="1000"/>
                                        <p:tgtEl>
                                          <p:spTgt spid="1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5" st="5"/>
                                            </p:txEl>
                                          </p:spTgt>
                                        </p:tgtEl>
                                        <p:attrNameLst>
                                          <p:attrName>style.visibility</p:attrName>
                                        </p:attrNameLst>
                                      </p:cBhvr>
                                      <p:to>
                                        <p:strVal val="visible"/>
                                      </p:to>
                                    </p:set>
                                    <p:animEffect filter="fade" transition="in">
                                      <p:cBhvr>
                                        <p:cTn dur="1000"/>
                                        <p:tgtEl>
                                          <p:spTgt spid="1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6" st="6"/>
                                            </p:txEl>
                                          </p:spTgt>
                                        </p:tgtEl>
                                        <p:attrNameLst>
                                          <p:attrName>style.visibility</p:attrName>
                                        </p:attrNameLst>
                                      </p:cBhvr>
                                      <p:to>
                                        <p:strVal val="visible"/>
                                      </p:to>
                                    </p:set>
                                    <p:animEffect filter="fade" transition="in">
                                      <p:cBhvr>
                                        <p:cTn dur="1000"/>
                                        <p:tgtEl>
                                          <p:spTgt spid="11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7" st="7"/>
                                            </p:txEl>
                                          </p:spTgt>
                                        </p:tgtEl>
                                        <p:attrNameLst>
                                          <p:attrName>style.visibility</p:attrName>
                                        </p:attrNameLst>
                                      </p:cBhvr>
                                      <p:to>
                                        <p:strVal val="visible"/>
                                      </p:to>
                                    </p:set>
                                    <p:animEffect filter="fade" transition="in">
                                      <p:cBhvr>
                                        <p:cTn dur="1000"/>
                                        <p:tgtEl>
                                          <p:spTgt spid="11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8" st="8"/>
                                            </p:txEl>
                                          </p:spTgt>
                                        </p:tgtEl>
                                        <p:attrNameLst>
                                          <p:attrName>style.visibility</p:attrName>
                                        </p:attrNameLst>
                                      </p:cBhvr>
                                      <p:to>
                                        <p:strVal val="visible"/>
                                      </p:to>
                                    </p:set>
                                    <p:animEffect filter="fade" transition="in">
                                      <p:cBhvr>
                                        <p:cTn dur="1000"/>
                                        <p:tgtEl>
                                          <p:spTgt spid="11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9" st="9"/>
                                            </p:txEl>
                                          </p:spTgt>
                                        </p:tgtEl>
                                        <p:attrNameLst>
                                          <p:attrName>style.visibility</p:attrName>
                                        </p:attrNameLst>
                                      </p:cBhvr>
                                      <p:to>
                                        <p:strVal val="visible"/>
                                      </p:to>
                                    </p:set>
                                    <p:animEffect filter="fade" transition="in">
                                      <p:cBhvr>
                                        <p:cTn dur="1000"/>
                                        <p:tgtEl>
                                          <p:spTgt spid="119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0" st="10"/>
                                            </p:txEl>
                                          </p:spTgt>
                                        </p:tgtEl>
                                        <p:attrNameLst>
                                          <p:attrName>style.visibility</p:attrName>
                                        </p:attrNameLst>
                                      </p:cBhvr>
                                      <p:to>
                                        <p:strVal val="visible"/>
                                      </p:to>
                                    </p:set>
                                    <p:animEffect filter="fade" transition="in">
                                      <p:cBhvr>
                                        <p:cTn dur="1000"/>
                                        <p:tgtEl>
                                          <p:spTgt spid="119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1" st="11"/>
                                            </p:txEl>
                                          </p:spTgt>
                                        </p:tgtEl>
                                        <p:attrNameLst>
                                          <p:attrName>style.visibility</p:attrName>
                                        </p:attrNameLst>
                                      </p:cBhvr>
                                      <p:to>
                                        <p:strVal val="visible"/>
                                      </p:to>
                                    </p:set>
                                    <p:animEffect filter="fade" transition="in">
                                      <p:cBhvr>
                                        <p:cTn dur="1000"/>
                                        <p:tgtEl>
                                          <p:spTgt spid="119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2" st="12"/>
                                            </p:txEl>
                                          </p:spTgt>
                                        </p:tgtEl>
                                        <p:attrNameLst>
                                          <p:attrName>style.visibility</p:attrName>
                                        </p:attrNameLst>
                                      </p:cBhvr>
                                      <p:to>
                                        <p:strVal val="visible"/>
                                      </p:to>
                                    </p:set>
                                    <p:animEffect filter="fade" transition="in">
                                      <p:cBhvr>
                                        <p:cTn dur="1000"/>
                                        <p:tgtEl>
                                          <p:spTgt spid="119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3" st="13"/>
                                            </p:txEl>
                                          </p:spTgt>
                                        </p:tgtEl>
                                        <p:attrNameLst>
                                          <p:attrName>style.visibility</p:attrName>
                                        </p:attrNameLst>
                                      </p:cBhvr>
                                      <p:to>
                                        <p:strVal val="visible"/>
                                      </p:to>
                                    </p:set>
                                    <p:animEffect filter="fade" transition="in">
                                      <p:cBhvr>
                                        <p:cTn dur="1000"/>
                                        <p:tgtEl>
                                          <p:spTgt spid="119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4" st="14"/>
                                            </p:txEl>
                                          </p:spTgt>
                                        </p:tgtEl>
                                        <p:attrNameLst>
                                          <p:attrName>style.visibility</p:attrName>
                                        </p:attrNameLst>
                                      </p:cBhvr>
                                      <p:to>
                                        <p:strVal val="visible"/>
                                      </p:to>
                                    </p:set>
                                    <p:animEffect filter="fade" transition="in">
                                      <p:cBhvr>
                                        <p:cTn dur="1000"/>
                                        <p:tgtEl>
                                          <p:spTgt spid="119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5" st="15"/>
                                            </p:txEl>
                                          </p:spTgt>
                                        </p:tgtEl>
                                        <p:attrNameLst>
                                          <p:attrName>style.visibility</p:attrName>
                                        </p:attrNameLst>
                                      </p:cBhvr>
                                      <p:to>
                                        <p:strVal val="visible"/>
                                      </p:to>
                                    </p:set>
                                    <p:animEffect filter="fade" transition="in">
                                      <p:cBhvr>
                                        <p:cTn dur="1000"/>
                                        <p:tgtEl>
                                          <p:spTgt spid="1198">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14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n">
                <a:latin typeface="Twentieth Century"/>
                <a:ea typeface="Twentieth Century"/>
                <a:cs typeface="Twentieth Century"/>
                <a:sym typeface="Twentieth Century"/>
              </a:rPr>
              <a:t>Existing CC Collection Techniques</a:t>
            </a:r>
            <a:endParaRPr>
              <a:latin typeface="Twentieth Century"/>
              <a:ea typeface="Twentieth Century"/>
              <a:cs typeface="Twentieth Century"/>
              <a:sym typeface="Twentieth Century"/>
            </a:endParaRPr>
          </a:p>
        </p:txBody>
      </p:sp>
      <p:sp>
        <p:nvSpPr>
          <p:cNvPr id="1205" name="Google Shape;1205;p142"/>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Stack Shadowing (CCTLib,DrCCTProf)</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Maintains Calling Context Tree as the execution unfolds.</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Instrument every function call and return for CC Tree </a:t>
            </a:r>
            <a:r>
              <a:rPr lang="en">
                <a:latin typeface="Twentieth Century"/>
                <a:ea typeface="Twentieth Century"/>
                <a:cs typeface="Twentieth Century"/>
                <a:sym typeface="Twentieth Century"/>
              </a:rPr>
              <a:t>maintenance</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path and its hashed value are ready to be used.</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High overhead of maintenance.</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A constant time lookup.</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fine-grained execution monitoring (FEM) tools.</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Track program execution at every machine instruction level.</a:t>
            </a:r>
            <a:endParaRPr>
              <a:latin typeface="Twentieth Century"/>
              <a:ea typeface="Twentieth Century"/>
              <a:cs typeface="Twentieth Century"/>
              <a:sym typeface="Twentieth Century"/>
            </a:endParaRPr>
          </a:p>
          <a:p>
            <a:pPr indent="-254000" lvl="2" marL="10287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Real app: DeadSpy, Runtime Value Numbering, RedSpy, LoadSpy.</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0" st="0"/>
                                            </p:txEl>
                                          </p:spTgt>
                                        </p:tgtEl>
                                        <p:attrNameLst>
                                          <p:attrName>style.visibility</p:attrName>
                                        </p:attrNameLst>
                                      </p:cBhvr>
                                      <p:to>
                                        <p:strVal val="visible"/>
                                      </p:to>
                                    </p:set>
                                    <p:animEffect filter="fade" transition="in">
                                      <p:cBhvr>
                                        <p:cTn dur="1000"/>
                                        <p:tgtEl>
                                          <p:spTgt spid="1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1" st="1"/>
                                            </p:txEl>
                                          </p:spTgt>
                                        </p:tgtEl>
                                        <p:attrNameLst>
                                          <p:attrName>style.visibility</p:attrName>
                                        </p:attrNameLst>
                                      </p:cBhvr>
                                      <p:to>
                                        <p:strVal val="visible"/>
                                      </p:to>
                                    </p:set>
                                    <p:animEffect filter="fade" transition="in">
                                      <p:cBhvr>
                                        <p:cTn dur="1000"/>
                                        <p:tgtEl>
                                          <p:spTgt spid="1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2" st="2"/>
                                            </p:txEl>
                                          </p:spTgt>
                                        </p:tgtEl>
                                        <p:attrNameLst>
                                          <p:attrName>style.visibility</p:attrName>
                                        </p:attrNameLst>
                                      </p:cBhvr>
                                      <p:to>
                                        <p:strVal val="visible"/>
                                      </p:to>
                                    </p:set>
                                    <p:animEffect filter="fade" transition="in">
                                      <p:cBhvr>
                                        <p:cTn dur="1000"/>
                                        <p:tgtEl>
                                          <p:spTgt spid="12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3" st="3"/>
                                            </p:txEl>
                                          </p:spTgt>
                                        </p:tgtEl>
                                        <p:attrNameLst>
                                          <p:attrName>style.visibility</p:attrName>
                                        </p:attrNameLst>
                                      </p:cBhvr>
                                      <p:to>
                                        <p:strVal val="visible"/>
                                      </p:to>
                                    </p:set>
                                    <p:animEffect filter="fade" transition="in">
                                      <p:cBhvr>
                                        <p:cTn dur="1000"/>
                                        <p:tgtEl>
                                          <p:spTgt spid="12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4" st="4"/>
                                            </p:txEl>
                                          </p:spTgt>
                                        </p:tgtEl>
                                        <p:attrNameLst>
                                          <p:attrName>style.visibility</p:attrName>
                                        </p:attrNameLst>
                                      </p:cBhvr>
                                      <p:to>
                                        <p:strVal val="visible"/>
                                      </p:to>
                                    </p:set>
                                    <p:animEffect filter="fade" transition="in">
                                      <p:cBhvr>
                                        <p:cTn dur="1000"/>
                                        <p:tgtEl>
                                          <p:spTgt spid="12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5" st="5"/>
                                            </p:txEl>
                                          </p:spTgt>
                                        </p:tgtEl>
                                        <p:attrNameLst>
                                          <p:attrName>style.visibility</p:attrName>
                                        </p:attrNameLst>
                                      </p:cBhvr>
                                      <p:to>
                                        <p:strVal val="visible"/>
                                      </p:to>
                                    </p:set>
                                    <p:animEffect filter="fade" transition="in">
                                      <p:cBhvr>
                                        <p:cTn dur="1000"/>
                                        <p:tgtEl>
                                          <p:spTgt spid="12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6" st="6"/>
                                            </p:txEl>
                                          </p:spTgt>
                                        </p:tgtEl>
                                        <p:attrNameLst>
                                          <p:attrName>style.visibility</p:attrName>
                                        </p:attrNameLst>
                                      </p:cBhvr>
                                      <p:to>
                                        <p:strVal val="visible"/>
                                      </p:to>
                                    </p:set>
                                    <p:animEffect filter="fade" transition="in">
                                      <p:cBhvr>
                                        <p:cTn dur="1000"/>
                                        <p:tgtEl>
                                          <p:spTgt spid="12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7" st="7"/>
                                            </p:txEl>
                                          </p:spTgt>
                                        </p:tgtEl>
                                        <p:attrNameLst>
                                          <p:attrName>style.visibility</p:attrName>
                                        </p:attrNameLst>
                                      </p:cBhvr>
                                      <p:to>
                                        <p:strVal val="visible"/>
                                      </p:to>
                                    </p:set>
                                    <p:animEffect filter="fade" transition="in">
                                      <p:cBhvr>
                                        <p:cTn dur="1000"/>
                                        <p:tgtEl>
                                          <p:spTgt spid="12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8" st="8"/>
                                            </p:txEl>
                                          </p:spTgt>
                                        </p:tgtEl>
                                        <p:attrNameLst>
                                          <p:attrName>style.visibility</p:attrName>
                                        </p:attrNameLst>
                                      </p:cBhvr>
                                      <p:to>
                                        <p:strVal val="visible"/>
                                      </p:to>
                                    </p:set>
                                    <p:animEffect filter="fade" transition="in">
                                      <p:cBhvr>
                                        <p:cTn dur="1000"/>
                                        <p:tgtEl>
                                          <p:spTgt spid="12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9" st="9"/>
                                            </p:txEl>
                                          </p:spTgt>
                                        </p:tgtEl>
                                        <p:attrNameLst>
                                          <p:attrName>style.visibility</p:attrName>
                                        </p:attrNameLst>
                                      </p:cBhvr>
                                      <p:to>
                                        <p:strVal val="visible"/>
                                      </p:to>
                                    </p:set>
                                    <p:animEffect filter="fade" transition="in">
                                      <p:cBhvr>
                                        <p:cTn dur="1000"/>
                                        <p:tgtEl>
                                          <p:spTgt spid="120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10" st="10"/>
                                            </p:txEl>
                                          </p:spTgt>
                                        </p:tgtEl>
                                        <p:attrNameLst>
                                          <p:attrName>style.visibility</p:attrName>
                                        </p:attrNameLst>
                                      </p:cBhvr>
                                      <p:to>
                                        <p:strVal val="visible"/>
                                      </p:to>
                                    </p:set>
                                    <p:animEffect filter="fade" transition="in">
                                      <p:cBhvr>
                                        <p:cTn dur="1000"/>
                                        <p:tgtEl>
                                          <p:spTgt spid="120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11" st="11"/>
                                            </p:txEl>
                                          </p:spTgt>
                                        </p:tgtEl>
                                        <p:attrNameLst>
                                          <p:attrName>style.visibility</p:attrName>
                                        </p:attrNameLst>
                                      </p:cBhvr>
                                      <p:to>
                                        <p:strVal val="visible"/>
                                      </p:to>
                                    </p:set>
                                    <p:animEffect filter="fade" transition="in">
                                      <p:cBhvr>
                                        <p:cTn dur="1000"/>
                                        <p:tgtEl>
                                          <p:spTgt spid="120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12" st="12"/>
                                            </p:txEl>
                                          </p:spTgt>
                                        </p:tgtEl>
                                        <p:attrNameLst>
                                          <p:attrName>style.visibility</p:attrName>
                                        </p:attrNameLst>
                                      </p:cBhvr>
                                      <p:to>
                                        <p:strVal val="visible"/>
                                      </p:to>
                                    </p:set>
                                    <p:animEffect filter="fade" transition="in">
                                      <p:cBhvr>
                                        <p:cTn dur="1000"/>
                                        <p:tgtEl>
                                          <p:spTgt spid="120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xEl>
                                              <p:pRg end="13" st="13"/>
                                            </p:txEl>
                                          </p:spTgt>
                                        </p:tgtEl>
                                        <p:attrNameLst>
                                          <p:attrName>style.visibility</p:attrName>
                                        </p:attrNameLst>
                                      </p:cBhvr>
                                      <p:to>
                                        <p:strVal val="visible"/>
                                      </p:to>
                                    </p:set>
                                    <p:animEffect filter="fade" transition="in">
                                      <p:cBhvr>
                                        <p:cTn dur="1000"/>
                                        <p:tgtEl>
                                          <p:spTgt spid="120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43"/>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n">
                <a:latin typeface="Twentieth Century"/>
                <a:ea typeface="Twentieth Century"/>
                <a:cs typeface="Twentieth Century"/>
                <a:sym typeface="Twentieth Century"/>
              </a:rPr>
              <a:t>Existing CC Collection Techniques</a:t>
            </a:r>
            <a:endParaRPr>
              <a:latin typeface="Twentieth Century"/>
              <a:ea typeface="Twentieth Century"/>
              <a:cs typeface="Twentieth Century"/>
              <a:sym typeface="Twentieth Century"/>
            </a:endParaRPr>
          </a:p>
        </p:txBody>
      </p:sp>
      <p:sp>
        <p:nvSpPr>
          <p:cNvPr id="1212" name="Google Shape;1212;p143"/>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CC encoding schemes (PCCE, Valence).</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Calling context encoding is to uniquely represent the current context of any execution point using a small number of integer identifiers (IDs)</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IDs in the existing CC encoding scheme can only distinguish the different contexts with respect to the current node.</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Decoding cost depending on the length of the current call path.</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Real app:</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Enabling Layer 2 Pathlet Tracing through Context Encoding in Software-Defined Networking (PCCE)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0" st="0"/>
                                            </p:txEl>
                                          </p:spTgt>
                                        </p:tgtEl>
                                        <p:attrNameLst>
                                          <p:attrName>style.visibility</p:attrName>
                                        </p:attrNameLst>
                                      </p:cBhvr>
                                      <p:to>
                                        <p:strVal val="visible"/>
                                      </p:to>
                                    </p:set>
                                    <p:animEffect filter="fade" transition="in">
                                      <p:cBhvr>
                                        <p:cTn dur="1000"/>
                                        <p:tgtEl>
                                          <p:spTgt spid="1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1" st="1"/>
                                            </p:txEl>
                                          </p:spTgt>
                                        </p:tgtEl>
                                        <p:attrNameLst>
                                          <p:attrName>style.visibility</p:attrName>
                                        </p:attrNameLst>
                                      </p:cBhvr>
                                      <p:to>
                                        <p:strVal val="visible"/>
                                      </p:to>
                                    </p:set>
                                    <p:animEffect filter="fade" transition="in">
                                      <p:cBhvr>
                                        <p:cTn dur="1000"/>
                                        <p:tgtEl>
                                          <p:spTgt spid="1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2" st="2"/>
                                            </p:txEl>
                                          </p:spTgt>
                                        </p:tgtEl>
                                        <p:attrNameLst>
                                          <p:attrName>style.visibility</p:attrName>
                                        </p:attrNameLst>
                                      </p:cBhvr>
                                      <p:to>
                                        <p:strVal val="visible"/>
                                      </p:to>
                                    </p:set>
                                    <p:animEffect filter="fade" transition="in">
                                      <p:cBhvr>
                                        <p:cTn dur="1000"/>
                                        <p:tgtEl>
                                          <p:spTgt spid="1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3" st="3"/>
                                            </p:txEl>
                                          </p:spTgt>
                                        </p:tgtEl>
                                        <p:attrNameLst>
                                          <p:attrName>style.visibility</p:attrName>
                                        </p:attrNameLst>
                                      </p:cBhvr>
                                      <p:to>
                                        <p:strVal val="visible"/>
                                      </p:to>
                                    </p:set>
                                    <p:animEffect filter="fade" transition="in">
                                      <p:cBhvr>
                                        <p:cTn dur="1000"/>
                                        <p:tgtEl>
                                          <p:spTgt spid="1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4" st="4"/>
                                            </p:txEl>
                                          </p:spTgt>
                                        </p:tgtEl>
                                        <p:attrNameLst>
                                          <p:attrName>style.visibility</p:attrName>
                                        </p:attrNameLst>
                                      </p:cBhvr>
                                      <p:to>
                                        <p:strVal val="visible"/>
                                      </p:to>
                                    </p:set>
                                    <p:animEffect filter="fade" transition="in">
                                      <p:cBhvr>
                                        <p:cTn dur="1000"/>
                                        <p:tgtEl>
                                          <p:spTgt spid="1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5" st="5"/>
                                            </p:txEl>
                                          </p:spTgt>
                                        </p:tgtEl>
                                        <p:attrNameLst>
                                          <p:attrName>style.visibility</p:attrName>
                                        </p:attrNameLst>
                                      </p:cBhvr>
                                      <p:to>
                                        <p:strVal val="visible"/>
                                      </p:to>
                                    </p:set>
                                    <p:animEffect filter="fade" transition="in">
                                      <p:cBhvr>
                                        <p:cTn dur="1000"/>
                                        <p:tgtEl>
                                          <p:spTgt spid="1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6" st="6"/>
                                            </p:txEl>
                                          </p:spTgt>
                                        </p:tgtEl>
                                        <p:attrNameLst>
                                          <p:attrName>style.visibility</p:attrName>
                                        </p:attrNameLst>
                                      </p:cBhvr>
                                      <p:to>
                                        <p:strVal val="visible"/>
                                      </p:to>
                                    </p:set>
                                    <p:animEffect filter="fade" transition="in">
                                      <p:cBhvr>
                                        <p:cTn dur="1000"/>
                                        <p:tgtEl>
                                          <p:spTgt spid="12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7" st="7"/>
                                            </p:txEl>
                                          </p:spTgt>
                                        </p:tgtEl>
                                        <p:attrNameLst>
                                          <p:attrName>style.visibility</p:attrName>
                                        </p:attrNameLst>
                                      </p:cBhvr>
                                      <p:to>
                                        <p:strVal val="visible"/>
                                      </p:to>
                                    </p:set>
                                    <p:animEffect filter="fade" transition="in">
                                      <p:cBhvr>
                                        <p:cTn dur="1000"/>
                                        <p:tgtEl>
                                          <p:spTgt spid="12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8" st="8"/>
                                            </p:txEl>
                                          </p:spTgt>
                                        </p:tgtEl>
                                        <p:attrNameLst>
                                          <p:attrName>style.visibility</p:attrName>
                                        </p:attrNameLst>
                                      </p:cBhvr>
                                      <p:to>
                                        <p:strVal val="visible"/>
                                      </p:to>
                                    </p:set>
                                    <p:animEffect filter="fade" transition="in">
                                      <p:cBhvr>
                                        <p:cTn dur="1000"/>
                                        <p:tgtEl>
                                          <p:spTgt spid="12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9" st="9"/>
                                            </p:txEl>
                                          </p:spTgt>
                                        </p:tgtEl>
                                        <p:attrNameLst>
                                          <p:attrName>style.visibility</p:attrName>
                                        </p:attrNameLst>
                                      </p:cBhvr>
                                      <p:to>
                                        <p:strVal val="visible"/>
                                      </p:to>
                                    </p:set>
                                    <p:animEffect filter="fade" transition="in">
                                      <p:cBhvr>
                                        <p:cTn dur="1000"/>
                                        <p:tgtEl>
                                          <p:spTgt spid="121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144"/>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1219" name="Google Shape;1219;p144"/>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Distinguishable Calling Context Encoding (Is it encoding? Or something else?)</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 cost to distinguish all CCs.</a:t>
            </a:r>
            <a:endParaRPr>
              <a:latin typeface="Twentieth Century"/>
              <a:ea typeface="Twentieth Century"/>
              <a:cs typeface="Twentieth Century"/>
              <a:sym typeface="Twentieth Century"/>
            </a:endParaRPr>
          </a:p>
          <a:p>
            <a:pPr indent="-254000" lvl="0" marL="3429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context</a:t>
            </a:r>
            <a:r>
              <a:rPr lang="en">
                <a:latin typeface="Twentieth Century"/>
                <a:ea typeface="Twentieth Century"/>
                <a:cs typeface="Twentieth Century"/>
                <a:sym typeface="Twentieth Century"/>
              </a:rPr>
              <a:t>-sensitive runtime/dynamic optimization</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Many tools to find inefficiencies in programs.</a:t>
            </a:r>
            <a:endParaRPr>
              <a:latin typeface="Twentieth Century"/>
              <a:ea typeface="Twentieth Century"/>
              <a:cs typeface="Twentieth Century"/>
              <a:sym typeface="Twentieth Century"/>
            </a:endParaRPr>
          </a:p>
          <a:p>
            <a:pPr indent="-254000" lvl="2" marL="10287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Tools use calling context during profile. (either context-</a:t>
            </a:r>
            <a:r>
              <a:rPr lang="en">
                <a:latin typeface="Twentieth Century"/>
                <a:ea typeface="Twentieth Century"/>
                <a:cs typeface="Twentieth Century"/>
                <a:sym typeface="Twentieth Century"/>
              </a:rPr>
              <a:t>sensitive</a:t>
            </a:r>
            <a:r>
              <a:rPr lang="en">
                <a:latin typeface="Twentieth Century"/>
                <a:ea typeface="Twentieth Century"/>
                <a:cs typeface="Twentieth Century"/>
                <a:sym typeface="Twentieth Century"/>
              </a:rPr>
              <a:t> or context-nonsensitive)</a:t>
            </a:r>
            <a:endParaRPr>
              <a:latin typeface="Twentieth Century"/>
              <a:ea typeface="Twentieth Century"/>
              <a:cs typeface="Twentieth Century"/>
              <a:sym typeface="Twentieth Century"/>
            </a:endParaRPr>
          </a:p>
          <a:p>
            <a:pPr indent="-254000" lvl="2" marL="10287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Developers inspect and fix/optimize the programs </a:t>
            </a:r>
            <a:endParaRPr>
              <a:latin typeface="Twentieth Century"/>
              <a:ea typeface="Twentieth Century"/>
              <a:cs typeface="Twentieth Century"/>
              <a:sym typeface="Twentieth Century"/>
            </a:endParaRPr>
          </a:p>
          <a:p>
            <a:pPr indent="-254000" lvl="2" marL="10287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Programs does not need calling context.</a:t>
            </a:r>
            <a:endParaRPr>
              <a:latin typeface="Twentieth Century"/>
              <a:ea typeface="Twentieth Century"/>
              <a:cs typeface="Twentieth Century"/>
              <a:sym typeface="Twentieth Century"/>
            </a:endParaRPr>
          </a:p>
          <a:p>
            <a:pPr indent="-254000" lvl="2" marL="10287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DeadSpy, Runtime Value Numbering, RedSpy, LoadSpy, Witch</a:t>
            </a:r>
            <a:endParaRPr>
              <a:latin typeface="Twentieth Century"/>
              <a:ea typeface="Twentieth Century"/>
              <a:cs typeface="Twentieth Century"/>
              <a:sym typeface="Twentieth Century"/>
            </a:endParaRPr>
          </a:p>
          <a:p>
            <a:pPr indent="-254000" lvl="1" marL="6858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Few programs can be improve their performance by applying (calling) context-sensitive dynamic optimization.</a:t>
            </a:r>
            <a:endParaRPr>
              <a:latin typeface="Twentieth Century"/>
              <a:ea typeface="Twentieth Century"/>
              <a:cs typeface="Twentieth Century"/>
              <a:sym typeface="Twentieth Century"/>
            </a:endParaRPr>
          </a:p>
          <a:p>
            <a:pPr indent="-254000" lvl="2" marL="1028700" rtl="0" algn="l">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elision</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0" st="0"/>
                                            </p:txEl>
                                          </p:spTgt>
                                        </p:tgtEl>
                                        <p:attrNameLst>
                                          <p:attrName>style.visibility</p:attrName>
                                        </p:attrNameLst>
                                      </p:cBhvr>
                                      <p:to>
                                        <p:strVal val="visible"/>
                                      </p:to>
                                    </p:set>
                                    <p:animEffect filter="fade" transition="in">
                                      <p:cBhvr>
                                        <p:cTn dur="1000"/>
                                        <p:tgtEl>
                                          <p:spTgt spid="12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1" st="1"/>
                                            </p:txEl>
                                          </p:spTgt>
                                        </p:tgtEl>
                                        <p:attrNameLst>
                                          <p:attrName>style.visibility</p:attrName>
                                        </p:attrNameLst>
                                      </p:cBhvr>
                                      <p:to>
                                        <p:strVal val="visible"/>
                                      </p:to>
                                    </p:set>
                                    <p:animEffect filter="fade" transition="in">
                                      <p:cBhvr>
                                        <p:cTn dur="1000"/>
                                        <p:tgtEl>
                                          <p:spTgt spid="12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2" st="2"/>
                                            </p:txEl>
                                          </p:spTgt>
                                        </p:tgtEl>
                                        <p:attrNameLst>
                                          <p:attrName>style.visibility</p:attrName>
                                        </p:attrNameLst>
                                      </p:cBhvr>
                                      <p:to>
                                        <p:strVal val="visible"/>
                                      </p:to>
                                    </p:set>
                                    <p:animEffect filter="fade" transition="in">
                                      <p:cBhvr>
                                        <p:cTn dur="1000"/>
                                        <p:tgtEl>
                                          <p:spTgt spid="12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3" st="3"/>
                                            </p:txEl>
                                          </p:spTgt>
                                        </p:tgtEl>
                                        <p:attrNameLst>
                                          <p:attrName>style.visibility</p:attrName>
                                        </p:attrNameLst>
                                      </p:cBhvr>
                                      <p:to>
                                        <p:strVal val="visible"/>
                                      </p:to>
                                    </p:set>
                                    <p:animEffect filter="fade" transition="in">
                                      <p:cBhvr>
                                        <p:cTn dur="1000"/>
                                        <p:tgtEl>
                                          <p:spTgt spid="12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4" st="4"/>
                                            </p:txEl>
                                          </p:spTgt>
                                        </p:tgtEl>
                                        <p:attrNameLst>
                                          <p:attrName>style.visibility</p:attrName>
                                        </p:attrNameLst>
                                      </p:cBhvr>
                                      <p:to>
                                        <p:strVal val="visible"/>
                                      </p:to>
                                    </p:set>
                                    <p:animEffect filter="fade" transition="in">
                                      <p:cBhvr>
                                        <p:cTn dur="1000"/>
                                        <p:tgtEl>
                                          <p:spTgt spid="12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5" st="5"/>
                                            </p:txEl>
                                          </p:spTgt>
                                        </p:tgtEl>
                                        <p:attrNameLst>
                                          <p:attrName>style.visibility</p:attrName>
                                        </p:attrNameLst>
                                      </p:cBhvr>
                                      <p:to>
                                        <p:strVal val="visible"/>
                                      </p:to>
                                    </p:set>
                                    <p:animEffect filter="fade" transition="in">
                                      <p:cBhvr>
                                        <p:cTn dur="1000"/>
                                        <p:tgtEl>
                                          <p:spTgt spid="12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6" st="6"/>
                                            </p:txEl>
                                          </p:spTgt>
                                        </p:tgtEl>
                                        <p:attrNameLst>
                                          <p:attrName>style.visibility</p:attrName>
                                        </p:attrNameLst>
                                      </p:cBhvr>
                                      <p:to>
                                        <p:strVal val="visible"/>
                                      </p:to>
                                    </p:set>
                                    <p:animEffect filter="fade" transition="in">
                                      <p:cBhvr>
                                        <p:cTn dur="1000"/>
                                        <p:tgtEl>
                                          <p:spTgt spid="12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7" st="7"/>
                                            </p:txEl>
                                          </p:spTgt>
                                        </p:tgtEl>
                                        <p:attrNameLst>
                                          <p:attrName>style.visibility</p:attrName>
                                        </p:attrNameLst>
                                      </p:cBhvr>
                                      <p:to>
                                        <p:strVal val="visible"/>
                                      </p:to>
                                    </p:set>
                                    <p:animEffect filter="fade" transition="in">
                                      <p:cBhvr>
                                        <p:cTn dur="1000"/>
                                        <p:tgtEl>
                                          <p:spTgt spid="12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8" st="8"/>
                                            </p:txEl>
                                          </p:spTgt>
                                        </p:tgtEl>
                                        <p:attrNameLst>
                                          <p:attrName>style.visibility</p:attrName>
                                        </p:attrNameLst>
                                      </p:cBhvr>
                                      <p:to>
                                        <p:strVal val="visible"/>
                                      </p:to>
                                    </p:set>
                                    <p:animEffect filter="fade" transition="in">
                                      <p:cBhvr>
                                        <p:cTn dur="1000"/>
                                        <p:tgtEl>
                                          <p:spTgt spid="12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9" st="9"/>
                                            </p:txEl>
                                          </p:spTgt>
                                        </p:tgtEl>
                                        <p:attrNameLst>
                                          <p:attrName>style.visibility</p:attrName>
                                        </p:attrNameLst>
                                      </p:cBhvr>
                                      <p:to>
                                        <p:strVal val="visible"/>
                                      </p:to>
                                    </p:set>
                                    <p:animEffect filter="fade" transition="in">
                                      <p:cBhvr>
                                        <p:cTn dur="1000"/>
                                        <p:tgtEl>
                                          <p:spTgt spid="12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10" st="10"/>
                                            </p:txEl>
                                          </p:spTgt>
                                        </p:tgtEl>
                                        <p:attrNameLst>
                                          <p:attrName>style.visibility</p:attrName>
                                        </p:attrNameLst>
                                      </p:cBhvr>
                                      <p:to>
                                        <p:strVal val="visible"/>
                                      </p:to>
                                    </p:set>
                                    <p:animEffect filter="fade" transition="in">
                                      <p:cBhvr>
                                        <p:cTn dur="1000"/>
                                        <p:tgtEl>
                                          <p:spTgt spid="121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11" st="11"/>
                                            </p:txEl>
                                          </p:spTgt>
                                        </p:tgtEl>
                                        <p:attrNameLst>
                                          <p:attrName>style.visibility</p:attrName>
                                        </p:attrNameLst>
                                      </p:cBhvr>
                                      <p:to>
                                        <p:strVal val="visible"/>
                                      </p:to>
                                    </p:set>
                                    <p:animEffect filter="fade" transition="in">
                                      <p:cBhvr>
                                        <p:cTn dur="1000"/>
                                        <p:tgtEl>
                                          <p:spTgt spid="121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12" st="12"/>
                                            </p:txEl>
                                          </p:spTgt>
                                        </p:tgtEl>
                                        <p:attrNameLst>
                                          <p:attrName>style.visibility</p:attrName>
                                        </p:attrNameLst>
                                      </p:cBhvr>
                                      <p:to>
                                        <p:strVal val="visible"/>
                                      </p:to>
                                    </p:set>
                                    <p:animEffect filter="fade" transition="in">
                                      <p:cBhvr>
                                        <p:cTn dur="1000"/>
                                        <p:tgtEl>
                                          <p:spTgt spid="121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xEl>
                                              <p:pRg end="13" st="13"/>
                                            </p:txEl>
                                          </p:spTgt>
                                        </p:tgtEl>
                                        <p:attrNameLst>
                                          <p:attrName>style.visibility</p:attrName>
                                        </p:attrNameLst>
                                      </p:cBhvr>
                                      <p:to>
                                        <p:strVal val="visible"/>
                                      </p:to>
                                    </p:set>
                                    <p:animEffect filter="fade" transition="in">
                                      <p:cBhvr>
                                        <p:cTn dur="1000"/>
                                        <p:tgtEl>
                                          <p:spTgt spid="121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45"/>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 and suggested techniques</a:t>
            </a:r>
            <a:endParaRPr>
              <a:latin typeface="Twentieth Century"/>
              <a:ea typeface="Twentieth Century"/>
              <a:cs typeface="Twentieth Century"/>
              <a:sym typeface="Twentieth Century"/>
            </a:endParaRPr>
          </a:p>
        </p:txBody>
      </p:sp>
      <p:pic>
        <p:nvPicPr>
          <p:cNvPr id="1226" name="Google Shape;1226;p145"/>
          <p:cNvPicPr preferRelativeResize="0"/>
          <p:nvPr/>
        </p:nvPicPr>
        <p:blipFill>
          <a:blip r:embed="rId3">
            <a:alphaModFix/>
          </a:blip>
          <a:stretch>
            <a:fillRect/>
          </a:stretch>
        </p:blipFill>
        <p:spPr>
          <a:xfrm>
            <a:off x="152400" y="1115650"/>
            <a:ext cx="8672386" cy="1239919"/>
          </a:xfrm>
          <a:prstGeom prst="rect">
            <a:avLst/>
          </a:prstGeom>
          <a:noFill/>
          <a:ln>
            <a:noFill/>
          </a:ln>
        </p:spPr>
      </p:pic>
      <p:pic>
        <p:nvPicPr>
          <p:cNvPr id="1227" name="Google Shape;1227;p145"/>
          <p:cNvPicPr preferRelativeResize="0"/>
          <p:nvPr/>
        </p:nvPicPr>
        <p:blipFill>
          <a:blip r:embed="rId4">
            <a:alphaModFix/>
          </a:blip>
          <a:stretch>
            <a:fillRect/>
          </a:stretch>
        </p:blipFill>
        <p:spPr>
          <a:xfrm>
            <a:off x="152400" y="2507969"/>
            <a:ext cx="8162925" cy="173355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46"/>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sp>
        <p:nvSpPr>
          <p:cNvPr id="1234" name="Google Shape;1234;p146"/>
          <p:cNvSpPr txBox="1"/>
          <p:nvPr>
            <p:ph idx="1" type="body"/>
          </p:nvPr>
        </p:nvSpPr>
        <p:spPr>
          <a:xfrm>
            <a:off x="74350" y="734650"/>
            <a:ext cx="9018300" cy="20523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Large scientific parallel programs are written with conservative synchronization.</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Due to several layers of libraries, multiple programming languages.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Idea: dynamic optimization to elide (skip) context sensitively redundant barriers.</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 A barrier is redundant if and only if skipping the operation introduces no data races.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1235" name="Google Shape;1235;p146"/>
          <p:cNvPicPr preferRelativeResize="0"/>
          <p:nvPr/>
        </p:nvPicPr>
        <p:blipFill>
          <a:blip r:embed="rId3">
            <a:alphaModFix/>
          </a:blip>
          <a:stretch>
            <a:fillRect/>
          </a:stretch>
        </p:blipFill>
        <p:spPr>
          <a:xfrm>
            <a:off x="2904075" y="2501925"/>
            <a:ext cx="2775675" cy="254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0" st="0"/>
                                            </p:txEl>
                                          </p:spTgt>
                                        </p:tgtEl>
                                        <p:attrNameLst>
                                          <p:attrName>style.visibility</p:attrName>
                                        </p:attrNameLst>
                                      </p:cBhvr>
                                      <p:to>
                                        <p:strVal val="visible"/>
                                      </p:to>
                                    </p:set>
                                    <p:animEffect filter="fade" transition="in">
                                      <p:cBhvr>
                                        <p:cTn dur="1000"/>
                                        <p:tgtEl>
                                          <p:spTgt spid="12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1" st="1"/>
                                            </p:txEl>
                                          </p:spTgt>
                                        </p:tgtEl>
                                        <p:attrNameLst>
                                          <p:attrName>style.visibility</p:attrName>
                                        </p:attrNameLst>
                                      </p:cBhvr>
                                      <p:to>
                                        <p:strVal val="visible"/>
                                      </p:to>
                                    </p:set>
                                    <p:animEffect filter="fade" transition="in">
                                      <p:cBhvr>
                                        <p:cTn dur="1000"/>
                                        <p:tgtEl>
                                          <p:spTgt spid="12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2" st="2"/>
                                            </p:txEl>
                                          </p:spTgt>
                                        </p:tgtEl>
                                        <p:attrNameLst>
                                          <p:attrName>style.visibility</p:attrName>
                                        </p:attrNameLst>
                                      </p:cBhvr>
                                      <p:to>
                                        <p:strVal val="visible"/>
                                      </p:to>
                                    </p:set>
                                    <p:animEffect filter="fade" transition="in">
                                      <p:cBhvr>
                                        <p:cTn dur="1000"/>
                                        <p:tgtEl>
                                          <p:spTgt spid="12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3" st="3"/>
                                            </p:txEl>
                                          </p:spTgt>
                                        </p:tgtEl>
                                        <p:attrNameLst>
                                          <p:attrName>style.visibility</p:attrName>
                                        </p:attrNameLst>
                                      </p:cBhvr>
                                      <p:to>
                                        <p:strVal val="visible"/>
                                      </p:to>
                                    </p:set>
                                    <p:animEffect filter="fade" transition="in">
                                      <p:cBhvr>
                                        <p:cTn dur="1000"/>
                                        <p:tgtEl>
                                          <p:spTgt spid="12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4" st="4"/>
                                            </p:txEl>
                                          </p:spTgt>
                                        </p:tgtEl>
                                        <p:attrNameLst>
                                          <p:attrName>style.visibility</p:attrName>
                                        </p:attrNameLst>
                                      </p:cBhvr>
                                      <p:to>
                                        <p:strVal val="visible"/>
                                      </p:to>
                                    </p:set>
                                    <p:animEffect filter="fade" transition="in">
                                      <p:cBhvr>
                                        <p:cTn dur="1000"/>
                                        <p:tgtEl>
                                          <p:spTgt spid="12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5" st="5"/>
                                            </p:txEl>
                                          </p:spTgt>
                                        </p:tgtEl>
                                        <p:attrNameLst>
                                          <p:attrName>style.visibility</p:attrName>
                                        </p:attrNameLst>
                                      </p:cBhvr>
                                      <p:to>
                                        <p:strVal val="visible"/>
                                      </p:to>
                                    </p:set>
                                    <p:animEffect filter="fade" transition="in">
                                      <p:cBhvr>
                                        <p:cTn dur="1000"/>
                                        <p:tgtEl>
                                          <p:spTgt spid="12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xEl>
                                              <p:pRg end="6" st="6"/>
                                            </p:txEl>
                                          </p:spTgt>
                                        </p:tgtEl>
                                        <p:attrNameLst>
                                          <p:attrName>style.visibility</p:attrName>
                                        </p:attrNameLst>
                                      </p:cBhvr>
                                      <p:to>
                                        <p:strVal val="visible"/>
                                      </p:to>
                                    </p:set>
                                    <p:animEffect filter="fade" transition="in">
                                      <p:cBhvr>
                                        <p:cTn dur="1000"/>
                                        <p:tgtEl>
                                          <p:spTgt spid="123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47"/>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sp>
        <p:nvSpPr>
          <p:cNvPr id="1242" name="Google Shape;1242;p147"/>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Collects contexts that executes barrier redundantly during profile and skip it at production run. (can be done profile and skipping at production run).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stack unwinding is used to get CC and CC is hashed to encode.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Frequency of CC request is every time barrier is invoked at runtime.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500,000 barrier operations in their microbenchmark. (small or large?)</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1243" name="Google Shape;1243;p147"/>
          <p:cNvPicPr preferRelativeResize="0"/>
          <p:nvPr/>
        </p:nvPicPr>
        <p:blipFill>
          <a:blip r:embed="rId3">
            <a:alphaModFix/>
          </a:blip>
          <a:stretch>
            <a:fillRect/>
          </a:stretch>
        </p:blipFill>
        <p:spPr>
          <a:xfrm>
            <a:off x="1041400" y="2491838"/>
            <a:ext cx="6934200" cy="227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0" st="0"/>
                                            </p:txEl>
                                          </p:spTgt>
                                        </p:tgtEl>
                                        <p:attrNameLst>
                                          <p:attrName>style.visibility</p:attrName>
                                        </p:attrNameLst>
                                      </p:cBhvr>
                                      <p:to>
                                        <p:strVal val="visible"/>
                                      </p:to>
                                    </p:set>
                                    <p:animEffect filter="fade" transition="in">
                                      <p:cBhvr>
                                        <p:cTn dur="1000"/>
                                        <p:tgtEl>
                                          <p:spTgt spid="12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1" st="1"/>
                                            </p:txEl>
                                          </p:spTgt>
                                        </p:tgtEl>
                                        <p:attrNameLst>
                                          <p:attrName>style.visibility</p:attrName>
                                        </p:attrNameLst>
                                      </p:cBhvr>
                                      <p:to>
                                        <p:strVal val="visible"/>
                                      </p:to>
                                    </p:set>
                                    <p:animEffect filter="fade" transition="in">
                                      <p:cBhvr>
                                        <p:cTn dur="1000"/>
                                        <p:tgtEl>
                                          <p:spTgt spid="12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2" st="2"/>
                                            </p:txEl>
                                          </p:spTgt>
                                        </p:tgtEl>
                                        <p:attrNameLst>
                                          <p:attrName>style.visibility</p:attrName>
                                        </p:attrNameLst>
                                      </p:cBhvr>
                                      <p:to>
                                        <p:strVal val="visible"/>
                                      </p:to>
                                    </p:set>
                                    <p:animEffect filter="fade" transition="in">
                                      <p:cBhvr>
                                        <p:cTn dur="1000"/>
                                        <p:tgtEl>
                                          <p:spTgt spid="12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3" st="3"/>
                                            </p:txEl>
                                          </p:spTgt>
                                        </p:tgtEl>
                                        <p:attrNameLst>
                                          <p:attrName>style.visibility</p:attrName>
                                        </p:attrNameLst>
                                      </p:cBhvr>
                                      <p:to>
                                        <p:strVal val="visible"/>
                                      </p:to>
                                    </p:set>
                                    <p:animEffect filter="fade" transition="in">
                                      <p:cBhvr>
                                        <p:cTn dur="1000"/>
                                        <p:tgtEl>
                                          <p:spTgt spid="12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4" st="4"/>
                                            </p:txEl>
                                          </p:spTgt>
                                        </p:tgtEl>
                                        <p:attrNameLst>
                                          <p:attrName>style.visibility</p:attrName>
                                        </p:attrNameLst>
                                      </p:cBhvr>
                                      <p:to>
                                        <p:strVal val="visible"/>
                                      </p:to>
                                    </p:set>
                                    <p:animEffect filter="fade" transition="in">
                                      <p:cBhvr>
                                        <p:cTn dur="1000"/>
                                        <p:tgtEl>
                                          <p:spTgt spid="12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5" st="5"/>
                                            </p:txEl>
                                          </p:spTgt>
                                        </p:tgtEl>
                                        <p:attrNameLst>
                                          <p:attrName>style.visibility</p:attrName>
                                        </p:attrNameLst>
                                      </p:cBhvr>
                                      <p:to>
                                        <p:strVal val="visible"/>
                                      </p:to>
                                    </p:set>
                                    <p:animEffect filter="fade" transition="in">
                                      <p:cBhvr>
                                        <p:cTn dur="1000"/>
                                        <p:tgtEl>
                                          <p:spTgt spid="12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6" st="6"/>
                                            </p:txEl>
                                          </p:spTgt>
                                        </p:tgtEl>
                                        <p:attrNameLst>
                                          <p:attrName>style.visibility</p:attrName>
                                        </p:attrNameLst>
                                      </p:cBhvr>
                                      <p:to>
                                        <p:strVal val="visible"/>
                                      </p:to>
                                    </p:set>
                                    <p:animEffect filter="fade" transition="in">
                                      <p:cBhvr>
                                        <p:cTn dur="1000"/>
                                        <p:tgtEl>
                                          <p:spTgt spid="124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148"/>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pic>
        <p:nvPicPr>
          <p:cNvPr id="1250" name="Google Shape;1250;p148"/>
          <p:cNvPicPr preferRelativeResize="0"/>
          <p:nvPr/>
        </p:nvPicPr>
        <p:blipFill>
          <a:blip r:embed="rId3">
            <a:alphaModFix/>
          </a:blip>
          <a:stretch>
            <a:fillRect/>
          </a:stretch>
        </p:blipFill>
        <p:spPr>
          <a:xfrm>
            <a:off x="4409725" y="927975"/>
            <a:ext cx="4493599" cy="1571650"/>
          </a:xfrm>
          <a:prstGeom prst="rect">
            <a:avLst/>
          </a:prstGeom>
          <a:noFill/>
          <a:ln>
            <a:noFill/>
          </a:ln>
        </p:spPr>
      </p:pic>
      <p:pic>
        <p:nvPicPr>
          <p:cNvPr id="1251" name="Google Shape;1251;p148"/>
          <p:cNvPicPr preferRelativeResize="0"/>
          <p:nvPr/>
        </p:nvPicPr>
        <p:blipFill>
          <a:blip r:embed="rId4">
            <a:alphaModFix/>
          </a:blip>
          <a:stretch>
            <a:fillRect/>
          </a:stretch>
        </p:blipFill>
        <p:spPr>
          <a:xfrm>
            <a:off x="202775" y="829525"/>
            <a:ext cx="3662901" cy="2032275"/>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49"/>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sp>
        <p:nvSpPr>
          <p:cNvPr id="1258" name="Google Shape;1258;p149"/>
          <p:cNvSpPr/>
          <p:nvPr/>
        </p:nvSpPr>
        <p:spPr>
          <a:xfrm>
            <a:off x="3185725" y="666650"/>
            <a:ext cx="2364600" cy="171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pnga_add_patch()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(A_created)</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pnga_destroy(g_A)</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(B_created)</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pnga_destroy(g_B)</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(loca_sync_end)</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pnga_sync()</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
        <p:nvSpPr>
          <p:cNvPr id="1259" name="Google Shape;1259;p149"/>
          <p:cNvSpPr/>
          <p:nvPr/>
        </p:nvSpPr>
        <p:spPr>
          <a:xfrm>
            <a:off x="496225" y="2571750"/>
            <a:ext cx="2364600" cy="111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pnga_destroy()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grp_sync() // Entry</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comex_free()</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grp_sync() // Exit</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
        <p:nvSpPr>
          <p:cNvPr id="1260" name="Google Shape;1260;p149"/>
          <p:cNvSpPr/>
          <p:nvPr/>
        </p:nvSpPr>
        <p:spPr>
          <a:xfrm>
            <a:off x="6030725" y="2655925"/>
            <a:ext cx="2364600" cy="74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pnga_sync()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solidFill>
                  <a:schemeClr val="dk1"/>
                </a:solidFill>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
        <p:nvSpPr>
          <p:cNvPr id="1261" name="Google Shape;1261;p149"/>
          <p:cNvSpPr/>
          <p:nvPr/>
        </p:nvSpPr>
        <p:spPr>
          <a:xfrm>
            <a:off x="3345150" y="3761150"/>
            <a:ext cx="2364600" cy="1382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barrier()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CC = getCallingContext();</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CC in CCSet // {3}</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Return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 barrier code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cxnSp>
        <p:nvCxnSpPr>
          <p:cNvPr id="1262" name="Google Shape;1262;p149"/>
          <p:cNvCxnSpPr>
            <a:stCxn id="1263" idx="1"/>
            <a:endCxn id="1259" idx="0"/>
          </p:cNvCxnSpPr>
          <p:nvPr/>
        </p:nvCxnSpPr>
        <p:spPr>
          <a:xfrm flipH="1">
            <a:off x="1678525" y="1242975"/>
            <a:ext cx="1964400" cy="1328700"/>
          </a:xfrm>
          <a:prstGeom prst="curvedConnector2">
            <a:avLst/>
          </a:prstGeom>
          <a:noFill/>
          <a:ln cap="flat" cmpd="sng" w="9525">
            <a:solidFill>
              <a:schemeClr val="dk2"/>
            </a:solidFill>
            <a:prstDash val="solid"/>
            <a:round/>
            <a:headEnd len="med" w="med" type="none"/>
            <a:tailEnd len="med" w="med" type="triangle"/>
          </a:ln>
        </p:spPr>
      </p:cxnSp>
      <p:sp>
        <p:nvSpPr>
          <p:cNvPr id="1263" name="Google Shape;1263;p149"/>
          <p:cNvSpPr/>
          <p:nvPr/>
        </p:nvSpPr>
        <p:spPr>
          <a:xfrm>
            <a:off x="3642925" y="114412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49"/>
          <p:cNvSpPr/>
          <p:nvPr/>
        </p:nvSpPr>
        <p:spPr>
          <a:xfrm>
            <a:off x="3566725" y="155757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49"/>
          <p:cNvSpPr/>
          <p:nvPr/>
        </p:nvSpPr>
        <p:spPr>
          <a:xfrm>
            <a:off x="5232925" y="197102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6" name="Google Shape;1266;p149"/>
          <p:cNvCxnSpPr>
            <a:stCxn id="1265" idx="3"/>
            <a:endCxn id="1260" idx="0"/>
          </p:cNvCxnSpPr>
          <p:nvPr/>
        </p:nvCxnSpPr>
        <p:spPr>
          <a:xfrm>
            <a:off x="5550325" y="2069875"/>
            <a:ext cx="1662600" cy="586200"/>
          </a:xfrm>
          <a:prstGeom prst="curvedConnector2">
            <a:avLst/>
          </a:prstGeom>
          <a:noFill/>
          <a:ln cap="flat" cmpd="sng" w="9525">
            <a:solidFill>
              <a:schemeClr val="dk2"/>
            </a:solidFill>
            <a:prstDash val="solid"/>
            <a:round/>
            <a:headEnd len="med" w="med" type="none"/>
            <a:tailEnd len="med" w="med" type="triangle"/>
          </a:ln>
        </p:spPr>
      </p:cxnSp>
      <p:cxnSp>
        <p:nvCxnSpPr>
          <p:cNvPr id="1267" name="Google Shape;1267;p149"/>
          <p:cNvCxnSpPr>
            <a:stCxn id="1260" idx="1"/>
            <a:endCxn id="1261" idx="0"/>
          </p:cNvCxnSpPr>
          <p:nvPr/>
        </p:nvCxnSpPr>
        <p:spPr>
          <a:xfrm flipH="1">
            <a:off x="4527425" y="3029575"/>
            <a:ext cx="1503300" cy="731700"/>
          </a:xfrm>
          <a:prstGeom prst="curvedConnector2">
            <a:avLst/>
          </a:prstGeom>
          <a:noFill/>
          <a:ln cap="flat" cmpd="sng" w="9525">
            <a:solidFill>
              <a:schemeClr val="dk2"/>
            </a:solidFill>
            <a:prstDash val="solid"/>
            <a:round/>
            <a:headEnd len="med" w="med" type="none"/>
            <a:tailEnd len="med" w="med" type="triangle"/>
          </a:ln>
        </p:spPr>
      </p:cxnSp>
      <p:cxnSp>
        <p:nvCxnSpPr>
          <p:cNvPr id="1268" name="Google Shape;1268;p149"/>
          <p:cNvCxnSpPr>
            <a:stCxn id="1259" idx="3"/>
            <a:endCxn id="1261" idx="0"/>
          </p:cNvCxnSpPr>
          <p:nvPr/>
        </p:nvCxnSpPr>
        <p:spPr>
          <a:xfrm>
            <a:off x="2860825" y="3127800"/>
            <a:ext cx="1666500" cy="633300"/>
          </a:xfrm>
          <a:prstGeom prst="curvedConnector2">
            <a:avLst/>
          </a:prstGeom>
          <a:noFill/>
          <a:ln cap="flat" cmpd="sng" w="9525">
            <a:solidFill>
              <a:schemeClr val="dk2"/>
            </a:solidFill>
            <a:prstDash val="solid"/>
            <a:round/>
            <a:headEnd len="med" w="med" type="none"/>
            <a:tailEnd len="med" w="med" type="triangle"/>
          </a:ln>
        </p:spPr>
      </p:cxnSp>
      <p:sp>
        <p:nvSpPr>
          <p:cNvPr id="1269" name="Google Shape;1269;p149"/>
          <p:cNvSpPr/>
          <p:nvPr/>
        </p:nvSpPr>
        <p:spPr>
          <a:xfrm>
            <a:off x="4572000" y="197102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0" name="Google Shape;1270;p149"/>
          <p:cNvCxnSpPr>
            <a:stCxn id="1264" idx="1"/>
            <a:endCxn id="1259" idx="0"/>
          </p:cNvCxnSpPr>
          <p:nvPr/>
        </p:nvCxnSpPr>
        <p:spPr>
          <a:xfrm flipH="1">
            <a:off x="1678525" y="1656425"/>
            <a:ext cx="1888200" cy="915300"/>
          </a:xfrm>
          <a:prstGeom prst="curved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50"/>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sp>
        <p:nvSpPr>
          <p:cNvPr id="1277" name="Google Shape;1277;p150"/>
          <p:cNvSpPr/>
          <p:nvPr/>
        </p:nvSpPr>
        <p:spPr>
          <a:xfrm>
            <a:off x="3185725" y="666650"/>
            <a:ext cx="2364600" cy="171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pnga_add_patch()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(A_created)</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pnga_destroy(g_A)</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(B_created)</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pnga_destroy(g_B)</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(loca_sync_end)</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pnga_sync()</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
        <p:nvSpPr>
          <p:cNvPr id="1278" name="Google Shape;1278;p150"/>
          <p:cNvSpPr/>
          <p:nvPr/>
        </p:nvSpPr>
        <p:spPr>
          <a:xfrm>
            <a:off x="496225" y="2571750"/>
            <a:ext cx="2364600" cy="1112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pnga_destroy()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grp_sync() // Entry</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comex_free()</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grp_sync() // Exit</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
        <p:nvSpPr>
          <p:cNvPr id="1279" name="Google Shape;1279;p150"/>
          <p:cNvSpPr/>
          <p:nvPr/>
        </p:nvSpPr>
        <p:spPr>
          <a:xfrm>
            <a:off x="6030725" y="2655925"/>
            <a:ext cx="2364600" cy="747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pnga_sync() {</a:t>
            </a:r>
            <a:endParaRPr>
              <a:latin typeface="Twentieth Century"/>
              <a:ea typeface="Twentieth Century"/>
              <a:cs typeface="Twentieth Century"/>
              <a:sym typeface="Twentieth Century"/>
            </a:endParaRPr>
          </a:p>
          <a:p>
            <a:pPr indent="0" lvl="0" marL="0" rtl="0" algn="l">
              <a:spcBef>
                <a:spcPts val="0"/>
              </a:spcBef>
              <a:spcAft>
                <a:spcPts val="0"/>
              </a:spcAft>
              <a:buClr>
                <a:schemeClr val="dk1"/>
              </a:buClr>
              <a:buSzPts val="1100"/>
              <a:buFont typeface="Arial"/>
              <a:buNone/>
            </a:pPr>
            <a:r>
              <a:rPr lang="en">
                <a:solidFill>
                  <a:schemeClr val="dk1"/>
                </a:solidFill>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
        <p:nvSpPr>
          <p:cNvPr id="1280" name="Google Shape;1280;p150"/>
          <p:cNvSpPr/>
          <p:nvPr/>
        </p:nvSpPr>
        <p:spPr>
          <a:xfrm>
            <a:off x="3345150" y="3761150"/>
            <a:ext cx="2364600" cy="1382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Function barrier()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CC = getCallingContext();</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If CC in CCSet // {3}</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Return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     … barrier code …</a:t>
            </a:r>
            <a:endParaRPr>
              <a:latin typeface="Twentieth Century"/>
              <a:ea typeface="Twentieth Century"/>
              <a:cs typeface="Twentieth Century"/>
              <a:sym typeface="Twentieth Century"/>
            </a:endParaRPr>
          </a:p>
          <a:p>
            <a:pPr indent="0" lvl="0" marL="0" rtl="0" algn="l">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cxnSp>
        <p:nvCxnSpPr>
          <p:cNvPr id="1281" name="Google Shape;1281;p150"/>
          <p:cNvCxnSpPr>
            <a:stCxn id="1282" idx="1"/>
            <a:endCxn id="1278" idx="0"/>
          </p:cNvCxnSpPr>
          <p:nvPr/>
        </p:nvCxnSpPr>
        <p:spPr>
          <a:xfrm flipH="1">
            <a:off x="1678525" y="1242975"/>
            <a:ext cx="1964400" cy="1328700"/>
          </a:xfrm>
          <a:prstGeom prst="curvedConnector2">
            <a:avLst/>
          </a:prstGeom>
          <a:noFill/>
          <a:ln cap="flat" cmpd="sng" w="9525">
            <a:solidFill>
              <a:schemeClr val="dk2"/>
            </a:solidFill>
            <a:prstDash val="solid"/>
            <a:round/>
            <a:headEnd len="med" w="med" type="none"/>
            <a:tailEnd len="med" w="med" type="triangle"/>
          </a:ln>
        </p:spPr>
      </p:cxnSp>
      <p:sp>
        <p:nvSpPr>
          <p:cNvPr id="1282" name="Google Shape;1282;p150"/>
          <p:cNvSpPr/>
          <p:nvPr/>
        </p:nvSpPr>
        <p:spPr>
          <a:xfrm>
            <a:off x="3642925" y="114412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50"/>
          <p:cNvSpPr/>
          <p:nvPr/>
        </p:nvSpPr>
        <p:spPr>
          <a:xfrm>
            <a:off x="3566725" y="155757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50"/>
          <p:cNvSpPr/>
          <p:nvPr/>
        </p:nvSpPr>
        <p:spPr>
          <a:xfrm>
            <a:off x="5232925" y="197102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5" name="Google Shape;1285;p150"/>
          <p:cNvCxnSpPr>
            <a:stCxn id="1284" idx="3"/>
            <a:endCxn id="1279" idx="0"/>
          </p:cNvCxnSpPr>
          <p:nvPr/>
        </p:nvCxnSpPr>
        <p:spPr>
          <a:xfrm>
            <a:off x="5550325" y="2069875"/>
            <a:ext cx="1662600" cy="586200"/>
          </a:xfrm>
          <a:prstGeom prst="curvedConnector2">
            <a:avLst/>
          </a:prstGeom>
          <a:noFill/>
          <a:ln cap="flat" cmpd="sng" w="9525">
            <a:solidFill>
              <a:schemeClr val="dk2"/>
            </a:solidFill>
            <a:prstDash val="solid"/>
            <a:round/>
            <a:headEnd len="med" w="med" type="none"/>
            <a:tailEnd len="med" w="med" type="triangle"/>
          </a:ln>
        </p:spPr>
      </p:cxnSp>
      <p:cxnSp>
        <p:nvCxnSpPr>
          <p:cNvPr id="1286" name="Google Shape;1286;p150"/>
          <p:cNvCxnSpPr>
            <a:stCxn id="1279" idx="1"/>
            <a:endCxn id="1280" idx="0"/>
          </p:cNvCxnSpPr>
          <p:nvPr/>
        </p:nvCxnSpPr>
        <p:spPr>
          <a:xfrm flipH="1">
            <a:off x="4527425" y="3029575"/>
            <a:ext cx="1503300" cy="731700"/>
          </a:xfrm>
          <a:prstGeom prst="curvedConnector2">
            <a:avLst/>
          </a:prstGeom>
          <a:noFill/>
          <a:ln cap="flat" cmpd="sng" w="9525">
            <a:solidFill>
              <a:schemeClr val="dk2"/>
            </a:solidFill>
            <a:prstDash val="solid"/>
            <a:round/>
            <a:headEnd len="med" w="med" type="none"/>
            <a:tailEnd len="med" w="med" type="triangle"/>
          </a:ln>
        </p:spPr>
      </p:cxnSp>
      <p:cxnSp>
        <p:nvCxnSpPr>
          <p:cNvPr id="1287" name="Google Shape;1287;p150"/>
          <p:cNvCxnSpPr>
            <a:stCxn id="1278" idx="3"/>
            <a:endCxn id="1280" idx="0"/>
          </p:cNvCxnSpPr>
          <p:nvPr/>
        </p:nvCxnSpPr>
        <p:spPr>
          <a:xfrm>
            <a:off x="2860825" y="3127800"/>
            <a:ext cx="1666500" cy="633300"/>
          </a:xfrm>
          <a:prstGeom prst="curvedConnector2">
            <a:avLst/>
          </a:prstGeom>
          <a:noFill/>
          <a:ln cap="flat" cmpd="sng" w="9525">
            <a:solidFill>
              <a:schemeClr val="dk2"/>
            </a:solidFill>
            <a:prstDash val="solid"/>
            <a:round/>
            <a:headEnd len="med" w="med" type="none"/>
            <a:tailEnd len="med" w="med" type="triangle"/>
          </a:ln>
        </p:spPr>
      </p:cxnSp>
      <p:sp>
        <p:nvSpPr>
          <p:cNvPr id="1288" name="Google Shape;1288;p150"/>
          <p:cNvSpPr txBox="1"/>
          <p:nvPr/>
        </p:nvSpPr>
        <p:spPr>
          <a:xfrm>
            <a:off x="1847850" y="1203575"/>
            <a:ext cx="87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wentieth Century"/>
                <a:ea typeface="Twentieth Century"/>
                <a:cs typeface="Twentieth Century"/>
                <a:sym typeface="Twentieth Century"/>
              </a:rPr>
              <a:t>ID += 0</a:t>
            </a:r>
            <a:endParaRPr sz="1100">
              <a:latin typeface="Twentieth Century"/>
              <a:ea typeface="Twentieth Century"/>
              <a:cs typeface="Twentieth Century"/>
              <a:sym typeface="Twentieth Century"/>
            </a:endParaRPr>
          </a:p>
        </p:txBody>
      </p:sp>
      <p:sp>
        <p:nvSpPr>
          <p:cNvPr id="1289" name="Google Shape;1289;p150"/>
          <p:cNvSpPr txBox="1"/>
          <p:nvPr/>
        </p:nvSpPr>
        <p:spPr>
          <a:xfrm>
            <a:off x="2437675" y="1429500"/>
            <a:ext cx="87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wentieth Century"/>
                <a:ea typeface="Twentieth Century"/>
                <a:cs typeface="Twentieth Century"/>
                <a:sym typeface="Twentieth Century"/>
              </a:rPr>
              <a:t>ID += 1</a:t>
            </a:r>
            <a:endParaRPr sz="1100">
              <a:latin typeface="Twentieth Century"/>
              <a:ea typeface="Twentieth Century"/>
              <a:cs typeface="Twentieth Century"/>
              <a:sym typeface="Twentieth Century"/>
            </a:endParaRPr>
          </a:p>
        </p:txBody>
      </p:sp>
      <p:sp>
        <p:nvSpPr>
          <p:cNvPr id="1290" name="Google Shape;1290;p150"/>
          <p:cNvSpPr txBox="1"/>
          <p:nvPr/>
        </p:nvSpPr>
        <p:spPr>
          <a:xfrm>
            <a:off x="3185725" y="2851400"/>
            <a:ext cx="87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wentieth Century"/>
                <a:ea typeface="Twentieth Century"/>
                <a:cs typeface="Twentieth Century"/>
                <a:sym typeface="Twentieth Century"/>
              </a:rPr>
              <a:t>ID += 1</a:t>
            </a:r>
            <a:endParaRPr sz="1100">
              <a:latin typeface="Twentieth Century"/>
              <a:ea typeface="Twentieth Century"/>
              <a:cs typeface="Twentieth Century"/>
              <a:sym typeface="Twentieth Century"/>
            </a:endParaRPr>
          </a:p>
        </p:txBody>
      </p:sp>
      <p:sp>
        <p:nvSpPr>
          <p:cNvPr id="1291" name="Google Shape;1291;p150"/>
          <p:cNvSpPr txBox="1"/>
          <p:nvPr/>
        </p:nvSpPr>
        <p:spPr>
          <a:xfrm>
            <a:off x="6030725" y="1814713"/>
            <a:ext cx="87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wentieth Century"/>
                <a:ea typeface="Twentieth Century"/>
                <a:cs typeface="Twentieth Century"/>
                <a:sym typeface="Twentieth Century"/>
              </a:rPr>
              <a:t>ID += 0</a:t>
            </a:r>
            <a:endParaRPr sz="1100">
              <a:latin typeface="Twentieth Century"/>
              <a:ea typeface="Twentieth Century"/>
              <a:cs typeface="Twentieth Century"/>
              <a:sym typeface="Twentieth Century"/>
            </a:endParaRPr>
          </a:p>
        </p:txBody>
      </p:sp>
      <p:sp>
        <p:nvSpPr>
          <p:cNvPr id="1292" name="Google Shape;1292;p150"/>
          <p:cNvSpPr txBox="1"/>
          <p:nvPr/>
        </p:nvSpPr>
        <p:spPr>
          <a:xfrm>
            <a:off x="4954075" y="2787925"/>
            <a:ext cx="87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wentieth Century"/>
                <a:ea typeface="Twentieth Century"/>
                <a:cs typeface="Twentieth Century"/>
                <a:sym typeface="Twentieth Century"/>
              </a:rPr>
              <a:t>ID += 0</a:t>
            </a:r>
            <a:endParaRPr sz="1100">
              <a:latin typeface="Twentieth Century"/>
              <a:ea typeface="Twentieth Century"/>
              <a:cs typeface="Twentieth Century"/>
              <a:sym typeface="Twentieth Century"/>
            </a:endParaRPr>
          </a:p>
        </p:txBody>
      </p:sp>
      <p:sp>
        <p:nvSpPr>
          <p:cNvPr id="1293" name="Google Shape;1293;p150"/>
          <p:cNvSpPr/>
          <p:nvPr/>
        </p:nvSpPr>
        <p:spPr>
          <a:xfrm>
            <a:off x="4572000" y="1971025"/>
            <a:ext cx="317400" cy="1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4" name="Google Shape;1294;p150"/>
          <p:cNvCxnSpPr>
            <a:stCxn id="1283" idx="1"/>
            <a:endCxn id="1278" idx="0"/>
          </p:cNvCxnSpPr>
          <p:nvPr/>
        </p:nvCxnSpPr>
        <p:spPr>
          <a:xfrm flipH="1">
            <a:off x="1678525" y="1656425"/>
            <a:ext cx="1888200" cy="915300"/>
          </a:xfrm>
          <a:prstGeom prst="curved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51"/>
          <p:cNvSpPr txBox="1"/>
          <p:nvPr>
            <p:ph type="title"/>
          </p:nvPr>
        </p:nvSpPr>
        <p:spPr>
          <a:xfrm>
            <a:off x="628650" y="101419"/>
            <a:ext cx="83586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INSTRUMENT CCID </a:t>
            </a:r>
            <a:endParaRPr>
              <a:latin typeface="Twentieth Century"/>
              <a:ea typeface="Twentieth Century"/>
              <a:cs typeface="Twentieth Century"/>
              <a:sym typeface="Twentieth Century"/>
            </a:endParaRPr>
          </a:p>
        </p:txBody>
      </p:sp>
      <p:sp>
        <p:nvSpPr>
          <p:cNvPr id="1301" name="Google Shape;1301;p151"/>
          <p:cNvSpPr txBox="1"/>
          <p:nvPr>
            <p:ph idx="1" type="body"/>
          </p:nvPr>
        </p:nvSpPr>
        <p:spPr>
          <a:xfrm>
            <a:off x="95575" y="799525"/>
            <a:ext cx="4872600" cy="43020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Char char="❏"/>
            </a:pPr>
            <a:r>
              <a:rPr lang="en"/>
              <a:t>Call Graph (CG) is a set of pairs &lt;N,E&gt;</a:t>
            </a:r>
            <a:endParaRPr/>
          </a:p>
          <a:p>
            <a:pPr indent="-254000" lvl="1" marL="685800" rtl="0" algn="l">
              <a:spcBef>
                <a:spcPts val="0"/>
              </a:spcBef>
              <a:spcAft>
                <a:spcPts val="0"/>
              </a:spcAft>
              <a:buSzPts val="1400"/>
              <a:buChar char="❏"/>
            </a:pPr>
            <a:r>
              <a:rPr lang="en"/>
              <a:t>Where N is a set of nodes with each node representing a function. n ∈ N has an attribute MaxID representing Maximum CC ID  of a sub call graph whose root is n.</a:t>
            </a:r>
            <a:endParaRPr/>
          </a:p>
          <a:p>
            <a:pPr indent="-254000" lvl="1" marL="685800" rtl="0" algn="l">
              <a:spcBef>
                <a:spcPts val="0"/>
              </a:spcBef>
              <a:spcAft>
                <a:spcPts val="0"/>
              </a:spcAft>
              <a:buSzPts val="1400"/>
              <a:buChar char="❏"/>
            </a:pPr>
            <a:r>
              <a:rPr lang="en"/>
              <a:t>Where E is a set of edges.  e ∈ E is a triple (n, m, ℓ), in which n, m ∈ N, represent a caller and callee, respectively, and ℓ represents a call site where n calls m.</a:t>
            </a:r>
            <a:endParaRPr/>
          </a:p>
          <a:p>
            <a:pPr indent="0" lvl="0" marL="0" rtl="0" algn="l">
              <a:spcBef>
                <a:spcPts val="800"/>
              </a:spcBef>
              <a:spcAft>
                <a:spcPts val="0"/>
              </a:spcAft>
              <a:buNone/>
            </a:pPr>
            <a:r>
              <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a:t>
            </a:r>
            <a:endParaRPr sz="1500">
              <a:latin typeface="Twentieth Century"/>
              <a:ea typeface="Twentieth Century"/>
              <a:cs typeface="Twentieth Century"/>
              <a:sym typeface="Twentieth Century"/>
            </a:endParaRPr>
          </a:p>
        </p:txBody>
      </p:sp>
      <p:sp>
        <p:nvSpPr>
          <p:cNvPr id="1302" name="Google Shape;1302;p151"/>
          <p:cNvSpPr txBox="1"/>
          <p:nvPr>
            <p:ph idx="1" type="body"/>
          </p:nvPr>
        </p:nvSpPr>
        <p:spPr>
          <a:xfrm>
            <a:off x="5094375" y="0"/>
            <a:ext cx="43224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500">
                <a:latin typeface="Twentieth Century"/>
                <a:ea typeface="Twentieth Century"/>
                <a:cs typeface="Twentieth Century"/>
                <a:sym typeface="Twentieth Century"/>
              </a:rPr>
              <a:t>INSTRUMENT_CCID (m) {</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 CC is global variable to keep trace of</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 Calling Context. It’s initialized with 0.</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m.MaxID = 0;</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For each e = (m, n, l) in E</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m.MaxID++;</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Insert “CC += m.MaxID” before l;</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Insert “CC -= m.MaxID” after l;</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If n is not visited</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m.MaxID += INSTRUMENT_CCID(n);</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Else</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m.MaxID += n.MaxID;</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Return m.MaxID;</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a:t>
            </a:r>
            <a:endParaRPr sz="1500">
              <a:latin typeface="Twentieth Century"/>
              <a:ea typeface="Twentieth Century"/>
              <a:cs typeface="Twentieth Century"/>
              <a:sym typeface="Twentieth Century"/>
            </a:endParaRPr>
          </a:p>
          <a:p>
            <a:pPr indent="0" lvl="0" marL="0" rtl="0" algn="l">
              <a:spcBef>
                <a:spcPts val="800"/>
              </a:spcBef>
              <a:spcAft>
                <a:spcPts val="0"/>
              </a:spcAft>
              <a:buNone/>
            </a:pPr>
            <a:r>
              <a:rPr lang="en" sz="1500">
                <a:latin typeface="Twentieth Century"/>
                <a:ea typeface="Twentieth Century"/>
                <a:cs typeface="Twentieth Century"/>
                <a:sym typeface="Twentieth Century"/>
              </a:rPr>
              <a:t> </a:t>
            </a:r>
            <a:endParaRPr sz="1500">
              <a:latin typeface="Twentieth Century"/>
              <a:ea typeface="Twentieth Century"/>
              <a:cs typeface="Twentieth Century"/>
              <a:sym typeface="Twentieth Century"/>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52"/>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BL vs PCCE vs DCCE - Example</a:t>
            </a:r>
            <a:endParaRPr/>
          </a:p>
        </p:txBody>
      </p:sp>
      <p:pic>
        <p:nvPicPr>
          <p:cNvPr id="1309" name="Google Shape;1309;p152"/>
          <p:cNvPicPr preferRelativeResize="0"/>
          <p:nvPr/>
        </p:nvPicPr>
        <p:blipFill>
          <a:blip r:embed="rId3">
            <a:alphaModFix/>
          </a:blip>
          <a:stretch>
            <a:fillRect/>
          </a:stretch>
        </p:blipFill>
        <p:spPr>
          <a:xfrm>
            <a:off x="3920625" y="1881548"/>
            <a:ext cx="1608125" cy="2194875"/>
          </a:xfrm>
          <a:prstGeom prst="rect">
            <a:avLst/>
          </a:prstGeom>
          <a:noFill/>
          <a:ln>
            <a:noFill/>
          </a:ln>
        </p:spPr>
      </p:pic>
      <p:pic>
        <p:nvPicPr>
          <p:cNvPr id="1310" name="Google Shape;1310;p152"/>
          <p:cNvPicPr preferRelativeResize="0"/>
          <p:nvPr/>
        </p:nvPicPr>
        <p:blipFill>
          <a:blip r:embed="rId4">
            <a:alphaModFix/>
          </a:blip>
          <a:stretch>
            <a:fillRect/>
          </a:stretch>
        </p:blipFill>
        <p:spPr>
          <a:xfrm>
            <a:off x="1979062" y="1881548"/>
            <a:ext cx="1773853" cy="2194876"/>
          </a:xfrm>
          <a:prstGeom prst="rect">
            <a:avLst/>
          </a:prstGeom>
          <a:noFill/>
          <a:ln>
            <a:noFill/>
          </a:ln>
        </p:spPr>
      </p:pic>
      <p:pic>
        <p:nvPicPr>
          <p:cNvPr id="1311" name="Google Shape;1311;p152"/>
          <p:cNvPicPr preferRelativeResize="0"/>
          <p:nvPr/>
        </p:nvPicPr>
        <p:blipFill>
          <a:blip r:embed="rId5">
            <a:alphaModFix/>
          </a:blip>
          <a:stretch>
            <a:fillRect/>
          </a:stretch>
        </p:blipFill>
        <p:spPr>
          <a:xfrm>
            <a:off x="165200" y="1850575"/>
            <a:ext cx="1646145" cy="2194874"/>
          </a:xfrm>
          <a:prstGeom prst="rect">
            <a:avLst/>
          </a:prstGeom>
          <a:noFill/>
          <a:ln>
            <a:noFill/>
          </a:ln>
        </p:spPr>
      </p:pic>
      <p:graphicFrame>
        <p:nvGraphicFramePr>
          <p:cNvPr id="1312" name="Google Shape;1312;p152"/>
          <p:cNvGraphicFramePr/>
          <p:nvPr/>
        </p:nvGraphicFramePr>
        <p:xfrm>
          <a:off x="5765200" y="466000"/>
          <a:ext cx="3000000" cy="3000000"/>
        </p:xfrm>
        <a:graphic>
          <a:graphicData uri="http://schemas.openxmlformats.org/drawingml/2006/table">
            <a:tbl>
              <a:tblPr>
                <a:noFill/>
                <a:tableStyleId>{4F6D741B-05F4-47F7-A36B-7D189AB3F37F}</a:tableStyleId>
              </a:tblPr>
              <a:tblGrid>
                <a:gridCol w="590850"/>
                <a:gridCol w="1017850"/>
                <a:gridCol w="804350"/>
                <a:gridCol w="804350"/>
              </a:tblGrid>
              <a:tr h="190500">
                <a:tc>
                  <a:txBody>
                    <a:bodyPr/>
                    <a:lstStyle/>
                    <a:p>
                      <a:pPr indent="0" lvl="0" marL="0" rtl="0" algn="ctr">
                        <a:spcBef>
                          <a:spcPts val="0"/>
                        </a:spcBef>
                        <a:spcAft>
                          <a:spcPts val="0"/>
                        </a:spcAft>
                        <a:buNone/>
                      </a:pPr>
                      <a:r>
                        <a:t/>
                      </a:r>
                      <a:endParaRPr b="1" sz="800"/>
                    </a:p>
                  </a:txBody>
                  <a:tcPr marT="91425" marB="91425" marR="91425" marL="91425" anchor="ctr"/>
                </a:tc>
                <a:tc>
                  <a:txBody>
                    <a:bodyPr/>
                    <a:lstStyle/>
                    <a:p>
                      <a:pPr indent="0" lvl="0" marL="0" rtl="0" algn="ctr">
                        <a:spcBef>
                          <a:spcPts val="0"/>
                        </a:spcBef>
                        <a:spcAft>
                          <a:spcPts val="0"/>
                        </a:spcAft>
                        <a:buNone/>
                      </a:pPr>
                      <a:r>
                        <a:rPr b="1" lang="en" sz="800"/>
                        <a:t>ID(BL)</a:t>
                      </a:r>
                      <a:endParaRPr b="1" sz="800"/>
                    </a:p>
                  </a:txBody>
                  <a:tcPr marT="91425" marB="91425" marR="91425" marL="91425" anchor="ctr"/>
                </a:tc>
                <a:tc>
                  <a:txBody>
                    <a:bodyPr/>
                    <a:lstStyle/>
                    <a:p>
                      <a:pPr indent="0" lvl="0" marL="0" rtl="0" algn="ctr">
                        <a:spcBef>
                          <a:spcPts val="0"/>
                        </a:spcBef>
                        <a:spcAft>
                          <a:spcPts val="0"/>
                        </a:spcAft>
                        <a:buNone/>
                      </a:pPr>
                      <a:r>
                        <a:rPr b="1" lang="en" sz="800"/>
                        <a:t>ID(PCCE)</a:t>
                      </a:r>
                      <a:endParaRPr b="1" sz="800"/>
                    </a:p>
                  </a:txBody>
                  <a:tcPr marT="91425" marB="91425" marR="91425" marL="91425" anchor="ctr"/>
                </a:tc>
                <a:tc>
                  <a:txBody>
                    <a:bodyPr/>
                    <a:lstStyle/>
                    <a:p>
                      <a:pPr indent="0" lvl="0" marL="0" rtl="0" algn="ctr">
                        <a:spcBef>
                          <a:spcPts val="0"/>
                        </a:spcBef>
                        <a:spcAft>
                          <a:spcPts val="0"/>
                        </a:spcAft>
                        <a:buNone/>
                      </a:pPr>
                      <a:r>
                        <a:rPr b="1" lang="en" sz="800"/>
                        <a:t>ID(DCCE)</a:t>
                      </a:r>
                      <a:endParaRPr b="1" sz="800"/>
                    </a:p>
                  </a:txBody>
                  <a:tcPr marT="91425" marB="91425" marR="91425" marL="91425" anchor="ctr"/>
                </a:tc>
              </a:tr>
              <a:tr h="190500">
                <a:tc>
                  <a:txBody>
                    <a:bodyPr/>
                    <a:lstStyle/>
                    <a:p>
                      <a:pPr indent="0" lvl="0" marL="0" rtl="0" algn="l">
                        <a:spcBef>
                          <a:spcPts val="0"/>
                        </a:spcBef>
                        <a:spcAft>
                          <a:spcPts val="0"/>
                        </a:spcAft>
                        <a:buNone/>
                      </a:pPr>
                      <a:r>
                        <a:rPr b="1" lang="en" sz="800"/>
                        <a:t>A</a:t>
                      </a:r>
                      <a:endParaRPr b="1" sz="800"/>
                    </a:p>
                  </a:txBody>
                  <a:tcPr marT="91425" marB="91425" marR="91425" marL="91425" anchor="ctr"/>
                </a:tc>
                <a:tc rowSpan="9">
                  <a:txBody>
                    <a:bodyPr/>
                    <a:lstStyle/>
                    <a:p>
                      <a:pPr indent="0" lvl="0" marL="0" rtl="0" algn="ctr">
                        <a:spcBef>
                          <a:spcPts val="0"/>
                        </a:spcBef>
                        <a:spcAft>
                          <a:spcPts val="0"/>
                        </a:spcAft>
                        <a:buNone/>
                      </a:pPr>
                      <a:r>
                        <a:rPr b="1" lang="en" sz="800"/>
                        <a:t>N/A</a:t>
                      </a:r>
                      <a:endParaRPr b="1" sz="800"/>
                    </a:p>
                  </a:txBody>
                  <a:tcPr marT="91425" marB="91425" marR="91425" marL="91425" anchor="ct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7</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2</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a:t>
                      </a:r>
                      <a:endParaRPr b="1" sz="800"/>
                    </a:p>
                  </a:txBody>
                  <a:tcPr marT="91425" marB="91425" marR="91425" marL="91425" anchor="ctr"/>
                </a:tc>
                <a:tc vMerge="1"/>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8</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ABDE</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3</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ACDE</a:t>
                      </a:r>
                      <a:endParaRPr b="1" sz="800"/>
                    </a:p>
                  </a:txBody>
                  <a:tcPr marT="91425" marB="91425" marR="91425" marL="91425" anchor="ctr"/>
                </a:tc>
                <a:tc vMerge="1"/>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9</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ABDF</a:t>
                      </a:r>
                      <a:endParaRPr b="1" sz="800"/>
                    </a:p>
                  </a:txBody>
                  <a:tcPr marT="91425" marB="91425" marR="91425" marL="91425" anchor="ctr"/>
                </a:tc>
                <a:tc vMerge="1"/>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5</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ACDF</a:t>
                      </a:r>
                      <a:endParaRPr b="1" sz="800"/>
                    </a:p>
                  </a:txBody>
                  <a:tcPr marT="91425" marB="91425" marR="91425" marL="91425" anchor="ctr"/>
                </a:tc>
                <a:tc vMerge="1"/>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11</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ABDEG</a:t>
                      </a:r>
                      <a:endParaRPr b="1" sz="800"/>
                    </a:p>
                  </a:txBody>
                  <a:tcPr marT="91425" marB="91425" marR="91425" marL="91425" anchor="ct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0</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4</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ACDEG</a:t>
                      </a:r>
                      <a:endParaRPr b="1" sz="800"/>
                    </a:p>
                  </a:txBody>
                  <a:tcPr marT="91425" marB="91425" marR="91425" marL="91425" anchor="ctr"/>
                </a:tc>
                <a:tc>
                  <a:txBody>
                    <a:bodyPr/>
                    <a:lstStyle/>
                    <a:p>
                      <a:pPr indent="0" lvl="0" marL="0" rtl="0" algn="ctr">
                        <a:spcBef>
                          <a:spcPts val="0"/>
                        </a:spcBef>
                        <a:spcAft>
                          <a:spcPts val="0"/>
                        </a:spcAft>
                        <a:buNone/>
                      </a:pPr>
                      <a:r>
                        <a:rPr b="1" lang="en" sz="800"/>
                        <a:t>2</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10</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ABDFG</a:t>
                      </a:r>
                      <a:endParaRPr b="1" sz="800"/>
                    </a:p>
                  </a:txBody>
                  <a:tcPr marT="91425" marB="91425" marR="91425" marL="91425" anchor="ctr"/>
                </a:tc>
                <a:tc>
                  <a:txBody>
                    <a:bodyPr/>
                    <a:lstStyle/>
                    <a:p>
                      <a:pPr indent="0" lvl="0" marL="0" rtl="0" algn="ctr">
                        <a:spcBef>
                          <a:spcPts val="0"/>
                        </a:spcBef>
                        <a:spcAft>
                          <a:spcPts val="0"/>
                        </a:spcAft>
                        <a:buNone/>
                      </a:pPr>
                      <a:r>
                        <a:rPr b="1" lang="en" sz="800"/>
                        <a:t>1</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2</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6</a:t>
                      </a:r>
                      <a:endParaRPr b="1" sz="800"/>
                    </a:p>
                  </a:txBody>
                  <a:tcPr marT="91425" marB="91425" marR="91425" marL="91425" anchor="ctr">
                    <a:solidFill>
                      <a:srgbClr val="D9EAD3"/>
                    </a:solidFill>
                  </a:tcPr>
                </a:tc>
              </a:tr>
              <a:tr h="190500">
                <a:tc>
                  <a:txBody>
                    <a:bodyPr/>
                    <a:lstStyle/>
                    <a:p>
                      <a:pPr indent="0" lvl="0" marL="0" rtl="0" algn="l">
                        <a:spcBef>
                          <a:spcPts val="0"/>
                        </a:spcBef>
                        <a:spcAft>
                          <a:spcPts val="0"/>
                        </a:spcAft>
                        <a:buNone/>
                      </a:pPr>
                      <a:r>
                        <a:rPr b="1" lang="en" sz="800"/>
                        <a:t>ACDFG</a:t>
                      </a:r>
                      <a:endParaRPr b="1" sz="800"/>
                    </a:p>
                  </a:txBody>
                  <a:tcPr marT="91425" marB="91425" marR="91425" marL="91425" anchor="ctr"/>
                </a:tc>
                <a:tc>
                  <a:txBody>
                    <a:bodyPr/>
                    <a:lstStyle/>
                    <a:p>
                      <a:pPr indent="0" lvl="0" marL="0" rtl="0" algn="ctr">
                        <a:spcBef>
                          <a:spcPts val="0"/>
                        </a:spcBef>
                        <a:spcAft>
                          <a:spcPts val="0"/>
                        </a:spcAft>
                        <a:buNone/>
                      </a:pPr>
                      <a:r>
                        <a:rPr b="1" lang="en" sz="800"/>
                        <a:t>3</a:t>
                      </a:r>
                      <a:endParaRPr b="1" sz="800"/>
                    </a:p>
                  </a:txBody>
                  <a:tcPr marT="91425" marB="91425" marR="91425" marL="91425" anchor="ctr">
                    <a:solidFill>
                      <a:srgbClr val="C9DAF8"/>
                    </a:solidFill>
                  </a:tcPr>
                </a:tc>
                <a:tc>
                  <a:txBody>
                    <a:bodyPr/>
                    <a:lstStyle/>
                    <a:p>
                      <a:pPr indent="0" lvl="0" marL="0" rtl="0" algn="ctr">
                        <a:spcBef>
                          <a:spcPts val="0"/>
                        </a:spcBef>
                        <a:spcAft>
                          <a:spcPts val="0"/>
                        </a:spcAft>
                        <a:buNone/>
                      </a:pPr>
                      <a:r>
                        <a:rPr b="1" lang="en" sz="800"/>
                        <a:t>3</a:t>
                      </a:r>
                      <a:endParaRPr b="1" sz="800"/>
                    </a:p>
                  </a:txBody>
                  <a:tcPr marT="91425" marB="91425" marR="91425" marL="91425" anchor="ctr">
                    <a:solidFill>
                      <a:srgbClr val="EAD1DC"/>
                    </a:solidFill>
                  </a:tcPr>
                </a:tc>
                <a:tc>
                  <a:txBody>
                    <a:bodyPr/>
                    <a:lstStyle/>
                    <a:p>
                      <a:pPr indent="0" lvl="0" marL="0" rtl="0" algn="ctr">
                        <a:spcBef>
                          <a:spcPts val="0"/>
                        </a:spcBef>
                        <a:spcAft>
                          <a:spcPts val="0"/>
                        </a:spcAft>
                        <a:buNone/>
                      </a:pPr>
                      <a:r>
                        <a:rPr b="1" lang="en" sz="800"/>
                        <a:t>12</a:t>
                      </a:r>
                      <a:endParaRPr b="1" sz="800"/>
                    </a:p>
                  </a:txBody>
                  <a:tcPr marT="91425" marB="91425" marR="91425" marL="91425" anchor="ctr">
                    <a:solidFill>
                      <a:srgbClr val="D9EAD3"/>
                    </a:solidFill>
                  </a:tcPr>
                </a:tc>
              </a:tr>
            </a:tbl>
          </a:graphicData>
        </a:graphic>
      </p:graphicFrame>
      <p:sp>
        <p:nvSpPr>
          <p:cNvPr id="1313" name="Google Shape;1313;p152"/>
          <p:cNvSpPr txBox="1"/>
          <p:nvPr/>
        </p:nvSpPr>
        <p:spPr>
          <a:xfrm>
            <a:off x="576150" y="4169275"/>
            <a:ext cx="6033900" cy="7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BL                                            PCCE 			DCCE</a:t>
            </a:r>
            <a:endParaRPr>
              <a:latin typeface="Calibri"/>
              <a:ea typeface="Calibri"/>
              <a:cs typeface="Calibri"/>
              <a:sym typeface="Calibri"/>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53"/>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DeadSpy, RedSpy, LoadSpy</a:t>
            </a:r>
            <a:endParaRPr>
              <a:latin typeface="Twentieth Century"/>
              <a:ea typeface="Twentieth Century"/>
              <a:cs typeface="Twentieth Century"/>
              <a:sym typeface="Twentieth Century"/>
            </a:endParaRPr>
          </a:p>
        </p:txBody>
      </p:sp>
      <p:sp>
        <p:nvSpPr>
          <p:cNvPr id="1320" name="Google Shape;1320;p153"/>
          <p:cNvSpPr txBox="1"/>
          <p:nvPr>
            <p:ph idx="1" type="body"/>
          </p:nvPr>
        </p:nvSpPr>
        <p:spPr>
          <a:xfrm>
            <a:off x="74350" y="734650"/>
            <a:ext cx="90183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Redundant operations are a common performance limiter.</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Due to missed compiler optimization opportunities, inappropriate data structure/algorithm, developers’ inattention to performance.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Idea: a whole program profiler to pinpoint dead write(DeadSpy), and redundant computation (RedSpy), and redundant memory load(LoadSpy)</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They require CC on each load or store operation.</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Employ a unique 32-bit integer provided by CCTLib</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Need DCCID during profile Need CC during report.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Once optize the app using tool (+ CC), the app does not need CC anymore</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DCCE could perform better with these apps.</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0" st="0"/>
                                            </p:txEl>
                                          </p:spTgt>
                                        </p:tgtEl>
                                        <p:attrNameLst>
                                          <p:attrName>style.visibility</p:attrName>
                                        </p:attrNameLst>
                                      </p:cBhvr>
                                      <p:to>
                                        <p:strVal val="visible"/>
                                      </p:to>
                                    </p:set>
                                    <p:animEffect filter="fade" transition="in">
                                      <p:cBhvr>
                                        <p:cTn dur="1000"/>
                                        <p:tgtEl>
                                          <p:spTgt spid="13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1" st="1"/>
                                            </p:txEl>
                                          </p:spTgt>
                                        </p:tgtEl>
                                        <p:attrNameLst>
                                          <p:attrName>style.visibility</p:attrName>
                                        </p:attrNameLst>
                                      </p:cBhvr>
                                      <p:to>
                                        <p:strVal val="visible"/>
                                      </p:to>
                                    </p:set>
                                    <p:animEffect filter="fade" transition="in">
                                      <p:cBhvr>
                                        <p:cTn dur="1000"/>
                                        <p:tgtEl>
                                          <p:spTgt spid="13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2" st="2"/>
                                            </p:txEl>
                                          </p:spTgt>
                                        </p:tgtEl>
                                        <p:attrNameLst>
                                          <p:attrName>style.visibility</p:attrName>
                                        </p:attrNameLst>
                                      </p:cBhvr>
                                      <p:to>
                                        <p:strVal val="visible"/>
                                      </p:to>
                                    </p:set>
                                    <p:animEffect filter="fade" transition="in">
                                      <p:cBhvr>
                                        <p:cTn dur="1000"/>
                                        <p:tgtEl>
                                          <p:spTgt spid="13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3" st="3"/>
                                            </p:txEl>
                                          </p:spTgt>
                                        </p:tgtEl>
                                        <p:attrNameLst>
                                          <p:attrName>style.visibility</p:attrName>
                                        </p:attrNameLst>
                                      </p:cBhvr>
                                      <p:to>
                                        <p:strVal val="visible"/>
                                      </p:to>
                                    </p:set>
                                    <p:animEffect filter="fade" transition="in">
                                      <p:cBhvr>
                                        <p:cTn dur="1000"/>
                                        <p:tgtEl>
                                          <p:spTgt spid="13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4" st="4"/>
                                            </p:txEl>
                                          </p:spTgt>
                                        </p:tgtEl>
                                        <p:attrNameLst>
                                          <p:attrName>style.visibility</p:attrName>
                                        </p:attrNameLst>
                                      </p:cBhvr>
                                      <p:to>
                                        <p:strVal val="visible"/>
                                      </p:to>
                                    </p:set>
                                    <p:animEffect filter="fade" transition="in">
                                      <p:cBhvr>
                                        <p:cTn dur="1000"/>
                                        <p:tgtEl>
                                          <p:spTgt spid="13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5" st="5"/>
                                            </p:txEl>
                                          </p:spTgt>
                                        </p:tgtEl>
                                        <p:attrNameLst>
                                          <p:attrName>style.visibility</p:attrName>
                                        </p:attrNameLst>
                                      </p:cBhvr>
                                      <p:to>
                                        <p:strVal val="visible"/>
                                      </p:to>
                                    </p:set>
                                    <p:animEffect filter="fade" transition="in">
                                      <p:cBhvr>
                                        <p:cTn dur="1000"/>
                                        <p:tgtEl>
                                          <p:spTgt spid="13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6" st="6"/>
                                            </p:txEl>
                                          </p:spTgt>
                                        </p:tgtEl>
                                        <p:attrNameLst>
                                          <p:attrName>style.visibility</p:attrName>
                                        </p:attrNameLst>
                                      </p:cBhvr>
                                      <p:to>
                                        <p:strVal val="visible"/>
                                      </p:to>
                                    </p:set>
                                    <p:animEffect filter="fade" transition="in">
                                      <p:cBhvr>
                                        <p:cTn dur="1000"/>
                                        <p:tgtEl>
                                          <p:spTgt spid="13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7" st="7"/>
                                            </p:txEl>
                                          </p:spTgt>
                                        </p:tgtEl>
                                        <p:attrNameLst>
                                          <p:attrName>style.visibility</p:attrName>
                                        </p:attrNameLst>
                                      </p:cBhvr>
                                      <p:to>
                                        <p:strVal val="visible"/>
                                      </p:to>
                                    </p:set>
                                    <p:animEffect filter="fade" transition="in">
                                      <p:cBhvr>
                                        <p:cTn dur="1000"/>
                                        <p:tgtEl>
                                          <p:spTgt spid="13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8" st="8"/>
                                            </p:txEl>
                                          </p:spTgt>
                                        </p:tgtEl>
                                        <p:attrNameLst>
                                          <p:attrName>style.visibility</p:attrName>
                                        </p:attrNameLst>
                                      </p:cBhvr>
                                      <p:to>
                                        <p:strVal val="visible"/>
                                      </p:to>
                                    </p:set>
                                    <p:animEffect filter="fade" transition="in">
                                      <p:cBhvr>
                                        <p:cTn dur="1000"/>
                                        <p:tgtEl>
                                          <p:spTgt spid="132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9" st="9"/>
                                            </p:txEl>
                                          </p:spTgt>
                                        </p:tgtEl>
                                        <p:attrNameLst>
                                          <p:attrName>style.visibility</p:attrName>
                                        </p:attrNameLst>
                                      </p:cBhvr>
                                      <p:to>
                                        <p:strVal val="visible"/>
                                      </p:to>
                                    </p:set>
                                    <p:animEffect filter="fade" transition="in">
                                      <p:cBhvr>
                                        <p:cTn dur="1000"/>
                                        <p:tgtEl>
                                          <p:spTgt spid="132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10" st="10"/>
                                            </p:txEl>
                                          </p:spTgt>
                                        </p:tgtEl>
                                        <p:attrNameLst>
                                          <p:attrName>style.visibility</p:attrName>
                                        </p:attrNameLst>
                                      </p:cBhvr>
                                      <p:to>
                                        <p:strVal val="visible"/>
                                      </p:to>
                                    </p:set>
                                    <p:animEffect filter="fade" transition="in">
                                      <p:cBhvr>
                                        <p:cTn dur="1000"/>
                                        <p:tgtEl>
                                          <p:spTgt spid="132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54"/>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Enabling Layer 2 Pathlet Tracing through Context Encoding in Software-Defined Networking</a:t>
            </a:r>
            <a:endParaRPr>
              <a:latin typeface="Twentieth Century"/>
              <a:ea typeface="Twentieth Century"/>
              <a:cs typeface="Twentieth Century"/>
              <a:sym typeface="Twentieth Century"/>
            </a:endParaRPr>
          </a:p>
        </p:txBody>
      </p:sp>
      <p:sp>
        <p:nvSpPr>
          <p:cNvPr id="1327" name="Google Shape;1327;p154"/>
          <p:cNvSpPr txBox="1"/>
          <p:nvPr>
            <p:ph idx="1" type="body"/>
          </p:nvPr>
        </p:nvSpPr>
        <p:spPr>
          <a:xfrm>
            <a:off x="74350" y="963250"/>
            <a:ext cx="90183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Troubleshooting of SDN operations needs to verify whether the low-level actions performed by network devices conform to the high-level policies deployed by operators.</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Idea: focus on path tracing, a specific operation for SDN troubleshooting that determines the Layer 2 path taken by a given packet.</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Analogies between CC Encoding and Path encoding in SDN</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 graph of SW and topology of Network.</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site and network switch.</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Calling Context and network path.</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Use PCCE and IDs are embedded to each packet.</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Only request of network path (CC) in this application. No need for hashed CC.</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0" st="0"/>
                                            </p:txEl>
                                          </p:spTgt>
                                        </p:tgtEl>
                                        <p:attrNameLst>
                                          <p:attrName>style.visibility</p:attrName>
                                        </p:attrNameLst>
                                      </p:cBhvr>
                                      <p:to>
                                        <p:strVal val="visible"/>
                                      </p:to>
                                    </p:set>
                                    <p:animEffect filter="fade" transition="in">
                                      <p:cBhvr>
                                        <p:cTn dur="1000"/>
                                        <p:tgtEl>
                                          <p:spTgt spid="13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1" st="1"/>
                                            </p:txEl>
                                          </p:spTgt>
                                        </p:tgtEl>
                                        <p:attrNameLst>
                                          <p:attrName>style.visibility</p:attrName>
                                        </p:attrNameLst>
                                      </p:cBhvr>
                                      <p:to>
                                        <p:strVal val="visible"/>
                                      </p:to>
                                    </p:set>
                                    <p:animEffect filter="fade" transition="in">
                                      <p:cBhvr>
                                        <p:cTn dur="1000"/>
                                        <p:tgtEl>
                                          <p:spTgt spid="13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2" st="2"/>
                                            </p:txEl>
                                          </p:spTgt>
                                        </p:tgtEl>
                                        <p:attrNameLst>
                                          <p:attrName>style.visibility</p:attrName>
                                        </p:attrNameLst>
                                      </p:cBhvr>
                                      <p:to>
                                        <p:strVal val="visible"/>
                                      </p:to>
                                    </p:set>
                                    <p:animEffect filter="fade" transition="in">
                                      <p:cBhvr>
                                        <p:cTn dur="1000"/>
                                        <p:tgtEl>
                                          <p:spTgt spid="13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3" st="3"/>
                                            </p:txEl>
                                          </p:spTgt>
                                        </p:tgtEl>
                                        <p:attrNameLst>
                                          <p:attrName>style.visibility</p:attrName>
                                        </p:attrNameLst>
                                      </p:cBhvr>
                                      <p:to>
                                        <p:strVal val="visible"/>
                                      </p:to>
                                    </p:set>
                                    <p:animEffect filter="fade" transition="in">
                                      <p:cBhvr>
                                        <p:cTn dur="1000"/>
                                        <p:tgtEl>
                                          <p:spTgt spid="13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4" st="4"/>
                                            </p:txEl>
                                          </p:spTgt>
                                        </p:tgtEl>
                                        <p:attrNameLst>
                                          <p:attrName>style.visibility</p:attrName>
                                        </p:attrNameLst>
                                      </p:cBhvr>
                                      <p:to>
                                        <p:strVal val="visible"/>
                                      </p:to>
                                    </p:set>
                                    <p:animEffect filter="fade" transition="in">
                                      <p:cBhvr>
                                        <p:cTn dur="1000"/>
                                        <p:tgtEl>
                                          <p:spTgt spid="13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5" st="5"/>
                                            </p:txEl>
                                          </p:spTgt>
                                        </p:tgtEl>
                                        <p:attrNameLst>
                                          <p:attrName>style.visibility</p:attrName>
                                        </p:attrNameLst>
                                      </p:cBhvr>
                                      <p:to>
                                        <p:strVal val="visible"/>
                                      </p:to>
                                    </p:set>
                                    <p:animEffect filter="fade" transition="in">
                                      <p:cBhvr>
                                        <p:cTn dur="1000"/>
                                        <p:tgtEl>
                                          <p:spTgt spid="132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6" st="6"/>
                                            </p:txEl>
                                          </p:spTgt>
                                        </p:tgtEl>
                                        <p:attrNameLst>
                                          <p:attrName>style.visibility</p:attrName>
                                        </p:attrNameLst>
                                      </p:cBhvr>
                                      <p:to>
                                        <p:strVal val="visible"/>
                                      </p:to>
                                    </p:set>
                                    <p:animEffect filter="fade" transition="in">
                                      <p:cBhvr>
                                        <p:cTn dur="1000"/>
                                        <p:tgtEl>
                                          <p:spTgt spid="132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7" st="7"/>
                                            </p:txEl>
                                          </p:spTgt>
                                        </p:tgtEl>
                                        <p:attrNameLst>
                                          <p:attrName>style.visibility</p:attrName>
                                        </p:attrNameLst>
                                      </p:cBhvr>
                                      <p:to>
                                        <p:strVal val="visible"/>
                                      </p:to>
                                    </p:set>
                                    <p:animEffect filter="fade" transition="in">
                                      <p:cBhvr>
                                        <p:cTn dur="1000"/>
                                        <p:tgtEl>
                                          <p:spTgt spid="132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8" st="8"/>
                                            </p:txEl>
                                          </p:spTgt>
                                        </p:tgtEl>
                                        <p:attrNameLst>
                                          <p:attrName>style.visibility</p:attrName>
                                        </p:attrNameLst>
                                      </p:cBhvr>
                                      <p:to>
                                        <p:strVal val="visible"/>
                                      </p:to>
                                    </p:set>
                                    <p:animEffect filter="fade" transition="in">
                                      <p:cBhvr>
                                        <p:cTn dur="1000"/>
                                        <p:tgtEl>
                                          <p:spTgt spid="132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xEl>
                                              <p:pRg end="9" st="9"/>
                                            </p:txEl>
                                          </p:spTgt>
                                        </p:tgtEl>
                                        <p:attrNameLst>
                                          <p:attrName>style.visibility</p:attrName>
                                        </p:attrNameLst>
                                      </p:cBhvr>
                                      <p:to>
                                        <p:strVal val="visible"/>
                                      </p:to>
                                    </p:set>
                                    <p:animEffect filter="fade" transition="in">
                                      <p:cBhvr>
                                        <p:cTn dur="1000"/>
                                        <p:tgtEl>
                                          <p:spTgt spid="132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55"/>
          <p:cNvSpPr/>
          <p:nvPr/>
        </p:nvSpPr>
        <p:spPr>
          <a:xfrm>
            <a:off x="372575" y="1068000"/>
            <a:ext cx="1788600" cy="20007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1334" name="Google Shape;1334;p155"/>
          <p:cNvSpPr/>
          <p:nvPr/>
        </p:nvSpPr>
        <p:spPr>
          <a:xfrm>
            <a:off x="5823475" y="1068000"/>
            <a:ext cx="2785800" cy="19161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1335" name="Google Shape;1335;p155"/>
          <p:cNvSpPr/>
          <p:nvPr/>
        </p:nvSpPr>
        <p:spPr>
          <a:xfrm>
            <a:off x="2326000" y="1068000"/>
            <a:ext cx="3105000" cy="39213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1336" name="Google Shape;1336;p155"/>
          <p:cNvSpPr txBox="1"/>
          <p:nvPr>
            <p:ph type="title"/>
          </p:nvPr>
        </p:nvSpPr>
        <p:spPr>
          <a:xfrm>
            <a:off x="5524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1337" name="Google Shape;1337;p155"/>
          <p:cNvSpPr/>
          <p:nvPr/>
        </p:nvSpPr>
        <p:spPr>
          <a:xfrm rot="-5400000">
            <a:off x="58600" y="1988075"/>
            <a:ext cx="1410600" cy="476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1338" name="Google Shape;1338;p155"/>
          <p:cNvSpPr/>
          <p:nvPr/>
        </p:nvSpPr>
        <p:spPr>
          <a:xfrm>
            <a:off x="2536424" y="1521125"/>
            <a:ext cx="2737800" cy="1400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SVF-WPA   </a:t>
            </a:r>
            <a:endParaRPr>
              <a:latin typeface="Twentieth Century"/>
              <a:ea typeface="Twentieth Century"/>
              <a:cs typeface="Twentieth Century"/>
              <a:sym typeface="Twentieth Century"/>
            </a:endParaRPr>
          </a:p>
        </p:txBody>
      </p:sp>
      <p:sp>
        <p:nvSpPr>
          <p:cNvPr id="1339" name="Google Shape;1339;p155"/>
          <p:cNvSpPr txBox="1"/>
          <p:nvPr/>
        </p:nvSpPr>
        <p:spPr>
          <a:xfrm>
            <a:off x="1064274" y="198867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1340" name="Google Shape;1340;p155"/>
          <p:cNvSpPr/>
          <p:nvPr/>
        </p:nvSpPr>
        <p:spPr>
          <a:xfrm rot="-5400000">
            <a:off x="5630575" y="1953150"/>
            <a:ext cx="1275300" cy="508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Back End</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cxnSp>
        <p:nvCxnSpPr>
          <p:cNvPr id="1341" name="Google Shape;1341;p155"/>
          <p:cNvCxnSpPr>
            <a:stCxn id="1337" idx="2"/>
            <a:endCxn id="1339" idx="1"/>
          </p:cNvCxnSpPr>
          <p:nvPr/>
        </p:nvCxnSpPr>
        <p:spPr>
          <a:xfrm>
            <a:off x="1002250" y="2226425"/>
            <a:ext cx="62100" cy="0"/>
          </a:xfrm>
          <a:prstGeom prst="straightConnector1">
            <a:avLst/>
          </a:prstGeom>
          <a:noFill/>
          <a:ln cap="flat" cmpd="sng" w="9525">
            <a:solidFill>
              <a:schemeClr val="dk2"/>
            </a:solidFill>
            <a:prstDash val="solid"/>
            <a:round/>
            <a:headEnd len="med" w="med" type="none"/>
            <a:tailEnd len="med" w="med" type="none"/>
          </a:ln>
        </p:spPr>
      </p:cxnSp>
      <p:cxnSp>
        <p:nvCxnSpPr>
          <p:cNvPr id="1342" name="Google Shape;1342;p155"/>
          <p:cNvCxnSpPr>
            <a:stCxn id="1339" idx="3"/>
            <a:endCxn id="1343" idx="1"/>
          </p:cNvCxnSpPr>
          <p:nvPr/>
        </p:nvCxnSpPr>
        <p:spPr>
          <a:xfrm flipH="1" rot="10800000">
            <a:off x="1391574" y="2221625"/>
            <a:ext cx="138300" cy="4800"/>
          </a:xfrm>
          <a:prstGeom prst="straightConnector1">
            <a:avLst/>
          </a:prstGeom>
          <a:noFill/>
          <a:ln cap="flat" cmpd="sng" w="9525">
            <a:solidFill>
              <a:schemeClr val="dk2"/>
            </a:solidFill>
            <a:prstDash val="solid"/>
            <a:round/>
            <a:headEnd len="med" w="med" type="none"/>
            <a:tailEnd len="med" w="med" type="triangle"/>
          </a:ln>
        </p:spPr>
      </p:cxnSp>
      <p:sp>
        <p:nvSpPr>
          <p:cNvPr id="1344" name="Google Shape;1344;p155"/>
          <p:cNvSpPr txBox="1"/>
          <p:nvPr/>
        </p:nvSpPr>
        <p:spPr>
          <a:xfrm>
            <a:off x="1925426" y="1983725"/>
            <a:ext cx="327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1345" name="Google Shape;1345;p155"/>
          <p:cNvSpPr txBox="1"/>
          <p:nvPr/>
        </p:nvSpPr>
        <p:spPr>
          <a:xfrm>
            <a:off x="5473250" y="1953575"/>
            <a:ext cx="3273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1346" name="Google Shape;1346;p155"/>
          <p:cNvCxnSpPr>
            <a:stCxn id="1344" idx="3"/>
            <a:endCxn id="1338" idx="1"/>
          </p:cNvCxnSpPr>
          <p:nvPr/>
        </p:nvCxnSpPr>
        <p:spPr>
          <a:xfrm>
            <a:off x="2252726" y="2221475"/>
            <a:ext cx="283800" cy="0"/>
          </a:xfrm>
          <a:prstGeom prst="straightConnector1">
            <a:avLst/>
          </a:prstGeom>
          <a:noFill/>
          <a:ln cap="flat" cmpd="sng" w="9525">
            <a:solidFill>
              <a:schemeClr val="dk2"/>
            </a:solidFill>
            <a:prstDash val="solid"/>
            <a:round/>
            <a:headEnd len="med" w="med" type="none"/>
            <a:tailEnd len="med" w="med" type="triangle"/>
          </a:ln>
        </p:spPr>
      </p:cxnSp>
      <p:cxnSp>
        <p:nvCxnSpPr>
          <p:cNvPr id="1347" name="Google Shape;1347;p155"/>
          <p:cNvCxnSpPr>
            <a:stCxn id="1345" idx="3"/>
            <a:endCxn id="1340" idx="0"/>
          </p:cNvCxnSpPr>
          <p:nvPr/>
        </p:nvCxnSpPr>
        <p:spPr>
          <a:xfrm>
            <a:off x="5800550" y="2145275"/>
            <a:ext cx="213300" cy="62100"/>
          </a:xfrm>
          <a:prstGeom prst="straightConnector1">
            <a:avLst/>
          </a:prstGeom>
          <a:noFill/>
          <a:ln cap="flat" cmpd="sng" w="9525">
            <a:solidFill>
              <a:schemeClr val="dk2"/>
            </a:solidFill>
            <a:prstDash val="solid"/>
            <a:round/>
            <a:headEnd len="med" w="med" type="none"/>
            <a:tailEnd len="med" w="med" type="triangle"/>
          </a:ln>
        </p:spPr>
      </p:cxnSp>
      <p:cxnSp>
        <p:nvCxnSpPr>
          <p:cNvPr id="1348" name="Google Shape;1348;p155"/>
          <p:cNvCxnSpPr>
            <a:stCxn id="1349" idx="2"/>
            <a:endCxn id="1337" idx="0"/>
          </p:cNvCxnSpPr>
          <p:nvPr/>
        </p:nvCxnSpPr>
        <p:spPr>
          <a:xfrm>
            <a:off x="262925" y="2226425"/>
            <a:ext cx="262500" cy="0"/>
          </a:xfrm>
          <a:prstGeom prst="straightConnector1">
            <a:avLst/>
          </a:prstGeom>
          <a:noFill/>
          <a:ln cap="flat" cmpd="sng" w="9525">
            <a:solidFill>
              <a:schemeClr val="dk2"/>
            </a:solidFill>
            <a:prstDash val="solid"/>
            <a:round/>
            <a:headEnd len="med" w="med" type="none"/>
            <a:tailEnd len="med" w="med" type="triangle"/>
          </a:ln>
        </p:spPr>
      </p:cxnSp>
      <p:sp>
        <p:nvSpPr>
          <p:cNvPr id="1349" name="Google Shape;1349;p155"/>
          <p:cNvSpPr txBox="1"/>
          <p:nvPr/>
        </p:nvSpPr>
        <p:spPr>
          <a:xfrm rot="-5400000">
            <a:off x="-435625" y="2060975"/>
            <a:ext cx="10662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1350" name="Google Shape;1350;p155"/>
          <p:cNvSpPr txBox="1"/>
          <p:nvPr/>
        </p:nvSpPr>
        <p:spPr>
          <a:xfrm rot="-5400000">
            <a:off x="6649975" y="2015600"/>
            <a:ext cx="1303500" cy="38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1351" name="Google Shape;1351;p155"/>
          <p:cNvCxnSpPr>
            <a:stCxn id="1340" idx="2"/>
            <a:endCxn id="1350" idx="0"/>
          </p:cNvCxnSpPr>
          <p:nvPr/>
        </p:nvCxnSpPr>
        <p:spPr>
          <a:xfrm>
            <a:off x="6522475" y="2207400"/>
            <a:ext cx="587700" cy="0"/>
          </a:xfrm>
          <a:prstGeom prst="straightConnector1">
            <a:avLst/>
          </a:prstGeom>
          <a:noFill/>
          <a:ln cap="flat" cmpd="sng" w="9525">
            <a:solidFill>
              <a:schemeClr val="dk2"/>
            </a:solidFill>
            <a:prstDash val="solid"/>
            <a:round/>
            <a:headEnd len="med" w="med" type="none"/>
            <a:tailEnd len="med" w="med" type="triangle"/>
          </a:ln>
        </p:spPr>
      </p:cxnSp>
      <p:sp>
        <p:nvSpPr>
          <p:cNvPr id="1352" name="Google Shape;1352;p155"/>
          <p:cNvSpPr/>
          <p:nvPr/>
        </p:nvSpPr>
        <p:spPr>
          <a:xfrm>
            <a:off x="3405075" y="3233275"/>
            <a:ext cx="879600" cy="99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1353" name="Google Shape;1353;p155"/>
          <p:cNvSpPr txBox="1"/>
          <p:nvPr/>
        </p:nvSpPr>
        <p:spPr>
          <a:xfrm>
            <a:off x="2792675" y="356082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.cg</a:t>
            </a:r>
            <a:endParaRPr>
              <a:latin typeface="Calibri"/>
              <a:ea typeface="Calibri"/>
              <a:cs typeface="Calibri"/>
              <a:sym typeface="Calibri"/>
            </a:endParaRPr>
          </a:p>
        </p:txBody>
      </p:sp>
      <p:cxnSp>
        <p:nvCxnSpPr>
          <p:cNvPr id="1354" name="Google Shape;1354;p155"/>
          <p:cNvCxnSpPr>
            <a:stCxn id="1353" idx="3"/>
            <a:endCxn id="1352" idx="1"/>
          </p:cNvCxnSpPr>
          <p:nvPr/>
        </p:nvCxnSpPr>
        <p:spPr>
          <a:xfrm>
            <a:off x="3238475" y="3726275"/>
            <a:ext cx="166500" cy="4200"/>
          </a:xfrm>
          <a:prstGeom prst="bentConnector3">
            <a:avLst>
              <a:gd fmla="val 50030" name="adj1"/>
            </a:avLst>
          </a:prstGeom>
          <a:noFill/>
          <a:ln cap="flat" cmpd="sng" w="9525">
            <a:solidFill>
              <a:schemeClr val="dk2"/>
            </a:solidFill>
            <a:prstDash val="solid"/>
            <a:round/>
            <a:headEnd len="med" w="med" type="none"/>
            <a:tailEnd len="med" w="med" type="triangle"/>
          </a:ln>
        </p:spPr>
      </p:cxnSp>
      <p:cxnSp>
        <p:nvCxnSpPr>
          <p:cNvPr id="1355" name="Google Shape;1355;p155"/>
          <p:cNvCxnSpPr>
            <a:stCxn id="1356" idx="1"/>
            <a:endCxn id="1353" idx="0"/>
          </p:cNvCxnSpPr>
          <p:nvPr/>
        </p:nvCxnSpPr>
        <p:spPr>
          <a:xfrm rot="5400000">
            <a:off x="2725125" y="3128575"/>
            <a:ext cx="722700" cy="141900"/>
          </a:xfrm>
          <a:prstGeom prst="bentConnector3">
            <a:avLst>
              <a:gd fmla="val 49997" name="adj1"/>
            </a:avLst>
          </a:prstGeom>
          <a:noFill/>
          <a:ln cap="flat" cmpd="sng" w="9525">
            <a:solidFill>
              <a:schemeClr val="dk2"/>
            </a:solidFill>
            <a:prstDash val="solid"/>
            <a:round/>
            <a:headEnd len="med" w="med" type="none"/>
            <a:tailEnd len="med" w="med" type="none"/>
          </a:ln>
        </p:spPr>
      </p:cxnSp>
      <p:sp>
        <p:nvSpPr>
          <p:cNvPr id="1357" name="Google Shape;1357;p155"/>
          <p:cNvSpPr txBox="1"/>
          <p:nvPr/>
        </p:nvSpPr>
        <p:spPr>
          <a:xfrm>
            <a:off x="4394800" y="3560825"/>
            <a:ext cx="445800" cy="3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cxnSp>
        <p:nvCxnSpPr>
          <p:cNvPr id="1358" name="Google Shape;1358;p155"/>
          <p:cNvCxnSpPr>
            <a:stCxn id="1352" idx="3"/>
            <a:endCxn id="1357" idx="1"/>
          </p:cNvCxnSpPr>
          <p:nvPr/>
        </p:nvCxnSpPr>
        <p:spPr>
          <a:xfrm flipH="1" rot="10800000">
            <a:off x="4284675" y="3726175"/>
            <a:ext cx="110100" cy="4200"/>
          </a:xfrm>
          <a:prstGeom prst="straightConnector1">
            <a:avLst/>
          </a:prstGeom>
          <a:noFill/>
          <a:ln cap="flat" cmpd="sng" w="9525">
            <a:solidFill>
              <a:schemeClr val="dk2"/>
            </a:solidFill>
            <a:prstDash val="solid"/>
            <a:round/>
            <a:headEnd len="med" w="med" type="none"/>
            <a:tailEnd len="med" w="med" type="none"/>
          </a:ln>
        </p:spPr>
      </p:cxnSp>
      <p:sp>
        <p:nvSpPr>
          <p:cNvPr id="1359" name="Google Shape;1359;p155"/>
          <p:cNvSpPr/>
          <p:nvPr/>
        </p:nvSpPr>
        <p:spPr>
          <a:xfrm>
            <a:off x="2536425" y="1152650"/>
            <a:ext cx="2785800" cy="277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p:txBody>
      </p:sp>
      <p:sp>
        <p:nvSpPr>
          <p:cNvPr id="1356" name="Google Shape;1356;p155"/>
          <p:cNvSpPr/>
          <p:nvPr/>
        </p:nvSpPr>
        <p:spPr>
          <a:xfrm rot="-5400000">
            <a:off x="2659875" y="1945375"/>
            <a:ext cx="995100" cy="790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Dump callgraph</a:t>
            </a:r>
            <a:endParaRPr>
              <a:latin typeface="Twentieth Century"/>
              <a:ea typeface="Twentieth Century"/>
              <a:cs typeface="Twentieth Century"/>
              <a:sym typeface="Twentieth Century"/>
            </a:endParaRPr>
          </a:p>
        </p:txBody>
      </p:sp>
      <p:sp>
        <p:nvSpPr>
          <p:cNvPr id="1360" name="Google Shape;1360;p155"/>
          <p:cNvSpPr/>
          <p:nvPr/>
        </p:nvSpPr>
        <p:spPr>
          <a:xfrm>
            <a:off x="3867438" y="1843075"/>
            <a:ext cx="1277700" cy="966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cxnSp>
        <p:nvCxnSpPr>
          <p:cNvPr id="1361" name="Google Shape;1361;p155"/>
          <p:cNvCxnSpPr>
            <a:stCxn id="1357" idx="0"/>
            <a:endCxn id="1360" idx="2"/>
          </p:cNvCxnSpPr>
          <p:nvPr/>
        </p:nvCxnSpPr>
        <p:spPr>
          <a:xfrm flipH="1" rot="5400000">
            <a:off x="4186600" y="3129725"/>
            <a:ext cx="750900" cy="111300"/>
          </a:xfrm>
          <a:prstGeom prst="bentConnector3">
            <a:avLst>
              <a:gd fmla="val 49997" name="adj1"/>
            </a:avLst>
          </a:prstGeom>
          <a:noFill/>
          <a:ln cap="flat" cmpd="sng" w="9525">
            <a:solidFill>
              <a:schemeClr val="dk2"/>
            </a:solidFill>
            <a:prstDash val="solid"/>
            <a:round/>
            <a:headEnd len="med" w="med" type="none"/>
            <a:tailEnd len="med" w="med" type="triangle"/>
          </a:ln>
        </p:spPr>
      </p:cxnSp>
      <p:cxnSp>
        <p:nvCxnSpPr>
          <p:cNvPr id="1362" name="Google Shape;1362;p155"/>
          <p:cNvCxnSpPr>
            <a:stCxn id="1363" idx="3"/>
            <a:endCxn id="1345" idx="1"/>
          </p:cNvCxnSpPr>
          <p:nvPr/>
        </p:nvCxnSpPr>
        <p:spPr>
          <a:xfrm>
            <a:off x="5076537" y="2120050"/>
            <a:ext cx="396600" cy="25200"/>
          </a:xfrm>
          <a:prstGeom prst="straightConnector1">
            <a:avLst/>
          </a:prstGeom>
          <a:noFill/>
          <a:ln cap="flat" cmpd="sng" w="9525">
            <a:solidFill>
              <a:schemeClr val="dk2"/>
            </a:solidFill>
            <a:prstDash val="solid"/>
            <a:round/>
            <a:headEnd len="med" w="med" type="none"/>
            <a:tailEnd len="med" w="med" type="none"/>
          </a:ln>
        </p:spPr>
      </p:cxnSp>
      <p:sp>
        <p:nvSpPr>
          <p:cNvPr id="1364" name="Google Shape;1364;p155"/>
          <p:cNvSpPr/>
          <p:nvPr/>
        </p:nvSpPr>
        <p:spPr>
          <a:xfrm>
            <a:off x="1627300" y="1583275"/>
            <a:ext cx="260100" cy="1400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1343" name="Google Shape;1343;p155"/>
          <p:cNvSpPr/>
          <p:nvPr/>
        </p:nvSpPr>
        <p:spPr>
          <a:xfrm>
            <a:off x="1529800" y="1521125"/>
            <a:ext cx="260100" cy="1400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cxnSp>
        <p:nvCxnSpPr>
          <p:cNvPr id="1365" name="Google Shape;1365;p155"/>
          <p:cNvCxnSpPr>
            <a:stCxn id="1343" idx="3"/>
            <a:endCxn id="1344" idx="1"/>
          </p:cNvCxnSpPr>
          <p:nvPr/>
        </p:nvCxnSpPr>
        <p:spPr>
          <a:xfrm>
            <a:off x="1789900" y="2221475"/>
            <a:ext cx="135600" cy="0"/>
          </a:xfrm>
          <a:prstGeom prst="straightConnector1">
            <a:avLst/>
          </a:prstGeom>
          <a:noFill/>
          <a:ln cap="flat" cmpd="sng" w="9525">
            <a:solidFill>
              <a:schemeClr val="dk2"/>
            </a:solidFill>
            <a:prstDash val="solid"/>
            <a:round/>
            <a:headEnd len="med" w="med" type="none"/>
            <a:tailEnd len="med" w="med" type="none"/>
          </a:ln>
        </p:spPr>
      </p:cxnSp>
      <p:sp>
        <p:nvSpPr>
          <p:cNvPr id="1366" name="Google Shape;1366;p155"/>
          <p:cNvSpPr/>
          <p:nvPr/>
        </p:nvSpPr>
        <p:spPr>
          <a:xfrm>
            <a:off x="5984400" y="1152650"/>
            <a:ext cx="2454600" cy="277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Real Machine Experiment</a:t>
            </a:r>
            <a:endParaRPr>
              <a:latin typeface="Twentieth Century"/>
              <a:ea typeface="Twentieth Century"/>
              <a:cs typeface="Twentieth Century"/>
              <a:sym typeface="Twentieth Century"/>
            </a:endParaRPr>
          </a:p>
        </p:txBody>
      </p:sp>
      <p:sp>
        <p:nvSpPr>
          <p:cNvPr id="1367" name="Google Shape;1367;p155"/>
          <p:cNvSpPr/>
          <p:nvPr/>
        </p:nvSpPr>
        <p:spPr>
          <a:xfrm>
            <a:off x="5823475" y="3035000"/>
            <a:ext cx="2785800" cy="19161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1368" name="Google Shape;1368;p155"/>
          <p:cNvSpPr/>
          <p:nvPr/>
        </p:nvSpPr>
        <p:spPr>
          <a:xfrm>
            <a:off x="6013975" y="3143425"/>
            <a:ext cx="2454600" cy="2775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Simulation</a:t>
            </a:r>
            <a:endParaRPr>
              <a:latin typeface="Twentieth Century"/>
              <a:ea typeface="Twentieth Century"/>
              <a:cs typeface="Twentieth Century"/>
              <a:sym typeface="Twentieth Century"/>
            </a:endParaRPr>
          </a:p>
        </p:txBody>
      </p:sp>
      <p:sp>
        <p:nvSpPr>
          <p:cNvPr id="1369" name="Google Shape;1369;p155"/>
          <p:cNvSpPr/>
          <p:nvPr/>
        </p:nvSpPr>
        <p:spPr>
          <a:xfrm rot="-5400000">
            <a:off x="7257025" y="3706650"/>
            <a:ext cx="1342800" cy="9333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Gem5</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(Extended ISA)</a:t>
            </a:r>
            <a:endParaRPr>
              <a:latin typeface="Twentieth Century"/>
              <a:ea typeface="Twentieth Century"/>
              <a:cs typeface="Twentieth Century"/>
              <a:sym typeface="Twentieth Century"/>
            </a:endParaRPr>
          </a:p>
          <a:p>
            <a:pPr indent="0" lvl="0" marL="0" rtl="0" algn="ctr">
              <a:spcBef>
                <a:spcPts val="0"/>
              </a:spcBef>
              <a:spcAft>
                <a:spcPts val="0"/>
              </a:spcAft>
              <a:buNone/>
            </a:pPr>
            <a:r>
              <a:rPr lang="en">
                <a:latin typeface="Twentieth Century"/>
                <a:ea typeface="Twentieth Century"/>
                <a:cs typeface="Twentieth Century"/>
                <a:sym typeface="Twentieth Century"/>
              </a:rPr>
              <a:t>(Extended Arch)</a:t>
            </a:r>
            <a:endParaRPr>
              <a:latin typeface="Twentieth Century"/>
              <a:ea typeface="Twentieth Century"/>
              <a:cs typeface="Twentieth Century"/>
              <a:sym typeface="Twentieth Century"/>
            </a:endParaRPr>
          </a:p>
        </p:txBody>
      </p:sp>
      <p:sp>
        <p:nvSpPr>
          <p:cNvPr id="1370" name="Google Shape;1370;p155"/>
          <p:cNvSpPr txBox="1"/>
          <p:nvPr/>
        </p:nvSpPr>
        <p:spPr>
          <a:xfrm>
            <a:off x="4110350" y="4288725"/>
            <a:ext cx="1614000" cy="383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Calibri"/>
                <a:ea typeface="Calibri"/>
                <a:cs typeface="Calibri"/>
                <a:sym typeface="Calibri"/>
              </a:rPr>
              <a:t>CRSYM</a:t>
            </a:r>
            <a:r>
              <a:rPr b="1" lang="en">
                <a:latin typeface="Calibri"/>
                <a:ea typeface="Calibri"/>
                <a:cs typeface="Calibri"/>
                <a:sym typeface="Calibri"/>
              </a:rPr>
              <a:t>:</a:t>
            </a:r>
            <a:r>
              <a:rPr lang="en" sz="900">
                <a:solidFill>
                  <a:schemeClr val="accent2"/>
                </a:solidFill>
                <a:latin typeface="Calibri"/>
                <a:ea typeface="Calibri"/>
                <a:cs typeface="Calibri"/>
                <a:sym typeface="Calibri"/>
              </a:rPr>
              <a:t>CSID</a:t>
            </a:r>
            <a:r>
              <a:rPr b="1" lang="en">
                <a:latin typeface="Calibri"/>
                <a:ea typeface="Calibri"/>
                <a:cs typeface="Calibri"/>
                <a:sym typeface="Calibri"/>
              </a:rPr>
              <a:t>:</a:t>
            </a:r>
            <a:r>
              <a:rPr lang="en" sz="900">
                <a:solidFill>
                  <a:schemeClr val="accent6"/>
                </a:solidFill>
                <a:latin typeface="Calibri"/>
                <a:ea typeface="Calibri"/>
                <a:cs typeface="Calibri"/>
                <a:sym typeface="Calibri"/>
              </a:rPr>
              <a:t>CESYM</a:t>
            </a:r>
            <a:r>
              <a:rPr b="1" lang="en">
                <a:latin typeface="Calibri"/>
                <a:ea typeface="Calibri"/>
                <a:cs typeface="Calibri"/>
                <a:sym typeface="Calibri"/>
              </a:rPr>
              <a:t>:</a:t>
            </a:r>
            <a:r>
              <a:rPr lang="en" sz="900">
                <a:solidFill>
                  <a:srgbClr val="FF0000"/>
                </a:solidFill>
                <a:latin typeface="Calibri"/>
                <a:ea typeface="Calibri"/>
                <a:cs typeface="Calibri"/>
                <a:sym typeface="Calibri"/>
              </a:rPr>
              <a:t>WEIGHT</a:t>
            </a:r>
            <a:endParaRPr sz="900">
              <a:solidFill>
                <a:srgbClr val="FF0000"/>
              </a:solidFill>
              <a:latin typeface="Calibri"/>
              <a:ea typeface="Calibri"/>
              <a:cs typeface="Calibri"/>
              <a:sym typeface="Calibri"/>
            </a:endParaRPr>
          </a:p>
        </p:txBody>
      </p:sp>
      <p:sp>
        <p:nvSpPr>
          <p:cNvPr id="1371" name="Google Shape;1371;p155"/>
          <p:cNvSpPr txBox="1"/>
          <p:nvPr/>
        </p:nvSpPr>
        <p:spPr>
          <a:xfrm>
            <a:off x="2132475" y="4288725"/>
            <a:ext cx="1614000" cy="383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Calibri"/>
                <a:ea typeface="Calibri"/>
                <a:cs typeface="Calibri"/>
                <a:sym typeface="Calibri"/>
              </a:rPr>
              <a:t>CRSYM</a:t>
            </a:r>
            <a:r>
              <a:rPr b="1" lang="en">
                <a:latin typeface="Calibri"/>
                <a:ea typeface="Calibri"/>
                <a:cs typeface="Calibri"/>
                <a:sym typeface="Calibri"/>
              </a:rPr>
              <a:t>:</a:t>
            </a:r>
            <a:r>
              <a:rPr lang="en" sz="900">
                <a:solidFill>
                  <a:schemeClr val="accent2"/>
                </a:solidFill>
                <a:latin typeface="Calibri"/>
                <a:ea typeface="Calibri"/>
                <a:cs typeface="Calibri"/>
                <a:sym typeface="Calibri"/>
              </a:rPr>
              <a:t>CSID</a:t>
            </a:r>
            <a:r>
              <a:rPr b="1" lang="en">
                <a:latin typeface="Calibri"/>
                <a:ea typeface="Calibri"/>
                <a:cs typeface="Calibri"/>
                <a:sym typeface="Calibri"/>
              </a:rPr>
              <a:t>:</a:t>
            </a:r>
            <a:r>
              <a:rPr lang="en" sz="900">
                <a:solidFill>
                  <a:schemeClr val="accent6"/>
                </a:solidFill>
                <a:latin typeface="Calibri"/>
                <a:ea typeface="Calibri"/>
                <a:cs typeface="Calibri"/>
                <a:sym typeface="Calibri"/>
              </a:rPr>
              <a:t>CESYM</a:t>
            </a:r>
            <a:r>
              <a:rPr b="1" lang="en">
                <a:latin typeface="Calibri"/>
                <a:ea typeface="Calibri"/>
                <a:cs typeface="Calibri"/>
                <a:sym typeface="Calibri"/>
              </a:rPr>
              <a:t>:</a:t>
            </a:r>
            <a:r>
              <a:rPr lang="en" sz="900">
                <a:solidFill>
                  <a:srgbClr val="FF0000"/>
                </a:solidFill>
                <a:latin typeface="Calibri"/>
                <a:ea typeface="Calibri"/>
                <a:cs typeface="Calibri"/>
                <a:sym typeface="Calibri"/>
              </a:rPr>
              <a:t>??</a:t>
            </a:r>
            <a:endParaRPr sz="900">
              <a:solidFill>
                <a:srgbClr val="FF0000"/>
              </a:solidFill>
              <a:latin typeface="Calibri"/>
              <a:ea typeface="Calibri"/>
              <a:cs typeface="Calibri"/>
              <a:sym typeface="Calibri"/>
            </a:endParaRPr>
          </a:p>
        </p:txBody>
      </p:sp>
      <p:sp>
        <p:nvSpPr>
          <p:cNvPr id="1363" name="Google Shape;1363;p155"/>
          <p:cNvSpPr/>
          <p:nvPr/>
        </p:nvSpPr>
        <p:spPr>
          <a:xfrm>
            <a:off x="3968337" y="1974700"/>
            <a:ext cx="1108200" cy="290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Instrument</a:t>
            </a:r>
            <a:endParaRPr>
              <a:latin typeface="Twentieth Century"/>
              <a:ea typeface="Twentieth Century"/>
              <a:cs typeface="Twentieth Century"/>
              <a:sym typeface="Twentieth Century"/>
            </a:endParaRPr>
          </a:p>
        </p:txBody>
      </p:sp>
      <p:sp>
        <p:nvSpPr>
          <p:cNvPr id="1372" name="Google Shape;1372;p155"/>
          <p:cNvSpPr/>
          <p:nvPr/>
        </p:nvSpPr>
        <p:spPr>
          <a:xfrm>
            <a:off x="3982728" y="2403575"/>
            <a:ext cx="1062600" cy="268200"/>
          </a:xfrm>
          <a:prstGeom prst="rect">
            <a:avLst/>
          </a:prstGeom>
          <a:solidFill>
            <a:srgbClr val="D9EAD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1373" name="Google Shape;1373;p155"/>
          <p:cNvSpPr txBox="1"/>
          <p:nvPr/>
        </p:nvSpPr>
        <p:spPr>
          <a:xfrm>
            <a:off x="5493725" y="3479700"/>
            <a:ext cx="3273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1374" name="Google Shape;1374;p155"/>
          <p:cNvSpPr/>
          <p:nvPr/>
        </p:nvSpPr>
        <p:spPr>
          <a:xfrm rot="-5400000">
            <a:off x="7552675" y="1952350"/>
            <a:ext cx="1290900" cy="508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Host PC</a:t>
            </a:r>
            <a:endParaRPr>
              <a:latin typeface="Twentieth Century"/>
              <a:ea typeface="Twentieth Century"/>
              <a:cs typeface="Twentieth Century"/>
              <a:sym typeface="Twentieth Century"/>
            </a:endParaRPr>
          </a:p>
        </p:txBody>
      </p:sp>
      <p:cxnSp>
        <p:nvCxnSpPr>
          <p:cNvPr id="1375" name="Google Shape;1375;p155"/>
          <p:cNvCxnSpPr>
            <a:stCxn id="1350" idx="2"/>
            <a:endCxn id="1374" idx="0"/>
          </p:cNvCxnSpPr>
          <p:nvPr/>
        </p:nvCxnSpPr>
        <p:spPr>
          <a:xfrm flipH="1" rot="10800000">
            <a:off x="7493425" y="2206700"/>
            <a:ext cx="450600" cy="600"/>
          </a:xfrm>
          <a:prstGeom prst="straightConnector1">
            <a:avLst/>
          </a:prstGeom>
          <a:noFill/>
          <a:ln cap="flat" cmpd="sng" w="9525">
            <a:solidFill>
              <a:schemeClr val="dk2"/>
            </a:solidFill>
            <a:prstDash val="solid"/>
            <a:round/>
            <a:headEnd len="med" w="med" type="none"/>
            <a:tailEnd len="med" w="med" type="triangle"/>
          </a:ln>
        </p:spPr>
      </p:cxnSp>
      <p:cxnSp>
        <p:nvCxnSpPr>
          <p:cNvPr id="1376" name="Google Shape;1376;p155"/>
          <p:cNvCxnSpPr>
            <a:stCxn id="1372" idx="3"/>
            <a:endCxn id="1373" idx="1"/>
          </p:cNvCxnSpPr>
          <p:nvPr/>
        </p:nvCxnSpPr>
        <p:spPr>
          <a:xfrm>
            <a:off x="5045328" y="2537675"/>
            <a:ext cx="448500" cy="1133700"/>
          </a:xfrm>
          <a:prstGeom prst="bentConnector3">
            <a:avLst>
              <a:gd fmla="val 34386" name="adj1"/>
            </a:avLst>
          </a:prstGeom>
          <a:noFill/>
          <a:ln cap="flat" cmpd="sng" w="9525">
            <a:solidFill>
              <a:schemeClr val="dk2"/>
            </a:solidFill>
            <a:prstDash val="solid"/>
            <a:round/>
            <a:headEnd len="med" w="med" type="none"/>
            <a:tailEnd len="med" w="med" type="none"/>
          </a:ln>
        </p:spPr>
      </p:cxnSp>
      <p:cxnSp>
        <p:nvCxnSpPr>
          <p:cNvPr id="1377" name="Google Shape;1377;p155"/>
          <p:cNvCxnSpPr>
            <a:stCxn id="1373" idx="3"/>
            <a:endCxn id="1378" idx="0"/>
          </p:cNvCxnSpPr>
          <p:nvPr/>
        </p:nvCxnSpPr>
        <p:spPr>
          <a:xfrm>
            <a:off x="5821025" y="3671400"/>
            <a:ext cx="226200" cy="501900"/>
          </a:xfrm>
          <a:prstGeom prst="bentConnector3">
            <a:avLst>
              <a:gd fmla="val 50006" name="adj1"/>
            </a:avLst>
          </a:prstGeom>
          <a:noFill/>
          <a:ln cap="flat" cmpd="sng" w="9525">
            <a:solidFill>
              <a:schemeClr val="dk2"/>
            </a:solidFill>
            <a:prstDash val="solid"/>
            <a:round/>
            <a:headEnd len="med" w="med" type="none"/>
            <a:tailEnd len="med" w="med" type="triangle"/>
          </a:ln>
        </p:spPr>
      </p:cxnSp>
      <p:sp>
        <p:nvSpPr>
          <p:cNvPr id="1378" name="Google Shape;1378;p155"/>
          <p:cNvSpPr/>
          <p:nvPr/>
        </p:nvSpPr>
        <p:spPr>
          <a:xfrm rot="-5400000">
            <a:off x="5663850" y="3919050"/>
            <a:ext cx="1275300" cy="5085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Extended Backend</a:t>
            </a:r>
            <a:endParaRPr>
              <a:latin typeface="Twentieth Century"/>
              <a:ea typeface="Twentieth Century"/>
              <a:cs typeface="Twentieth Century"/>
              <a:sym typeface="Twentieth Century"/>
            </a:endParaRPr>
          </a:p>
        </p:txBody>
      </p:sp>
      <p:cxnSp>
        <p:nvCxnSpPr>
          <p:cNvPr id="1379" name="Google Shape;1379;p155"/>
          <p:cNvCxnSpPr>
            <a:stCxn id="1378" idx="2"/>
            <a:endCxn id="1380" idx="0"/>
          </p:cNvCxnSpPr>
          <p:nvPr/>
        </p:nvCxnSpPr>
        <p:spPr>
          <a:xfrm>
            <a:off x="6555750" y="4173300"/>
            <a:ext cx="261300" cy="6000"/>
          </a:xfrm>
          <a:prstGeom prst="straightConnector1">
            <a:avLst/>
          </a:prstGeom>
          <a:noFill/>
          <a:ln cap="flat" cmpd="sng" w="9525">
            <a:solidFill>
              <a:schemeClr val="dk2"/>
            </a:solidFill>
            <a:prstDash val="solid"/>
            <a:round/>
            <a:headEnd len="med" w="med" type="none"/>
            <a:tailEnd len="med" w="med" type="triangle"/>
          </a:ln>
        </p:spPr>
      </p:cxnSp>
      <p:sp>
        <p:nvSpPr>
          <p:cNvPr id="1380" name="Google Shape;1380;p155"/>
          <p:cNvSpPr txBox="1"/>
          <p:nvPr/>
        </p:nvSpPr>
        <p:spPr>
          <a:xfrm rot="-5400000">
            <a:off x="6357013" y="3987600"/>
            <a:ext cx="1303500" cy="38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1381" name="Google Shape;1381;p155"/>
          <p:cNvCxnSpPr>
            <a:stCxn id="1380" idx="2"/>
            <a:endCxn id="1369" idx="0"/>
          </p:cNvCxnSpPr>
          <p:nvPr/>
        </p:nvCxnSpPr>
        <p:spPr>
          <a:xfrm flipH="1" rot="10800000">
            <a:off x="7200463" y="4173300"/>
            <a:ext cx="261300" cy="6000"/>
          </a:xfrm>
          <a:prstGeom prst="straightConnector1">
            <a:avLst/>
          </a:prstGeom>
          <a:noFill/>
          <a:ln cap="flat" cmpd="sng" w="9525">
            <a:solidFill>
              <a:schemeClr val="dk2"/>
            </a:solidFill>
            <a:prstDash val="solid"/>
            <a:round/>
            <a:headEnd len="med" w="med" type="none"/>
            <a:tailEnd len="med" w="med" type="triangle"/>
          </a:ln>
        </p:spPr>
      </p:cxnSp>
      <p:sp>
        <p:nvSpPr>
          <p:cNvPr id="1382" name="Google Shape;1382;p155"/>
          <p:cNvSpPr/>
          <p:nvPr/>
        </p:nvSpPr>
        <p:spPr>
          <a:xfrm>
            <a:off x="536100" y="1100150"/>
            <a:ext cx="1499100" cy="383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Benchmark Building System</a:t>
            </a:r>
            <a:endParaRPr>
              <a:latin typeface="Twentieth Century"/>
              <a:ea typeface="Twentieth Century"/>
              <a:cs typeface="Twentieth Century"/>
              <a:sym typeface="Twentieth Century"/>
            </a:endParaRPr>
          </a:p>
        </p:txBody>
      </p:sp>
      <p:sp>
        <p:nvSpPr>
          <p:cNvPr id="1383" name="Google Shape;1383;p155"/>
          <p:cNvSpPr/>
          <p:nvPr/>
        </p:nvSpPr>
        <p:spPr>
          <a:xfrm>
            <a:off x="6735900" y="1608017"/>
            <a:ext cx="481200" cy="421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wentieth Century"/>
                <a:ea typeface="Twentieth Century"/>
                <a:cs typeface="Twentieth Century"/>
                <a:sym typeface="Twentieth Century"/>
              </a:rPr>
              <a:t>rtlib</a:t>
            </a:r>
            <a:endParaRPr>
              <a:latin typeface="Twentieth Century"/>
              <a:ea typeface="Twentieth Century"/>
              <a:cs typeface="Twentieth Century"/>
              <a:sym typeface="Twentieth Century"/>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56"/>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Calling Context Definition</a:t>
            </a:r>
            <a:endParaRPr>
              <a:latin typeface="Twentieth Century"/>
              <a:ea typeface="Twentieth Century"/>
              <a:cs typeface="Twentieth Century"/>
              <a:sym typeface="Twentieth Century"/>
            </a:endParaRPr>
          </a:p>
        </p:txBody>
      </p:sp>
      <p:pic>
        <p:nvPicPr>
          <p:cNvPr id="1390" name="Google Shape;1390;p156"/>
          <p:cNvPicPr preferRelativeResize="0"/>
          <p:nvPr/>
        </p:nvPicPr>
        <p:blipFill>
          <a:blip r:embed="rId3">
            <a:alphaModFix/>
          </a:blip>
          <a:stretch>
            <a:fillRect/>
          </a:stretch>
        </p:blipFill>
        <p:spPr>
          <a:xfrm>
            <a:off x="152400" y="1115650"/>
            <a:ext cx="8134350" cy="120015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57"/>
          <p:cNvSpPr txBox="1"/>
          <p:nvPr>
            <p:ph type="title"/>
          </p:nvPr>
        </p:nvSpPr>
        <p:spPr>
          <a:xfrm>
            <a:off x="202775" y="-30950"/>
            <a:ext cx="88272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Static vs. Dynamic edge weights computation</a:t>
            </a:r>
            <a:endParaRPr>
              <a:latin typeface="Twentieth Century"/>
              <a:ea typeface="Twentieth Century"/>
              <a:cs typeface="Twentieth Century"/>
              <a:sym typeface="Twentieth Century"/>
            </a:endParaRPr>
          </a:p>
        </p:txBody>
      </p:sp>
      <p:sp>
        <p:nvSpPr>
          <p:cNvPr id="1397" name="Google Shape;1397;p157"/>
          <p:cNvSpPr txBox="1"/>
          <p:nvPr>
            <p:ph idx="1" type="body"/>
          </p:nvPr>
        </p:nvSpPr>
        <p:spPr>
          <a:xfrm>
            <a:off x="74350" y="963250"/>
            <a:ext cx="9018300" cy="4111200"/>
          </a:xfrm>
          <a:prstGeom prst="rect">
            <a:avLst/>
          </a:prstGeom>
        </p:spPr>
        <p:txBody>
          <a:bodyPr anchorCtr="0" anchor="t" bIns="34275" lIns="68575" spcFirstLastPara="1" rIns="68575" wrap="square" tIns="34275">
            <a:noAutofit/>
          </a:bodyPr>
          <a:lstStyle/>
          <a:p>
            <a:pPr indent="-254000" lvl="0" marL="342900" marR="0" rtl="0" algn="l">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Static</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Pros.</a:t>
            </a:r>
            <a:endParaRPr>
              <a:latin typeface="Twentieth Century"/>
              <a:ea typeface="Twentieth Century"/>
              <a:cs typeface="Twentieth Century"/>
              <a:sym typeface="Twentieth Century"/>
            </a:endParaRPr>
          </a:p>
          <a:p>
            <a:pPr indent="-254000" lvl="2" marL="10287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Fast - no need to maintain call path information</a:t>
            </a:r>
            <a:endParaRPr>
              <a:latin typeface="Twentieth Century"/>
              <a:ea typeface="Twentieth Century"/>
              <a:cs typeface="Twentieth Century"/>
              <a:sym typeface="Twentieth Century"/>
            </a:endParaRPr>
          </a:p>
          <a:p>
            <a:pPr indent="-254000" lvl="2" marL="10287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Mapping ID to call paths is the same with different runs.</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Cons.</a:t>
            </a:r>
            <a:endParaRPr>
              <a:latin typeface="Twentieth Century"/>
              <a:ea typeface="Twentieth Century"/>
              <a:cs typeface="Twentieth Century"/>
              <a:sym typeface="Twentieth Century"/>
            </a:endParaRPr>
          </a:p>
          <a:p>
            <a:pPr indent="-254000" lvl="2" marL="10287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Can’t differentiate dynamically included library</a:t>
            </a:r>
            <a:endParaRPr>
              <a:latin typeface="Twentieth Century"/>
              <a:ea typeface="Twentieth Century"/>
              <a:cs typeface="Twentieth Century"/>
              <a:sym typeface="Twentieth Century"/>
            </a:endParaRPr>
          </a:p>
          <a:p>
            <a:pPr indent="-254000" lvl="0" marL="3429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Pros.</a:t>
            </a:r>
            <a:endParaRPr>
              <a:latin typeface="Twentieth Century"/>
              <a:ea typeface="Twentieth Century"/>
              <a:cs typeface="Twentieth Century"/>
              <a:sym typeface="Twentieth Century"/>
            </a:endParaRPr>
          </a:p>
          <a:p>
            <a:pPr indent="-254000" lvl="2" marL="10287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Can cover dynamically linked libraries</a:t>
            </a:r>
            <a:endParaRPr>
              <a:latin typeface="Twentieth Century"/>
              <a:ea typeface="Twentieth Century"/>
              <a:cs typeface="Twentieth Century"/>
              <a:sym typeface="Twentieth Century"/>
            </a:endParaRPr>
          </a:p>
          <a:p>
            <a:pPr indent="-254000" lvl="2" marL="10287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Still faster than existing encoding schemes due to instant time for visited call path.</a:t>
            </a:r>
            <a:endParaRPr>
              <a:latin typeface="Twentieth Century"/>
              <a:ea typeface="Twentieth Century"/>
              <a:cs typeface="Twentieth Century"/>
              <a:sym typeface="Twentieth Century"/>
            </a:endParaRPr>
          </a:p>
          <a:p>
            <a:pPr indent="-254000" lvl="1" marL="6858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Cons.</a:t>
            </a:r>
            <a:endParaRPr>
              <a:latin typeface="Twentieth Century"/>
              <a:ea typeface="Twentieth Century"/>
              <a:cs typeface="Twentieth Century"/>
              <a:sym typeface="Twentieth Century"/>
            </a:endParaRPr>
          </a:p>
          <a:p>
            <a:pPr indent="-254000" lvl="2" marL="10287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Need </a:t>
            </a:r>
            <a:r>
              <a:rPr lang="en">
                <a:latin typeface="Twentieth Century"/>
                <a:ea typeface="Twentieth Century"/>
                <a:cs typeface="Twentieth Century"/>
                <a:sym typeface="Twentieth Century"/>
              </a:rPr>
              <a:t>maintenance</a:t>
            </a:r>
            <a:r>
              <a:rPr lang="en">
                <a:latin typeface="Twentieth Century"/>
                <a:ea typeface="Twentieth Century"/>
                <a:cs typeface="Twentieth Century"/>
                <a:sym typeface="Twentieth Century"/>
              </a:rPr>
              <a:t> of call path at runtime</a:t>
            </a:r>
            <a:endParaRPr>
              <a:latin typeface="Twentieth Century"/>
              <a:ea typeface="Twentieth Century"/>
              <a:cs typeface="Twentieth Century"/>
              <a:sym typeface="Twentieth Century"/>
            </a:endParaRPr>
          </a:p>
          <a:p>
            <a:pPr indent="-254000" lvl="3" marL="13716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List of visited node (DFS)</a:t>
            </a:r>
            <a:endParaRPr>
              <a:latin typeface="Twentieth Century"/>
              <a:ea typeface="Twentieth Century"/>
              <a:cs typeface="Twentieth Century"/>
              <a:sym typeface="Twentieth Century"/>
            </a:endParaRPr>
          </a:p>
          <a:p>
            <a:pPr indent="-254000" lvl="3" marL="1371600" marR="0" rtl="0" algn="l">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Function name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5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4500"/>
              <a:buFont typeface="Calibri"/>
              <a:buNone/>
            </a:pPr>
            <a:r>
              <a:rPr lang="en"/>
              <a:t>HW Security group </a:t>
            </a:r>
            <a:endParaRPr/>
          </a:p>
          <a:p>
            <a:pPr indent="0" lvl="0" marL="0" rtl="0" algn="ctr">
              <a:lnSpc>
                <a:spcPct val="90000"/>
              </a:lnSpc>
              <a:spcBef>
                <a:spcPts val="0"/>
              </a:spcBef>
              <a:spcAft>
                <a:spcPts val="0"/>
              </a:spcAft>
              <a:buClr>
                <a:schemeClr val="dk1"/>
              </a:buClr>
              <a:buSzPts val="4500"/>
              <a:buFont typeface="Calibri"/>
              <a:buNone/>
            </a:pPr>
            <a:r>
              <a:rPr lang="en"/>
              <a:t>regular meeting</a:t>
            </a:r>
            <a:endParaRPr/>
          </a:p>
        </p:txBody>
      </p:sp>
      <p:sp>
        <p:nvSpPr>
          <p:cNvPr id="1404" name="Google Shape;1404;p158"/>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None/>
            </a:pPr>
            <a:r>
              <a:rPr lang="en"/>
              <a:t>6</a:t>
            </a:r>
            <a:r>
              <a:rPr lang="en"/>
              <a:t>/03/2022</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59"/>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1411" name="Google Shape;1411;p159"/>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DrCCTProf</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Overhead (base dynamorio vs. DrCCTProf)</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Max context handle</a:t>
            </a:r>
            <a:endParaRPr>
              <a:latin typeface="Twentieth Century"/>
              <a:ea typeface="Twentieth Century"/>
              <a:cs typeface="Twentieth Century"/>
              <a:sym typeface="Twentieth Century"/>
            </a:endParaRPr>
          </a:p>
          <a:p>
            <a:pPr indent="-254000" lvl="1" marL="685800" rtl="0" algn="l">
              <a:spcBef>
                <a:spcPts val="0"/>
              </a:spcBef>
              <a:spcAft>
                <a:spcPts val="0"/>
              </a:spcAft>
              <a:buSzPts val="1400"/>
              <a:buFont typeface="Twentieth Century"/>
              <a:buChar char="❏"/>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60"/>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Overhead </a:t>
            </a:r>
            <a:endParaRPr>
              <a:latin typeface="Twentieth Century"/>
              <a:ea typeface="Twentieth Century"/>
              <a:cs typeface="Twentieth Century"/>
              <a:sym typeface="Twentieth Century"/>
            </a:endParaRPr>
          </a:p>
        </p:txBody>
      </p:sp>
      <p:sp>
        <p:nvSpPr>
          <p:cNvPr id="1418" name="Google Shape;1418;p160"/>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Use Spec 2017 with reference input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Base: A client without drcctlib_init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DrCCTLibProf: A client with FILTER_ZERO_INSTR</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pic>
        <p:nvPicPr>
          <p:cNvPr id="1419" name="Google Shape;1419;p160"/>
          <p:cNvPicPr preferRelativeResize="0"/>
          <p:nvPr/>
        </p:nvPicPr>
        <p:blipFill>
          <a:blip r:embed="rId3">
            <a:alphaModFix/>
          </a:blip>
          <a:stretch>
            <a:fillRect/>
          </a:stretch>
        </p:blipFill>
        <p:spPr>
          <a:xfrm>
            <a:off x="1385575" y="1859125"/>
            <a:ext cx="5751051" cy="278395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61"/>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Overhead </a:t>
            </a:r>
            <a:endParaRPr>
              <a:latin typeface="Twentieth Century"/>
              <a:ea typeface="Twentieth Century"/>
              <a:cs typeface="Twentieth Century"/>
              <a:sym typeface="Twentieth Century"/>
            </a:endParaRPr>
          </a:p>
        </p:txBody>
      </p:sp>
      <p:sp>
        <p:nvSpPr>
          <p:cNvPr id="1426" name="Google Shape;1426;p161"/>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rPr lang="en">
                <a:latin typeface="Twentieth Century"/>
                <a:ea typeface="Twentieth Century"/>
                <a:cs typeface="Twentieth Century"/>
                <a:sym typeface="Twentieth Century"/>
              </a:rPr>
              <a:t>Use Spec 2017 with reference input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Base: A client without drcctlib_init</a:t>
            </a:r>
            <a:endParaRPr>
              <a:latin typeface="Twentieth Century"/>
              <a:ea typeface="Twentieth Century"/>
              <a:cs typeface="Twentieth Century"/>
              <a:sym typeface="Twentieth Century"/>
            </a:endParaRPr>
          </a:p>
          <a:p>
            <a:pPr indent="-254000" lvl="0" marL="342900" rtl="0" algn="l">
              <a:spcBef>
                <a:spcPts val="0"/>
              </a:spcBef>
              <a:spcAft>
                <a:spcPts val="0"/>
              </a:spcAft>
              <a:buSzPts val="1400"/>
              <a:buFont typeface="Twentieth Century"/>
              <a:buChar char="❏"/>
            </a:pPr>
            <a:r>
              <a:rPr lang="en">
                <a:latin typeface="Twentieth Century"/>
                <a:ea typeface="Twentieth Century"/>
                <a:cs typeface="Twentieth Century"/>
                <a:sym typeface="Twentieth Century"/>
              </a:rPr>
              <a:t>DrCCTLibProf: A client with FILTER_ZERO_INSTR</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62"/>
          <p:cNvSpPr txBox="1"/>
          <p:nvPr>
            <p:ph type="title"/>
          </p:nvPr>
        </p:nvSpPr>
        <p:spPr>
          <a:xfrm>
            <a:off x="628650" y="-30956"/>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wentieth Century"/>
                <a:ea typeface="Twentieth Century"/>
                <a:cs typeface="Twentieth Century"/>
                <a:sym typeface="Twentieth Century"/>
              </a:rPr>
              <a:t>Max Context Handle</a:t>
            </a:r>
            <a:endParaRPr>
              <a:latin typeface="Twentieth Century"/>
              <a:ea typeface="Twentieth Century"/>
              <a:cs typeface="Twentieth Century"/>
              <a:sym typeface="Twentieth Century"/>
            </a:endParaRPr>
          </a:p>
        </p:txBody>
      </p:sp>
      <p:sp>
        <p:nvSpPr>
          <p:cNvPr id="1433" name="Google Shape;1433;p162"/>
          <p:cNvSpPr txBox="1"/>
          <p:nvPr>
            <p:ph idx="1" type="body"/>
          </p:nvPr>
        </p:nvSpPr>
        <p:spPr>
          <a:xfrm>
            <a:off x="311825" y="734650"/>
            <a:ext cx="8780700" cy="4111200"/>
          </a:xfrm>
          <a:prstGeom prst="rect">
            <a:avLst/>
          </a:prstGeom>
        </p:spPr>
        <p:txBody>
          <a:bodyPr anchorCtr="0" anchor="t" bIns="34275" lIns="68575" spcFirstLastPara="1" rIns="68575" wrap="square" tIns="34275">
            <a:noAutofit/>
          </a:bodyPr>
          <a:lstStyle/>
          <a:p>
            <a:pPr indent="-254000" lvl="0" marL="342900" rtl="0" algn="l">
              <a:spcBef>
                <a:spcPts val="800"/>
              </a:spcBef>
              <a:spcAft>
                <a:spcPts val="0"/>
              </a:spcAft>
              <a:buSzPts val="1400"/>
              <a:buFont typeface="Twentieth Century"/>
              <a:buChar char="❏"/>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latin typeface="Twentieth Century"/>
              <a:ea typeface="Twentieth Century"/>
              <a:cs typeface="Twentieth Century"/>
              <a:sym typeface="Twentieth Century"/>
            </a:endParaRPr>
          </a:p>
          <a:p>
            <a:pPr indent="0" lvl="0" marL="0" rtl="0" algn="l">
              <a:spcBef>
                <a:spcPts val="8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